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0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12"/>
    <p:sldId id="264" r:id="rId11"/>
    <p:sldId id="265" r:id="rId10"/>
    <p:sldId id="266" r:id="rId9"/>
    <p:sldId id="267" r:id="rId8"/>
    <p:sldId id="268" r:id="rId7"/>
    <p:sldId id="26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schnitt ohne Titel" id="{C6D4BE38-8B3C-402D-BB49-1E5FC4A05F0C}">
          <p14:sldIdLst>
            <p14:sldId id="256"/>
            <p14:sldId id="260"/>
            <p14:sldId id="262"/>
            <p14:sldId id="350"/>
            <p14:sldId id="258"/>
            <p14:sldId id="266"/>
            <p14:sldId id="336"/>
            <p14:sldId id="345"/>
            <p14:sldId id="338"/>
            <p14:sldId id="339"/>
            <p14:sldId id="341"/>
            <p14:sldId id="349"/>
            <p14:sldId id="347"/>
            <p14:sldId id="267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2A092AD-01A1-75B1-12F5-27835F26D3D8}" name="Ann-Kathrin Schmidt" initials="AKS" userId="S::Schmidt@mobilintime.com::eed76019-7097-4b67-b5ca-4538df3ddc9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595B"/>
    <a:srgbClr val="E00036"/>
    <a:srgbClr val="E5032E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93B28D-4185-4A60-8DA6-FB67E9D3690E}" v="10" dt="2026-07-13T09:07:07.3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>
        <p:scale>
          <a:sx n="112" d="100"/>
          <a:sy n="112" d="100"/>
        </p:scale>
        <p:origin x="438" y="4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9.xml"/><Relationship Id="rId12" Type="http://schemas.openxmlformats.org/officeDocument/2006/relationships/slide" Target="slides/slide8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scha Promberger" userId="de38bd02-217f-4d7d-a2d9-3812f9b77dec" providerId="ADAL" clId="{348B077B-6069-4F27-9ADF-AB26C724BB46}"/>
    <pc:docChg chg="undo custSel addSld delSld modSld modSection">
      <pc:chgData name="Sascha Promberger" userId="de38bd02-217f-4d7d-a2d9-3812f9b77dec" providerId="ADAL" clId="{348B077B-6069-4F27-9ADF-AB26C724BB46}" dt="2026-07-13T13:39:20.474" v="952" actId="2696"/>
      <pc:docMkLst>
        <pc:docMk/>
      </pc:docMkLst>
      <pc:sldChg chg="modSp del mod">
        <pc:chgData name="Sascha Promberger" userId="de38bd02-217f-4d7d-a2d9-3812f9b77dec" providerId="ADAL" clId="{348B077B-6069-4F27-9ADF-AB26C724BB46}" dt="2026-07-13T13:39:20.474" v="952" actId="2696"/>
        <pc:sldMkLst>
          <pc:docMk/>
          <pc:sldMk cId="703779366" sldId="264"/>
        </pc:sldMkLst>
        <pc:spChg chg="mod">
          <ac:chgData name="Sascha Promberger" userId="de38bd02-217f-4d7d-a2d9-3812f9b77dec" providerId="ADAL" clId="{348B077B-6069-4F27-9ADF-AB26C724BB46}" dt="2026-07-13T07:13:05.878" v="20" actId="1076"/>
          <ac:spMkLst>
            <pc:docMk/>
            <pc:sldMk cId="703779366" sldId="264"/>
            <ac:spMk id="4" creationId="{ED55C8CF-7D07-69A7-3FB2-F421149D4F29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19" creationId="{AD62A131-C7E6-489E-91FA-CE468889BCE6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20" creationId="{33DF6977-EC1F-1360-6DFC-53EEDC12F314}"/>
          </ac:spMkLst>
        </pc:spChg>
        <pc:spChg chg="mod">
          <ac:chgData name="Sascha Promberger" userId="de38bd02-217f-4d7d-a2d9-3812f9b77dec" providerId="ADAL" clId="{348B077B-6069-4F27-9ADF-AB26C724BB46}" dt="2026-07-13T07:13:06.363" v="23" actId="1076"/>
          <ac:spMkLst>
            <pc:docMk/>
            <pc:sldMk cId="703779366" sldId="264"/>
            <ac:spMk id="21" creationId="{3D5A0F1F-5DA2-DB2B-FCE0-B4C0097D46DF}"/>
          </ac:spMkLst>
        </pc:spChg>
        <pc:spChg chg="mod">
          <ac:chgData name="Sascha Promberger" userId="de38bd02-217f-4d7d-a2d9-3812f9b77dec" providerId="ADAL" clId="{348B077B-6069-4F27-9ADF-AB26C724BB46}" dt="2026-07-13T07:13:06.363" v="23" actId="1076"/>
          <ac:spMkLst>
            <pc:docMk/>
            <pc:sldMk cId="703779366" sldId="264"/>
            <ac:spMk id="23" creationId="{B543A7C8-C6A7-014A-CF76-62C5CFF0B171}"/>
          </ac:spMkLst>
        </pc:spChg>
        <pc:spChg chg="mod">
          <ac:chgData name="Sascha Promberger" userId="de38bd02-217f-4d7d-a2d9-3812f9b77dec" providerId="ADAL" clId="{348B077B-6069-4F27-9ADF-AB26C724BB46}" dt="2026-07-13T07:13:05.878" v="20" actId="1076"/>
          <ac:spMkLst>
            <pc:docMk/>
            <pc:sldMk cId="703779366" sldId="264"/>
            <ac:spMk id="24" creationId="{44D8D2FC-985C-0739-FAAC-F2C4B27DD4EE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25" creationId="{4286E746-0461-761B-9E2E-52AFF33AF458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26" creationId="{EFDAA436-BEED-E16F-69E9-FDD9AE30A5FD}"/>
          </ac:spMkLst>
        </pc:spChg>
        <pc:picChg chg="mod">
          <ac:chgData name="Sascha Promberger" userId="de38bd02-217f-4d7d-a2d9-3812f9b77dec" providerId="ADAL" clId="{348B077B-6069-4F27-9ADF-AB26C724BB46}" dt="2026-07-13T07:00:53.772" v="11" actId="1076"/>
          <ac:picMkLst>
            <pc:docMk/>
            <pc:sldMk cId="703779366" sldId="264"/>
            <ac:picMk id="2" creationId="{BEC7F240-D7C6-3BED-3BCC-32C4BEE98102}"/>
          </ac:picMkLst>
        </pc:picChg>
      </pc:sldChg>
      <pc:sldChg chg="addSp delSp modSp add mod">
        <pc:chgData name="Sascha Promberger" userId="de38bd02-217f-4d7d-a2d9-3812f9b77dec" providerId="ADAL" clId="{348B077B-6069-4F27-9ADF-AB26C724BB46}" dt="2026-07-13T10:40:17.114" v="951" actId="1036"/>
        <pc:sldMkLst>
          <pc:docMk/>
          <pc:sldMk cId="229551692" sldId="350"/>
        </pc:sldMkLst>
        <pc:spChg chg="mod">
          <ac:chgData name="Sascha Promberger" userId="de38bd02-217f-4d7d-a2d9-3812f9b77dec" providerId="ADAL" clId="{348B077B-6069-4F27-9ADF-AB26C724BB46}" dt="2026-07-13T10:00:10.854" v="844" actId="1037"/>
          <ac:spMkLst>
            <pc:docMk/>
            <pc:sldMk cId="229551692" sldId="350"/>
            <ac:spMk id="3" creationId="{7051C94B-0AC7-BF7C-71D3-D0B1FD235A71}"/>
          </ac:spMkLst>
        </pc:spChg>
        <pc:spChg chg="del">
          <ac:chgData name="Sascha Promberger" userId="de38bd02-217f-4d7d-a2d9-3812f9b77dec" providerId="ADAL" clId="{348B077B-6069-4F27-9ADF-AB26C724BB46}" dt="2026-07-13T07:13:35.052" v="28" actId="478"/>
          <ac:spMkLst>
            <pc:docMk/>
            <pc:sldMk cId="229551692" sldId="350"/>
            <ac:spMk id="4" creationId="{B627D7F5-966D-7496-70CE-6D8B420955CE}"/>
          </ac:spMkLst>
        </pc:spChg>
        <pc:spChg chg="add del mod">
          <ac:chgData name="Sascha Promberger" userId="de38bd02-217f-4d7d-a2d9-3812f9b77dec" providerId="ADAL" clId="{348B077B-6069-4F27-9ADF-AB26C724BB46}" dt="2026-07-13T09:08:42.451" v="702" actId="478"/>
          <ac:spMkLst>
            <pc:docMk/>
            <pc:sldMk cId="229551692" sldId="350"/>
            <ac:spMk id="7" creationId="{052EE29D-AED6-86ED-6082-4369E1B441AE}"/>
          </ac:spMkLst>
        </pc:spChg>
        <pc:spChg chg="del">
          <ac:chgData name="Sascha Promberger" userId="de38bd02-217f-4d7d-a2d9-3812f9b77dec" providerId="ADAL" clId="{348B077B-6069-4F27-9ADF-AB26C724BB46}" dt="2026-07-13T07:13:43.046" v="30" actId="478"/>
          <ac:spMkLst>
            <pc:docMk/>
            <pc:sldMk cId="229551692" sldId="350"/>
            <ac:spMk id="19" creationId="{BD20C31F-4953-2CEF-4BEC-7ABE1F286FF9}"/>
          </ac:spMkLst>
        </pc:spChg>
        <pc:spChg chg="add del">
          <ac:chgData name="Sascha Promberger" userId="de38bd02-217f-4d7d-a2d9-3812f9b77dec" providerId="ADAL" clId="{348B077B-6069-4F27-9ADF-AB26C724BB46}" dt="2026-07-13T07:14:48.913" v="41" actId="478"/>
          <ac:spMkLst>
            <pc:docMk/>
            <pc:sldMk cId="229551692" sldId="350"/>
            <ac:spMk id="20" creationId="{9C54C3C4-C954-8CEE-2356-4F8D42B7104F}"/>
          </ac:spMkLst>
        </pc:spChg>
        <pc:spChg chg="del mod">
          <ac:chgData name="Sascha Promberger" userId="de38bd02-217f-4d7d-a2d9-3812f9b77dec" providerId="ADAL" clId="{348B077B-6069-4F27-9ADF-AB26C724BB46}" dt="2026-07-13T07:13:33.067" v="27" actId="478"/>
          <ac:spMkLst>
            <pc:docMk/>
            <pc:sldMk cId="229551692" sldId="350"/>
            <ac:spMk id="21" creationId="{6436FD6F-ED0F-BEFC-92F2-95574927F7AF}"/>
          </ac:spMkLst>
        </pc:spChg>
        <pc:spChg chg="mod">
          <ac:chgData name="Sascha Promberger" userId="de38bd02-217f-4d7d-a2d9-3812f9b77dec" providerId="ADAL" clId="{348B077B-6069-4F27-9ADF-AB26C724BB46}" dt="2026-07-13T07:17:00.946" v="106" actId="1037"/>
          <ac:spMkLst>
            <pc:docMk/>
            <pc:sldMk cId="229551692" sldId="350"/>
            <ac:spMk id="22" creationId="{23A9F2DC-5808-2639-5D7E-308BFA45FF34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3" creationId="{05FFD232-F8DB-CF14-308A-9BE4E5BD5EF0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4" creationId="{E23281ED-4E04-BC55-64F3-EF172B64C549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5" creationId="{AC200083-D45F-5147-68B1-C2A97698C881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6" creationId="{22408EF3-766E-ABB4-5028-B9D9AFCE07E8}"/>
          </ac:spMkLst>
        </pc:spChg>
        <pc:picChg chg="del mod">
          <ac:chgData name="Sascha Promberger" userId="de38bd02-217f-4d7d-a2d9-3812f9b77dec" providerId="ADAL" clId="{348B077B-6069-4F27-9ADF-AB26C724BB46}" dt="2026-07-13T08:57:42.021" v="487" actId="478"/>
          <ac:picMkLst>
            <pc:docMk/>
            <pc:sldMk cId="229551692" sldId="350"/>
            <ac:picMk id="2" creationId="{8A5527D2-8B82-2927-091F-60106643F4BE}"/>
          </ac:picMkLst>
        </pc:picChg>
        <pc:picChg chg="add del mod ord">
          <ac:chgData name="Sascha Promberger" userId="de38bd02-217f-4d7d-a2d9-3812f9b77dec" providerId="ADAL" clId="{348B077B-6069-4F27-9ADF-AB26C724BB46}" dt="2026-07-13T09:18:15.833" v="732" actId="478"/>
          <ac:picMkLst>
            <pc:docMk/>
            <pc:sldMk cId="229551692" sldId="350"/>
            <ac:picMk id="5" creationId="{0FAEAA3F-C855-1286-DD8F-BD01CB737FCA}"/>
          </ac:picMkLst>
        </pc:picChg>
        <pc:picChg chg="mod">
          <ac:chgData name="Sascha Promberger" userId="de38bd02-217f-4d7d-a2d9-3812f9b77dec" providerId="ADAL" clId="{348B077B-6069-4F27-9ADF-AB26C724BB46}" dt="2026-07-13T10:00:10.854" v="844" actId="1037"/>
          <ac:picMkLst>
            <pc:docMk/>
            <pc:sldMk cId="229551692" sldId="350"/>
            <ac:picMk id="6" creationId="{F509A259-8B6F-574C-E365-03EBE1B56BBD}"/>
          </ac:picMkLst>
        </pc:picChg>
        <pc:picChg chg="add mod ord modCrop">
          <ac:chgData name="Sascha Promberger" userId="de38bd02-217f-4d7d-a2d9-3812f9b77dec" providerId="ADAL" clId="{348B077B-6069-4F27-9ADF-AB26C724BB46}" dt="2026-07-13T10:40:17.114" v="951" actId="1036"/>
          <ac:picMkLst>
            <pc:docMk/>
            <pc:sldMk cId="229551692" sldId="350"/>
            <ac:picMk id="9" creationId="{6863DA6D-AE26-05C1-7868-38A6878A00DA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Potenzial brutto</c:v>
                </c:pt>
              </c:strCache>
            </c:strRef>
          </c:tx>
          <c:spPr>
            <a:solidFill>
              <a:srgbClr val="58595B"/>
            </a:solidFill>
          </c:spPr>
          <c:dLbls>
            <c:numFmt formatCode="0,&quot;k&quot;" sourceLinked="0"/>
            <c:txPr>
              <a:bodyPr/>
              <a:lstStyle/>
              <a:p>
                <a:pPr>
                  <a:defRPr sz="1000" b="1">
                    <a:solidFill>
                      <a:srgbClr val="58595B"/>
                    </a:solidFill>
                    <a:latin typeface="IBM Plex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Rechenzentren</c:v>
                </c:pt>
                <c:pt idx="1">
                  <c:v>Infrastruktur</c:v>
                </c:pt>
                <c:pt idx="2">
                  <c:v>Netz / UW</c:v>
                </c:pt>
                <c:pt idx="3">
                  <c:v>Spitäler</c:v>
                </c:pt>
                <c:pt idx="4">
                  <c:v>Industrie</c:v>
                </c:pt>
                <c:pt idx="5">
                  <c:v>Events</c:v>
                </c:pt>
                <c:pt idx="6">
                  <c:v>Kanal-Partner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1761400.0</c:v>
                </c:pt>
                <c:pt idx="1">
                  <c:v>1702100.0</c:v>
                </c:pt>
                <c:pt idx="2">
                  <c:v>313700.0</c:v>
                </c:pt>
                <c:pt idx="3">
                  <c:v>332400.0</c:v>
                </c:pt>
                <c:pt idx="4">
                  <c:v>389400.0</c:v>
                </c:pt>
                <c:pt idx="5">
                  <c:v>231700.0</c:v>
                </c:pt>
                <c:pt idx="6">
                  <c:v>549500.0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Erwartung 2027</c:v>
                </c:pt>
              </c:strCache>
            </c:strRef>
          </c:tx>
          <c:spPr>
            <a:solidFill>
              <a:srgbClr val="E00036"/>
            </a:solidFill>
          </c:spPr>
          <c:dLbls>
            <c:numFmt formatCode="0,&quot;k&quot;" sourceLinked="0"/>
            <c:txPr>
              <a:bodyPr/>
              <a:lstStyle/>
              <a:p>
                <a:pPr>
                  <a:defRPr sz="1000" b="1">
                    <a:solidFill>
                      <a:srgbClr val="E00036"/>
                    </a:solidFill>
                    <a:latin typeface="IBM Plex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Rechenzentren</c:v>
                </c:pt>
                <c:pt idx="1">
                  <c:v>Infrastruktur</c:v>
                </c:pt>
                <c:pt idx="2">
                  <c:v>Netz / UW</c:v>
                </c:pt>
                <c:pt idx="3">
                  <c:v>Spitäler</c:v>
                </c:pt>
                <c:pt idx="4">
                  <c:v>Industrie</c:v>
                </c:pt>
                <c:pt idx="5">
                  <c:v>Events</c:v>
                </c:pt>
                <c:pt idx="6">
                  <c:v>Kanal-Partner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171300.0</c:v>
                </c:pt>
                <c:pt idx="1">
                  <c:v>248100.0</c:v>
                </c:pt>
                <c:pt idx="2">
                  <c:v>55400.0</c:v>
                </c:pt>
                <c:pt idx="3">
                  <c:v>65100.0</c:v>
                </c:pt>
                <c:pt idx="4">
                  <c:v>69700.0</c:v>
                </c:pt>
                <c:pt idx="5">
                  <c:v>24100.0</c:v>
                </c:pt>
                <c:pt idx="6">
                  <c:v>101400.0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D6D6"/>
            </a:solidFill>
          </a:ln>
        </c:spPr>
        <c:txPr>
          <a:bodyPr/>
          <a:lstStyle/>
          <a:p>
            <a:pPr>
              <a:defRPr sz="1100">
                <a:solidFill>
                  <a:srgbClr val="58595B"/>
                </a:solidFill>
                <a:latin typeface="IBM Plex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IBM Plex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Erwartung 2027</c:v>
                </c:pt>
              </c:strCache>
            </c:strRef>
          </c:tx>
          <c:spPr>
            <a:solidFill>
              <a:srgbClr val="E00036"/>
            </a:solidFill>
          </c:spPr>
          <c:dPt>
            <c:idx val="0"/>
            <c:spPr>
              <a:solidFill>
                <a:srgbClr val="E00036"/>
              </a:solidFill>
            </c:spPr>
          </c:dPt>
          <c:dPt>
            <c:idx val="1"/>
            <c:spPr>
              <a:solidFill>
                <a:srgbClr val="58595B"/>
              </a:solidFill>
            </c:spPr>
          </c:dPt>
          <c:dPt>
            <c:idx val="2"/>
            <c:spPr>
              <a:solidFill>
                <a:srgbClr val="58595B"/>
              </a:solidFill>
            </c:spPr>
          </c:dPt>
          <c:dPt>
            <c:idx val="3"/>
            <c:spPr>
              <a:solidFill>
                <a:srgbClr val="E00036"/>
              </a:solidFill>
            </c:spPr>
          </c:dPt>
          <c:dPt>
            <c:idx val="4"/>
            <c:spPr>
              <a:solidFill>
                <a:srgbClr val="58595B"/>
              </a:solidFill>
            </c:spPr>
          </c:dPt>
          <c:dPt>
            <c:idx val="5"/>
            <c:spPr>
              <a:solidFill>
                <a:srgbClr val="58595B"/>
              </a:solidFill>
            </c:spPr>
          </c:dPt>
          <c:dPt>
            <c:idx val="6"/>
            <c:spPr>
              <a:solidFill>
                <a:srgbClr val="E00036"/>
              </a:solidFill>
            </c:spPr>
          </c:dPt>
          <c:dPt>
            <c:idx val="7"/>
            <c:spPr>
              <a:solidFill>
                <a:srgbClr val="58595B"/>
              </a:solidFill>
            </c:spPr>
          </c:dPt>
          <c:dPt>
            <c:idx val="8"/>
            <c:spPr>
              <a:solidFill>
                <a:srgbClr val="58595B"/>
              </a:solidFill>
            </c:spPr>
          </c:dPt>
          <c:dPt>
            <c:idx val="9"/>
            <c:spPr>
              <a:solidFill>
                <a:srgbClr val="58595B"/>
              </a:solidFill>
            </c:spPr>
          </c:dPt>
          <c:dLbls>
            <c:numFmt formatCode="0,&quot;k&quot;" sourceLinked="0"/>
            <c:txPr>
              <a:bodyPr/>
              <a:lstStyle/>
              <a:p>
                <a:pPr>
                  <a:defRPr sz="1000" b="1">
                    <a:solidFill>
                      <a:srgbClr val="58595B"/>
                    </a:solidFill>
                    <a:latin typeface="IBM Plex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Green Metro-Campus Dielsdorf</c:v>
                </c:pt>
                <c:pt idx="1">
                  <c:v>Burkhalter Gruppe (Rahmen)</c:v>
                </c:pt>
                <c:pt idx="2">
                  <c:v>ETAVIS / VINCI Energies (Rahmen)</c:v>
                </c:pt>
                <c:pt idx="3">
                  <c:v>Vantage ZRH3 Volketswil</c:v>
                </c:pt>
                <c:pt idx="4">
                  <c:v>Pumpspeicherwerk Grimsel 4</c:v>
                </c:pt>
                <c:pt idx="5">
                  <c:v>Bachem Werk Sisslerfeld</c:v>
                </c:pt>
                <c:pt idx="6">
                  <c:v>STACK ZUR02 Beringen</c:v>
                </c:pt>
                <c:pt idx="7">
                  <c:v>Kantonsspital Aarau «Dreiklang»</c:v>
                </c:pt>
                <c:pt idx="8">
                  <c:v>Sisikoner Tunnel</c:v>
                </c:pt>
                <c:pt idx="9">
                  <c:v>2. Gotthardröhre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23500.0</c:v>
                </c:pt>
                <c:pt idx="1">
                  <c:v>25400.0</c:v>
                </c:pt>
                <c:pt idx="2">
                  <c:v>27800.0</c:v>
                </c:pt>
                <c:pt idx="3">
                  <c:v>28000.0</c:v>
                </c:pt>
                <c:pt idx="4">
                  <c:v>33100.0</c:v>
                </c:pt>
                <c:pt idx="5">
                  <c:v>33900.0</c:v>
                </c:pt>
                <c:pt idx="6">
                  <c:v>37000.0</c:v>
                </c:pt>
                <c:pt idx="7">
                  <c:v>38000.0</c:v>
                </c:pt>
                <c:pt idx="8">
                  <c:v>66100.0</c:v>
                </c:pt>
                <c:pt idx="9">
                  <c:v>66100.0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6D6D6"/>
            </a:solidFill>
          </a:ln>
        </c:spPr>
        <c:txPr>
          <a:bodyPr/>
          <a:lstStyle/>
          <a:p>
            <a:pPr>
              <a:defRPr sz="1050">
                <a:solidFill>
                  <a:srgbClr val="58595B"/>
                </a:solidFill>
                <a:latin typeface="IBM Plex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C3F216-10B7-4AF9-B20D-22D47690FF11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6C0DF8-A47B-4B8D-A8E9-43D73CFC88C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4955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 aufgebaut: nur Projekte mit mehr als CHF 50'000 Power-Potenzial. Jede Zahl ist in der Excel nachvollziehbar und rechnet mit unseren eigenen Sätzen neu.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Erwartung 2027 = Potenzial × Anteil 2027 × Gewinnwahrscheinlichkeit. Das ist die Zahl, mit der wir planen. Das Brutto-Potenzial zeigt, was möglich ist, wenn wir alles gewinnen.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RZ-Markt wächst schneller als das Netz. Genau diese Lücke füllen wir mit mobiler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Grau ist das Brutto-Potenzial, rot die gewichtete Erwartung 2027. Rechenzentren haben das grösste Potenzial, Infrastruktur die höchste Erwartung, weil die Laufzeiten lang und die Termine fix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Hot Leads sind STACK Beringen und Green Lupfig: Commissioning läuft jetzt bzw. 2027 in Phasen. Digital Realty und Vantage kommen 2028, der Zugang muss aber 2027 aufgebaut werden, am besten schon mit Baustrom.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Reihenfolge ergibt sich aus der Erwartung 2027. Ändern sich Wahrscheinlichkeiten, ändert sich das Ranking automatisch in der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Generator ist überall Kernprodukt. Lastbank ist das RZ-Produkt, der mobile Trafo das Netzprodukt, BESS gewinnt bei Events und Nachtbaustellen, weil es leise ist. Einschätzung aus den Szenarien der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Modell ist bewusst konservativ. Sobald wir unsere eigenen Sätze eintragen, wird die Zahl belastbar.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gehen mit Power rein und nehmen Wärme und Kälte mit. Beim RZ-IST ist Kühlung oft nicht fertig, auf Winterbaustellen braucht es Bauheizung, und WEF und Ski-WM brauchen Zeltheizung. Dieselpreis TCS 18.09.2026: 2,41 CHF/l.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Tunnel, Grimsel und Bachem bringen ganzjährige Mieten. Bei KSA, Axpo Niederurnen und CKW sind die Termine 2027 fix. Öffentliche Beschaffung bei ASTRA, SBB, ewz, USZ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Szenario-Grössen bei Events sind Annahmen. Die Ski-WM ist rot markiert, weil sie 2027 stattfindet und die Beschaffung jetzt läuft.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 Aggreko-Portfolio: aggreko.com (Data Centre Commissioning, Load Banks). Im Markt sind vor allem Generator-Vermieter bis 2 MVA; kaum jemand bietet das komplette Commissioning-Paket.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Reihenfolge nach Dringlichkeit: Commissioning und Events laufen, bevor die grossen RZ 2028 kommen.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8C4AD08-CCEA-4339-A7F6-F3BEBF3710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"/>
            <a:ext cx="12191998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42309C-2688-4A5B-A18C-61F955C29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9450" y="1099854"/>
            <a:ext cx="5750179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418234B-2462-444A-903A-3DE578CD5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B13E9AF-71AD-4E87-8C31-837E61A60A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95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090C346-FC05-4F09-8304-9007A0A807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2"/>
            <a:ext cx="12191998" cy="6857998"/>
          </a:xfrm>
          <a:prstGeom prst="rect">
            <a:avLst/>
          </a:prstGeom>
        </p:spPr>
      </p:pic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FFAD7E4-B14A-4D52-AEBF-E8548A1E0DE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066925" y="2727762"/>
            <a:ext cx="1814513" cy="181282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4C9D3802-4200-4EC8-9ED7-08F3172FF47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138613" y="2727762"/>
            <a:ext cx="1816894" cy="181168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0815642B-5485-458F-BBCD-C442AFA77EF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215063" y="2727762"/>
            <a:ext cx="1814513" cy="181168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72941E1B-08BA-4234-9C9F-2CD06FB30A3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289131" y="2727762"/>
            <a:ext cx="1814513" cy="181168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3EB270E-1C97-44F5-8800-B65A4C266F4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167238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85288D32-DC35-408B-AC76-EE60EB6776C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240040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9EC48F9A-EC4F-41E8-A934-AA816590D44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07508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D09970B5-13FA-41F5-B55F-17BE62E9733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74976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3" name="Titel 1">
            <a:extLst>
              <a:ext uri="{FF2B5EF4-FFF2-40B4-BE49-F238E27FC236}">
                <a16:creationId xmlns:a16="http://schemas.microsoft.com/office/drawing/2014/main" id="{42637617-4607-4F52-8C45-9D8CBE7D4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EA1E6C2-741A-4E88-B1E7-6002B973D20B}"/>
              </a:ext>
            </a:extLst>
          </p:cNvPr>
          <p:cNvSpPr/>
          <p:nvPr userDrawn="1"/>
        </p:nvSpPr>
        <p:spPr>
          <a:xfrm>
            <a:off x="2626614" y="4542438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C7DC9-4494-4976-86D0-E6B845AF0934}"/>
              </a:ext>
            </a:extLst>
          </p:cNvPr>
          <p:cNvSpPr/>
          <p:nvPr userDrawn="1"/>
        </p:nvSpPr>
        <p:spPr>
          <a:xfrm>
            <a:off x="4701225" y="4542437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2962D92-BA8F-4C32-AD4D-FC85CCB1E393}"/>
              </a:ext>
            </a:extLst>
          </p:cNvPr>
          <p:cNvSpPr/>
          <p:nvPr userDrawn="1"/>
        </p:nvSpPr>
        <p:spPr>
          <a:xfrm>
            <a:off x="6777848" y="4541657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F43D4DD-A1AA-4193-AC54-7FC4131B1143}"/>
              </a:ext>
            </a:extLst>
          </p:cNvPr>
          <p:cNvSpPr/>
          <p:nvPr userDrawn="1"/>
        </p:nvSpPr>
        <p:spPr>
          <a:xfrm>
            <a:off x="8851917" y="4539443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EB4373D-90C6-EFE5-ADB6-72DD6C228EF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532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A2C2AB9-2E16-4CFD-A87C-E007944142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1998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470F61A-BFF1-470C-9364-F5D19D5B1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C0F973-F24C-4BC9-AA70-5EE18837E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3668" y="1825625"/>
            <a:ext cx="8186058" cy="4351338"/>
          </a:xfrm>
        </p:spPr>
        <p:txBody>
          <a:bodyPr>
            <a:normAutofit/>
          </a:bodyPr>
          <a:lstStyle>
            <a:lvl1pPr marL="228600" indent="-228600" algn="l">
              <a:buSzPct val="65000"/>
              <a:buFontTx/>
              <a:buBlip>
                <a:blip r:embed="rId3"/>
              </a:buBlip>
              <a:defRPr sz="1600"/>
            </a:lvl1pPr>
            <a:lvl2pPr marL="685800" indent="-228600">
              <a:buSzPct val="65000"/>
              <a:buFontTx/>
              <a:buBlip>
                <a:blip r:embed="rId3"/>
              </a:buBlip>
              <a:defRPr sz="1200"/>
            </a:lvl2pPr>
            <a:lvl3pPr marL="1143000" indent="-228600">
              <a:buSzPct val="65000"/>
              <a:buFontTx/>
              <a:buBlip>
                <a:blip r:embed="rId3"/>
              </a:buBlip>
              <a:defRPr sz="1200"/>
            </a:lvl3pPr>
            <a:lvl4pPr marL="1600200" indent="-228600">
              <a:buSzPct val="65000"/>
              <a:buFontTx/>
              <a:buBlip>
                <a:blip r:embed="rId3"/>
              </a:buBlip>
              <a:defRPr sz="1200"/>
            </a:lvl4pPr>
            <a:lvl5pPr marL="2057400" indent="-228600">
              <a:buSzPct val="65000"/>
              <a:buFontTx/>
              <a:buBlip>
                <a:blip r:embed="rId3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CB7EF9-81A9-DD61-A9E2-8C0CA92E66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265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paltiger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A1393E8F-3111-4C45-B8A4-C56E361ECA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2"/>
            <a:ext cx="12191998" cy="6857998"/>
          </a:xfrm>
          <a:prstGeom prst="rect">
            <a:avLst/>
          </a:prstGeom>
        </p:spPr>
      </p:pic>
      <p:sp>
        <p:nvSpPr>
          <p:cNvPr id="9" name="Titel 1">
            <a:extLst>
              <a:ext uri="{FF2B5EF4-FFF2-40B4-BE49-F238E27FC236}">
                <a16:creationId xmlns:a16="http://schemas.microsoft.com/office/drawing/2014/main" id="{59BB3122-9142-4D1B-A6E2-35DBC9CE5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4" name="Textplatzhalter 10">
            <a:extLst>
              <a:ext uri="{FF2B5EF4-FFF2-40B4-BE49-F238E27FC236}">
                <a16:creationId xmlns:a16="http://schemas.microsoft.com/office/drawing/2014/main" id="{0F4CC725-F445-4506-BEFA-34A4C0E55F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3668" y="3237829"/>
            <a:ext cx="2208258" cy="2282416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5FDD260C-84D6-4544-872E-959C029D05C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93668" y="1827802"/>
            <a:ext cx="2208258" cy="11842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21" name="Textplatzhalter 10">
            <a:extLst>
              <a:ext uri="{FF2B5EF4-FFF2-40B4-BE49-F238E27FC236}">
                <a16:creationId xmlns:a16="http://schemas.microsoft.com/office/drawing/2014/main" id="{CD3E9369-187D-4372-AA9A-8FDC9466D6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56887" y="3237829"/>
            <a:ext cx="2208258" cy="2282416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Bildplatzhalter 15">
            <a:extLst>
              <a:ext uri="{FF2B5EF4-FFF2-40B4-BE49-F238E27FC236}">
                <a16:creationId xmlns:a16="http://schemas.microsoft.com/office/drawing/2014/main" id="{6AC3D96C-E376-4496-8396-14AFE566833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56887" y="1827802"/>
            <a:ext cx="2208258" cy="11842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FAB112F8-C380-4BE3-9FFE-14099544691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920107" y="1827802"/>
            <a:ext cx="2208258" cy="11842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FECCD7BD-2FC8-45A2-834F-738044E512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920107" y="3254193"/>
            <a:ext cx="2208258" cy="2282416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A469433A-9482-0D5E-48F9-5B8820860A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5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D958B27-C4C0-4DC2-89B3-195793E4D8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4A9A3E7-3527-4371-9524-4F379DDF2BB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096000" y="1820425"/>
            <a:ext cx="3683726" cy="3573100"/>
          </a:xfrm>
        </p:spPr>
        <p:txBody>
          <a:bodyPr>
            <a:normAutofit/>
          </a:bodyPr>
          <a:lstStyle>
            <a:lvl1pPr marL="228600" indent="-228600">
              <a:buSzPct val="65000"/>
              <a:buFontTx/>
              <a:buBlip>
                <a:blip r:embed="rId3"/>
              </a:buBlip>
              <a:defRPr sz="1600"/>
            </a:lvl1pPr>
            <a:lvl2pPr marL="685800" indent="-228600">
              <a:buSzPct val="65000"/>
              <a:buFontTx/>
              <a:buBlip>
                <a:blip r:embed="rId3"/>
              </a:buBlip>
              <a:defRPr/>
            </a:lvl2pPr>
            <a:lvl3pPr marL="1143000" indent="-228600">
              <a:buSzPct val="65000"/>
              <a:buFontTx/>
              <a:buBlip>
                <a:blip r:embed="rId3"/>
              </a:buBlip>
              <a:defRPr/>
            </a:lvl3pPr>
            <a:lvl4pPr marL="1600200" indent="-228600">
              <a:buSzPct val="65000"/>
              <a:buFontTx/>
              <a:buBlip>
                <a:blip r:embed="rId3"/>
              </a:buBlip>
              <a:defRPr/>
            </a:lvl4pPr>
            <a:lvl5pPr marL="2057400" indent="-228600">
              <a:buSzPct val="65000"/>
              <a:buFontTx/>
              <a:buBlip>
                <a:blip r:embed="rId3"/>
              </a:buBlip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72982F4-5269-4AB4-9EB3-AC41E69B7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53ADC18A-80C4-4D43-8CA5-75B11F97F05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1593668" y="1820425"/>
            <a:ext cx="3683726" cy="3573100"/>
          </a:xfrm>
        </p:spPr>
        <p:txBody>
          <a:bodyPr>
            <a:normAutofit/>
          </a:bodyPr>
          <a:lstStyle>
            <a:lvl1pPr marL="228600" indent="-228600">
              <a:buSzPct val="65000"/>
              <a:buFontTx/>
              <a:buBlip>
                <a:blip r:embed="rId3"/>
              </a:buBlip>
              <a:defRPr sz="1600"/>
            </a:lvl1pPr>
            <a:lvl2pPr marL="685800" indent="-228600">
              <a:buSzPct val="65000"/>
              <a:buFontTx/>
              <a:buBlip>
                <a:blip r:embed="rId3"/>
              </a:buBlip>
              <a:defRPr sz="1200"/>
            </a:lvl2pPr>
            <a:lvl3pPr marL="1143000" indent="-228600">
              <a:buSzPct val="65000"/>
              <a:buFontTx/>
              <a:buBlip>
                <a:blip r:embed="rId3"/>
              </a:buBlip>
              <a:defRPr sz="1200"/>
            </a:lvl3pPr>
            <a:lvl4pPr marL="1600200" indent="-228600">
              <a:buSzPct val="65000"/>
              <a:buFontTx/>
              <a:buBlip>
                <a:blip r:embed="rId3"/>
              </a:buBlip>
              <a:defRPr sz="1200"/>
            </a:lvl4pPr>
            <a:lvl5pPr marL="2057400" indent="-228600">
              <a:buSzPct val="65000"/>
              <a:buFontTx/>
              <a:buBlip>
                <a:blip r:embed="rId3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A63A9A8A-A1D3-5382-E4C3-0BD51353C2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55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Ein Bild, das Text enthält.&#10;&#10;Automatisch generierte Beschreibung">
            <a:extLst>
              <a:ext uri="{FF2B5EF4-FFF2-40B4-BE49-F238E27FC236}">
                <a16:creationId xmlns:a16="http://schemas.microsoft.com/office/drawing/2014/main" id="{CFBCAEAA-4DDA-4F17-9400-0295ADD07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0071" y="498545"/>
            <a:ext cx="1775233" cy="60196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94692BF-4805-4E05-8202-13FDEC24DBE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1336"/>
            <a:ext cx="12191998" cy="6857999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C0F973-F24C-4BC9-AA70-5EE18837E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3668" y="1825625"/>
            <a:ext cx="6287590" cy="4351338"/>
          </a:xfrm>
        </p:spPr>
        <p:txBody>
          <a:bodyPr>
            <a:normAutofit/>
          </a:bodyPr>
          <a:lstStyle>
            <a:lvl1pPr marL="228600" indent="-228600">
              <a:buSzPct val="65000"/>
              <a:buFontTx/>
              <a:buBlip>
                <a:blip r:embed="rId4"/>
              </a:buBlip>
              <a:defRPr sz="1600"/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81E9DD8-297E-4B1E-8FF7-69BF02BB0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9" y="365125"/>
            <a:ext cx="6287590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0E30DD3-E948-4E77-B79C-698D69BDD6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53550" y="495765"/>
            <a:ext cx="1768278" cy="598856"/>
          </a:xfrm>
          <a:prstGeom prst="rect">
            <a:avLst/>
          </a:prstGeom>
        </p:spPr>
      </p:pic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8E5A6AA4-02DA-41D7-89FE-61B87DBA549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850055" y="2329092"/>
            <a:ext cx="1775191" cy="773025"/>
          </a:xfrm>
        </p:spPr>
        <p:txBody>
          <a:bodyPr>
            <a:normAutofit/>
          </a:bodyPr>
          <a:lstStyle>
            <a:lvl1pPr marL="0" indent="0">
              <a:buSzPct val="65000"/>
              <a:buFontTx/>
              <a:buNone/>
              <a:defRPr sz="1200">
                <a:solidFill>
                  <a:schemeClr val="bg1"/>
                </a:solidFill>
              </a:defRPr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36F7FF0E-E7A3-4D90-8786-0C4D443440A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50025" y="3858536"/>
            <a:ext cx="1775221" cy="773025"/>
          </a:xfrm>
        </p:spPr>
        <p:txBody>
          <a:bodyPr>
            <a:normAutofit/>
          </a:bodyPr>
          <a:lstStyle>
            <a:lvl1pPr marL="0" indent="0">
              <a:buSzPct val="65000"/>
              <a:buFontTx/>
              <a:buNone/>
              <a:defRPr sz="1200">
                <a:solidFill>
                  <a:schemeClr val="bg1"/>
                </a:solidFill>
              </a:defRPr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2B14CB79-F3BC-4DAE-8715-8B6A446A00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50012" y="1825625"/>
            <a:ext cx="1775233" cy="34860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Textplatzhalter 11">
            <a:extLst>
              <a:ext uri="{FF2B5EF4-FFF2-40B4-BE49-F238E27FC236}">
                <a16:creationId xmlns:a16="http://schemas.microsoft.com/office/drawing/2014/main" id="{3E4DD723-49AF-4F18-AE0F-C841C6E15B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50010" y="3351445"/>
            <a:ext cx="1775233" cy="34860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Textplatzhalter 11">
            <a:extLst>
              <a:ext uri="{FF2B5EF4-FFF2-40B4-BE49-F238E27FC236}">
                <a16:creationId xmlns:a16="http://schemas.microsoft.com/office/drawing/2014/main" id="{F661758D-77AB-4668-BFEE-EEF1E36D7A4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850011" y="4880889"/>
            <a:ext cx="1775233" cy="34860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Inhaltsplatzhalter 2">
            <a:extLst>
              <a:ext uri="{FF2B5EF4-FFF2-40B4-BE49-F238E27FC236}">
                <a16:creationId xmlns:a16="http://schemas.microsoft.com/office/drawing/2014/main" id="{5427F5A2-E8C9-4161-95E6-981C27F4C38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50026" y="5387980"/>
            <a:ext cx="1775221" cy="773025"/>
          </a:xfrm>
        </p:spPr>
        <p:txBody>
          <a:bodyPr>
            <a:normAutofit/>
          </a:bodyPr>
          <a:lstStyle>
            <a:lvl1pPr marL="0" indent="0">
              <a:buSzPct val="65000"/>
              <a:buFontTx/>
              <a:buNone/>
              <a:defRPr sz="1200">
                <a:solidFill>
                  <a:schemeClr val="bg1"/>
                </a:solidFill>
              </a:defRPr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76625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spaltiger Text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CEA1C9C-B676-4818-A35E-2881BED83B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Titel 1">
            <a:extLst>
              <a:ext uri="{FF2B5EF4-FFF2-40B4-BE49-F238E27FC236}">
                <a16:creationId xmlns:a16="http://schemas.microsoft.com/office/drawing/2014/main" id="{429ABAAF-597E-48AA-ACAA-E26798319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Textplatzhalter 10">
            <a:extLst>
              <a:ext uri="{FF2B5EF4-FFF2-40B4-BE49-F238E27FC236}">
                <a16:creationId xmlns:a16="http://schemas.microsoft.com/office/drawing/2014/main" id="{E2F1621E-A11E-413E-BF60-AB8DBFF575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3668" y="1819864"/>
            <a:ext cx="3927407" cy="3826828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 10">
            <a:extLst>
              <a:ext uri="{FF2B5EF4-FFF2-40B4-BE49-F238E27FC236}">
                <a16:creationId xmlns:a16="http://schemas.microsoft.com/office/drawing/2014/main" id="{D5186E57-7B82-4B4E-918D-AED972A7AA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0842" y="1819864"/>
            <a:ext cx="3927407" cy="3826828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F81D870-9057-FD6C-EA3A-90D25E24DA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764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A8427B2E-9ECE-406F-B5FF-464168F28D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9D967CA-5E45-4978-9547-543947093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8550" y="2211784"/>
            <a:ext cx="4914900" cy="2434432"/>
          </a:xfrm>
        </p:spPr>
        <p:txBody>
          <a:bodyPr/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B8315E9-0451-4C76-6A4B-2B156C11EC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42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156DAC-B155-4CC8-A2B9-C3CE8EDDE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A293962-EC99-4E80-B203-63B4EC528C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3804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2E0FE4-44FA-4B24-BDB1-789C0DB3B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E34322-460C-4E7B-8EC8-C053E4943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FE0A0F-E3E0-4FD3-AA72-B7269B3BC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4EE2E2-64DE-48A4-AAA5-4C97C3AD2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D16CB7-CF9C-4E02-A683-6760AE24F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0377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290AF-3F32-4B4C-8419-5EE63019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7DDF56-3A91-4095-9D8D-38B89CF7D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16A4A1C-9D90-4FC7-80DF-06DECB1F4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CB67CF-1CEF-42A9-B9CB-518AEC677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54D6EEF-FD7D-4A3B-A0F2-FFE63B3FE0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CE5932-43C8-42E1-A3CD-06739118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F8501A-D877-48C2-A9E2-8E5A226AD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7F0CB81-31D2-4463-9A5B-64849CE8B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9464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81219A-09CB-4761-BA5C-EB929FBCB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E488CC2-309C-485A-A166-EE27F5BAC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9A6487-0A3C-441C-B5CD-7FA803064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700742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9374E2-254C-48C9-B1D3-1BB5FEF6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69AA159-5C4E-4960-9296-F79DF711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302388-B7DB-4205-9B76-97760E8A0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0B132E-570A-40B1-A9E1-7A15B1D66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98FBCF-DFF1-44D3-9192-330237074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494596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908B97F-2E0C-4EFF-B0D5-EC908B9162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A2AC456-57A1-46E9-8F18-85A41CF688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9DBED2-AB2C-49EA-AD16-0041F1657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FFE4F-05A8-4716-A7EC-122ACCC3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3DD00E-14A7-4781-AB15-70A456DD7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043805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E0E6A73-61E1-4804-855F-B987EA4C1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35F25A-7B5B-4C07-AFD7-73D88541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E89411-2BDA-41F5-9C09-FE32A94DB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C86E8A-62B6-473B-A2E3-C1C1D489AE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31B0EF-9DDB-4F87-9204-401158E669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8465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60" r:id="rId4"/>
    <p:sldLayoutId id="2147483652" r:id="rId5"/>
    <p:sldLayoutId id="2147483662" r:id="rId6"/>
    <p:sldLayoutId id="2147483657" r:id="rId7"/>
    <p:sldLayoutId id="2147483654" r:id="rId8"/>
    <p:sldLayoutId id="2147483656" r:id="rId9"/>
    <p:sldLayoutId id="2147483651" r:id="rId10"/>
    <p:sldLayoutId id="2147483653" r:id="rId11"/>
    <p:sldLayoutId id="2147483655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60520" y="14173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58595B"/>
                </a:solidFill>
                <a:latin typeface="IBM Plex Sans"/>
              </a:rPr>
              <a:t>Mobil in Time AG · An Aggreko Company · Strom Schweiz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60520" y="1874519"/>
            <a:ext cx="7132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lata"/>
              </a:rPr>
              <a:t>Top-Player Power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lata"/>
              </a:rPr>
              <a:t>Schweiz 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60520" y="3767328"/>
            <a:ext cx="1280160" cy="4572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0520" y="4041648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8595B"/>
                </a:solidFill>
                <a:latin typeface="IBM Plex Sans"/>
              </a:rPr>
              <a:t>Wo 2027 die Power-Aufträge über CHF 50'000 liegen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8595B"/>
                </a:solidFill>
                <a:latin typeface="IBM Plex Sans"/>
              </a:rPr>
              <a:t>Burak Ücöz · Area Sales Engineer · 27.09.2026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06040"/>
            <a:ext cx="2011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lata"/>
              </a:rPr>
              <a:t>5,3 Mio.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BM Plex Sans"/>
              </a:rPr>
              <a:t>CHF Potenzial brutto</a:t>
            </a: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lata"/>
              </a:rPr>
              <a:t>0,74 Mio.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BM Plex Sans"/>
              </a:rPr>
              <a:t>CHF Erwartung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01 · Kurzfassung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38 Projekte, 0,74 Mio. CHF realistisch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Top-Player über CHF 50'000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5,3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Mio. CHF Potenzial brutto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0,74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Mio. CHF Erwartung 2027 (gewichtet)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95744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5744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Rechenzentren im Fokus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17736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Prio A: Erwartung ab CHF 25'000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" y="4160520"/>
            <a:ext cx="10908792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407408"/>
            <a:ext cx="10085832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Kernaussage: </a:t>
            </a:r>
            <a:r>
              <a:rPr sz="1500" b="0">
                <a:solidFill>
                  <a:srgbClr val="E6E6E6"/>
                </a:solidFill>
                <a:latin typeface="IBM Plex Sans"/>
              </a:rPr>
              <a:t>Die grössten Einzeltickets liegen in Rechenzentren. Das sicherste Volumen liefern Tunnel, Netz und Spitäler mit langen Laufzeiten.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02 · Warum jetzt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Drei Treiber machen 2027 zum Power-Jahr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3502152" cy="324612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Rechenzentrums-Boom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88920"/>
            <a:ext cx="29169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EKZ meldet über 100 Anschlussanfragen von Rechenzentren.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6 von 9 neuen EKZ-Unterwerken entstehen für RZ.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STACK 36 MW, Digital Realty 15 MW, Vantage 100+ MW.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3087" y="1965960"/>
            <a:ext cx="3502152" cy="32461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Netzengpass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788920"/>
            <a:ext cx="29169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Der Engpass liegt im Vornetz von Axpo und Swissgrid.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Neue Unterwerke kommen später als die Gebäude.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Dazwischen braucht es Generator- oder BESS-Überbrückung.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36408" y="1965960"/>
            <a:ext cx="3502152" cy="32461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901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Commissioning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88920"/>
            <a:ext cx="29169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Integrated Systems Test (Level 5): Last ≈ IT-Last.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Stufen 25 / 50 / 75 / 100 %, dann Volllast über Stunden.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IST-Fenster 4 bis 6 Wochen je Programm, Mängel erzwingen Re-Tests.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8595B"/>
                </a:solidFill>
                <a:latin typeface="IBM Plex Sans"/>
              </a:rPr>
              <a:t>Quellen: ekz.ch (2025), stackinfra.com, investor.digitalrealty.com (27.08.2026), anvilfield.com, sunbeltsolomon.com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03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Wo das Geld liegt: Potenzial und Erwartung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768" y="1828800"/>
          <a:ext cx="75895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8275320" y="1920240"/>
            <a:ext cx="3063240" cy="196596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21031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BM Plex Sans"/>
              </a:rPr>
              <a:t>Rechenzentren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487168"/>
            <a:ext cx="2651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1,8 Mio. CHF brutto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grösste Einzeltickets,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aber Beschaffung oft EMEA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4069080"/>
            <a:ext cx="3063240" cy="19659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2519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BM Plex Sans"/>
              </a:rPr>
              <a:t>Infrastruktur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636008"/>
            <a:ext cx="2651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248k CHF Erwartung 2027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Tunnel-Backup über 52 Wochen: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planbarstes Volumen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04 · Rechenzentren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Die Commissioning-Welle: 1,8 Mio. CHF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5806440"/>
            <a:ext cx="9966960" cy="0"/>
          </a:xfrm>
          <a:prstGeom prst="line">
            <a:avLst/>
          </a:prstGeom>
          <a:ln w="22225">
            <a:solidFill>
              <a:srgbClr val="5859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61663" y="5733288"/>
            <a:ext cx="0" cy="146304"/>
          </a:xfrm>
          <a:prstGeom prst="line">
            <a:avLst/>
          </a:prstGeom>
          <a:ln w="19050">
            <a:solidFill>
              <a:srgbClr val="5859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07550" y="5733288"/>
            <a:ext cx="0" cy="146304"/>
          </a:xfrm>
          <a:prstGeom prst="line">
            <a:avLst/>
          </a:prstGeom>
          <a:ln w="19050">
            <a:solidFill>
              <a:srgbClr val="5859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76551" y="5879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595B"/>
                </a:solidFill>
                <a:latin typeface="Alata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5966" y="5879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595B"/>
                </a:solidFill>
                <a:latin typeface="Alata"/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1853" y="5879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595B"/>
                </a:solidFill>
                <a:latin typeface="Alata"/>
              </a:rPr>
              <a:t>2028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25191" y="5106924"/>
            <a:ext cx="0" cy="699516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361667" y="3579876"/>
            <a:ext cx="1527048" cy="1527048"/>
          </a:xfrm>
          <a:prstGeom prst="ellipse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36 MW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155" y="411480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STACK Beringen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Herbst 2026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9506" y="3257450"/>
            <a:ext cx="0" cy="254899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235255" y="2228949"/>
            <a:ext cx="1028500" cy="1028500"/>
          </a:xfrm>
          <a:prstGeom prst="ellipse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Alata"/>
              </a:rPr>
              <a:t>12 MW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196" y="251460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Green Lupfig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2026/27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22449" y="4725657"/>
            <a:ext cx="0" cy="1080783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240192" y="3961142"/>
            <a:ext cx="764515" cy="764515"/>
          </a:xfrm>
          <a:prstGeom prst="ellipse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Alata"/>
              </a:rPr>
              <a:t>4.5 MW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6147" y="411480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NorthC Arlesheim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Mitte 2027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44022" y="4725657"/>
            <a:ext cx="0" cy="1080783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361764" y="3961142"/>
            <a:ext cx="764515" cy="764515"/>
          </a:xfrm>
          <a:prstGeom prst="ellipse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Alata"/>
              </a:rPr>
              <a:t>4.5 MW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0164" y="4114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NorthC Genf</a:t>
            </a:r>
          </a:p>
          <a:p>
            <a:pPr algn="r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Q2 2028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68336" y="3297642"/>
            <a:ext cx="0" cy="2508798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813894" y="2188757"/>
            <a:ext cx="1108885" cy="1108885"/>
          </a:xfrm>
          <a:prstGeom prst="ellipse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Alata"/>
              </a:rPr>
              <a:t>15 MW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2294" y="25146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Digital Realty ZUR4</a:t>
            </a:r>
          </a:p>
          <a:p>
            <a:pPr algn="r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2028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16965" y="5500116"/>
            <a:ext cx="0" cy="306324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460249" y="3186684"/>
            <a:ext cx="2313432" cy="2313432"/>
          </a:xfrm>
          <a:prstGeom prst="ellipse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100 MW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02565" y="268376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Vantage ZRH3</a:t>
            </a:r>
          </a:p>
          <a:p>
            <a:pPr algn="ctr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IBM Plex Sans"/>
              </a:rPr>
              <a:t>Phase 1 2028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1783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8595B"/>
                </a:solidFill>
                <a:latin typeface="IBM Plex Sans"/>
              </a:rPr>
              <a:t>Kreisfläche ≈ IT-Leistung. Zusätzlich: Green Dielsdorf (Bau 2026-28), FlexBase Laufenburg (2028, unsicher).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05 · Top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Die zehn Projekte mit der höchsten Erwartung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768" y="1783080"/>
          <a:ext cx="749807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0" y="1874519"/>
            <a:ext cx="3108960" cy="4206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2057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BM Plex Sans"/>
              </a:rPr>
              <a:t>Lesehilfe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514600"/>
            <a:ext cx="26974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8595B"/>
                </a:solidFill>
                <a:latin typeface="IBM Plex Sans"/>
              </a:rPr>
              <a:t>Rot = Rechenzentrum, grau = übrige.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58595B"/>
                </a:solidFill>
                <a:latin typeface="IBM Plex Sans"/>
              </a:rPr>
              <a:t/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58595B"/>
                </a:solidFill>
                <a:latin typeface="IBM Plex Sans"/>
              </a:rPr>
              <a:t>Tunnel führen, weil Backup-Generatoren über ein ganzes Jahr laufen.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58595B"/>
                </a:solidFill>
                <a:latin typeface="IBM Plex Sans"/>
              </a:rPr>
              <a:t/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58595B"/>
                </a:solidFill>
                <a:latin typeface="IBM Plex Sans"/>
              </a:rPr>
              <a:t>Vantage hat das grösste Potenzial (700k CHF), aber nur 10 % Wahrscheinlichkeit.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06 · Produktbedarf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Was die Top-Player an Power brauchen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178308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IBM Plex Sans"/>
              </a:rPr>
              <a:t>Generator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178308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IBM Plex Sans"/>
              </a:rPr>
              <a:t>Lastbank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04688" y="178308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IBM Plex Sans"/>
              </a:rPr>
              <a:t>BESS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7728" y="178308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IBM Plex Sans"/>
              </a:rPr>
              <a:t>Mobiler Trafo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78308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IBM Plex Sans"/>
              </a:rPr>
              <a:t>NEA-Test / USV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93808" y="178308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IBM Plex Sans"/>
              </a:rPr>
              <a:t>Tank / HVO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2585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Rechenzentren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8608" y="2148840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41648" y="2148840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04688" y="2148840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67728" y="2148840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2148840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3808" y="2148840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277977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Infrastruktur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78608" y="2670048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41648" y="2670048"/>
            <a:ext cx="1417320" cy="4754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04688" y="2670048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67728" y="2670048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2670048"/>
            <a:ext cx="1417320" cy="4754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93808" y="2670048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" y="330098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Netz / Unterwerk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78608" y="3191256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41648" y="3191256"/>
            <a:ext cx="1417320" cy="4754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04688" y="3191256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67728" y="3191256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30768" y="3191256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93808" y="3191256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382219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Spitäler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78608" y="3712464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1648" y="3712464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4688" y="3712464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67728" y="3712464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30768" y="3712464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93808" y="3712464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3434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Industrie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78608" y="4233672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41648" y="4233672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04688" y="4233672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67728" y="4233672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30768" y="4233672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93808" y="4233672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9768" y="486460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Events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78608" y="4754880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41648" y="4754880"/>
            <a:ext cx="1417320" cy="4754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504688" y="4754880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67728" y="4754880"/>
            <a:ext cx="1417320" cy="4754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30768" y="4754880"/>
            <a:ext cx="1417320" cy="4754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3808" y="4754880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9768" y="538581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BM Plex Sans"/>
              </a:rPr>
              <a:t>Kanal-Partner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78608" y="5276088"/>
            <a:ext cx="1417320" cy="47548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041648" y="5276088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504688" y="5276088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967728" y="5276088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430768" y="5276088"/>
            <a:ext cx="1417320" cy="47548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3808" y="5276088"/>
            <a:ext cx="1417320" cy="47548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78608" y="5934456"/>
            <a:ext cx="274320" cy="20116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44368" y="59161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8595B"/>
                </a:solidFill>
                <a:latin typeface="IBM Plex Sans"/>
              </a:rPr>
              <a:t>Kernbedarf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07408" y="5934456"/>
            <a:ext cx="274320" cy="201168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73168" y="59161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8595B"/>
                </a:solidFill>
                <a:latin typeface="IBM Plex Sans"/>
              </a:rPr>
              <a:t>häufig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36208" y="5934456"/>
            <a:ext cx="274320" cy="20116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1968" y="59161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8595B"/>
                </a:solidFill>
                <a:latin typeface="IBM Plex Sans"/>
              </a:rPr>
              <a:t>gelegentlich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65008" y="5934456"/>
            <a:ext cx="274320" cy="2011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30768" y="59161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8595B"/>
                </a:solidFill>
                <a:latin typeface="IBM Plex Sans"/>
              </a:rPr>
              <a:t>kaum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07 · Rechenweg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800" b="0">
                <a:solidFill>
                  <a:srgbClr val="000000"/>
                </a:solidFill>
                <a:latin typeface="Alata"/>
              </a:rPr>
              <a:t>So entsteht jede Zahl in der Liste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2377440" cy="11887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" y="21031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BM Plex Sans"/>
              </a:rPr>
              <a:t>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2487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6E6"/>
                </a:solidFill>
                <a:latin typeface="IBM Plex Sans"/>
              </a:rPr>
              <a:t>MVA × Wochen × CHF 4'239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224028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8595B"/>
                </a:solidFill>
                <a:latin typeface="Alata"/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1965960"/>
            <a:ext cx="2377440" cy="11887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21031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BM Plex Sans"/>
              </a:rPr>
              <a:t>Lastbank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487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6E6"/>
                </a:solidFill>
                <a:latin typeface="IBM Plex Sans"/>
              </a:rPr>
              <a:t>MW × Wochen × CHF 1'946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24028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8595B"/>
                </a:solidFill>
                <a:latin typeface="Alata"/>
              </a:rPr>
              <a:t>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24728" y="1965960"/>
            <a:ext cx="2377440" cy="11887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07608" y="21031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BM Plex Sans"/>
              </a:rPr>
              <a:t>BESS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7608" y="2487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6E6"/>
                </a:solidFill>
                <a:latin typeface="IBM Plex Sans"/>
              </a:rPr>
              <a:t>MW × Monate × CHF 24'840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2240280"/>
            <a:ext cx="365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8595B"/>
                </a:solidFill>
                <a:latin typeface="Alata"/>
              </a:rPr>
              <a:t>=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33688" y="1965960"/>
            <a:ext cx="2404872" cy="118872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21031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BM Plex Sans"/>
              </a:rPr>
              <a:t>Potenzial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487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BM Plex Sans"/>
              </a:rPr>
              <a:t>× Anteil 2027 × Wahrscheinlichkeit = Erwartung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" y="3429000"/>
            <a:ext cx="10908792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3566160"/>
            <a:ext cx="10332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BM Plex Sans"/>
              </a:rPr>
              <a:t>Beispiel STACK Beringen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39319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8595B"/>
                </a:solidFill>
                <a:latin typeface="IBM Plex Sans"/>
              </a:rPr>
              <a:t>4 MVA × 8 Wochen Generator + 12 MW × 3 Wochen Lastbank = CHF 205'700 Potenzial.  × 60% in 2027 × 30% Gewinnchance = CHF 37'000 Erwartung 2027.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" y="4892040"/>
            <a:ext cx="10908792" cy="11887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138927"/>
            <a:ext cx="100858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FFFFF"/>
                </a:solidFill>
                <a:latin typeface="IBM Plex Sans"/>
              </a:rPr>
              <a:t>Wichtig: </a:t>
            </a:r>
            <a:r>
              <a:rPr sz="1250" b="0">
                <a:solidFill>
                  <a:srgbClr val="E6E6E6"/>
                </a:solidFill>
                <a:latin typeface="IBM Plex Sans"/>
              </a:rPr>
              <a:t>Sätze sind US-Markt-Richtwerte, umgerechnet mit 0,828 CHF/USD (24.09.2026). Öffentliche CH-Preise ab 100 kVA gibt es nicht. Mit MiT-Sätzen in der Excel rechnet alles neu. Trafo, Transport, Service und Treibstoff sind nicht enthalten.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08 · Cross-Sell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Power öffnet die Tür, Wärme und Kälte folgen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9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2788920" y="2468879"/>
            <a:ext cx="3090672" cy="150876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79592" y="2468879"/>
            <a:ext cx="3538727" cy="150876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788920" y="3977639"/>
            <a:ext cx="3090672" cy="1280161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79592" y="3977639"/>
            <a:ext cx="3538727" cy="1280161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97280" y="1874519"/>
            <a:ext cx="3383280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01167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BM Plex Sans"/>
              </a:rPr>
              <a:t>Bauheizung und Trocknung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377439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Tunnel, GU-Baustellen, RZ-Rohbau im Winter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Gotthard, Sisikon, Bachem, Dielsdorf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874519"/>
            <a:ext cx="3383280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201167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BM Plex Sans"/>
              </a:rPr>
              <a:t>Temporäre Kühlung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2377439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RZ-IST, Spital-Umzug, Pharma-Validierung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Richtwert ca. CHF 16'400 pro MW und Monat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663440"/>
            <a:ext cx="3383280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8006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BM Plex Sans"/>
              </a:rPr>
              <a:t>Zelt- und Eventheizung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166359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WEF Davos, Ski-WM Crans-Montana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Heizzentralen sind MiT-Kerngeschäft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79" y="4663440"/>
            <a:ext cx="3383280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48006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BM Plex Sans"/>
              </a:rPr>
              <a:t>BESS-Hybrid und HVO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5166359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1 MVA bei 75 % Last: ca. CHF 349 Diesel pro Stunde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E6E6E6"/>
                </a:solidFill>
                <a:latin typeface="IBM Plex Sans"/>
              </a:rPr>
              <a:t>Hybrid senkt Laufzeit, HVO passt zu NorthC</a:t>
            </a:r>
          </a:p>
        </p:txBody>
      </p:sp>
      <p:sp>
        <p:nvSpPr>
          <p:cNvPr id="23" name="Oval 22"/>
          <p:cNvSpPr/>
          <p:nvPr/>
        </p:nvSpPr>
        <p:spPr>
          <a:xfrm>
            <a:off x="4965192" y="3063239"/>
            <a:ext cx="1828800" cy="1828800"/>
          </a:xfrm>
          <a:prstGeom prst="ellipse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0">
                <a:solidFill>
                  <a:srgbClr val="FFFFFF"/>
                </a:solidFill>
                <a:latin typeface="Alata"/>
              </a:rPr>
              <a:t>Power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09 · Infrastruktur, Netz, Spital, Industrie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Das sichere Volumen: lange Laufzeiten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9768" y="1874519"/>
          <a:ext cx="10908790" cy="40416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054595"/>
                <a:gridCol w="3668443"/>
                <a:gridCol w="1544607"/>
                <a:gridCol w="164114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Projekt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Einstieg über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Potenzial CHF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Erwartung 2027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2. Gotthardröhre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Marti-Gruppe (Hauptlos Süd)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440'900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66'100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Sisikoner Tunnel (Neue Axenstrasse)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Bauherr ASTRA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330'700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66'100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Kantonsspital Aarau «Dreiklang»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TU Implenia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151'900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38'000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Bachem Werk Sisslerfeld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Bachem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169'600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33'900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Pumpspeicherwerk Grimsel 4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KWO (BKW-Beteiligung)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220'400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33'100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Bahnhof Zürich Stadelhofen (4. Gleis)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SBB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129'600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19'400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CKW: UW Sursee und Trafostations-Erneuerung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CKW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76'300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19'100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USZ Campus MITTE1|2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b+p baurealisation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125'400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18'800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Axpo UW Niederurnen (Gesamterneuerung)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Axpo Grid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67'800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17'000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Genève Aéroport Cap2030 / Plateforme multimodale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Losinger Marazzi (LMB)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184'700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16'600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10 ·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Winter 2027 zuerst, ESAF 2028 jetzt offerieren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3502152" cy="306324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FIS Ski-WM Crans-Montana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88920"/>
            <a:ext cx="291693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01. bis 14.02.2027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Broadcast, Fan-Zonen, Hospitality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Offerte auf Französisch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/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IBM Plex Sans"/>
              </a:rPr>
              <a:t>Potenzial CHF 63'300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3087" y="1965960"/>
            <a:ext cx="3502152" cy="3063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WEF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788920"/>
            <a:ext cx="291693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18. bis 22.01.2027, Davos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Pavillons und Sicherheit bei knappem Ortsnetz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Aufbau ab Dezember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/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Potenzial CHF 75'700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36408" y="1965960"/>
            <a:ext cx="3502152" cy="3063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901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ESAF 2028 Thun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88920"/>
            <a:ext cx="291693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25. bis 27.08.2028, Thuner Allmend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Arena, Festgelände, Camping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Konzept 2027, Umsatz 2028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/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E6E6E6"/>
                </a:solidFill>
                <a:latin typeface="IBM Plex Sans"/>
              </a:rPr>
              <a:t>Potenzial CHF 92'700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" y="5257800"/>
            <a:ext cx="10908792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5504688"/>
            <a:ext cx="10085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8595B"/>
                </a:solidFill>
                <a:latin typeface="IBM Plex Sans"/>
              </a:rPr>
              <a:t>Sommer-Openairs (St.Gallen, Frauenfeld, Gurten, Paléo, Montreux) liegen einzeln unter CHF 50'000: als Saisonpaket anbieten.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11 · Wettbewerb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800" b="0">
                <a:solidFill>
                  <a:srgbClr val="000000"/>
                </a:solidFill>
                <a:latin typeface="Alata"/>
              </a:rPr>
              <a:t>Wer sonst mobile Power anbietet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9768" y="1874519"/>
          <a:ext cx="10908791" cy="28163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3456"/>
                <a:gridCol w="797533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Anbieter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Angebot laut eigener Website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Avesco Rent (Cat)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Cat-Generatoren, z.B. XQP500 (550 kVA)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Bimex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Aggregate bis 2'000 kVA, netzparallel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GENGA AG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bis 670 kVA, auf Anfrage bis 2'500 kVA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Kummler+Matter EVT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Mobile Trafostationen MS/NS (Partner und Wettbewerber)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Arag Bau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Generatoren 20 bis 608 kVA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Loxam CH / Boels CH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Generatoren bis ca. 150 kVA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Energyst (Cat Rental Power)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Generatoren, Trafos, Lastbänke; CH vermutlich über Avesco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29768" y="4892040"/>
            <a:ext cx="10908792" cy="11887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138927"/>
            <a:ext cx="100858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IBM Plex Sans"/>
              </a:rPr>
              <a:t>Unser Unterschied: </a:t>
            </a:r>
            <a:r>
              <a:rPr sz="1300" b="0">
                <a:solidFill>
                  <a:srgbClr val="E6E6E6"/>
                </a:solidFill>
                <a:latin typeface="IBM Plex Sans"/>
              </a:rPr>
              <a:t>Lastbänke bis 6,25 MW mit Commissioning Level 1 bis 5, BESS, Kühlung und Heizung aus einer Hand, mit der Aggreko-Flotte im Rücken.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12 · Die nächsten 90 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Vom Modell zum Auftrag bis Januar 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Top-Player Power 2027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5" y="2450591"/>
            <a:ext cx="8350758" cy="18288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Oktober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Hot Leads: STACK, Green Lupfig, KSA, Ski-WM.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Commissioning- und Umzugstermine klären.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725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725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November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725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Rahmengespräche Burkhalter, VINCI, Equans.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WEF-Offerte abgeben.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474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474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Dezember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474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MiT-Sätze ins Modell, CRM-Status eintragen.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Pipeline neu rechnen.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223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23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Januar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223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Review mit Mauro, Jörg, Roberto.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RZ 2028 und Tunnel-Rahmen aufgleisen.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" y="5074920"/>
            <a:ext cx="10908792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5321808"/>
            <a:ext cx="10085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8595B"/>
                </a:solidFill>
                <a:latin typeface="IBM Plex Sans"/>
              </a:rPr>
              <a:t>Termine sind ein Vorschlag, bitte im Team bestätigen.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173736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80" cap="all">
                <a:solidFill>
                  <a:srgbClr val="FFFFFF"/>
                </a:solidFill>
                <a:latin typeface="IBM Plex Sans"/>
              </a:rPr>
              <a:t>Der eine Hebel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2212848"/>
            <a:ext cx="49834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lata"/>
              </a:rPr>
              <a:t>Rechenzentren früh</a:t>
            </a: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lata"/>
              </a:rPr>
              <a:t>im Bau besetzen,</a:t>
            </a: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lata"/>
              </a:rPr>
              <a:t>nicht erst beim IST.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0" y="4434840"/>
            <a:ext cx="10972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47091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BM Plex Sans"/>
              </a:rPr>
              <a:t>Burak Ücöz · Area Sales Engineer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BM Plex Sans"/>
              </a:rPr>
              <a:t>Mobil in Time AG · An Aggreko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en MiT_ab_2021">
      <a:majorFont>
        <a:latin typeface="Alata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CF6CAFF9-42BB-4E45-AAD0-138463FC66B6}" vid="{4080DF66-D807-473F-B2D8-B94D420065B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81AC30EB9537A49AF48C735E80D08C6" ma:contentTypeVersion="15" ma:contentTypeDescription="Ein neues Dokument erstellen." ma:contentTypeScope="" ma:versionID="eebee769a3460c40acc337d4501e840b">
  <xsd:schema xmlns:xsd="http://www.w3.org/2001/XMLSchema" xmlns:xs="http://www.w3.org/2001/XMLSchema" xmlns:p="http://schemas.microsoft.com/office/2006/metadata/properties" xmlns:ns2="c3bc38b3-6449-4a1c-a380-47d6575fb472" xmlns:ns3="50b5a504-641a-4807-83f9-f08ddca33ab4" targetNamespace="http://schemas.microsoft.com/office/2006/metadata/properties" ma:root="true" ma:fieldsID="cb83f664cfc6bf2969c499e089e8de19" ns2:_="" ns3:_="">
    <xsd:import namespace="c3bc38b3-6449-4a1c-a380-47d6575fb472"/>
    <xsd:import namespace="50b5a504-641a-4807-83f9-f08ddca33a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bc38b3-6449-4a1c-a380-47d6575fb4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dmarkierungen" ma:readOnly="false" ma:fieldId="{5cf76f15-5ced-4ddc-b409-7134ff3c332f}" ma:taxonomyMulti="true" ma:sspId="6583c19e-58ea-46dc-918b-99ad88035b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5a504-641a-4807-83f9-f08ddca33ab4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f15867dd-cfca-4df0-9cb6-6d4e724f97fb}" ma:internalName="TaxCatchAll" ma:showField="CatchAllData" ma:web="50b5a504-641a-4807-83f9-f08ddca33a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5a504-641a-4807-83f9-f08ddca33ab4" xsi:nil="true"/>
    <lcf76f155ced4ddcb4097134ff3c332f xmlns="c3bc38b3-6449-4a1c-a380-47d6575fb47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F648FF-40EE-4ECD-94D7-CDB8253A13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bc38b3-6449-4a1c-a380-47d6575fb472"/>
    <ds:schemaRef ds:uri="50b5a504-641a-4807-83f9-f08ddca33a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0E9496-5E67-4C84-A139-32CD2A62BEF6}">
  <ds:schemaRefs>
    <ds:schemaRef ds:uri="http://purl.org/dc/elements/1.1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c3bc38b3-6449-4a1c-a380-47d6575fb472"/>
    <ds:schemaRef ds:uri="http://schemas.microsoft.com/office/infopath/2007/PartnerControls"/>
    <ds:schemaRef ds:uri="50b5a504-641a-4807-83f9-f08ddca33ab4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C261B7D-0959-49C5-8C92-09BACBA42A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743</Words>
  <Application>Microsoft Office PowerPoint</Application>
  <PresentationFormat>Breitbild</PresentationFormat>
  <Paragraphs>194</Paragraphs>
  <Slides>15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Alata</vt:lpstr>
      <vt:lpstr>Aptos</vt:lpstr>
      <vt:lpstr>Arial</vt:lpstr>
      <vt:lpstr>Calibri</vt:lpstr>
      <vt:lpstr>IBM Plex Sans</vt:lpstr>
      <vt:lpstr>Office</vt:lpstr>
      <vt:lpstr>Mobil in Time AG</vt:lpstr>
      <vt:lpstr>PowerPoint-Präsentation</vt:lpstr>
      <vt:lpstr>PowerPoint-Präsentation</vt:lpstr>
      <vt:lpstr>PowerPoint-Präsentation</vt:lpstr>
      <vt:lpstr>Unser Portfolio</vt:lpstr>
      <vt:lpstr>Mehr Power durch Zusammenarbeit.</vt:lpstr>
      <vt:lpstr>PowerPoint-Präsentation</vt:lpstr>
      <vt:lpstr>Mobile Generatoren</vt:lpstr>
      <vt:lpstr>Mobile Batteriespeicher</vt:lpstr>
      <vt:lpstr>Mobile Batteriespeicher</vt:lpstr>
      <vt:lpstr>Einsatzgebiete</vt:lpstr>
      <vt:lpstr>Aggreko Portfolio</vt:lpstr>
      <vt:lpstr>Power-Quality-Messung</vt:lpstr>
      <vt:lpstr>PowerPoint-Präsentation</vt:lpstr>
      <vt:lpstr>Vielen Dank.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Top-Player Power Schweiz 2027</dc:title>
  <dc:creator>Burak Ücöz</dc:creator>
  <cp:lastModifiedBy>Sascha Promberger</cp:lastModifiedBy>
  <cp:revision>74</cp:revision>
  <dcterms:created xsi:type="dcterms:W3CDTF">2026-05-28T08:15:02Z</dcterms:created>
  <dcterms:modified xsi:type="dcterms:W3CDTF">2026-07-13T13:39:22Z</dcterms:modified>
  <dc:subject>Leeres Master-Template (Layouts, Hintergruende, Logo)</dc:subject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0x010100A81AC30EB9537A49AF48C735E80D08C6</vt:lpwstr>
  </property>
  <property fmtid="{D5CDD505-2E9C-101B-9397-08002B2CF9AE}" pid="3" name="MediaServiceImageTags">
    <vt:lpwstr/>
  </property>
</Properties>
</file>