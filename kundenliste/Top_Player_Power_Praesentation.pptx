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media/image10.svg" ContentType="image/svg+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256" r:id="rId13"/>
    <p:sldId id="257" r:id="rId14"/>
    <p:sldId id="258" r:id="rId15"/>
    <p:sldId id="259" r:id="rId16"/>
    <p:sldId id="260" r:id="rId17"/>
    <p:sldId id="261" r:id="rId18"/>
    <p:sldId id="262" r:id="rId19"/>
    <p:sldId id="263" r:id="rId12"/>
    <p:sldId id="264" r:id="rId11"/>
    <p:sldId id="265" r:id="rId10"/>
    <p:sldId id="266" r:id="rId9"/>
    <p:sldId id="267" r:id="rId8"/>
    <p:sldId id="268" r:id="rId7"/>
    <p:sldId id="269" r:id="rId6"/>
    <p:sldId id="270" r:id="rId5"/>
    <p:sldId id="271" r:id="rId2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schnitt ohne Titel" id="{C6D4BE38-8B3C-402D-BB49-1E5FC4A05F0C}">
          <p14:sldIdLst>
            <p14:sldId id="256"/>
            <p14:sldId id="260"/>
            <p14:sldId id="262"/>
            <p14:sldId id="350"/>
            <p14:sldId id="258"/>
            <p14:sldId id="266"/>
            <p14:sldId id="336"/>
            <p14:sldId id="345"/>
            <p14:sldId id="338"/>
            <p14:sldId id="339"/>
            <p14:sldId id="341"/>
            <p14:sldId id="349"/>
            <p14:sldId id="347"/>
            <p14:sldId id="267"/>
            <p14:sldId id="26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2A092AD-01A1-75B1-12F5-27835F26D3D8}" name="Ann-Kathrin Schmidt" initials="AKS" userId="S::Schmidt@mobilintime.com::eed76019-7097-4b67-b5ca-4538df3ddc9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595B"/>
    <a:srgbClr val="E00036"/>
    <a:srgbClr val="E5032E"/>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93B28D-4185-4A60-8DA6-FB67E9D3690E}" v="10" dt="2026-07-13T09:07:07.3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p:scale>
          <a:sx n="112" d="100"/>
          <a:sy n="112" d="100"/>
        </p:scale>
        <p:origin x="438" y="43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5.xml"/><Relationship Id="rId6" Type="http://schemas.openxmlformats.org/officeDocument/2006/relationships/slide" Target="slides/slide14.xml"/><Relationship Id="rId7" Type="http://schemas.openxmlformats.org/officeDocument/2006/relationships/slide" Target="slides/slide13.xml"/><Relationship Id="rId8" Type="http://schemas.openxmlformats.org/officeDocument/2006/relationships/slide" Target="slides/slide12.xml"/><Relationship Id="rId9" Type="http://schemas.openxmlformats.org/officeDocument/2006/relationships/slide" Target="slides/slide11.xml"/><Relationship Id="rId10" Type="http://schemas.openxmlformats.org/officeDocument/2006/relationships/slide" Target="slides/slide10.xml"/><Relationship Id="rId11" Type="http://schemas.openxmlformats.org/officeDocument/2006/relationships/slide" Target="slides/slide9.xml"/><Relationship Id="rId12" Type="http://schemas.openxmlformats.org/officeDocument/2006/relationships/slide" Target="slides/slide8.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6/11/relationships/changesInfo" Target="changesInfos/changesInfo1.xml"/><Relationship Id="rId26" Type="http://schemas.microsoft.com/office/2015/10/relationships/revisionInfo" Target="revisionInfo.xml"/><Relationship Id="rId27" Type="http://schemas.microsoft.com/office/2018/10/relationships/authors" Target="authors.xml"/><Relationship Id="rId28" Type="http://schemas.openxmlformats.org/officeDocument/2006/relationships/slide" Target="slides/slide1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scha Promberger" userId="de38bd02-217f-4d7d-a2d9-3812f9b77dec" providerId="ADAL" clId="{348B077B-6069-4F27-9ADF-AB26C724BB46}"/>
    <pc:docChg chg="undo custSel addSld delSld modSld modSection">
      <pc:chgData name="Sascha Promberger" userId="de38bd02-217f-4d7d-a2d9-3812f9b77dec" providerId="ADAL" clId="{348B077B-6069-4F27-9ADF-AB26C724BB46}" dt="2026-07-13T13:39:20.474" v="952" actId="2696"/>
      <pc:docMkLst>
        <pc:docMk/>
      </pc:docMkLst>
      <pc:sldChg chg="modSp del mod">
        <pc:chgData name="Sascha Promberger" userId="de38bd02-217f-4d7d-a2d9-3812f9b77dec" providerId="ADAL" clId="{348B077B-6069-4F27-9ADF-AB26C724BB46}" dt="2026-07-13T13:39:20.474" v="952" actId="2696"/>
        <pc:sldMkLst>
          <pc:docMk/>
          <pc:sldMk cId="703779366" sldId="264"/>
        </pc:sldMkLst>
        <pc:spChg chg="mod">
          <ac:chgData name="Sascha Promberger" userId="de38bd02-217f-4d7d-a2d9-3812f9b77dec" providerId="ADAL" clId="{348B077B-6069-4F27-9ADF-AB26C724BB46}" dt="2026-07-13T07:13:05.878" v="20" actId="1076"/>
          <ac:spMkLst>
            <pc:docMk/>
            <pc:sldMk cId="703779366" sldId="264"/>
            <ac:spMk id="4" creationId="{ED55C8CF-7D07-69A7-3FB2-F421149D4F29}"/>
          </ac:spMkLst>
        </pc:spChg>
        <pc:spChg chg="mod">
          <ac:chgData name="Sascha Promberger" userId="de38bd02-217f-4d7d-a2d9-3812f9b77dec" providerId="ADAL" clId="{348B077B-6069-4F27-9ADF-AB26C724BB46}" dt="2026-07-13T07:13:05.082" v="17" actId="1076"/>
          <ac:spMkLst>
            <pc:docMk/>
            <pc:sldMk cId="703779366" sldId="264"/>
            <ac:spMk id="19" creationId="{AD62A131-C7E6-489E-91FA-CE468889BCE6}"/>
          </ac:spMkLst>
        </pc:spChg>
        <pc:spChg chg="mod">
          <ac:chgData name="Sascha Promberger" userId="de38bd02-217f-4d7d-a2d9-3812f9b77dec" providerId="ADAL" clId="{348B077B-6069-4F27-9ADF-AB26C724BB46}" dt="2026-07-13T07:13:05.082" v="17" actId="1076"/>
          <ac:spMkLst>
            <pc:docMk/>
            <pc:sldMk cId="703779366" sldId="264"/>
            <ac:spMk id="20" creationId="{33DF6977-EC1F-1360-6DFC-53EEDC12F314}"/>
          </ac:spMkLst>
        </pc:spChg>
        <pc:spChg chg="mod">
          <ac:chgData name="Sascha Promberger" userId="de38bd02-217f-4d7d-a2d9-3812f9b77dec" providerId="ADAL" clId="{348B077B-6069-4F27-9ADF-AB26C724BB46}" dt="2026-07-13T07:13:06.363" v="23" actId="1076"/>
          <ac:spMkLst>
            <pc:docMk/>
            <pc:sldMk cId="703779366" sldId="264"/>
            <ac:spMk id="21" creationId="{3D5A0F1F-5DA2-DB2B-FCE0-B4C0097D46DF}"/>
          </ac:spMkLst>
        </pc:spChg>
        <pc:spChg chg="mod">
          <ac:chgData name="Sascha Promberger" userId="de38bd02-217f-4d7d-a2d9-3812f9b77dec" providerId="ADAL" clId="{348B077B-6069-4F27-9ADF-AB26C724BB46}" dt="2026-07-13T07:13:06.363" v="23" actId="1076"/>
          <ac:spMkLst>
            <pc:docMk/>
            <pc:sldMk cId="703779366" sldId="264"/>
            <ac:spMk id="23" creationId="{B543A7C8-C6A7-014A-CF76-62C5CFF0B171}"/>
          </ac:spMkLst>
        </pc:spChg>
        <pc:spChg chg="mod">
          <ac:chgData name="Sascha Promberger" userId="de38bd02-217f-4d7d-a2d9-3812f9b77dec" providerId="ADAL" clId="{348B077B-6069-4F27-9ADF-AB26C724BB46}" dt="2026-07-13T07:13:05.878" v="20" actId="1076"/>
          <ac:spMkLst>
            <pc:docMk/>
            <pc:sldMk cId="703779366" sldId="264"/>
            <ac:spMk id="24" creationId="{44D8D2FC-985C-0739-FAAC-F2C4B27DD4EE}"/>
          </ac:spMkLst>
        </pc:spChg>
        <pc:spChg chg="mod">
          <ac:chgData name="Sascha Promberger" userId="de38bd02-217f-4d7d-a2d9-3812f9b77dec" providerId="ADAL" clId="{348B077B-6069-4F27-9ADF-AB26C724BB46}" dt="2026-07-13T07:13:05.082" v="17" actId="1076"/>
          <ac:spMkLst>
            <pc:docMk/>
            <pc:sldMk cId="703779366" sldId="264"/>
            <ac:spMk id="25" creationId="{4286E746-0461-761B-9E2E-52AFF33AF458}"/>
          </ac:spMkLst>
        </pc:spChg>
        <pc:spChg chg="mod">
          <ac:chgData name="Sascha Promberger" userId="de38bd02-217f-4d7d-a2d9-3812f9b77dec" providerId="ADAL" clId="{348B077B-6069-4F27-9ADF-AB26C724BB46}" dt="2026-07-13T07:13:05.082" v="17" actId="1076"/>
          <ac:spMkLst>
            <pc:docMk/>
            <pc:sldMk cId="703779366" sldId="264"/>
            <ac:spMk id="26" creationId="{EFDAA436-BEED-E16F-69E9-FDD9AE30A5FD}"/>
          </ac:spMkLst>
        </pc:spChg>
        <pc:picChg chg="mod">
          <ac:chgData name="Sascha Promberger" userId="de38bd02-217f-4d7d-a2d9-3812f9b77dec" providerId="ADAL" clId="{348B077B-6069-4F27-9ADF-AB26C724BB46}" dt="2026-07-13T07:00:53.772" v="11" actId="1076"/>
          <ac:picMkLst>
            <pc:docMk/>
            <pc:sldMk cId="703779366" sldId="264"/>
            <ac:picMk id="2" creationId="{BEC7F240-D7C6-3BED-3BCC-32C4BEE98102}"/>
          </ac:picMkLst>
        </pc:picChg>
      </pc:sldChg>
      <pc:sldChg chg="addSp delSp modSp add mod">
        <pc:chgData name="Sascha Promberger" userId="de38bd02-217f-4d7d-a2d9-3812f9b77dec" providerId="ADAL" clId="{348B077B-6069-4F27-9ADF-AB26C724BB46}" dt="2026-07-13T10:40:17.114" v="951" actId="1036"/>
        <pc:sldMkLst>
          <pc:docMk/>
          <pc:sldMk cId="229551692" sldId="350"/>
        </pc:sldMkLst>
        <pc:spChg chg="mod">
          <ac:chgData name="Sascha Promberger" userId="de38bd02-217f-4d7d-a2d9-3812f9b77dec" providerId="ADAL" clId="{348B077B-6069-4F27-9ADF-AB26C724BB46}" dt="2026-07-13T10:00:10.854" v="844" actId="1037"/>
          <ac:spMkLst>
            <pc:docMk/>
            <pc:sldMk cId="229551692" sldId="350"/>
            <ac:spMk id="3" creationId="{7051C94B-0AC7-BF7C-71D3-D0B1FD235A71}"/>
          </ac:spMkLst>
        </pc:spChg>
        <pc:spChg chg="del">
          <ac:chgData name="Sascha Promberger" userId="de38bd02-217f-4d7d-a2d9-3812f9b77dec" providerId="ADAL" clId="{348B077B-6069-4F27-9ADF-AB26C724BB46}" dt="2026-07-13T07:13:35.052" v="28" actId="478"/>
          <ac:spMkLst>
            <pc:docMk/>
            <pc:sldMk cId="229551692" sldId="350"/>
            <ac:spMk id="4" creationId="{B627D7F5-966D-7496-70CE-6D8B420955CE}"/>
          </ac:spMkLst>
        </pc:spChg>
        <pc:spChg chg="add del mod">
          <ac:chgData name="Sascha Promberger" userId="de38bd02-217f-4d7d-a2d9-3812f9b77dec" providerId="ADAL" clId="{348B077B-6069-4F27-9ADF-AB26C724BB46}" dt="2026-07-13T09:08:42.451" v="702" actId="478"/>
          <ac:spMkLst>
            <pc:docMk/>
            <pc:sldMk cId="229551692" sldId="350"/>
            <ac:spMk id="7" creationId="{052EE29D-AED6-86ED-6082-4369E1B441AE}"/>
          </ac:spMkLst>
        </pc:spChg>
        <pc:spChg chg="del">
          <ac:chgData name="Sascha Promberger" userId="de38bd02-217f-4d7d-a2d9-3812f9b77dec" providerId="ADAL" clId="{348B077B-6069-4F27-9ADF-AB26C724BB46}" dt="2026-07-13T07:13:43.046" v="30" actId="478"/>
          <ac:spMkLst>
            <pc:docMk/>
            <pc:sldMk cId="229551692" sldId="350"/>
            <ac:spMk id="19" creationId="{BD20C31F-4953-2CEF-4BEC-7ABE1F286FF9}"/>
          </ac:spMkLst>
        </pc:spChg>
        <pc:spChg chg="add del">
          <ac:chgData name="Sascha Promberger" userId="de38bd02-217f-4d7d-a2d9-3812f9b77dec" providerId="ADAL" clId="{348B077B-6069-4F27-9ADF-AB26C724BB46}" dt="2026-07-13T07:14:48.913" v="41" actId="478"/>
          <ac:spMkLst>
            <pc:docMk/>
            <pc:sldMk cId="229551692" sldId="350"/>
            <ac:spMk id="20" creationId="{9C54C3C4-C954-8CEE-2356-4F8D42B7104F}"/>
          </ac:spMkLst>
        </pc:spChg>
        <pc:spChg chg="del mod">
          <ac:chgData name="Sascha Promberger" userId="de38bd02-217f-4d7d-a2d9-3812f9b77dec" providerId="ADAL" clId="{348B077B-6069-4F27-9ADF-AB26C724BB46}" dt="2026-07-13T07:13:33.067" v="27" actId="478"/>
          <ac:spMkLst>
            <pc:docMk/>
            <pc:sldMk cId="229551692" sldId="350"/>
            <ac:spMk id="21" creationId="{6436FD6F-ED0F-BEFC-92F2-95574927F7AF}"/>
          </ac:spMkLst>
        </pc:spChg>
        <pc:spChg chg="mod">
          <ac:chgData name="Sascha Promberger" userId="de38bd02-217f-4d7d-a2d9-3812f9b77dec" providerId="ADAL" clId="{348B077B-6069-4F27-9ADF-AB26C724BB46}" dt="2026-07-13T07:17:00.946" v="106" actId="1037"/>
          <ac:spMkLst>
            <pc:docMk/>
            <pc:sldMk cId="229551692" sldId="350"/>
            <ac:spMk id="22" creationId="{23A9F2DC-5808-2639-5D7E-308BFA45FF34}"/>
          </ac:spMkLst>
        </pc:spChg>
        <pc:spChg chg="mod">
          <ac:chgData name="Sascha Promberger" userId="de38bd02-217f-4d7d-a2d9-3812f9b77dec" providerId="ADAL" clId="{348B077B-6069-4F27-9ADF-AB26C724BB46}" dt="2026-07-13T10:40:02.643" v="946" actId="1036"/>
          <ac:spMkLst>
            <pc:docMk/>
            <pc:sldMk cId="229551692" sldId="350"/>
            <ac:spMk id="23" creationId="{05FFD232-F8DB-CF14-308A-9BE4E5BD5EF0}"/>
          </ac:spMkLst>
        </pc:spChg>
        <pc:spChg chg="mod">
          <ac:chgData name="Sascha Promberger" userId="de38bd02-217f-4d7d-a2d9-3812f9b77dec" providerId="ADAL" clId="{348B077B-6069-4F27-9ADF-AB26C724BB46}" dt="2026-07-13T10:40:02.643" v="946" actId="1036"/>
          <ac:spMkLst>
            <pc:docMk/>
            <pc:sldMk cId="229551692" sldId="350"/>
            <ac:spMk id="24" creationId="{E23281ED-4E04-BC55-64F3-EF172B64C549}"/>
          </ac:spMkLst>
        </pc:spChg>
        <pc:spChg chg="mod">
          <ac:chgData name="Sascha Promberger" userId="de38bd02-217f-4d7d-a2d9-3812f9b77dec" providerId="ADAL" clId="{348B077B-6069-4F27-9ADF-AB26C724BB46}" dt="2026-07-13T10:40:02.643" v="946" actId="1036"/>
          <ac:spMkLst>
            <pc:docMk/>
            <pc:sldMk cId="229551692" sldId="350"/>
            <ac:spMk id="25" creationId="{AC200083-D45F-5147-68B1-C2A97698C881}"/>
          </ac:spMkLst>
        </pc:spChg>
        <pc:spChg chg="mod">
          <ac:chgData name="Sascha Promberger" userId="de38bd02-217f-4d7d-a2d9-3812f9b77dec" providerId="ADAL" clId="{348B077B-6069-4F27-9ADF-AB26C724BB46}" dt="2026-07-13T10:40:02.643" v="946" actId="1036"/>
          <ac:spMkLst>
            <pc:docMk/>
            <pc:sldMk cId="229551692" sldId="350"/>
            <ac:spMk id="26" creationId="{22408EF3-766E-ABB4-5028-B9D9AFCE07E8}"/>
          </ac:spMkLst>
        </pc:spChg>
        <pc:picChg chg="del mod">
          <ac:chgData name="Sascha Promberger" userId="de38bd02-217f-4d7d-a2d9-3812f9b77dec" providerId="ADAL" clId="{348B077B-6069-4F27-9ADF-AB26C724BB46}" dt="2026-07-13T08:57:42.021" v="487" actId="478"/>
          <ac:picMkLst>
            <pc:docMk/>
            <pc:sldMk cId="229551692" sldId="350"/>
            <ac:picMk id="2" creationId="{8A5527D2-8B82-2927-091F-60106643F4BE}"/>
          </ac:picMkLst>
        </pc:picChg>
        <pc:picChg chg="add del mod ord">
          <ac:chgData name="Sascha Promberger" userId="de38bd02-217f-4d7d-a2d9-3812f9b77dec" providerId="ADAL" clId="{348B077B-6069-4F27-9ADF-AB26C724BB46}" dt="2026-07-13T09:18:15.833" v="732" actId="478"/>
          <ac:picMkLst>
            <pc:docMk/>
            <pc:sldMk cId="229551692" sldId="350"/>
            <ac:picMk id="5" creationId="{0FAEAA3F-C855-1286-DD8F-BD01CB737FCA}"/>
          </ac:picMkLst>
        </pc:picChg>
        <pc:picChg chg="mod">
          <ac:chgData name="Sascha Promberger" userId="de38bd02-217f-4d7d-a2d9-3812f9b77dec" providerId="ADAL" clId="{348B077B-6069-4F27-9ADF-AB26C724BB46}" dt="2026-07-13T10:00:10.854" v="844" actId="1037"/>
          <ac:picMkLst>
            <pc:docMk/>
            <pc:sldMk cId="229551692" sldId="350"/>
            <ac:picMk id="6" creationId="{F509A259-8B6F-574C-E365-03EBE1B56BBD}"/>
          </ac:picMkLst>
        </pc:picChg>
        <pc:picChg chg="add mod ord modCrop">
          <ac:chgData name="Sascha Promberger" userId="de38bd02-217f-4d7d-a2d9-3812f9b77dec" providerId="ADAL" clId="{348B077B-6069-4F27-9ADF-AB26C724BB46}" dt="2026-07-13T10:40:17.114" v="951" actId="1036"/>
          <ac:picMkLst>
            <pc:docMk/>
            <pc:sldMk cId="229551692" sldId="350"/>
            <ac:picMk id="9" creationId="{6863DA6D-AE26-05C1-7868-38A6878A00DA}"/>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Potenzial brutto</c:v>
                </c:pt>
              </c:strCache>
            </c:strRef>
          </c:tx>
          <c:spPr>
            <a:solidFill>
              <a:srgbClr val="58595B"/>
            </a:solidFill>
          </c:spPr>
          <c:dLbls>
            <c:numFmt formatCode="0,&quot;k&quot;" sourceLinked="0"/>
            <c:txPr>
              <a:bodyPr/>
              <a:lstStyle/>
              <a:p>
                <a:pPr>
                  <a:defRPr sz="1000" b="1">
                    <a:solidFill>
                      <a:srgbClr val="58595B"/>
                    </a:solidFill>
                    <a:latin typeface="IBM Plex Sans"/>
                  </a:defRPr>
                </a:pPr>
              </a:p>
            </c:txPr>
            <c:dLblPos val="outEnd"/>
            <c:showLegendKey val="0"/>
            <c:showVal val="1"/>
            <c:showCatName val="0"/>
            <c:showSerName val="0"/>
            <c:showPercent val="0"/>
            <c:showBubbleSize val="0"/>
            <c:showLeaderLines val="1"/>
          </c:dLbls>
          <c:cat>
            <c:strRef>
              <c:f>Sheet1!$A$2:$A$8</c:f>
              <c:strCache>
                <c:ptCount val="7"/>
                <c:pt idx="0">
                  <c:v>Rechenzentren</c:v>
                </c:pt>
                <c:pt idx="1">
                  <c:v>Infrastruktur</c:v>
                </c:pt>
                <c:pt idx="2">
                  <c:v>Netz / UW</c:v>
                </c:pt>
                <c:pt idx="3">
                  <c:v>Spitäler</c:v>
                </c:pt>
                <c:pt idx="4">
                  <c:v>Industrie</c:v>
                </c:pt>
                <c:pt idx="5">
                  <c:v>Events</c:v>
                </c:pt>
                <c:pt idx="6">
                  <c:v>Kanal-Partner</c:v>
                </c:pt>
              </c:strCache>
            </c:strRef>
          </c:cat>
          <c:val>
            <c:numRef>
              <c:f>Sheet1!$B$2:$B$8</c:f>
              <c:numCache>
                <c:formatCode>General</c:formatCode>
                <c:ptCount val="7"/>
                <c:pt idx="0">
                  <c:v>1761400.0</c:v>
                </c:pt>
                <c:pt idx="1">
                  <c:v>1702100.0</c:v>
                </c:pt>
                <c:pt idx="2">
                  <c:v>313700.0</c:v>
                </c:pt>
                <c:pt idx="3">
                  <c:v>332400.0</c:v>
                </c:pt>
                <c:pt idx="4">
                  <c:v>389400.0</c:v>
                </c:pt>
                <c:pt idx="5">
                  <c:v>231700.0</c:v>
                </c:pt>
                <c:pt idx="6">
                  <c:v>549500.0</c:v>
                </c:pt>
              </c:numCache>
            </c:numRef>
          </c:val>
        </c:ser>
        <c:ser>
          <c:idx val="1"/>
          <c:order val="1"/>
          <c:tx>
            <c:strRef>
              <c:f>Sheet1!$C$1</c:f>
              <c:strCache>
                <c:ptCount val="1"/>
                <c:pt idx="0">
                  <c:v>Erwartung 2027</c:v>
                </c:pt>
              </c:strCache>
            </c:strRef>
          </c:tx>
          <c:spPr>
            <a:solidFill>
              <a:srgbClr val="E00036"/>
            </a:solidFill>
          </c:spPr>
          <c:dLbls>
            <c:numFmt formatCode="0,&quot;k&quot;" sourceLinked="0"/>
            <c:txPr>
              <a:bodyPr/>
              <a:lstStyle/>
              <a:p>
                <a:pPr>
                  <a:defRPr sz="1000" b="1">
                    <a:solidFill>
                      <a:srgbClr val="E00036"/>
                    </a:solidFill>
                    <a:latin typeface="IBM Plex Sans"/>
                  </a:defRPr>
                </a:pPr>
              </a:p>
            </c:txPr>
            <c:dLblPos val="outEnd"/>
            <c:showLegendKey val="0"/>
            <c:showVal val="1"/>
            <c:showCatName val="0"/>
            <c:showSerName val="0"/>
            <c:showPercent val="0"/>
            <c:showBubbleSize val="0"/>
            <c:showLeaderLines val="1"/>
          </c:dLbls>
          <c:cat>
            <c:strRef>
              <c:f>Sheet1!$A$2:$A$8</c:f>
              <c:strCache>
                <c:ptCount val="7"/>
                <c:pt idx="0">
                  <c:v>Rechenzentren</c:v>
                </c:pt>
                <c:pt idx="1">
                  <c:v>Infrastruktur</c:v>
                </c:pt>
                <c:pt idx="2">
                  <c:v>Netz / UW</c:v>
                </c:pt>
                <c:pt idx="3">
                  <c:v>Spitäler</c:v>
                </c:pt>
                <c:pt idx="4">
                  <c:v>Industrie</c:v>
                </c:pt>
                <c:pt idx="5">
                  <c:v>Events</c:v>
                </c:pt>
                <c:pt idx="6">
                  <c:v>Kanal-Partner</c:v>
                </c:pt>
              </c:strCache>
            </c:strRef>
          </c:cat>
          <c:val>
            <c:numRef>
              <c:f>Sheet1!$C$2:$C$8</c:f>
              <c:numCache>
                <c:formatCode>General</c:formatCode>
                <c:ptCount val="7"/>
                <c:pt idx="0">
                  <c:v>171300.0</c:v>
                </c:pt>
                <c:pt idx="1">
                  <c:v>248100.0</c:v>
                </c:pt>
                <c:pt idx="2">
                  <c:v>55400.0</c:v>
                </c:pt>
                <c:pt idx="3">
                  <c:v>65100.0</c:v>
                </c:pt>
                <c:pt idx="4">
                  <c:v>69700.0</c:v>
                </c:pt>
                <c:pt idx="5">
                  <c:v>24100.0</c:v>
                </c:pt>
                <c:pt idx="6">
                  <c:v>101400.0</c:v>
                </c:pt>
              </c:numCache>
            </c:numRef>
          </c:val>
        </c:ser>
        <c:gapWidth val="60"/>
        <c:overlap val="-10"/>
        <c:axId val="-2068027336"/>
        <c:axId val="-2113994440"/>
      </c:barChart>
      <c:catAx>
        <c:axId val="-2068027336"/>
        <c:scaling>
          <c:orientation val="minMax"/>
        </c:scaling>
        <c:delete val="0"/>
        <c:axPos val="b"/>
        <c:majorTickMark val="out"/>
        <c:minorTickMark val="none"/>
        <c:tickLblPos val="nextTo"/>
        <c:spPr>
          <a:ln>
            <a:solidFill>
              <a:srgbClr val="D6D6D6"/>
            </a:solidFill>
          </a:ln>
        </c:spPr>
        <c:txPr>
          <a:bodyPr/>
          <a:lstStyle/>
          <a:p>
            <a:pPr>
              <a:defRPr sz="1100">
                <a:solidFill>
                  <a:srgbClr val="58595B"/>
                </a:solidFill>
                <a:latin typeface="IBM Plex Sans"/>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b"/>
      <c:overlay val="0"/>
      <c:txPr>
        <a:bodyPr/>
        <a:lstStyle/>
        <a:p>
          <a:pPr>
            <a:defRPr sz="1100">
              <a:solidFill>
                <a:srgbClr val="58595B"/>
              </a:solidFill>
              <a:latin typeface="IBM Plex Sans"/>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Erwartung 2027</c:v>
                </c:pt>
              </c:strCache>
            </c:strRef>
          </c:tx>
          <c:spPr>
            <a:solidFill>
              <a:srgbClr val="E00036"/>
            </a:solidFill>
          </c:spPr>
          <c:dPt>
            <c:idx val="0"/>
            <c:spPr>
              <a:solidFill>
                <a:srgbClr val="E00036"/>
              </a:solidFill>
            </c:spPr>
          </c:dPt>
          <c:dPt>
            <c:idx val="1"/>
            <c:spPr>
              <a:solidFill>
                <a:srgbClr val="58595B"/>
              </a:solidFill>
            </c:spPr>
          </c:dPt>
          <c:dPt>
            <c:idx val="2"/>
            <c:spPr>
              <a:solidFill>
                <a:srgbClr val="58595B"/>
              </a:solidFill>
            </c:spPr>
          </c:dPt>
          <c:dPt>
            <c:idx val="3"/>
            <c:spPr>
              <a:solidFill>
                <a:srgbClr val="E00036"/>
              </a:solidFill>
            </c:spPr>
          </c:dPt>
          <c:dPt>
            <c:idx val="4"/>
            <c:spPr>
              <a:solidFill>
                <a:srgbClr val="58595B"/>
              </a:solidFill>
            </c:spPr>
          </c:dPt>
          <c:dPt>
            <c:idx val="5"/>
            <c:spPr>
              <a:solidFill>
                <a:srgbClr val="58595B"/>
              </a:solidFill>
            </c:spPr>
          </c:dPt>
          <c:dPt>
            <c:idx val="6"/>
            <c:spPr>
              <a:solidFill>
                <a:srgbClr val="E00036"/>
              </a:solidFill>
            </c:spPr>
          </c:dPt>
          <c:dPt>
            <c:idx val="7"/>
            <c:spPr>
              <a:solidFill>
                <a:srgbClr val="58595B"/>
              </a:solidFill>
            </c:spPr>
          </c:dPt>
          <c:dPt>
            <c:idx val="8"/>
            <c:spPr>
              <a:solidFill>
                <a:srgbClr val="58595B"/>
              </a:solidFill>
            </c:spPr>
          </c:dPt>
          <c:dPt>
            <c:idx val="9"/>
            <c:spPr>
              <a:solidFill>
                <a:srgbClr val="58595B"/>
              </a:solidFill>
            </c:spPr>
          </c:dPt>
          <c:dLbls>
            <c:numFmt formatCode="0,&quot;k&quot;" sourceLinked="0"/>
            <c:txPr>
              <a:bodyPr/>
              <a:lstStyle/>
              <a:p>
                <a:pPr>
                  <a:defRPr sz="1000" b="1">
                    <a:solidFill>
                      <a:srgbClr val="58595B"/>
                    </a:solidFill>
                    <a:latin typeface="IBM Plex Sans"/>
                  </a:defRPr>
                </a:pPr>
              </a:p>
            </c:txPr>
            <c:dLblPos val="outEnd"/>
            <c:showLegendKey val="0"/>
            <c:showVal val="1"/>
            <c:showCatName val="0"/>
            <c:showSerName val="0"/>
            <c:showPercent val="0"/>
            <c:showBubbleSize val="0"/>
            <c:showLeaderLines val="1"/>
          </c:dLbls>
          <c:cat>
            <c:strRef>
              <c:f>Sheet1!$A$2:$A$11</c:f>
              <c:strCache>
                <c:ptCount val="10"/>
                <c:pt idx="0">
                  <c:v>Green Metro-Campus Dielsdorf</c:v>
                </c:pt>
                <c:pt idx="1">
                  <c:v>Burkhalter Gruppe (Rahmen)</c:v>
                </c:pt>
                <c:pt idx="2">
                  <c:v>ETAVIS / VINCI Energies (Rahmen)</c:v>
                </c:pt>
                <c:pt idx="3">
                  <c:v>Vantage ZRH3 Volketswil</c:v>
                </c:pt>
                <c:pt idx="4">
                  <c:v>Pumpspeicherwerk Grimsel 4</c:v>
                </c:pt>
                <c:pt idx="5">
                  <c:v>Bachem Werk Sisslerfeld</c:v>
                </c:pt>
                <c:pt idx="6">
                  <c:v>STACK ZUR02 Beringen</c:v>
                </c:pt>
                <c:pt idx="7">
                  <c:v>Kantonsspital Aarau «Dreiklang»</c:v>
                </c:pt>
                <c:pt idx="8">
                  <c:v>Sisikoner Tunnel</c:v>
                </c:pt>
                <c:pt idx="9">
                  <c:v>2. Gotthardröhre</c:v>
                </c:pt>
              </c:strCache>
            </c:strRef>
          </c:cat>
          <c:val>
            <c:numRef>
              <c:f>Sheet1!$B$2:$B$11</c:f>
              <c:numCache>
                <c:formatCode>General</c:formatCode>
                <c:ptCount val="10"/>
                <c:pt idx="0">
                  <c:v>23500.0</c:v>
                </c:pt>
                <c:pt idx="1">
                  <c:v>25400.0</c:v>
                </c:pt>
                <c:pt idx="2">
                  <c:v>27800.0</c:v>
                </c:pt>
                <c:pt idx="3">
                  <c:v>28000.0</c:v>
                </c:pt>
                <c:pt idx="4">
                  <c:v>33100.0</c:v>
                </c:pt>
                <c:pt idx="5">
                  <c:v>33900.0</c:v>
                </c:pt>
                <c:pt idx="6">
                  <c:v>37000.0</c:v>
                </c:pt>
                <c:pt idx="7">
                  <c:v>38000.0</c:v>
                </c:pt>
                <c:pt idx="8">
                  <c:v>66100.0</c:v>
                </c:pt>
                <c:pt idx="9">
                  <c:v>66100.0</c:v>
                </c:pt>
              </c:numCache>
            </c:numRef>
          </c:val>
        </c:ser>
        <c:gapWidth val="45"/>
        <c:axId val="-2068027336"/>
        <c:axId val="-2113994440"/>
      </c:barChart>
      <c:catAx>
        <c:axId val="-2068027336"/>
        <c:scaling>
          <c:orientation val="minMax"/>
        </c:scaling>
        <c:delete val="0"/>
        <c:axPos val="l"/>
        <c:majorTickMark val="out"/>
        <c:minorTickMark val="none"/>
        <c:tickLblPos val="nextTo"/>
        <c:spPr>
          <a:ln>
            <a:solidFill>
              <a:srgbClr val="D6D6D6"/>
            </a:solidFill>
          </a:ln>
        </c:spPr>
        <c:txPr>
          <a:bodyPr/>
          <a:lstStyle/>
          <a:p>
            <a:pPr>
              <a:defRPr sz="1050">
                <a:solidFill>
                  <a:srgbClr val="58595B"/>
                </a:solidFill>
                <a:latin typeface="IBM Plex Sans"/>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C3F216-10B7-4AF9-B20D-22D47690FF11}" type="datetimeFigureOut">
              <a:rPr lang="de-CH" smtClean="0"/>
              <a:t>13.07.2026</a:t>
            </a:fld>
            <a:endParaRPr lang="de-CH"/>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6C0DF8-A47B-4B8D-A8E9-43D73CFC88C5}" type="slidenum">
              <a:rPr lang="de-CH" smtClean="0"/>
              <a:t>‹Nr.›</a:t>
            </a:fld>
            <a:endParaRPr lang="de-CH"/>
          </a:p>
        </p:txBody>
      </p:sp>
    </p:spTree>
    <p:extLst>
      <p:ext uri="{BB962C8B-B14F-4D97-AF65-F5344CB8AC3E}">
        <p14:creationId xmlns:p14="http://schemas.microsoft.com/office/powerpoint/2010/main" val="204955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BOTSCHAFT</a:t>
            </a:r>
          </a:p>
          <a:p>
            <a:r>
              <a:t>Wir haben den Schweizer Markt für mobile Power ab CHF 50'000 pro Projekt neu vermessen.</a:t>
            </a:r>
          </a:p>
          <a:p/>
          <a:p>
            <a:r>
              <a:t>SO SAGST DU ES</a:t>
            </a:r>
          </a:p>
          <a:p>
            <a:r>
              <a:t>«Ich zeige euch 38 Projekte mit zusammen 5,3 Mio. CHF Mietpotenzial. Realistisch für 2027 sind CHF 735'100 CHF. Jede Zahl steckt in der Excel und rechnet mit unseren Sätzen neu.»</a:t>
            </a:r>
          </a:p>
          <a:p/>
          <a:p>
            <a:r>
              <a:t>WENN GEFRAGT WIRD</a:t>
            </a:r>
          </a:p>
          <a:p>
            <a:r>
              <a:t>F: Woher kommen die Zahlen?</a:t>
            </a:r>
          </a:p>
          <a:p>
            <a:r>
              <a:t>A: Öffentliche Quellen (Medienmitteilungen, Baublatt, Betreiber), Stand 27.09.2026. Mietsätze sind Markt-Richtwerte, keine MiT-Preise.</a:t>
            </a:r>
          </a:p>
          <a:p/>
          <a:p>
            <a:r>
              <a:t>ABKÜRZUNGEN AUF DIESER FOLIE</a:t>
            </a:r>
          </a:p>
          <a:p>
            <a:r>
              <a:t>MiT = Mobil in Time AG. CHF-Beträge sind Miete ohne Transport, Service, Treibstoff.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BOTSCHAFT</a:t>
            </a:r>
          </a:p>
          <a:p>
            <a:r>
              <a:t>Brutto ist das Maximum, die Erwartung ist die Planzahl.</a:t>
            </a:r>
          </a:p>
          <a:p/>
          <a:p>
            <a:r>
              <a:t>SO SAGST DU ES</a:t>
            </a:r>
          </a:p>
          <a:p>
            <a:r>
              <a:t>«Erwartung heisst: Potenzial mal Anteil, der 2027 anfällt, mal unsere Gewinnchance. 9 Projekte liegen über CHF 25'000 Erwartung, das ist Prio A.»</a:t>
            </a:r>
          </a:p>
          <a:p/>
          <a:p>
            <a:r>
              <a:t>WENN GEFRAGT WIRD</a:t>
            </a:r>
          </a:p>
          <a:p>
            <a:r>
              <a:t>F: Warum so tief gegenüber brutto?</a:t>
            </a:r>
          </a:p>
          <a:p>
            <a:r>
              <a:t>A: Weil wir nicht alles gewinnen und manches erst 2028 abgerechnet wird. Die Gewinnchancen liegen je Projekt zwischen 10 und 30 %.</a:t>
            </a:r>
          </a:p>
          <a:p>
            <a:r>
              <a:t>F: Was fehlt im Potenzial?</a:t>
            </a:r>
          </a:p>
          <a:p>
            <a:r>
              <a:t>A: Trafo-Miete, Transport, Montage, Service und Treibstoff. Die Zahl ist also eher zu tief.</a:t>
            </a:r>
          </a:p>
          <a:p/>
          <a:p>
            <a:r>
              <a:t>ABKÜRZUNGEN AUF DIESER FOLIE</a:t>
            </a:r>
          </a:p>
          <a:p>
            <a:r>
              <a:t>Prio A = Erwartung 2027 ab CHF 25'000. Prio B = ab CHF 10'000. RZ = Rechenzentrum.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BOTSCHAFT</a:t>
            </a:r>
          </a:p>
          <a:p>
            <a:r>
              <a:t>Rechenzentren haben das grösste Potenzial, Infrastruktur die höchste Erwartung.</a:t>
            </a:r>
          </a:p>
          <a:p/>
          <a:p>
            <a:r>
              <a:t>SO SAGST DU ES</a:t>
            </a:r>
          </a:p>
          <a:p>
            <a:r>
              <a:t>«Rechenzentren bringen brutto 1,8 Mio. CHF, aber viele kaufen zentral für Europa ein. Infrastruktur liefert CHF 248'100 CHF Erwartung, weil Tunnel-Backups ein ganzes Jahr laufen.»</a:t>
            </a:r>
          </a:p>
          <a:p/>
          <a:p>
            <a:r>
              <a:t>WENN GEFRAGT WIRD</a:t>
            </a:r>
          </a:p>
          <a:p>
            <a:r>
              <a:t>F: Warum Kanal-Partner als Segment?</a:t>
            </a:r>
          </a:p>
          <a:p>
            <a:r>
              <a:t>A: Burkhalter, VINCI, Equans, BKW und CKW/EKZ-Töchter kaufen über viele Baustellen. Ein Rahmen bringt Volumen ohne Einzelakquise.</a:t>
            </a:r>
          </a:p>
          <a:p/>
          <a:p>
            <a:r>
              <a:t>ABKÜRZUNGEN AUF DIESER FOLIE</a:t>
            </a:r>
          </a:p>
          <a:p>
            <a:r>
              <a:t>UW = Unterwerk. EMEA = Europa, Naher Osten, Afrika (zentrale Beschaffung). k = Tausend CHF.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BOTSCHAFT</a:t>
            </a:r>
          </a:p>
          <a:p>
            <a:r>
              <a:t>Die RZ-Welle ist planbar: jetzt STACK und Green, 2028 Digital Realty und Vantage.</a:t>
            </a:r>
          </a:p>
          <a:p/>
          <a:p>
            <a:r>
              <a:t>SO SAGST DU ES</a:t>
            </a:r>
          </a:p>
          <a:p>
            <a:r>
              <a:t>«Die Kreisgrösse zeigt die IT-Leistung. Wer beim Bau schon Baustrom liefert, sitzt beim Commissioning am Tisch. Deshalb gehen wir bei Digital Realty und Vantage schon 2027 rein.»</a:t>
            </a:r>
          </a:p>
          <a:p/>
          <a:p>
            <a:r>
              <a:t>WENN GEFRAGT WIRD</a:t>
            </a:r>
          </a:p>
          <a:p>
            <a:r>
              <a:t>F: Wie gross muss die Lastbank sein?</a:t>
            </a:r>
          </a:p>
          <a:p>
            <a:r>
              <a:t>A: Etwa so gross wie die IT-Last der Data Hall, die getestet wird, getestet in Stufen 25/50/75/100 %.</a:t>
            </a:r>
          </a:p>
          <a:p>
            <a:r>
              <a:t>F: Sprache?</a:t>
            </a:r>
          </a:p>
          <a:p>
            <a:r>
              <a:t>A: Hyperscaler und internationale Betreiber: Unterlagen auf Englisch vorbereiten.</a:t>
            </a:r>
          </a:p>
          <a:p/>
          <a:p>
            <a:r>
              <a:t>ABKÜRZUNGEN AUF DIESER FOLIE</a:t>
            </a:r>
          </a:p>
          <a:p>
            <a:r>
              <a:t>IT-MW = elektrische Leistung der Server. IST = Integrated Systems Test. Q2 = zweites Quartal. Hyperscaler = Cloud-Konzerne wie Microsoft, AWS, Google.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BOTSCHAFT</a:t>
            </a:r>
          </a:p>
          <a:p>
            <a:r>
              <a:t>Die Top 10 machen 52 % der Erwartung aus. Dort zuerst.</a:t>
            </a:r>
          </a:p>
          <a:p/>
          <a:p>
            <a:r>
              <a:t>SO SAGST DU ES</a:t>
            </a:r>
          </a:p>
          <a:p>
            <a:r>
              <a:t>«Rot sind Rechenzentren. Die Tunnel führen, weil sie ein ganzes Jahr laufen. Vantage hat das grösste Einzelpotenzial, aber nur 10 % Gewinnchance.»</a:t>
            </a:r>
          </a:p>
          <a:p/>
          <a:p>
            <a:r>
              <a:t>WENN GEFRAGT WIRD</a:t>
            </a:r>
          </a:p>
          <a:p>
            <a:r>
              <a:t>F: Warum KSA so weit oben?</a:t>
            </a:r>
          </a:p>
          <a:p>
            <a:r>
              <a:t>A: Umzug Januar 2027 mit NEA-Lasttest, danach Rückbau-Baustrom: fixe Termine, TU Implenia als Einstieg.</a:t>
            </a:r>
          </a:p>
          <a:p/>
          <a:p>
            <a:r>
              <a:t>ABKÜRZUNGEN AUF DIESER FOLIE</a:t>
            </a:r>
          </a:p>
          <a:p>
            <a:r>
              <a:t>KSA = Kantonsspital Aarau. STACK/Green/Vantage = RZ-Betreiber. VINCI = Mutter von ETAVIS und Actemium.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BOTSCHAFT</a:t>
            </a:r>
          </a:p>
          <a:p>
            <a:r>
              <a:t>Generator überall, Lastbank im RZ, Trafo im Netz, BESS bei Events und Nachtbaustellen.</a:t>
            </a:r>
          </a:p>
          <a:p/>
          <a:p>
            <a:r>
              <a:t>SO SAGST DU ES</a:t>
            </a:r>
          </a:p>
          <a:p>
            <a:r>
              <a:t>«Rot heisst Kernbedarf. Daraus leiten wir ab, mit welchem Produkt wir die Tür öffnen: im RZ die Lastbank, im Netz der Trafo, bei Events der Hybrid aus BESS und Generator.»</a:t>
            </a:r>
          </a:p>
          <a:p/>
          <a:p>
            <a:r>
              <a:t>ABKÜRZUNGEN AUF DIESER FOLIE</a:t>
            </a:r>
          </a:p>
          <a:p>
            <a:r>
              <a:t>NEA = Netzersatzanlage. USV = Unterbrechungsfreie Stromversorgung. HVO = erneuerbarer Diesel. UW = Unterwerk.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BOTSCHAFT</a:t>
            </a:r>
          </a:p>
          <a:p>
            <a:r>
              <a:t>Die Methode ist einfach und nachprüfbar, die Sätze sind noch Richtwerte.</a:t>
            </a:r>
          </a:p>
          <a:p/>
          <a:p>
            <a:r>
              <a:t>SO SAGST DU ES</a:t>
            </a:r>
          </a:p>
          <a:p>
            <a:r>
              <a:t>«Generator: MVA mal Wochen mal Satz. Lastbank: MW mal Wochen mal Satz. BESS: MW mal Monate mal Satz. Das Beispiel STACK zeigt es. Sobald wir unsere Preise einsetzen, rechnet die Excel alles neu.»</a:t>
            </a:r>
          </a:p>
          <a:p/>
          <a:p>
            <a:r>
              <a:t>WENN GEFRAGT WIRD</a:t>
            </a:r>
          </a:p>
          <a:p>
            <a:r>
              <a:t>F: Woher kommen die Sätze?</a:t>
            </a:r>
          </a:p>
          <a:p>
            <a:r>
              <a:t>A: US-Richtwerte (dieselfuelhq, countbricks, ritarpower), umgerechnet mit 0,828 CHF/USD per 24.09.2026. Öffentliche CH-Preise ab 100 kVA gibt es nicht.</a:t>
            </a:r>
          </a:p>
          <a:p>
            <a:r>
              <a:t>F: Wo trage ich unsere Preise ein?</a:t>
            </a:r>
          </a:p>
          <a:p>
            <a:r>
              <a:t>A: Excel, Blatt «Annahmen», Spalte E «MiT-Satz».</a:t>
            </a:r>
          </a:p>
          <a:p/>
          <a:p>
            <a:r>
              <a:t>ABKÜRZUNGEN AUF DIESER FOLIE</a:t>
            </a:r>
          </a:p>
          <a:p>
            <a:r>
              <a:t>MVA = Megavoltampere (Scheinleistung). FX = Wechselkurs. Anteil 2027 = Teil des Volumens, der 2027 anfällt.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BOTSCHAFT</a:t>
            </a:r>
          </a:p>
          <a:p>
            <a:r>
              <a:t>Mit Power rein, mit Wärme und Kälte ausbauen.</a:t>
            </a:r>
          </a:p>
          <a:p/>
          <a:p>
            <a:r>
              <a:t>SO SAGST DU ES</a:t>
            </a:r>
          </a:p>
          <a:p>
            <a:r>
              <a:t>«Auf Winterbaustellen braucht es Bauheizung, beim RZ-Test oft Kühlung, WEF und Ski-WM brauchen Zeltheizung. Und der Diesel: 1 MVA bei 75 % Last kostet rund 349 CHF pro Stunde. Der BESS-Hybrid spart Laufzeit.»</a:t>
            </a:r>
          </a:p>
          <a:p/>
          <a:p>
            <a:r>
              <a:t>WENN GEFRAGT WIRD</a:t>
            </a:r>
          </a:p>
          <a:p>
            <a:r>
              <a:t>F: Woher kommt der Dieselwert?</a:t>
            </a:r>
          </a:p>
          <a:p>
            <a:r>
              <a:t>A: Cummins C1000 D5: 139 l/h Prime, 154 l/h Standby bei 75 %. Dieselpreis TCS 18.09.2026: 2,41 CHF/l (Tankstelle).</a:t>
            </a:r>
          </a:p>
          <a:p/>
          <a:p>
            <a:r>
              <a:t>ABKÜRZUNGEN AUF DIESER FOLIE</a:t>
            </a:r>
          </a:p>
          <a:p>
            <a:r>
              <a:t>HVO = Hydrotreated Vegetable Oil (erneuerbarer Diesel). IST = Integrated Systems Test. BESS = Batteriespeicher.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BOTSCHAFT</a:t>
            </a:r>
          </a:p>
          <a:p>
            <a:r>
              <a:t>Das sichere Volumen: lange Laufzeiten und fixe Termine.</a:t>
            </a:r>
          </a:p>
          <a:p/>
          <a:p>
            <a:r>
              <a:t>SO SAGST DU ES</a:t>
            </a:r>
          </a:p>
          <a:p>
            <a:r>
              <a:t>«Gotthard, Sisikon und Grimsel laufen das ganze Jahr. Bei KSA, Axpo Niederurnen und CKW sind die Termine 2027 fix. Bei ASTRA, SBB, ewz und USZ läuft es über öffentliche Ausschreibungen, also früh auf simap schauen.»</a:t>
            </a:r>
          </a:p>
          <a:p/>
          <a:p>
            <a:r>
              <a:t>WENN GEFRAGT WIRD</a:t>
            </a:r>
          </a:p>
          <a:p>
            <a:r>
              <a:t>F: Wie kommen wir an ASTRA-Aufträge?</a:t>
            </a:r>
          </a:p>
          <a:p>
            <a:r>
              <a:t>A: Selten direkt. Meist über die Bau-ARGE, die den Zuschlag hat (z.B. Marti, Implenia/Frutiger).</a:t>
            </a:r>
          </a:p>
          <a:p/>
          <a:p>
            <a:r>
              <a:t>ABKÜRZUNGEN AUF DIESER FOLIE</a:t>
            </a:r>
          </a:p>
          <a:p>
            <a:r>
              <a:t>ASTRA = Bundesamt für Strassen. ARGE = Arbeitsgemeinschaft. TU = Totalunternehmer. KWO = Kraftwerke Oberhasli. UW = Unterwerk. GIS = gasisolierte Schaltanlage. IVöB = öffentliches Beschaffungsrecht. simap = Ausschreibungsplattform.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BOTSCHAFT</a:t>
            </a:r>
          </a:p>
          <a:p>
            <a:r>
              <a:t>Winter 2027 zuerst: Ski-WM und WEF. ESAF 2028 jetzt offerieren.</a:t>
            </a:r>
          </a:p>
          <a:p/>
          <a:p>
            <a:r>
              <a:t>SO SAGST DU ES</a:t>
            </a:r>
          </a:p>
          <a:p>
            <a:r>
              <a:t>«Die Ski-WM in Crans-Montana ist die dringendste Chance, Beschaffung läuft jetzt, Unterlagen auf Französisch. WEF startet den Aufbau im Dezember. Die Sommer-Openairs bündeln wir als Saisonpaket.»</a:t>
            </a:r>
          </a:p>
          <a:p/>
          <a:p>
            <a:r>
              <a:t>WENN GEFRAGT WIRD</a:t>
            </a:r>
          </a:p>
          <a:p>
            <a:r>
              <a:t>F: Sind die Event-Grössen belegt?</a:t>
            </a:r>
          </a:p>
          <a:p>
            <a:r>
              <a:t>A: Termine ja, die Leistungsgrössen sind Annahmen. Vor Offerte Bedarf beim OK abfragen.</a:t>
            </a:r>
          </a:p>
          <a:p/>
          <a:p>
            <a:r>
              <a:t>ABKÜRZUNGEN AUF DIESER FOLIE</a:t>
            </a:r>
          </a:p>
          <a:p>
            <a:r>
              <a:t>WEF = World Economic Forum. FIS = Internationaler Skiverband. ESAF = Eidg. Schwing- und Älplerfest. OK = Organisationskomitee. BESS = Batteriespeicher.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BOTSCHAFT</a:t>
            </a:r>
          </a:p>
          <a:p>
            <a:r>
              <a:t>Viele vermieten Generatoren, kaum jemand liefert das komplette Commissioning-Paket.</a:t>
            </a:r>
          </a:p>
          <a:p/>
          <a:p>
            <a:r>
              <a:t>SO SAGST DU ES</a:t>
            </a:r>
          </a:p>
          <a:p>
            <a:r>
              <a:t>«Unser Unterschied: Lastbänke bis 6,25 MW, Commissioning Level 1 bis 5, BESS, Kühlung und Heizung aus einer Hand, mit der Aggreko-Flotte im Rücken.»</a:t>
            </a:r>
          </a:p>
          <a:p/>
          <a:p>
            <a:r>
              <a:t>WENN GEFRAGT WIRD</a:t>
            </a:r>
          </a:p>
          <a:p>
            <a:r>
              <a:t>F: Und Kummler+Matter?</a:t>
            </a:r>
          </a:p>
          <a:p>
            <a:r>
              <a:t>A: Vermietet mobile Trafostationen: bei Netzprojekten Partner oder Wettbewerber, je nach Fall.</a:t>
            </a:r>
          </a:p>
          <a:p/>
          <a:p>
            <a:r>
              <a:t>ABKÜRZUNGEN AUF DIESER FOLIE</a:t>
            </a:r>
          </a:p>
          <a:p>
            <a:r>
              <a:t>L1-L5 = Commissioning-Stufen von Werksabnahme bis Gesamttest. Cat = Caterpillar. kVA = Scheinleistung.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BOTSCHAFT</a:t>
            </a:r>
          </a:p>
          <a:p>
            <a:r>
              <a:t>Oktober bis Januar: von der Liste zu den ersten Aufträgen.</a:t>
            </a:r>
          </a:p>
          <a:p/>
          <a:p>
            <a:r>
              <a:t>SO SAGST DU ES</a:t>
            </a:r>
          </a:p>
          <a:p>
            <a:r>
              <a:t>«Im Oktober die heissen Leads, im November die Rahmen mit den Installateur-Gruppen, im Dezember unsere Preise ins Modell und den CRM-Status eintragen, im Januar Review im Team.»</a:t>
            </a:r>
          </a:p>
          <a:p/>
          <a:p>
            <a:r>
              <a:t>WENN GEFRAGT WIRD</a:t>
            </a:r>
          </a:p>
          <a:p>
            <a:r>
              <a:t>F: Wer macht was?</a:t>
            </a:r>
          </a:p>
          <a:p>
            <a:r>
              <a:t>A: Vorschlag: Burak RZ und Netz, Mauro und Jörg Kanal-Partner und CRM-Abgleich, Roberto Review. Im Team festlegen.</a:t>
            </a:r>
          </a:p>
          <a:p/>
          <a:p>
            <a:r>
              <a:t>ABKÜRZUNGEN AUF DIESER FOLIE</a:t>
            </a:r>
          </a:p>
          <a:p>
            <a:r>
              <a:t>CRM = Kundendatenbank. RZ = Rechenzentrum. WEF = World Economic Forum.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BOTSCHAFT</a:t>
            </a:r>
          </a:p>
          <a:p>
            <a:r>
              <a:t>Rechenzentren wachsen schneller als das Stromnetz. Die Lücke füllen wir.</a:t>
            </a:r>
          </a:p>
          <a:p/>
          <a:p>
            <a:r>
              <a:t>SO SAGST DU ES</a:t>
            </a:r>
          </a:p>
          <a:p>
            <a:r>
              <a:t>«EKZ hat über 100 Anschlussanfragen von Rechenzentren. Die Gebäude stehen, bevor das Unterwerk fertig ist. Und jedes RZ muss vor dem Start unter Volllast getestet werden: Das ist unser Lastbank-Geschäft.»</a:t>
            </a:r>
          </a:p>
          <a:p/>
          <a:p>
            <a:r>
              <a:t>WENN GEFRAGT WIRD</a:t>
            </a:r>
          </a:p>
          <a:p>
            <a:r>
              <a:t>F: Was ist ein IST konkret?</a:t>
            </a:r>
          </a:p>
          <a:p>
            <a:r>
              <a:t>A: Integrated Systems Test: Strom, Kühlung und Notstrom laufen gemeinsam auf Design-Last, das Netz wird getrennt, Fehler werden simuliert. Typisch 4 bis 6 Wochen.</a:t>
            </a:r>
          </a:p>
          <a:p>
            <a:r>
              <a:t>F: Wer bestellt die Lastbank?</a:t>
            </a:r>
          </a:p>
          <a:p>
            <a:r>
              <a:t>A: Meist der Commissioning-Manager des Betreibers oder der GU, selten der Elektroinstallateur.</a:t>
            </a:r>
          </a:p>
          <a:p/>
          <a:p>
            <a:r>
              <a:t>ABKÜRZUNGEN AUF DIESER FOLIE</a:t>
            </a:r>
          </a:p>
          <a:p>
            <a:r>
              <a:t>RZ = Rechenzentrum. UW = Unterwerk. BESS = Batteriespeicher. IST = Integrated Systems Test. MW = Megawatt (Wirkleistung). Vornetz = übergeordnetes Netz von Axpo/Swissgrid.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BOTSCHAFT</a:t>
            </a:r>
          </a:p>
          <a:p>
            <a:r>
              <a:t>Fünf Produkte, jedes mit einem klaren Einsatzfeld.</a:t>
            </a:r>
          </a:p>
          <a:p/>
          <a:p>
            <a:r>
              <a:t>SO SAGST DU ES</a:t>
            </a:r>
          </a:p>
          <a:p>
            <a:r>
              <a:t>«Generator ist der Türöffner, Lastbank ist das RZ-Produkt, BESS gewinnt überall, wo es leise sein muss, der mobile Trafo ist das Netzprodukt. Den NEA-Test verkaufen wir an Spitäler, Industrie und Facility Manager.»</a:t>
            </a:r>
          </a:p>
          <a:p/>
          <a:p>
            <a:r>
              <a:t>WENN GEFRAGT WIRD</a:t>
            </a:r>
          </a:p>
          <a:p>
            <a:r>
              <a:t>F: Trafos haben wir?</a:t>
            </a:r>
          </a:p>
          <a:p>
            <a:r>
              <a:t>A: Bei MiT nicht belegt, über Aggreko verfügbar. Vor Zusage intern klären.</a:t>
            </a:r>
          </a:p>
          <a:p>
            <a:r>
              <a:t>F: Prime oder Standby?</a:t>
            </a:r>
          </a:p>
          <a:p>
            <a:r>
              <a:t>A: Bei jeder Generator-Anfrage klären: Prime = Dauerbetrieb, Standby = Notstrom mit begrenzten Stunden.</a:t>
            </a:r>
          </a:p>
          <a:p/>
          <a:p>
            <a:r>
              <a:t>ABKÜRZUNGEN AUF DIESER FOLIE</a:t>
            </a:r>
          </a:p>
          <a:p>
            <a:r>
              <a:t>kVA/MVA = Scheinleistung, kW/MW = Wirkleistung (bei cos phi 0,8: 1'000 kVA ≈ 800 kW). HVO = erneuerbarer Diesel. NEA = Netzersatzanlage. MS/NS = Mittel-/Niederspannung. BESS: immer nutzbare Kapazität (kWh) und C-Rate angeben, nicht Nennkapazität.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BOTSCHAFT</a:t>
            </a:r>
          </a:p>
          <a:p>
            <a:r>
              <a:t>Nachschlagen, nicht vortragen.</a:t>
            </a:r>
          </a:p>
          <a:p/>
          <a:p>
            <a:r>
              <a:t>SO SAGST DU ES</a:t>
            </a:r>
          </a:p>
          <a:p>
            <a:r>
              <a:t>Folie nur zeigen, wenn Fragen zu Kürzeln kommen.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BOTSCHAFT</a:t>
            </a:r>
          </a:p>
          <a:p>
            <a:r>
              <a:t>Rechenzentren früh im Bau besetzen, nicht erst beim Test.</a:t>
            </a:r>
          </a:p>
          <a:p/>
          <a:p>
            <a:r>
              <a:t>SO SAGST DU ES</a:t>
            </a:r>
          </a:p>
          <a:p>
            <a:r>
              <a:t>«Wer den Baustrom liefert, kennt die Leute und die Anlage, wenn das Commissioning kommt. Dort liegen die grossen Tickets.»</a:t>
            </a:r>
          </a:p>
          <a:p/>
          <a:p>
            <a:r>
              <a:t>ABKÜRZUNGEN AUF DIESER FOLIE</a:t>
            </a:r>
          </a:p>
          <a:p>
            <a:r>
              <a:t>IST = Integrated Systems Test.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10.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C8C4AD08-CCEA-4339-A7F6-F3BEBF37103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1"/>
            <a:ext cx="12191998" cy="6857999"/>
          </a:xfrm>
          <a:prstGeom prst="rect">
            <a:avLst/>
          </a:prstGeom>
        </p:spPr>
      </p:pic>
      <p:sp>
        <p:nvSpPr>
          <p:cNvPr id="2" name="Titel 1">
            <a:extLst>
              <a:ext uri="{FF2B5EF4-FFF2-40B4-BE49-F238E27FC236}">
                <a16:creationId xmlns:a16="http://schemas.microsoft.com/office/drawing/2014/main" id="{F542309C-2688-4A5B-A18C-61F955C29C9E}"/>
              </a:ext>
            </a:extLst>
          </p:cNvPr>
          <p:cNvSpPr>
            <a:spLocks noGrp="1"/>
          </p:cNvSpPr>
          <p:nvPr>
            <p:ph type="ctrTitle"/>
          </p:nvPr>
        </p:nvSpPr>
        <p:spPr>
          <a:xfrm>
            <a:off x="3219450" y="1099854"/>
            <a:ext cx="5750179" cy="2387600"/>
          </a:xfrm>
        </p:spPr>
        <p:txBody>
          <a:bodyPr anchor="b"/>
          <a:lstStyle>
            <a:lvl1pPr algn="ctr">
              <a:defRPr sz="4400"/>
            </a:lvl1pPr>
          </a:lstStyle>
          <a:p>
            <a:r>
              <a:rPr lang="de-DE"/>
              <a:t>Mastertitelformat bearbeiten</a:t>
            </a:r>
            <a:endParaRPr lang="de-CH" dirty="0"/>
          </a:p>
        </p:txBody>
      </p:sp>
      <p:sp>
        <p:nvSpPr>
          <p:cNvPr id="3" name="Untertitel 2">
            <a:extLst>
              <a:ext uri="{FF2B5EF4-FFF2-40B4-BE49-F238E27FC236}">
                <a16:creationId xmlns:a16="http://schemas.microsoft.com/office/drawing/2014/main" id="{0418234B-2462-444A-903A-3DE578CD5F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CH" dirty="0"/>
          </a:p>
        </p:txBody>
      </p:sp>
      <p:pic>
        <p:nvPicPr>
          <p:cNvPr id="5" name="Grafik 4">
            <a:extLst>
              <a:ext uri="{FF2B5EF4-FFF2-40B4-BE49-F238E27FC236}">
                <a16:creationId xmlns:a16="http://schemas.microsoft.com/office/drawing/2014/main" id="{0B13E9AF-71AD-4E87-8C31-837E61A60AD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9853548" y="501576"/>
            <a:ext cx="1768278" cy="598856"/>
          </a:xfrm>
          <a:prstGeom prst="rect">
            <a:avLst/>
          </a:prstGeom>
        </p:spPr>
      </p:pic>
    </p:spTree>
    <p:extLst>
      <p:ext uri="{BB962C8B-B14F-4D97-AF65-F5344CB8AC3E}">
        <p14:creationId xmlns:p14="http://schemas.microsoft.com/office/powerpoint/2010/main" val="3177795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 und Bi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9090C346-FC05-4F09-8304-9007A0A807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5012"/>
            <a:ext cx="12191998" cy="6857998"/>
          </a:xfrm>
          <a:prstGeom prst="rect">
            <a:avLst/>
          </a:prstGeom>
        </p:spPr>
      </p:pic>
      <p:sp>
        <p:nvSpPr>
          <p:cNvPr id="3" name="Bildplatzhalter 2">
            <a:extLst>
              <a:ext uri="{FF2B5EF4-FFF2-40B4-BE49-F238E27FC236}">
                <a16:creationId xmlns:a16="http://schemas.microsoft.com/office/drawing/2014/main" id="{2FFAD7E4-B14A-4D52-AEBF-E8548A1E0DE6}"/>
              </a:ext>
            </a:extLst>
          </p:cNvPr>
          <p:cNvSpPr>
            <a:spLocks noGrp="1"/>
          </p:cNvSpPr>
          <p:nvPr>
            <p:ph type="pic" sz="quarter" idx="28"/>
          </p:nvPr>
        </p:nvSpPr>
        <p:spPr>
          <a:xfrm>
            <a:off x="2066925" y="2727762"/>
            <a:ext cx="1814513" cy="1812820"/>
          </a:xfrm>
        </p:spPr>
        <p:txBody>
          <a:bodyPr>
            <a:normAutofit/>
          </a:bodyPr>
          <a:lstStyle>
            <a:lvl1pPr marL="0" indent="0">
              <a:buNone/>
              <a:defRPr sz="1200"/>
            </a:lvl1pPr>
          </a:lstStyle>
          <a:p>
            <a:r>
              <a:rPr lang="de-DE"/>
              <a:t>Bild durch Klicken auf Symbol hinzufügen</a:t>
            </a:r>
            <a:endParaRPr lang="de-CH" dirty="0"/>
          </a:p>
        </p:txBody>
      </p:sp>
      <p:sp>
        <p:nvSpPr>
          <p:cNvPr id="13" name="Bildplatzhalter 2">
            <a:extLst>
              <a:ext uri="{FF2B5EF4-FFF2-40B4-BE49-F238E27FC236}">
                <a16:creationId xmlns:a16="http://schemas.microsoft.com/office/drawing/2014/main" id="{4C9D3802-4200-4EC8-9ED7-08F3172FF470}"/>
              </a:ext>
            </a:extLst>
          </p:cNvPr>
          <p:cNvSpPr>
            <a:spLocks noGrp="1"/>
          </p:cNvSpPr>
          <p:nvPr>
            <p:ph type="pic" sz="quarter" idx="29"/>
          </p:nvPr>
        </p:nvSpPr>
        <p:spPr>
          <a:xfrm>
            <a:off x="4138613" y="2727762"/>
            <a:ext cx="1816894" cy="1811681"/>
          </a:xfrm>
        </p:spPr>
        <p:txBody>
          <a:bodyPr>
            <a:normAutofit/>
          </a:bodyPr>
          <a:lstStyle>
            <a:lvl1pPr marL="0" indent="0">
              <a:buNone/>
              <a:defRPr sz="1200"/>
            </a:lvl1pPr>
          </a:lstStyle>
          <a:p>
            <a:r>
              <a:rPr lang="de-DE"/>
              <a:t>Bild durch Klicken auf Symbol hinzufügen</a:t>
            </a:r>
            <a:endParaRPr lang="de-CH" dirty="0"/>
          </a:p>
        </p:txBody>
      </p:sp>
      <p:sp>
        <p:nvSpPr>
          <p:cNvPr id="14" name="Bildplatzhalter 2">
            <a:extLst>
              <a:ext uri="{FF2B5EF4-FFF2-40B4-BE49-F238E27FC236}">
                <a16:creationId xmlns:a16="http://schemas.microsoft.com/office/drawing/2014/main" id="{0815642B-5485-458F-BBCD-C442AFA77EF7}"/>
              </a:ext>
            </a:extLst>
          </p:cNvPr>
          <p:cNvSpPr>
            <a:spLocks noGrp="1"/>
          </p:cNvSpPr>
          <p:nvPr>
            <p:ph type="pic" sz="quarter" idx="30"/>
          </p:nvPr>
        </p:nvSpPr>
        <p:spPr>
          <a:xfrm>
            <a:off x="6215063" y="2727762"/>
            <a:ext cx="1814513" cy="1811681"/>
          </a:xfrm>
        </p:spPr>
        <p:txBody>
          <a:bodyPr>
            <a:normAutofit/>
          </a:bodyPr>
          <a:lstStyle>
            <a:lvl1pPr marL="0" indent="0">
              <a:buNone/>
              <a:defRPr sz="1200"/>
            </a:lvl1pPr>
          </a:lstStyle>
          <a:p>
            <a:r>
              <a:rPr lang="de-DE"/>
              <a:t>Bild durch Klicken auf Symbol hinzufügen</a:t>
            </a:r>
            <a:endParaRPr lang="de-CH" dirty="0"/>
          </a:p>
        </p:txBody>
      </p:sp>
      <p:sp>
        <p:nvSpPr>
          <p:cNvPr id="15" name="Bildplatzhalter 2">
            <a:extLst>
              <a:ext uri="{FF2B5EF4-FFF2-40B4-BE49-F238E27FC236}">
                <a16:creationId xmlns:a16="http://schemas.microsoft.com/office/drawing/2014/main" id="{72941E1B-08BA-4234-9C9F-2CD06FB30A37}"/>
              </a:ext>
            </a:extLst>
          </p:cNvPr>
          <p:cNvSpPr>
            <a:spLocks noGrp="1"/>
          </p:cNvSpPr>
          <p:nvPr>
            <p:ph type="pic" sz="quarter" idx="31"/>
          </p:nvPr>
        </p:nvSpPr>
        <p:spPr>
          <a:xfrm>
            <a:off x="8289131" y="2727762"/>
            <a:ext cx="1814513" cy="1811681"/>
          </a:xfrm>
        </p:spPr>
        <p:txBody>
          <a:bodyPr>
            <a:normAutofit/>
          </a:bodyPr>
          <a:lstStyle>
            <a:lvl1pPr marL="0" indent="0">
              <a:buNone/>
              <a:defRPr sz="1200"/>
            </a:lvl1pPr>
          </a:lstStyle>
          <a:p>
            <a:r>
              <a:rPr lang="de-DE"/>
              <a:t>Bild durch Klicken auf Symbol hinzufügen</a:t>
            </a:r>
            <a:endParaRPr lang="de-CH" dirty="0"/>
          </a:p>
        </p:txBody>
      </p:sp>
      <p:sp>
        <p:nvSpPr>
          <p:cNvPr id="7" name="Textplatzhalter 6">
            <a:extLst>
              <a:ext uri="{FF2B5EF4-FFF2-40B4-BE49-F238E27FC236}">
                <a16:creationId xmlns:a16="http://schemas.microsoft.com/office/drawing/2014/main" id="{23EB270E-1C97-44F5-8800-B65A4C266F4C}"/>
              </a:ext>
            </a:extLst>
          </p:cNvPr>
          <p:cNvSpPr>
            <a:spLocks noGrp="1"/>
          </p:cNvSpPr>
          <p:nvPr>
            <p:ph type="body" sz="quarter" idx="24"/>
          </p:nvPr>
        </p:nvSpPr>
        <p:spPr>
          <a:xfrm>
            <a:off x="2167238" y="4736414"/>
            <a:ext cx="1611312" cy="1466850"/>
          </a:xfrm>
        </p:spPr>
        <p:txBody>
          <a:bodyPr/>
          <a:lstStyle>
            <a:lvl1pPr marL="0" indent="0" algn="just">
              <a:buFontTx/>
              <a:buNone/>
              <a:defRPr sz="1200"/>
            </a:lvl1pPr>
          </a:lstStyle>
          <a:p>
            <a:pPr lvl="0"/>
            <a:r>
              <a:rPr lang="de-DE"/>
              <a:t>Mastertextformat bearbeiten</a:t>
            </a:r>
          </a:p>
          <a:p>
            <a:pPr lvl="1"/>
            <a:r>
              <a:rPr lang="de-DE"/>
              <a:t>Zweite Ebene</a:t>
            </a:r>
          </a:p>
        </p:txBody>
      </p:sp>
      <p:sp>
        <p:nvSpPr>
          <p:cNvPr id="30" name="Textplatzhalter 6">
            <a:extLst>
              <a:ext uri="{FF2B5EF4-FFF2-40B4-BE49-F238E27FC236}">
                <a16:creationId xmlns:a16="http://schemas.microsoft.com/office/drawing/2014/main" id="{85288D32-DC35-408B-AC76-EE60EB6776C4}"/>
              </a:ext>
            </a:extLst>
          </p:cNvPr>
          <p:cNvSpPr>
            <a:spLocks noGrp="1"/>
          </p:cNvSpPr>
          <p:nvPr>
            <p:ph type="body" sz="quarter" idx="25"/>
          </p:nvPr>
        </p:nvSpPr>
        <p:spPr>
          <a:xfrm>
            <a:off x="4240040" y="4736414"/>
            <a:ext cx="1611312" cy="1466850"/>
          </a:xfrm>
        </p:spPr>
        <p:txBody>
          <a:bodyPr/>
          <a:lstStyle>
            <a:lvl1pPr marL="0" indent="0" algn="just">
              <a:buFontTx/>
              <a:buNone/>
              <a:defRPr sz="1200"/>
            </a:lvl1pPr>
          </a:lstStyle>
          <a:p>
            <a:pPr lvl="0"/>
            <a:r>
              <a:rPr lang="de-DE"/>
              <a:t>Mastertextformat bearbeiten</a:t>
            </a:r>
          </a:p>
          <a:p>
            <a:pPr lvl="1"/>
            <a:r>
              <a:rPr lang="de-DE"/>
              <a:t>Zweite Ebene</a:t>
            </a:r>
          </a:p>
        </p:txBody>
      </p:sp>
      <p:sp>
        <p:nvSpPr>
          <p:cNvPr id="31" name="Textplatzhalter 6">
            <a:extLst>
              <a:ext uri="{FF2B5EF4-FFF2-40B4-BE49-F238E27FC236}">
                <a16:creationId xmlns:a16="http://schemas.microsoft.com/office/drawing/2014/main" id="{9EC48F9A-EC4F-41E8-A934-AA816590D44C}"/>
              </a:ext>
            </a:extLst>
          </p:cNvPr>
          <p:cNvSpPr>
            <a:spLocks noGrp="1"/>
          </p:cNvSpPr>
          <p:nvPr>
            <p:ph type="body" sz="quarter" idx="26"/>
          </p:nvPr>
        </p:nvSpPr>
        <p:spPr>
          <a:xfrm>
            <a:off x="6307508" y="4736414"/>
            <a:ext cx="1611312" cy="1466850"/>
          </a:xfrm>
        </p:spPr>
        <p:txBody>
          <a:bodyPr/>
          <a:lstStyle>
            <a:lvl1pPr marL="0" indent="0" algn="just">
              <a:buFontTx/>
              <a:buNone/>
              <a:defRPr sz="1200"/>
            </a:lvl1pPr>
          </a:lstStyle>
          <a:p>
            <a:pPr lvl="0"/>
            <a:r>
              <a:rPr lang="de-DE"/>
              <a:t>Mastertextformat bearbeiten</a:t>
            </a:r>
          </a:p>
          <a:p>
            <a:pPr lvl="1"/>
            <a:r>
              <a:rPr lang="de-DE"/>
              <a:t>Zweite Ebene</a:t>
            </a:r>
          </a:p>
        </p:txBody>
      </p:sp>
      <p:sp>
        <p:nvSpPr>
          <p:cNvPr id="32" name="Textplatzhalter 6">
            <a:extLst>
              <a:ext uri="{FF2B5EF4-FFF2-40B4-BE49-F238E27FC236}">
                <a16:creationId xmlns:a16="http://schemas.microsoft.com/office/drawing/2014/main" id="{D09970B5-13FA-41F5-B55F-17BE62E97333}"/>
              </a:ext>
            </a:extLst>
          </p:cNvPr>
          <p:cNvSpPr>
            <a:spLocks noGrp="1"/>
          </p:cNvSpPr>
          <p:nvPr>
            <p:ph type="body" sz="quarter" idx="27"/>
          </p:nvPr>
        </p:nvSpPr>
        <p:spPr>
          <a:xfrm>
            <a:off x="8374976" y="4736414"/>
            <a:ext cx="1611312" cy="1466850"/>
          </a:xfrm>
        </p:spPr>
        <p:txBody>
          <a:bodyPr/>
          <a:lstStyle>
            <a:lvl1pPr marL="0" indent="0" algn="just">
              <a:buFontTx/>
              <a:buNone/>
              <a:defRPr sz="1200"/>
            </a:lvl1pPr>
          </a:lstStyle>
          <a:p>
            <a:pPr lvl="0"/>
            <a:r>
              <a:rPr lang="de-DE"/>
              <a:t>Mastertextformat bearbeiten</a:t>
            </a:r>
          </a:p>
          <a:p>
            <a:pPr lvl="1"/>
            <a:r>
              <a:rPr lang="de-DE"/>
              <a:t>Zweite Ebene</a:t>
            </a:r>
          </a:p>
        </p:txBody>
      </p:sp>
      <p:sp>
        <p:nvSpPr>
          <p:cNvPr id="33" name="Titel 1">
            <a:extLst>
              <a:ext uri="{FF2B5EF4-FFF2-40B4-BE49-F238E27FC236}">
                <a16:creationId xmlns:a16="http://schemas.microsoft.com/office/drawing/2014/main" id="{42637617-4607-4F52-8C45-9D8CBE7D4DD8}"/>
              </a:ext>
            </a:extLst>
          </p:cNvPr>
          <p:cNvSpPr>
            <a:spLocks noGrp="1"/>
          </p:cNvSpPr>
          <p:nvPr>
            <p:ph type="title"/>
          </p:nvPr>
        </p:nvSpPr>
        <p:spPr>
          <a:xfrm>
            <a:off x="1593668" y="365125"/>
            <a:ext cx="8186058" cy="1325563"/>
          </a:xfrm>
        </p:spPr>
        <p:txBody>
          <a:bodyPr/>
          <a:lstStyle>
            <a:lvl1pPr>
              <a:defRPr sz="3600"/>
            </a:lvl1pPr>
          </a:lstStyle>
          <a:p>
            <a:r>
              <a:rPr lang="de-DE"/>
              <a:t>Mastertitelformat bearbeiten</a:t>
            </a:r>
            <a:endParaRPr lang="de-CH" dirty="0"/>
          </a:p>
        </p:txBody>
      </p:sp>
      <p:sp>
        <p:nvSpPr>
          <p:cNvPr id="20" name="Rechteck 19">
            <a:extLst>
              <a:ext uri="{FF2B5EF4-FFF2-40B4-BE49-F238E27FC236}">
                <a16:creationId xmlns:a16="http://schemas.microsoft.com/office/drawing/2014/main" id="{DEA1E6C2-741A-4E88-B1E7-6002B973D20B}"/>
              </a:ext>
            </a:extLst>
          </p:cNvPr>
          <p:cNvSpPr/>
          <p:nvPr userDrawn="1"/>
        </p:nvSpPr>
        <p:spPr>
          <a:xfrm>
            <a:off x="2626614" y="4542438"/>
            <a:ext cx="688941" cy="64293"/>
          </a:xfrm>
          <a:prstGeom prst="rect">
            <a:avLst/>
          </a:prstGeom>
          <a:solidFill>
            <a:srgbClr val="E000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1" name="Rechteck 20">
            <a:extLst>
              <a:ext uri="{FF2B5EF4-FFF2-40B4-BE49-F238E27FC236}">
                <a16:creationId xmlns:a16="http://schemas.microsoft.com/office/drawing/2014/main" id="{5E6C7DC9-4494-4976-86D0-E6B845AF0934}"/>
              </a:ext>
            </a:extLst>
          </p:cNvPr>
          <p:cNvSpPr/>
          <p:nvPr userDrawn="1"/>
        </p:nvSpPr>
        <p:spPr>
          <a:xfrm>
            <a:off x="4701225" y="4542437"/>
            <a:ext cx="688941" cy="64293"/>
          </a:xfrm>
          <a:prstGeom prst="rect">
            <a:avLst/>
          </a:prstGeom>
          <a:solidFill>
            <a:srgbClr val="E000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5" name="Rechteck 24">
            <a:extLst>
              <a:ext uri="{FF2B5EF4-FFF2-40B4-BE49-F238E27FC236}">
                <a16:creationId xmlns:a16="http://schemas.microsoft.com/office/drawing/2014/main" id="{92962D92-BA8F-4C32-AD4D-FC85CCB1E393}"/>
              </a:ext>
            </a:extLst>
          </p:cNvPr>
          <p:cNvSpPr/>
          <p:nvPr userDrawn="1"/>
        </p:nvSpPr>
        <p:spPr>
          <a:xfrm>
            <a:off x="6777848" y="4541657"/>
            <a:ext cx="688941" cy="64293"/>
          </a:xfrm>
          <a:prstGeom prst="rect">
            <a:avLst/>
          </a:prstGeom>
          <a:solidFill>
            <a:srgbClr val="E000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6" name="Rechteck 25">
            <a:extLst>
              <a:ext uri="{FF2B5EF4-FFF2-40B4-BE49-F238E27FC236}">
                <a16:creationId xmlns:a16="http://schemas.microsoft.com/office/drawing/2014/main" id="{1F43D4DD-A1AA-4193-AC54-7FC4131B1143}"/>
              </a:ext>
            </a:extLst>
          </p:cNvPr>
          <p:cNvSpPr/>
          <p:nvPr userDrawn="1"/>
        </p:nvSpPr>
        <p:spPr>
          <a:xfrm>
            <a:off x="8851917" y="4539443"/>
            <a:ext cx="688941" cy="64293"/>
          </a:xfrm>
          <a:prstGeom prst="rect">
            <a:avLst/>
          </a:prstGeom>
          <a:solidFill>
            <a:srgbClr val="E000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pic>
        <p:nvPicPr>
          <p:cNvPr id="2" name="Grafik 1">
            <a:extLst>
              <a:ext uri="{FF2B5EF4-FFF2-40B4-BE49-F238E27FC236}">
                <a16:creationId xmlns:a16="http://schemas.microsoft.com/office/drawing/2014/main" id="{CEB4373D-90C6-EFE5-ADB6-72DD6C228EF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9853548" y="501576"/>
            <a:ext cx="1768278" cy="598856"/>
          </a:xfrm>
          <a:prstGeom prst="rect">
            <a:avLst/>
          </a:prstGeom>
        </p:spPr>
      </p:pic>
    </p:spTree>
    <p:extLst>
      <p:ext uri="{BB962C8B-B14F-4D97-AF65-F5344CB8AC3E}">
        <p14:creationId xmlns:p14="http://schemas.microsoft.com/office/powerpoint/2010/main" val="2644532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8A2C2AB9-2E16-4CFD-A87C-E0079441423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1998" cy="6857999"/>
          </a:xfrm>
          <a:prstGeom prst="rect">
            <a:avLst/>
          </a:prstGeom>
        </p:spPr>
      </p:pic>
      <p:sp>
        <p:nvSpPr>
          <p:cNvPr id="2" name="Titel 1">
            <a:extLst>
              <a:ext uri="{FF2B5EF4-FFF2-40B4-BE49-F238E27FC236}">
                <a16:creationId xmlns:a16="http://schemas.microsoft.com/office/drawing/2014/main" id="{8470F61A-BFF1-470C-9364-F5D19D5B191D}"/>
              </a:ext>
            </a:extLst>
          </p:cNvPr>
          <p:cNvSpPr>
            <a:spLocks noGrp="1"/>
          </p:cNvSpPr>
          <p:nvPr>
            <p:ph type="title"/>
          </p:nvPr>
        </p:nvSpPr>
        <p:spPr>
          <a:xfrm>
            <a:off x="1593668" y="365125"/>
            <a:ext cx="8186058" cy="1325563"/>
          </a:xfrm>
        </p:spPr>
        <p:txBody>
          <a:bodyPr/>
          <a:lstStyle>
            <a:lvl1pPr>
              <a:defRPr sz="3600"/>
            </a:lvl1pPr>
          </a:lstStyle>
          <a:p>
            <a:r>
              <a:rPr lang="de-DE"/>
              <a:t>Mastertitelformat bearbeiten</a:t>
            </a:r>
            <a:endParaRPr lang="de-CH" dirty="0"/>
          </a:p>
        </p:txBody>
      </p:sp>
      <p:sp>
        <p:nvSpPr>
          <p:cNvPr id="3" name="Inhaltsplatzhalter 2">
            <a:extLst>
              <a:ext uri="{FF2B5EF4-FFF2-40B4-BE49-F238E27FC236}">
                <a16:creationId xmlns:a16="http://schemas.microsoft.com/office/drawing/2014/main" id="{59C0F973-F24C-4BC9-AA70-5EE18837EB7A}"/>
              </a:ext>
            </a:extLst>
          </p:cNvPr>
          <p:cNvSpPr>
            <a:spLocks noGrp="1"/>
          </p:cNvSpPr>
          <p:nvPr>
            <p:ph idx="1"/>
          </p:nvPr>
        </p:nvSpPr>
        <p:spPr>
          <a:xfrm>
            <a:off x="1593668" y="1825625"/>
            <a:ext cx="8186058" cy="4351338"/>
          </a:xfrm>
        </p:spPr>
        <p:txBody>
          <a:bodyPr>
            <a:normAutofit/>
          </a:bodyPr>
          <a:lstStyle>
            <a:lvl1pPr marL="228600" indent="-228600" algn="l">
              <a:buSzPct val="65000"/>
              <a:buFontTx/>
              <a:buBlip>
                <a:blip r:embed="rId3"/>
              </a:buBlip>
              <a:defRPr sz="1600"/>
            </a:lvl1pPr>
            <a:lvl2pPr marL="685800" indent="-228600">
              <a:buSzPct val="65000"/>
              <a:buFontTx/>
              <a:buBlip>
                <a:blip r:embed="rId3"/>
              </a:buBlip>
              <a:defRPr sz="1200"/>
            </a:lvl2pPr>
            <a:lvl3pPr marL="1143000" indent="-228600">
              <a:buSzPct val="65000"/>
              <a:buFontTx/>
              <a:buBlip>
                <a:blip r:embed="rId3"/>
              </a:buBlip>
              <a:defRPr sz="1200"/>
            </a:lvl3pPr>
            <a:lvl4pPr marL="1600200" indent="-228600">
              <a:buSzPct val="65000"/>
              <a:buFontTx/>
              <a:buBlip>
                <a:blip r:embed="rId3"/>
              </a:buBlip>
              <a:defRPr sz="1200"/>
            </a:lvl4pPr>
            <a:lvl5pPr marL="2057400" indent="-228600">
              <a:buSzPct val="65000"/>
              <a:buFontTx/>
              <a:buBlip>
                <a:blip r:embed="rId3"/>
              </a:buBlip>
              <a:defRPr sz="1200"/>
            </a:lvl5pPr>
          </a:lstStyle>
          <a:p>
            <a:pPr lvl="0"/>
            <a:r>
              <a:rPr lang="de-DE"/>
              <a:t>Mastertextformat bearbeiten</a:t>
            </a:r>
          </a:p>
        </p:txBody>
      </p:sp>
      <p:pic>
        <p:nvPicPr>
          <p:cNvPr id="4" name="Grafik 3">
            <a:extLst>
              <a:ext uri="{FF2B5EF4-FFF2-40B4-BE49-F238E27FC236}">
                <a16:creationId xmlns:a16="http://schemas.microsoft.com/office/drawing/2014/main" id="{5ACB7EF9-81A9-DD61-A9E2-8C0CA92E66C7}"/>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9853548" y="501576"/>
            <a:ext cx="1768278" cy="598856"/>
          </a:xfrm>
          <a:prstGeom prst="rect">
            <a:avLst/>
          </a:prstGeom>
        </p:spPr>
      </p:pic>
    </p:spTree>
    <p:extLst>
      <p:ext uri="{BB962C8B-B14F-4D97-AF65-F5344CB8AC3E}">
        <p14:creationId xmlns:p14="http://schemas.microsoft.com/office/powerpoint/2010/main" val="2226265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Spaltiger Text und Bi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A1393E8F-3111-4C45-B8A4-C56E361ECA3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2"/>
            <a:ext cx="12191998" cy="6857998"/>
          </a:xfrm>
          <a:prstGeom prst="rect">
            <a:avLst/>
          </a:prstGeom>
        </p:spPr>
      </p:pic>
      <p:sp>
        <p:nvSpPr>
          <p:cNvPr id="9" name="Titel 1">
            <a:extLst>
              <a:ext uri="{FF2B5EF4-FFF2-40B4-BE49-F238E27FC236}">
                <a16:creationId xmlns:a16="http://schemas.microsoft.com/office/drawing/2014/main" id="{59BB3122-9142-4D1B-A6E2-35DBC9CE5B69}"/>
              </a:ext>
            </a:extLst>
          </p:cNvPr>
          <p:cNvSpPr>
            <a:spLocks noGrp="1"/>
          </p:cNvSpPr>
          <p:nvPr>
            <p:ph type="title"/>
          </p:nvPr>
        </p:nvSpPr>
        <p:spPr>
          <a:xfrm>
            <a:off x="1593668" y="365125"/>
            <a:ext cx="8186058" cy="1325563"/>
          </a:xfrm>
        </p:spPr>
        <p:txBody>
          <a:bodyPr/>
          <a:lstStyle>
            <a:lvl1pPr>
              <a:defRPr sz="3600"/>
            </a:lvl1pPr>
          </a:lstStyle>
          <a:p>
            <a:r>
              <a:rPr lang="de-DE"/>
              <a:t>Mastertitelformat bearbeiten</a:t>
            </a:r>
            <a:endParaRPr lang="de-CH" dirty="0"/>
          </a:p>
        </p:txBody>
      </p:sp>
      <p:sp>
        <p:nvSpPr>
          <p:cNvPr id="14" name="Textplatzhalter 10">
            <a:extLst>
              <a:ext uri="{FF2B5EF4-FFF2-40B4-BE49-F238E27FC236}">
                <a16:creationId xmlns:a16="http://schemas.microsoft.com/office/drawing/2014/main" id="{0F4CC725-F445-4506-BEFA-34A4C0E55FEB}"/>
              </a:ext>
            </a:extLst>
          </p:cNvPr>
          <p:cNvSpPr>
            <a:spLocks noGrp="1"/>
          </p:cNvSpPr>
          <p:nvPr>
            <p:ph type="body" sz="quarter" idx="13"/>
          </p:nvPr>
        </p:nvSpPr>
        <p:spPr>
          <a:xfrm>
            <a:off x="1593668" y="3237829"/>
            <a:ext cx="2208258" cy="2282416"/>
          </a:xfrm>
        </p:spPr>
        <p:txBody>
          <a:bodyPr>
            <a:normAutofit/>
          </a:bodyPr>
          <a:lstStyle>
            <a:lvl1pPr marL="171450" indent="-171450" algn="l">
              <a:buSzPct val="65000"/>
              <a:buFontTx/>
              <a:buBlip>
                <a:blip r:embed="rId3"/>
              </a:buBlip>
              <a:defRPr sz="1600"/>
            </a:lvl1pPr>
            <a:lvl2pPr marL="457200" indent="0" algn="l">
              <a:buFontTx/>
              <a:buNone/>
              <a:defRPr sz="1200"/>
            </a:lvl2pPr>
            <a:lvl3pPr marL="914400" indent="0" algn="l">
              <a:buFontTx/>
              <a:buNone/>
              <a:defRPr sz="1200"/>
            </a:lvl3pPr>
            <a:lvl4pPr marL="1371600" indent="0" algn="l">
              <a:buFontTx/>
              <a:buNone/>
              <a:defRPr sz="1200"/>
            </a:lvl4pPr>
            <a:lvl5pPr marL="1828800" indent="0" algn="l">
              <a:buFontTx/>
              <a:buNone/>
              <a:defRPr sz="1200"/>
            </a:lvl5pPr>
          </a:lstStyle>
          <a:p>
            <a:pPr lvl="0"/>
            <a:r>
              <a:rPr lang="de-DE"/>
              <a:t>Mastertextformat bearbeiten</a:t>
            </a:r>
          </a:p>
        </p:txBody>
      </p:sp>
      <p:sp>
        <p:nvSpPr>
          <p:cNvPr id="16" name="Bildplatzhalter 15">
            <a:extLst>
              <a:ext uri="{FF2B5EF4-FFF2-40B4-BE49-F238E27FC236}">
                <a16:creationId xmlns:a16="http://schemas.microsoft.com/office/drawing/2014/main" id="{5FDD260C-84D6-4544-872E-959C029D05CD}"/>
              </a:ext>
            </a:extLst>
          </p:cNvPr>
          <p:cNvSpPr>
            <a:spLocks noGrp="1"/>
          </p:cNvSpPr>
          <p:nvPr>
            <p:ph type="pic" sz="quarter" idx="14"/>
          </p:nvPr>
        </p:nvSpPr>
        <p:spPr>
          <a:xfrm>
            <a:off x="1593668" y="1827802"/>
            <a:ext cx="2208258" cy="1184275"/>
          </a:xfrm>
        </p:spPr>
        <p:txBody>
          <a:bodyPr>
            <a:normAutofit/>
          </a:bodyPr>
          <a:lstStyle>
            <a:lvl1pPr marL="0" indent="0">
              <a:buNone/>
              <a:defRPr sz="1200"/>
            </a:lvl1pPr>
          </a:lstStyle>
          <a:p>
            <a:r>
              <a:rPr lang="de-DE"/>
              <a:t>Bild durch Klicken auf Symbol hinzufügen</a:t>
            </a:r>
            <a:endParaRPr lang="de-CH" dirty="0"/>
          </a:p>
        </p:txBody>
      </p:sp>
      <p:sp>
        <p:nvSpPr>
          <p:cNvPr id="21" name="Textplatzhalter 10">
            <a:extLst>
              <a:ext uri="{FF2B5EF4-FFF2-40B4-BE49-F238E27FC236}">
                <a16:creationId xmlns:a16="http://schemas.microsoft.com/office/drawing/2014/main" id="{CD3E9369-187D-4372-AA9A-8FDC9466D6F4}"/>
              </a:ext>
            </a:extLst>
          </p:cNvPr>
          <p:cNvSpPr>
            <a:spLocks noGrp="1"/>
          </p:cNvSpPr>
          <p:nvPr>
            <p:ph type="body" sz="quarter" idx="19"/>
          </p:nvPr>
        </p:nvSpPr>
        <p:spPr>
          <a:xfrm>
            <a:off x="4756887" y="3237829"/>
            <a:ext cx="2208258" cy="2282416"/>
          </a:xfrm>
        </p:spPr>
        <p:txBody>
          <a:bodyPr>
            <a:normAutofit/>
          </a:bodyPr>
          <a:lstStyle>
            <a:lvl1pPr marL="171450" indent="-171450" algn="l">
              <a:buSzPct val="65000"/>
              <a:buFontTx/>
              <a:buBlip>
                <a:blip r:embed="rId3"/>
              </a:buBlip>
              <a:defRPr sz="1600"/>
            </a:lvl1pPr>
            <a:lvl2pPr marL="457200" indent="0" algn="l">
              <a:buFontTx/>
              <a:buNone/>
              <a:defRPr sz="1200"/>
            </a:lvl2pPr>
            <a:lvl3pPr marL="914400" indent="0" algn="l">
              <a:buFontTx/>
              <a:buNone/>
              <a:defRPr sz="1200"/>
            </a:lvl3pPr>
            <a:lvl4pPr marL="1371600" indent="0" algn="l">
              <a:buFontTx/>
              <a:buNone/>
              <a:defRPr sz="1200"/>
            </a:lvl4pPr>
            <a:lvl5pPr marL="1828800" indent="0" algn="l">
              <a:buFontTx/>
              <a:buNone/>
              <a:defRPr sz="1200"/>
            </a:lvl5pPr>
          </a:lstStyle>
          <a:p>
            <a:pPr lvl="0"/>
            <a:r>
              <a:rPr lang="de-DE"/>
              <a:t>Mastertextformat bearbeiten</a:t>
            </a:r>
          </a:p>
        </p:txBody>
      </p:sp>
      <p:sp>
        <p:nvSpPr>
          <p:cNvPr id="22" name="Bildplatzhalter 15">
            <a:extLst>
              <a:ext uri="{FF2B5EF4-FFF2-40B4-BE49-F238E27FC236}">
                <a16:creationId xmlns:a16="http://schemas.microsoft.com/office/drawing/2014/main" id="{6AC3D96C-E376-4496-8396-14AFE5668335}"/>
              </a:ext>
            </a:extLst>
          </p:cNvPr>
          <p:cNvSpPr>
            <a:spLocks noGrp="1"/>
          </p:cNvSpPr>
          <p:nvPr>
            <p:ph type="pic" sz="quarter" idx="20"/>
          </p:nvPr>
        </p:nvSpPr>
        <p:spPr>
          <a:xfrm>
            <a:off x="4756887" y="1827802"/>
            <a:ext cx="2208258" cy="1184275"/>
          </a:xfrm>
        </p:spPr>
        <p:txBody>
          <a:bodyPr>
            <a:normAutofit/>
          </a:bodyPr>
          <a:lstStyle>
            <a:lvl1pPr marL="0" indent="0">
              <a:buNone/>
              <a:defRPr sz="1200"/>
            </a:lvl1pPr>
          </a:lstStyle>
          <a:p>
            <a:r>
              <a:rPr lang="de-DE"/>
              <a:t>Bild durch Klicken auf Symbol hinzufügen</a:t>
            </a:r>
            <a:endParaRPr lang="de-CH" dirty="0"/>
          </a:p>
        </p:txBody>
      </p:sp>
      <p:sp>
        <p:nvSpPr>
          <p:cNvPr id="23" name="Bildplatzhalter 15">
            <a:extLst>
              <a:ext uri="{FF2B5EF4-FFF2-40B4-BE49-F238E27FC236}">
                <a16:creationId xmlns:a16="http://schemas.microsoft.com/office/drawing/2014/main" id="{FAB112F8-C380-4BE3-9FFE-14099544691E}"/>
              </a:ext>
            </a:extLst>
          </p:cNvPr>
          <p:cNvSpPr>
            <a:spLocks noGrp="1"/>
          </p:cNvSpPr>
          <p:nvPr>
            <p:ph type="pic" sz="quarter" idx="21"/>
          </p:nvPr>
        </p:nvSpPr>
        <p:spPr>
          <a:xfrm>
            <a:off x="7920107" y="1827802"/>
            <a:ext cx="2208258" cy="1184275"/>
          </a:xfrm>
        </p:spPr>
        <p:txBody>
          <a:bodyPr>
            <a:normAutofit/>
          </a:bodyPr>
          <a:lstStyle>
            <a:lvl1pPr marL="0" indent="0">
              <a:buNone/>
              <a:defRPr sz="1200"/>
            </a:lvl1pPr>
          </a:lstStyle>
          <a:p>
            <a:r>
              <a:rPr lang="de-DE"/>
              <a:t>Bild durch Klicken auf Symbol hinzufügen</a:t>
            </a:r>
            <a:endParaRPr lang="de-CH" dirty="0"/>
          </a:p>
        </p:txBody>
      </p:sp>
      <p:sp>
        <p:nvSpPr>
          <p:cNvPr id="24" name="Textplatzhalter 10">
            <a:extLst>
              <a:ext uri="{FF2B5EF4-FFF2-40B4-BE49-F238E27FC236}">
                <a16:creationId xmlns:a16="http://schemas.microsoft.com/office/drawing/2014/main" id="{FECCD7BD-2FC8-45A2-834F-738044E51231}"/>
              </a:ext>
            </a:extLst>
          </p:cNvPr>
          <p:cNvSpPr>
            <a:spLocks noGrp="1"/>
          </p:cNvSpPr>
          <p:nvPr>
            <p:ph type="body" sz="quarter" idx="22"/>
          </p:nvPr>
        </p:nvSpPr>
        <p:spPr>
          <a:xfrm>
            <a:off x="7920107" y="3254193"/>
            <a:ext cx="2208258" cy="2282416"/>
          </a:xfrm>
        </p:spPr>
        <p:txBody>
          <a:bodyPr>
            <a:normAutofit/>
          </a:bodyPr>
          <a:lstStyle>
            <a:lvl1pPr marL="171450" indent="-171450" algn="l">
              <a:buSzPct val="65000"/>
              <a:buFontTx/>
              <a:buBlip>
                <a:blip r:embed="rId3"/>
              </a:buBlip>
              <a:defRPr sz="1600"/>
            </a:lvl1pPr>
            <a:lvl2pPr marL="457200" indent="0" algn="l">
              <a:buFontTx/>
              <a:buNone/>
              <a:defRPr sz="1200"/>
            </a:lvl2pPr>
            <a:lvl3pPr marL="914400" indent="0" algn="l">
              <a:buFontTx/>
              <a:buNone/>
              <a:defRPr sz="1200"/>
            </a:lvl3pPr>
            <a:lvl4pPr marL="1371600" indent="0" algn="l">
              <a:buFontTx/>
              <a:buNone/>
              <a:defRPr sz="1200"/>
            </a:lvl4pPr>
            <a:lvl5pPr marL="1828800" indent="0" algn="l">
              <a:buFontTx/>
              <a:buNone/>
              <a:defRPr sz="1200"/>
            </a:lvl5pPr>
          </a:lstStyle>
          <a:p>
            <a:pPr lvl="0"/>
            <a:r>
              <a:rPr lang="de-DE"/>
              <a:t>Mastertextformat bearbeiten</a:t>
            </a:r>
          </a:p>
        </p:txBody>
      </p:sp>
      <p:pic>
        <p:nvPicPr>
          <p:cNvPr id="2" name="Grafik 1">
            <a:extLst>
              <a:ext uri="{FF2B5EF4-FFF2-40B4-BE49-F238E27FC236}">
                <a16:creationId xmlns:a16="http://schemas.microsoft.com/office/drawing/2014/main" id="{A469433A-9482-0D5E-48F9-5B8820860AF7}"/>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9853548" y="501576"/>
            <a:ext cx="1768278" cy="598856"/>
          </a:xfrm>
          <a:prstGeom prst="rect">
            <a:avLst/>
          </a:prstGeom>
        </p:spPr>
      </p:pic>
    </p:spTree>
    <p:extLst>
      <p:ext uri="{BB962C8B-B14F-4D97-AF65-F5344CB8AC3E}">
        <p14:creationId xmlns:p14="http://schemas.microsoft.com/office/powerpoint/2010/main" val="2436685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DD958B27-C4C0-4DC2-89B3-195793E4D86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
            <a:ext cx="12192000" cy="6857999"/>
          </a:xfrm>
          <a:prstGeom prst="rect">
            <a:avLst/>
          </a:prstGeom>
        </p:spPr>
      </p:pic>
      <p:sp>
        <p:nvSpPr>
          <p:cNvPr id="7" name="Inhaltsplatzhalter 2">
            <a:extLst>
              <a:ext uri="{FF2B5EF4-FFF2-40B4-BE49-F238E27FC236}">
                <a16:creationId xmlns:a16="http://schemas.microsoft.com/office/drawing/2014/main" id="{44A9A3E7-3527-4371-9524-4F379DDF2BB1}"/>
              </a:ext>
            </a:extLst>
          </p:cNvPr>
          <p:cNvSpPr>
            <a:spLocks noGrp="1"/>
          </p:cNvSpPr>
          <p:nvPr>
            <p:ph sz="half" idx="10"/>
          </p:nvPr>
        </p:nvSpPr>
        <p:spPr>
          <a:xfrm>
            <a:off x="6096000" y="1820425"/>
            <a:ext cx="3683726" cy="3573100"/>
          </a:xfrm>
        </p:spPr>
        <p:txBody>
          <a:bodyPr>
            <a:normAutofit/>
          </a:bodyPr>
          <a:lstStyle>
            <a:lvl1pPr marL="228600" indent="-228600">
              <a:buSzPct val="65000"/>
              <a:buFontTx/>
              <a:buBlip>
                <a:blip r:embed="rId3"/>
              </a:buBlip>
              <a:defRPr sz="1600"/>
            </a:lvl1pPr>
            <a:lvl2pPr marL="685800" indent="-228600">
              <a:buSzPct val="65000"/>
              <a:buFontTx/>
              <a:buBlip>
                <a:blip r:embed="rId3"/>
              </a:buBlip>
              <a:defRPr/>
            </a:lvl2pPr>
            <a:lvl3pPr marL="1143000" indent="-228600">
              <a:buSzPct val="65000"/>
              <a:buFontTx/>
              <a:buBlip>
                <a:blip r:embed="rId3"/>
              </a:buBlip>
              <a:defRPr/>
            </a:lvl3pPr>
            <a:lvl4pPr marL="1600200" indent="-228600">
              <a:buSzPct val="65000"/>
              <a:buFontTx/>
              <a:buBlip>
                <a:blip r:embed="rId3"/>
              </a:buBlip>
              <a:defRPr/>
            </a:lvl4pPr>
            <a:lvl5pPr marL="2057400" indent="-228600">
              <a:buSzPct val="65000"/>
              <a:buFontTx/>
              <a:buBlip>
                <a:blip r:embed="rId3"/>
              </a:buBlip>
              <a:defRPr/>
            </a:lvl5pPr>
          </a:lstStyle>
          <a:p>
            <a:pPr lvl="0"/>
            <a:r>
              <a:rPr lang="de-DE"/>
              <a:t>Mastertextformat bearbeiten</a:t>
            </a:r>
          </a:p>
        </p:txBody>
      </p:sp>
      <p:sp>
        <p:nvSpPr>
          <p:cNvPr id="12" name="Titel 1">
            <a:extLst>
              <a:ext uri="{FF2B5EF4-FFF2-40B4-BE49-F238E27FC236}">
                <a16:creationId xmlns:a16="http://schemas.microsoft.com/office/drawing/2014/main" id="{B72982F4-5269-4AB4-9EB3-AC41E69B7BB0}"/>
              </a:ext>
            </a:extLst>
          </p:cNvPr>
          <p:cNvSpPr>
            <a:spLocks noGrp="1"/>
          </p:cNvSpPr>
          <p:nvPr>
            <p:ph type="title"/>
          </p:nvPr>
        </p:nvSpPr>
        <p:spPr>
          <a:xfrm>
            <a:off x="1593668" y="365125"/>
            <a:ext cx="8186058" cy="1325563"/>
          </a:xfrm>
        </p:spPr>
        <p:txBody>
          <a:bodyPr/>
          <a:lstStyle>
            <a:lvl1pPr>
              <a:defRPr sz="3600"/>
            </a:lvl1pPr>
          </a:lstStyle>
          <a:p>
            <a:r>
              <a:rPr lang="de-DE"/>
              <a:t>Mastertitelformat bearbeiten</a:t>
            </a:r>
            <a:endParaRPr lang="de-CH" dirty="0"/>
          </a:p>
        </p:txBody>
      </p:sp>
      <p:sp>
        <p:nvSpPr>
          <p:cNvPr id="14" name="Inhaltsplatzhalter 2">
            <a:extLst>
              <a:ext uri="{FF2B5EF4-FFF2-40B4-BE49-F238E27FC236}">
                <a16:creationId xmlns:a16="http://schemas.microsoft.com/office/drawing/2014/main" id="{53ADC18A-80C4-4D43-8CA5-75B11F97F056}"/>
              </a:ext>
            </a:extLst>
          </p:cNvPr>
          <p:cNvSpPr>
            <a:spLocks noGrp="1"/>
          </p:cNvSpPr>
          <p:nvPr>
            <p:ph sz="half" idx="11"/>
          </p:nvPr>
        </p:nvSpPr>
        <p:spPr>
          <a:xfrm>
            <a:off x="1593668" y="1820425"/>
            <a:ext cx="3683726" cy="3573100"/>
          </a:xfrm>
        </p:spPr>
        <p:txBody>
          <a:bodyPr>
            <a:normAutofit/>
          </a:bodyPr>
          <a:lstStyle>
            <a:lvl1pPr marL="228600" indent="-228600">
              <a:buSzPct val="65000"/>
              <a:buFontTx/>
              <a:buBlip>
                <a:blip r:embed="rId3"/>
              </a:buBlip>
              <a:defRPr sz="1600"/>
            </a:lvl1pPr>
            <a:lvl2pPr marL="685800" indent="-228600">
              <a:buSzPct val="65000"/>
              <a:buFontTx/>
              <a:buBlip>
                <a:blip r:embed="rId3"/>
              </a:buBlip>
              <a:defRPr sz="1200"/>
            </a:lvl2pPr>
            <a:lvl3pPr marL="1143000" indent="-228600">
              <a:buSzPct val="65000"/>
              <a:buFontTx/>
              <a:buBlip>
                <a:blip r:embed="rId3"/>
              </a:buBlip>
              <a:defRPr sz="1200"/>
            </a:lvl3pPr>
            <a:lvl4pPr marL="1600200" indent="-228600">
              <a:buSzPct val="65000"/>
              <a:buFontTx/>
              <a:buBlip>
                <a:blip r:embed="rId3"/>
              </a:buBlip>
              <a:defRPr sz="1200"/>
            </a:lvl4pPr>
            <a:lvl5pPr marL="2057400" indent="-228600">
              <a:buSzPct val="65000"/>
              <a:buFontTx/>
              <a:buBlip>
                <a:blip r:embed="rId3"/>
              </a:buBlip>
              <a:defRPr sz="1200"/>
            </a:lvl5pPr>
          </a:lstStyle>
          <a:p>
            <a:pPr lvl="0"/>
            <a:r>
              <a:rPr lang="de-DE"/>
              <a:t>Mastertextformat bearbeiten</a:t>
            </a:r>
          </a:p>
          <a:p>
            <a:pPr lvl="1"/>
            <a:r>
              <a:rPr lang="de-DE"/>
              <a:t>Zweite Ebene</a:t>
            </a:r>
          </a:p>
        </p:txBody>
      </p:sp>
      <p:pic>
        <p:nvPicPr>
          <p:cNvPr id="2" name="Grafik 1">
            <a:extLst>
              <a:ext uri="{FF2B5EF4-FFF2-40B4-BE49-F238E27FC236}">
                <a16:creationId xmlns:a16="http://schemas.microsoft.com/office/drawing/2014/main" id="{A63A9A8A-A1D3-5382-E4C3-0BD51353C2E8}"/>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9853548" y="501576"/>
            <a:ext cx="1768278" cy="598856"/>
          </a:xfrm>
          <a:prstGeom prst="rect">
            <a:avLst/>
          </a:prstGeom>
        </p:spPr>
      </p:pic>
    </p:spTree>
    <p:extLst>
      <p:ext uri="{BB962C8B-B14F-4D97-AF65-F5344CB8AC3E}">
        <p14:creationId xmlns:p14="http://schemas.microsoft.com/office/powerpoint/2010/main" val="3500553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el und Inhalt">
    <p:spTree>
      <p:nvGrpSpPr>
        <p:cNvPr id="1" name=""/>
        <p:cNvGrpSpPr/>
        <p:nvPr/>
      </p:nvGrpSpPr>
      <p:grpSpPr>
        <a:xfrm>
          <a:off x="0" y="0"/>
          <a:ext cx="0" cy="0"/>
          <a:chOff x="0" y="0"/>
          <a:chExt cx="0" cy="0"/>
        </a:xfrm>
      </p:grpSpPr>
      <p:pic>
        <p:nvPicPr>
          <p:cNvPr id="11" name="Grafik 10" descr="Ein Bild, das Text enthält.&#10;&#10;Automatisch generierte Beschreibung">
            <a:extLst>
              <a:ext uri="{FF2B5EF4-FFF2-40B4-BE49-F238E27FC236}">
                <a16:creationId xmlns:a16="http://schemas.microsoft.com/office/drawing/2014/main" id="{CFBCAEAA-4DDA-4F17-9400-0295ADD07A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50071" y="498545"/>
            <a:ext cx="1775233" cy="601966"/>
          </a:xfrm>
          <a:prstGeom prst="rect">
            <a:avLst/>
          </a:prstGeom>
        </p:spPr>
      </p:pic>
      <p:pic>
        <p:nvPicPr>
          <p:cNvPr id="6" name="Grafik 5">
            <a:extLst>
              <a:ext uri="{FF2B5EF4-FFF2-40B4-BE49-F238E27FC236}">
                <a16:creationId xmlns:a16="http://schemas.microsoft.com/office/drawing/2014/main" id="{E94692BF-4805-4E05-8202-13FDEC24DBE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2" y="1336"/>
            <a:ext cx="12191998" cy="6857999"/>
          </a:xfrm>
          <a:prstGeom prst="rect">
            <a:avLst/>
          </a:prstGeom>
        </p:spPr>
      </p:pic>
      <p:sp>
        <p:nvSpPr>
          <p:cNvPr id="3" name="Inhaltsplatzhalter 2">
            <a:extLst>
              <a:ext uri="{FF2B5EF4-FFF2-40B4-BE49-F238E27FC236}">
                <a16:creationId xmlns:a16="http://schemas.microsoft.com/office/drawing/2014/main" id="{59C0F973-F24C-4BC9-AA70-5EE18837EB7A}"/>
              </a:ext>
            </a:extLst>
          </p:cNvPr>
          <p:cNvSpPr>
            <a:spLocks noGrp="1"/>
          </p:cNvSpPr>
          <p:nvPr>
            <p:ph idx="1"/>
          </p:nvPr>
        </p:nvSpPr>
        <p:spPr>
          <a:xfrm>
            <a:off x="1593668" y="1825625"/>
            <a:ext cx="6287590" cy="4351338"/>
          </a:xfrm>
        </p:spPr>
        <p:txBody>
          <a:bodyPr>
            <a:normAutofit/>
          </a:bodyPr>
          <a:lstStyle>
            <a:lvl1pPr marL="228600" indent="-228600">
              <a:buSzPct val="65000"/>
              <a:buFontTx/>
              <a:buBlip>
                <a:blip r:embed="rId4"/>
              </a:buBlip>
              <a:defRPr sz="1600"/>
            </a:lvl1pPr>
            <a:lvl2pPr marL="685800" indent="-228600">
              <a:buSzPct val="65000"/>
              <a:buFontTx/>
              <a:buBlip>
                <a:blip r:embed="rId4"/>
              </a:buBlip>
              <a:defRPr sz="1200"/>
            </a:lvl2pPr>
            <a:lvl3pPr marL="1143000" indent="-228600">
              <a:buSzPct val="65000"/>
              <a:buFontTx/>
              <a:buBlip>
                <a:blip r:embed="rId4"/>
              </a:buBlip>
              <a:defRPr sz="1200"/>
            </a:lvl3pPr>
            <a:lvl4pPr marL="1600200" indent="-228600">
              <a:buSzPct val="65000"/>
              <a:buFontTx/>
              <a:buBlip>
                <a:blip r:embed="rId4"/>
              </a:buBlip>
              <a:defRPr sz="1200"/>
            </a:lvl4pPr>
            <a:lvl5pPr marL="2057400" indent="-228600">
              <a:buSzPct val="65000"/>
              <a:buFontTx/>
              <a:buBlip>
                <a:blip r:embed="rId4"/>
              </a:buBlip>
              <a:defRPr sz="1200"/>
            </a:lvl5pPr>
          </a:lstStyle>
          <a:p>
            <a:pPr lvl="0"/>
            <a:r>
              <a:rPr lang="de-DE"/>
              <a:t>Mastertextformat bearbeiten</a:t>
            </a:r>
          </a:p>
        </p:txBody>
      </p:sp>
      <p:sp>
        <p:nvSpPr>
          <p:cNvPr id="7" name="Titel 1">
            <a:extLst>
              <a:ext uri="{FF2B5EF4-FFF2-40B4-BE49-F238E27FC236}">
                <a16:creationId xmlns:a16="http://schemas.microsoft.com/office/drawing/2014/main" id="{E81E9DD8-297E-4B1E-8FF7-69BF02BB0BED}"/>
              </a:ext>
            </a:extLst>
          </p:cNvPr>
          <p:cNvSpPr>
            <a:spLocks noGrp="1"/>
          </p:cNvSpPr>
          <p:nvPr>
            <p:ph type="title"/>
          </p:nvPr>
        </p:nvSpPr>
        <p:spPr>
          <a:xfrm>
            <a:off x="1593669" y="365125"/>
            <a:ext cx="6287590" cy="1325563"/>
          </a:xfrm>
        </p:spPr>
        <p:txBody>
          <a:bodyPr/>
          <a:lstStyle>
            <a:lvl1pPr>
              <a:defRPr sz="3600"/>
            </a:lvl1pPr>
          </a:lstStyle>
          <a:p>
            <a:r>
              <a:rPr lang="de-DE"/>
              <a:t>Mastertitelformat bearbeiten</a:t>
            </a:r>
            <a:endParaRPr lang="de-CH" dirty="0"/>
          </a:p>
        </p:txBody>
      </p:sp>
      <p:pic>
        <p:nvPicPr>
          <p:cNvPr id="4" name="Grafik 3">
            <a:extLst>
              <a:ext uri="{FF2B5EF4-FFF2-40B4-BE49-F238E27FC236}">
                <a16:creationId xmlns:a16="http://schemas.microsoft.com/office/drawing/2014/main" id="{E0E30DD3-E948-4E77-B79C-698D69BDD68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9853550" y="495765"/>
            <a:ext cx="1768278" cy="598856"/>
          </a:xfrm>
          <a:prstGeom prst="rect">
            <a:avLst/>
          </a:prstGeom>
        </p:spPr>
      </p:pic>
      <p:sp>
        <p:nvSpPr>
          <p:cNvPr id="15" name="Inhaltsplatzhalter 2">
            <a:extLst>
              <a:ext uri="{FF2B5EF4-FFF2-40B4-BE49-F238E27FC236}">
                <a16:creationId xmlns:a16="http://schemas.microsoft.com/office/drawing/2014/main" id="{8E5A6AA4-02DA-41D7-89FE-61B87DBA549D}"/>
              </a:ext>
            </a:extLst>
          </p:cNvPr>
          <p:cNvSpPr>
            <a:spLocks noGrp="1"/>
          </p:cNvSpPr>
          <p:nvPr>
            <p:ph idx="10"/>
          </p:nvPr>
        </p:nvSpPr>
        <p:spPr>
          <a:xfrm>
            <a:off x="9850055" y="2329092"/>
            <a:ext cx="1775191" cy="773025"/>
          </a:xfrm>
        </p:spPr>
        <p:txBody>
          <a:bodyPr>
            <a:normAutofit/>
          </a:bodyPr>
          <a:lstStyle>
            <a:lvl1pPr marL="0" indent="0">
              <a:buSzPct val="65000"/>
              <a:buFontTx/>
              <a:buNone/>
              <a:defRPr sz="1200">
                <a:solidFill>
                  <a:schemeClr val="bg1"/>
                </a:solidFill>
              </a:defRPr>
            </a:lvl1pPr>
            <a:lvl2pPr marL="685800" indent="-228600">
              <a:buSzPct val="65000"/>
              <a:buFontTx/>
              <a:buBlip>
                <a:blip r:embed="rId4"/>
              </a:buBlip>
              <a:defRPr sz="1200"/>
            </a:lvl2pPr>
            <a:lvl3pPr marL="1143000" indent="-228600">
              <a:buSzPct val="65000"/>
              <a:buFontTx/>
              <a:buBlip>
                <a:blip r:embed="rId4"/>
              </a:buBlip>
              <a:defRPr sz="1200"/>
            </a:lvl3pPr>
            <a:lvl4pPr marL="1600200" indent="-228600">
              <a:buSzPct val="65000"/>
              <a:buFontTx/>
              <a:buBlip>
                <a:blip r:embed="rId4"/>
              </a:buBlip>
              <a:defRPr sz="1200"/>
            </a:lvl4pPr>
            <a:lvl5pPr marL="2057400" indent="-228600">
              <a:buSzPct val="65000"/>
              <a:buFontTx/>
              <a:buBlip>
                <a:blip r:embed="rId4"/>
              </a:buBlip>
              <a:defRPr sz="1200"/>
            </a:lvl5pPr>
          </a:lstStyle>
          <a:p>
            <a:pPr lvl="0"/>
            <a:r>
              <a:rPr lang="de-DE"/>
              <a:t>Mastertextformat bearbeiten</a:t>
            </a:r>
          </a:p>
        </p:txBody>
      </p:sp>
      <p:sp>
        <p:nvSpPr>
          <p:cNvPr id="24" name="Inhaltsplatzhalter 2">
            <a:extLst>
              <a:ext uri="{FF2B5EF4-FFF2-40B4-BE49-F238E27FC236}">
                <a16:creationId xmlns:a16="http://schemas.microsoft.com/office/drawing/2014/main" id="{36F7FF0E-E7A3-4D90-8786-0C4D443440AD}"/>
              </a:ext>
            </a:extLst>
          </p:cNvPr>
          <p:cNvSpPr>
            <a:spLocks noGrp="1"/>
          </p:cNvSpPr>
          <p:nvPr>
            <p:ph idx="11"/>
          </p:nvPr>
        </p:nvSpPr>
        <p:spPr>
          <a:xfrm>
            <a:off x="9850025" y="3858536"/>
            <a:ext cx="1775221" cy="773025"/>
          </a:xfrm>
        </p:spPr>
        <p:txBody>
          <a:bodyPr>
            <a:normAutofit/>
          </a:bodyPr>
          <a:lstStyle>
            <a:lvl1pPr marL="0" indent="0">
              <a:buSzPct val="65000"/>
              <a:buFontTx/>
              <a:buNone/>
              <a:defRPr sz="1200">
                <a:solidFill>
                  <a:schemeClr val="bg1"/>
                </a:solidFill>
              </a:defRPr>
            </a:lvl1pPr>
            <a:lvl2pPr marL="685800" indent="-228600">
              <a:buSzPct val="65000"/>
              <a:buFontTx/>
              <a:buBlip>
                <a:blip r:embed="rId4"/>
              </a:buBlip>
              <a:defRPr sz="1200"/>
            </a:lvl2pPr>
            <a:lvl3pPr marL="1143000" indent="-228600">
              <a:buSzPct val="65000"/>
              <a:buFontTx/>
              <a:buBlip>
                <a:blip r:embed="rId4"/>
              </a:buBlip>
              <a:defRPr sz="1200"/>
            </a:lvl3pPr>
            <a:lvl4pPr marL="1600200" indent="-228600">
              <a:buSzPct val="65000"/>
              <a:buFontTx/>
              <a:buBlip>
                <a:blip r:embed="rId4"/>
              </a:buBlip>
              <a:defRPr sz="1200"/>
            </a:lvl4pPr>
            <a:lvl5pPr marL="2057400" indent="-228600">
              <a:buSzPct val="65000"/>
              <a:buFontTx/>
              <a:buBlip>
                <a:blip r:embed="rId4"/>
              </a:buBlip>
              <a:defRPr sz="1200"/>
            </a:lvl5pPr>
          </a:lstStyle>
          <a:p>
            <a:pPr lvl="0"/>
            <a:r>
              <a:rPr lang="de-DE"/>
              <a:t>Mastertextformat bearbeiten</a:t>
            </a:r>
          </a:p>
        </p:txBody>
      </p:sp>
      <p:sp>
        <p:nvSpPr>
          <p:cNvPr id="12" name="Textplatzhalter 11">
            <a:extLst>
              <a:ext uri="{FF2B5EF4-FFF2-40B4-BE49-F238E27FC236}">
                <a16:creationId xmlns:a16="http://schemas.microsoft.com/office/drawing/2014/main" id="{2B14CB79-F3BC-4DAE-8715-8B6A446A001B}"/>
              </a:ext>
            </a:extLst>
          </p:cNvPr>
          <p:cNvSpPr>
            <a:spLocks noGrp="1"/>
          </p:cNvSpPr>
          <p:nvPr>
            <p:ph type="body" sz="quarter" idx="13"/>
          </p:nvPr>
        </p:nvSpPr>
        <p:spPr>
          <a:xfrm>
            <a:off x="9850012" y="1825625"/>
            <a:ext cx="1775233" cy="348608"/>
          </a:xfrm>
        </p:spPr>
        <p:txBody>
          <a:bodyPr>
            <a:noAutofit/>
          </a:bodyPr>
          <a:lstStyle>
            <a:lvl1pPr marL="0" indent="0">
              <a:buFontTx/>
              <a:buNone/>
              <a:defRPr sz="1800">
                <a:solidFill>
                  <a:schemeClr val="bg1"/>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de-DE"/>
              <a:t>Mastertextformat bearbeiten</a:t>
            </a:r>
          </a:p>
        </p:txBody>
      </p:sp>
      <p:sp>
        <p:nvSpPr>
          <p:cNvPr id="29" name="Textplatzhalter 11">
            <a:extLst>
              <a:ext uri="{FF2B5EF4-FFF2-40B4-BE49-F238E27FC236}">
                <a16:creationId xmlns:a16="http://schemas.microsoft.com/office/drawing/2014/main" id="{3E4DD723-49AF-4F18-AE0F-C841C6E15B99}"/>
              </a:ext>
            </a:extLst>
          </p:cNvPr>
          <p:cNvSpPr>
            <a:spLocks noGrp="1"/>
          </p:cNvSpPr>
          <p:nvPr>
            <p:ph type="body" sz="quarter" idx="14"/>
          </p:nvPr>
        </p:nvSpPr>
        <p:spPr>
          <a:xfrm>
            <a:off x="9850010" y="3351445"/>
            <a:ext cx="1775233" cy="348608"/>
          </a:xfrm>
        </p:spPr>
        <p:txBody>
          <a:bodyPr>
            <a:noAutofit/>
          </a:bodyPr>
          <a:lstStyle>
            <a:lvl1pPr marL="0" indent="0">
              <a:buFontTx/>
              <a:buNone/>
              <a:defRPr sz="1800">
                <a:solidFill>
                  <a:schemeClr val="bg1"/>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de-DE"/>
              <a:t>Mastertextformat bearbeiten</a:t>
            </a:r>
          </a:p>
        </p:txBody>
      </p:sp>
      <p:sp>
        <p:nvSpPr>
          <p:cNvPr id="30" name="Textplatzhalter 11">
            <a:extLst>
              <a:ext uri="{FF2B5EF4-FFF2-40B4-BE49-F238E27FC236}">
                <a16:creationId xmlns:a16="http://schemas.microsoft.com/office/drawing/2014/main" id="{F661758D-77AB-4668-BFEE-EEF1E36D7A4C}"/>
              </a:ext>
            </a:extLst>
          </p:cNvPr>
          <p:cNvSpPr>
            <a:spLocks noGrp="1"/>
          </p:cNvSpPr>
          <p:nvPr>
            <p:ph type="body" sz="quarter" idx="15"/>
          </p:nvPr>
        </p:nvSpPr>
        <p:spPr>
          <a:xfrm>
            <a:off x="9850011" y="4880889"/>
            <a:ext cx="1775233" cy="348608"/>
          </a:xfrm>
        </p:spPr>
        <p:txBody>
          <a:bodyPr>
            <a:noAutofit/>
          </a:bodyPr>
          <a:lstStyle>
            <a:lvl1pPr marL="0" indent="0">
              <a:buFontTx/>
              <a:buNone/>
              <a:defRPr sz="1800">
                <a:solidFill>
                  <a:schemeClr val="bg1"/>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de-DE"/>
              <a:t>Mastertextformat bearbeiten</a:t>
            </a:r>
          </a:p>
        </p:txBody>
      </p:sp>
      <p:sp>
        <p:nvSpPr>
          <p:cNvPr id="31" name="Inhaltsplatzhalter 2">
            <a:extLst>
              <a:ext uri="{FF2B5EF4-FFF2-40B4-BE49-F238E27FC236}">
                <a16:creationId xmlns:a16="http://schemas.microsoft.com/office/drawing/2014/main" id="{5427F5A2-E8C9-4161-95E6-981C27F4C380}"/>
              </a:ext>
            </a:extLst>
          </p:cNvPr>
          <p:cNvSpPr>
            <a:spLocks noGrp="1"/>
          </p:cNvSpPr>
          <p:nvPr>
            <p:ph idx="16"/>
          </p:nvPr>
        </p:nvSpPr>
        <p:spPr>
          <a:xfrm>
            <a:off x="9850026" y="5387980"/>
            <a:ext cx="1775221" cy="773025"/>
          </a:xfrm>
        </p:spPr>
        <p:txBody>
          <a:bodyPr>
            <a:normAutofit/>
          </a:bodyPr>
          <a:lstStyle>
            <a:lvl1pPr marL="0" indent="0">
              <a:buSzPct val="65000"/>
              <a:buFontTx/>
              <a:buNone/>
              <a:defRPr sz="1200">
                <a:solidFill>
                  <a:schemeClr val="bg1"/>
                </a:solidFill>
              </a:defRPr>
            </a:lvl1pPr>
            <a:lvl2pPr marL="685800" indent="-228600">
              <a:buSzPct val="65000"/>
              <a:buFontTx/>
              <a:buBlip>
                <a:blip r:embed="rId4"/>
              </a:buBlip>
              <a:defRPr sz="1200"/>
            </a:lvl2pPr>
            <a:lvl3pPr marL="1143000" indent="-228600">
              <a:buSzPct val="65000"/>
              <a:buFontTx/>
              <a:buBlip>
                <a:blip r:embed="rId4"/>
              </a:buBlip>
              <a:defRPr sz="1200"/>
            </a:lvl3pPr>
            <a:lvl4pPr marL="1600200" indent="-228600">
              <a:buSzPct val="65000"/>
              <a:buFontTx/>
              <a:buBlip>
                <a:blip r:embed="rId4"/>
              </a:buBlip>
              <a:defRPr sz="1200"/>
            </a:lvl4pPr>
            <a:lvl5pPr marL="2057400" indent="-228600">
              <a:buSzPct val="65000"/>
              <a:buFontTx/>
              <a:buBlip>
                <a:blip r:embed="rId4"/>
              </a:buBlip>
              <a:defRPr sz="1200"/>
            </a:lvl5pPr>
          </a:lstStyle>
          <a:p>
            <a:pPr lvl="0"/>
            <a:r>
              <a:rPr lang="de-DE"/>
              <a:t>Mastertextformat bearbeiten</a:t>
            </a:r>
          </a:p>
        </p:txBody>
      </p:sp>
    </p:spTree>
    <p:extLst>
      <p:ext uri="{BB962C8B-B14F-4D97-AF65-F5344CB8AC3E}">
        <p14:creationId xmlns:p14="http://schemas.microsoft.com/office/powerpoint/2010/main" val="3876625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spaltiger Text Grid">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0CEA1C9C-B676-4818-A35E-2881BED83BB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
            <a:ext cx="12192000" cy="6857999"/>
          </a:xfrm>
          <a:prstGeom prst="rect">
            <a:avLst/>
          </a:prstGeom>
        </p:spPr>
      </p:pic>
      <p:sp>
        <p:nvSpPr>
          <p:cNvPr id="12" name="Titel 1">
            <a:extLst>
              <a:ext uri="{FF2B5EF4-FFF2-40B4-BE49-F238E27FC236}">
                <a16:creationId xmlns:a16="http://schemas.microsoft.com/office/drawing/2014/main" id="{429ABAAF-597E-48AA-ACAA-E267983197DB}"/>
              </a:ext>
            </a:extLst>
          </p:cNvPr>
          <p:cNvSpPr>
            <a:spLocks noGrp="1"/>
          </p:cNvSpPr>
          <p:nvPr>
            <p:ph type="title"/>
          </p:nvPr>
        </p:nvSpPr>
        <p:spPr>
          <a:xfrm>
            <a:off x="1593668" y="365125"/>
            <a:ext cx="8186058" cy="1325563"/>
          </a:xfrm>
        </p:spPr>
        <p:txBody>
          <a:bodyPr/>
          <a:lstStyle>
            <a:lvl1pPr>
              <a:defRPr sz="3600"/>
            </a:lvl1pPr>
          </a:lstStyle>
          <a:p>
            <a:r>
              <a:rPr lang="de-DE"/>
              <a:t>Mastertitelformat bearbeiten</a:t>
            </a:r>
            <a:endParaRPr lang="de-CH" dirty="0"/>
          </a:p>
        </p:txBody>
      </p:sp>
      <p:sp>
        <p:nvSpPr>
          <p:cNvPr id="13" name="Textplatzhalter 10">
            <a:extLst>
              <a:ext uri="{FF2B5EF4-FFF2-40B4-BE49-F238E27FC236}">
                <a16:creationId xmlns:a16="http://schemas.microsoft.com/office/drawing/2014/main" id="{E2F1621E-A11E-413E-BF60-AB8DBFF575CB}"/>
              </a:ext>
            </a:extLst>
          </p:cNvPr>
          <p:cNvSpPr>
            <a:spLocks noGrp="1"/>
          </p:cNvSpPr>
          <p:nvPr>
            <p:ph type="body" sz="quarter" idx="13"/>
          </p:nvPr>
        </p:nvSpPr>
        <p:spPr>
          <a:xfrm>
            <a:off x="1593668" y="1819864"/>
            <a:ext cx="3927407" cy="3826828"/>
          </a:xfrm>
        </p:spPr>
        <p:txBody>
          <a:bodyPr>
            <a:normAutofit/>
          </a:bodyPr>
          <a:lstStyle>
            <a:lvl1pPr marL="171450" indent="-171450" algn="l">
              <a:buSzPct val="65000"/>
              <a:buFontTx/>
              <a:buBlip>
                <a:blip r:embed="rId3"/>
              </a:buBlip>
              <a:defRPr sz="1600"/>
            </a:lvl1pPr>
            <a:lvl2pPr marL="457200" indent="0" algn="l">
              <a:buFontTx/>
              <a:buNone/>
              <a:defRPr sz="1200"/>
            </a:lvl2pPr>
            <a:lvl3pPr marL="914400" indent="0" algn="l">
              <a:buFontTx/>
              <a:buNone/>
              <a:defRPr sz="1200"/>
            </a:lvl3pPr>
            <a:lvl4pPr marL="1371600" indent="0" algn="l">
              <a:buFontTx/>
              <a:buNone/>
              <a:defRPr sz="1200"/>
            </a:lvl4pPr>
            <a:lvl5pPr marL="1828800" indent="0" algn="l">
              <a:buFontTx/>
              <a:buNone/>
              <a:defRPr sz="1200"/>
            </a:lvl5pPr>
          </a:lstStyle>
          <a:p>
            <a:pPr lvl="0"/>
            <a:r>
              <a:rPr lang="de-DE"/>
              <a:t>Mastertextformat bearbeiten</a:t>
            </a:r>
          </a:p>
        </p:txBody>
      </p:sp>
      <p:sp>
        <p:nvSpPr>
          <p:cNvPr id="14" name="Textplatzhalter 10">
            <a:extLst>
              <a:ext uri="{FF2B5EF4-FFF2-40B4-BE49-F238E27FC236}">
                <a16:creationId xmlns:a16="http://schemas.microsoft.com/office/drawing/2014/main" id="{D5186E57-7B82-4B4E-918D-AED972A7AA3E}"/>
              </a:ext>
            </a:extLst>
          </p:cNvPr>
          <p:cNvSpPr>
            <a:spLocks noGrp="1"/>
          </p:cNvSpPr>
          <p:nvPr>
            <p:ph type="body" sz="quarter" idx="14"/>
          </p:nvPr>
        </p:nvSpPr>
        <p:spPr>
          <a:xfrm>
            <a:off x="5850842" y="1819864"/>
            <a:ext cx="3927407" cy="3826828"/>
          </a:xfrm>
        </p:spPr>
        <p:txBody>
          <a:bodyPr>
            <a:normAutofit/>
          </a:bodyPr>
          <a:lstStyle>
            <a:lvl1pPr marL="171450" indent="-171450" algn="l">
              <a:buSzPct val="65000"/>
              <a:buFontTx/>
              <a:buBlip>
                <a:blip r:embed="rId3"/>
              </a:buBlip>
              <a:defRPr sz="1600"/>
            </a:lvl1pPr>
            <a:lvl2pPr marL="457200" indent="0" algn="l">
              <a:buFontTx/>
              <a:buNone/>
              <a:defRPr sz="1200"/>
            </a:lvl2pPr>
            <a:lvl3pPr marL="914400" indent="0" algn="l">
              <a:buFontTx/>
              <a:buNone/>
              <a:defRPr sz="1200"/>
            </a:lvl3pPr>
            <a:lvl4pPr marL="1371600" indent="0" algn="l">
              <a:buFontTx/>
              <a:buNone/>
              <a:defRPr sz="1200"/>
            </a:lvl4pPr>
            <a:lvl5pPr marL="1828800" indent="0" algn="l">
              <a:buFontTx/>
              <a:buNone/>
              <a:defRPr sz="1200"/>
            </a:lvl5pPr>
          </a:lstStyle>
          <a:p>
            <a:pPr lvl="0"/>
            <a:r>
              <a:rPr lang="de-DE"/>
              <a:t>Mastertextformat bearbeiten</a:t>
            </a:r>
          </a:p>
        </p:txBody>
      </p:sp>
      <p:pic>
        <p:nvPicPr>
          <p:cNvPr id="2" name="Grafik 1">
            <a:extLst>
              <a:ext uri="{FF2B5EF4-FFF2-40B4-BE49-F238E27FC236}">
                <a16:creationId xmlns:a16="http://schemas.microsoft.com/office/drawing/2014/main" id="{7F81D870-9057-FD6C-EA3A-90D25E24DA26}"/>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9853548" y="501576"/>
            <a:ext cx="1768278" cy="598856"/>
          </a:xfrm>
          <a:prstGeom prst="rect">
            <a:avLst/>
          </a:prstGeom>
        </p:spPr>
      </p:pic>
    </p:spTree>
    <p:extLst>
      <p:ext uri="{BB962C8B-B14F-4D97-AF65-F5344CB8AC3E}">
        <p14:creationId xmlns:p14="http://schemas.microsoft.com/office/powerpoint/2010/main" val="1587764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A8427B2E-9ECE-406F-B5FF-464168F28D3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7999"/>
          </a:xfrm>
          <a:prstGeom prst="rect">
            <a:avLst/>
          </a:prstGeom>
        </p:spPr>
      </p:pic>
      <p:sp>
        <p:nvSpPr>
          <p:cNvPr id="2" name="Titel 1">
            <a:extLst>
              <a:ext uri="{FF2B5EF4-FFF2-40B4-BE49-F238E27FC236}">
                <a16:creationId xmlns:a16="http://schemas.microsoft.com/office/drawing/2014/main" id="{19D967CA-5E45-4978-9547-5439470936CB}"/>
              </a:ext>
            </a:extLst>
          </p:cNvPr>
          <p:cNvSpPr>
            <a:spLocks noGrp="1"/>
          </p:cNvSpPr>
          <p:nvPr>
            <p:ph type="title"/>
          </p:nvPr>
        </p:nvSpPr>
        <p:spPr>
          <a:xfrm>
            <a:off x="3638550" y="2211784"/>
            <a:ext cx="4914900" cy="2434432"/>
          </a:xfrm>
        </p:spPr>
        <p:txBody>
          <a:bodyPr/>
          <a:lstStyle>
            <a:lvl1pPr algn="ctr">
              <a:defRPr sz="3600">
                <a:solidFill>
                  <a:schemeClr val="bg1"/>
                </a:solidFill>
              </a:defRPr>
            </a:lvl1pPr>
          </a:lstStyle>
          <a:p>
            <a:r>
              <a:rPr lang="de-DE"/>
              <a:t>Mastertitelformat bearbeiten</a:t>
            </a:r>
            <a:endParaRPr lang="de-CH" dirty="0"/>
          </a:p>
        </p:txBody>
      </p:sp>
      <p:pic>
        <p:nvPicPr>
          <p:cNvPr id="3" name="Grafik 2">
            <a:extLst>
              <a:ext uri="{FF2B5EF4-FFF2-40B4-BE49-F238E27FC236}">
                <a16:creationId xmlns:a16="http://schemas.microsoft.com/office/drawing/2014/main" id="{0B8315E9-0451-4C76-6A4B-2B156C11ECD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9853548" y="501576"/>
            <a:ext cx="1768278" cy="598856"/>
          </a:xfrm>
          <a:prstGeom prst="rect">
            <a:avLst/>
          </a:prstGeom>
        </p:spPr>
      </p:pic>
    </p:spTree>
    <p:extLst>
      <p:ext uri="{BB962C8B-B14F-4D97-AF65-F5344CB8AC3E}">
        <p14:creationId xmlns:p14="http://schemas.microsoft.com/office/powerpoint/2010/main" val="1164042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156DAC-B155-4CC8-A2B9-C3CE8EDDE0AF}"/>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CH"/>
          </a:p>
        </p:txBody>
      </p:sp>
      <p:sp>
        <p:nvSpPr>
          <p:cNvPr id="4" name="Textplatzhalter 3">
            <a:extLst>
              <a:ext uri="{FF2B5EF4-FFF2-40B4-BE49-F238E27FC236}">
                <a16:creationId xmlns:a16="http://schemas.microsoft.com/office/drawing/2014/main" id="{AA293962-EC99-4E80-B203-63B4EC528C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Tree>
    <p:extLst>
      <p:ext uri="{BB962C8B-B14F-4D97-AF65-F5344CB8AC3E}">
        <p14:creationId xmlns:p14="http://schemas.microsoft.com/office/powerpoint/2010/main" val="738049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82E0FE4-44FA-4B24-BDB1-789C0DB3BCE9}"/>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de-CH"/>
          </a:p>
        </p:txBody>
      </p:sp>
      <p:sp>
        <p:nvSpPr>
          <p:cNvPr id="3" name="Textplatzhalter 2">
            <a:extLst>
              <a:ext uri="{FF2B5EF4-FFF2-40B4-BE49-F238E27FC236}">
                <a16:creationId xmlns:a16="http://schemas.microsoft.com/office/drawing/2014/main" id="{0FE34322-460C-4E7B-8EC8-C053E49439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03FE0A0F-E3E0-4FD3-AA72-B7269B3BC846}"/>
              </a:ext>
            </a:extLst>
          </p:cNvPr>
          <p:cNvSpPr>
            <a:spLocks noGrp="1"/>
          </p:cNvSpPr>
          <p:nvPr>
            <p:ph type="dt" sz="half" idx="10"/>
          </p:nvPr>
        </p:nvSpPr>
        <p:spPr/>
        <p:txBody>
          <a:bodyPr/>
          <a:lstStyle/>
          <a:p>
            <a:fld id="{09A10578-6AC6-4AE0-AD56-C7CD516BFC12}" type="datetimeFigureOut">
              <a:rPr lang="de-CH" smtClean="0"/>
              <a:t>13.07.2026</a:t>
            </a:fld>
            <a:endParaRPr lang="de-CH"/>
          </a:p>
        </p:txBody>
      </p:sp>
      <p:sp>
        <p:nvSpPr>
          <p:cNvPr id="5" name="Fußzeilenplatzhalter 4">
            <a:extLst>
              <a:ext uri="{FF2B5EF4-FFF2-40B4-BE49-F238E27FC236}">
                <a16:creationId xmlns:a16="http://schemas.microsoft.com/office/drawing/2014/main" id="{244EE2E2-64DE-48A4-AAA5-4C97C3AD215D}"/>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D6D16CB7-CF9C-4E02-A683-6760AE24F354}"/>
              </a:ext>
            </a:extLst>
          </p:cNvPr>
          <p:cNvSpPr>
            <a:spLocks noGrp="1"/>
          </p:cNvSpPr>
          <p:nvPr>
            <p:ph type="sldNum" sz="quarter" idx="12"/>
          </p:nvPr>
        </p:nvSpPr>
        <p:spPr/>
        <p:txBody>
          <a:bodyPr/>
          <a:lstStyle/>
          <a:p>
            <a:fld id="{C181C67F-460F-47BA-B035-954D3BC4A752}" type="slidenum">
              <a:rPr lang="de-CH" smtClean="0"/>
              <a:t>‹Nr.›</a:t>
            </a:fld>
            <a:endParaRPr lang="de-CH"/>
          </a:p>
        </p:txBody>
      </p:sp>
    </p:spTree>
    <p:extLst>
      <p:ext uri="{BB962C8B-B14F-4D97-AF65-F5344CB8AC3E}">
        <p14:creationId xmlns:p14="http://schemas.microsoft.com/office/powerpoint/2010/main" val="3560377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F290AF-3F32-4B4C-8419-5EE630196193}"/>
              </a:ext>
            </a:extLst>
          </p:cNvPr>
          <p:cNvSpPr>
            <a:spLocks noGrp="1"/>
          </p:cNvSpPr>
          <p:nvPr>
            <p:ph type="title"/>
          </p:nvPr>
        </p:nvSpPr>
        <p:spPr>
          <a:xfrm>
            <a:off x="839788" y="365125"/>
            <a:ext cx="10515600" cy="1325563"/>
          </a:xfrm>
        </p:spPr>
        <p:txBody>
          <a:bodyPr/>
          <a:lstStyle/>
          <a:p>
            <a:r>
              <a:rPr lang="de-DE"/>
              <a:t>Mastertitelformat bearbeiten</a:t>
            </a:r>
            <a:endParaRPr lang="de-CH"/>
          </a:p>
        </p:txBody>
      </p:sp>
      <p:sp>
        <p:nvSpPr>
          <p:cNvPr id="3" name="Textplatzhalter 2">
            <a:extLst>
              <a:ext uri="{FF2B5EF4-FFF2-40B4-BE49-F238E27FC236}">
                <a16:creationId xmlns:a16="http://schemas.microsoft.com/office/drawing/2014/main" id="{6A7DDF56-3A91-4095-9D8D-38B89CF7DE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F16A4A1C-9D90-4FC7-80DF-06DECB1F4D9A}"/>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Textplatzhalter 4">
            <a:extLst>
              <a:ext uri="{FF2B5EF4-FFF2-40B4-BE49-F238E27FC236}">
                <a16:creationId xmlns:a16="http://schemas.microsoft.com/office/drawing/2014/main" id="{21CB67CF-1CEF-42A9-B9CB-518AEC6774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A54D6EEF-FD7D-4A3B-A0F2-FFE63B3FE0FA}"/>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7" name="Datumsplatzhalter 6">
            <a:extLst>
              <a:ext uri="{FF2B5EF4-FFF2-40B4-BE49-F238E27FC236}">
                <a16:creationId xmlns:a16="http://schemas.microsoft.com/office/drawing/2014/main" id="{0DCE5932-43C8-42E1-A3CD-06739118BE9A}"/>
              </a:ext>
            </a:extLst>
          </p:cNvPr>
          <p:cNvSpPr>
            <a:spLocks noGrp="1"/>
          </p:cNvSpPr>
          <p:nvPr>
            <p:ph type="dt" sz="half" idx="10"/>
          </p:nvPr>
        </p:nvSpPr>
        <p:spPr/>
        <p:txBody>
          <a:bodyPr/>
          <a:lstStyle/>
          <a:p>
            <a:fld id="{09A10578-6AC6-4AE0-AD56-C7CD516BFC12}" type="datetimeFigureOut">
              <a:rPr lang="de-CH" smtClean="0"/>
              <a:t>13.07.2026</a:t>
            </a:fld>
            <a:endParaRPr lang="de-CH"/>
          </a:p>
        </p:txBody>
      </p:sp>
      <p:sp>
        <p:nvSpPr>
          <p:cNvPr id="8" name="Fußzeilenplatzhalter 7">
            <a:extLst>
              <a:ext uri="{FF2B5EF4-FFF2-40B4-BE49-F238E27FC236}">
                <a16:creationId xmlns:a16="http://schemas.microsoft.com/office/drawing/2014/main" id="{24F8501A-D877-48C2-A9E2-8E5A226ADE2F}"/>
              </a:ext>
            </a:extLst>
          </p:cNvPr>
          <p:cNvSpPr>
            <a:spLocks noGrp="1"/>
          </p:cNvSpPr>
          <p:nvPr>
            <p:ph type="ftr" sz="quarter" idx="11"/>
          </p:nvPr>
        </p:nvSpPr>
        <p:spPr/>
        <p:txBody>
          <a:bodyPr/>
          <a:lstStyle/>
          <a:p>
            <a:endParaRPr lang="de-CH"/>
          </a:p>
        </p:txBody>
      </p:sp>
      <p:sp>
        <p:nvSpPr>
          <p:cNvPr id="9" name="Foliennummernplatzhalter 8">
            <a:extLst>
              <a:ext uri="{FF2B5EF4-FFF2-40B4-BE49-F238E27FC236}">
                <a16:creationId xmlns:a16="http://schemas.microsoft.com/office/drawing/2014/main" id="{27F0CB81-31D2-4463-9A5B-64849CE8B66D}"/>
              </a:ext>
            </a:extLst>
          </p:cNvPr>
          <p:cNvSpPr>
            <a:spLocks noGrp="1"/>
          </p:cNvSpPr>
          <p:nvPr>
            <p:ph type="sldNum" sz="quarter" idx="12"/>
          </p:nvPr>
        </p:nvSpPr>
        <p:spPr/>
        <p:txBody>
          <a:bodyPr/>
          <a:lstStyle/>
          <a:p>
            <a:fld id="{C181C67F-460F-47BA-B035-954D3BC4A752}" type="slidenum">
              <a:rPr lang="de-CH" smtClean="0"/>
              <a:t>‹Nr.›</a:t>
            </a:fld>
            <a:endParaRPr lang="de-CH"/>
          </a:p>
        </p:txBody>
      </p:sp>
    </p:spTree>
    <p:extLst>
      <p:ext uri="{BB962C8B-B14F-4D97-AF65-F5344CB8AC3E}">
        <p14:creationId xmlns:p14="http://schemas.microsoft.com/office/powerpoint/2010/main" val="13294646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1281219A-09CB-4761-BA5C-EB929FBCB1D6}"/>
              </a:ext>
            </a:extLst>
          </p:cNvPr>
          <p:cNvSpPr>
            <a:spLocks noGrp="1"/>
          </p:cNvSpPr>
          <p:nvPr>
            <p:ph type="dt" sz="half" idx="10"/>
          </p:nvPr>
        </p:nvSpPr>
        <p:spPr/>
        <p:txBody>
          <a:bodyPr/>
          <a:lstStyle/>
          <a:p>
            <a:fld id="{09A10578-6AC6-4AE0-AD56-C7CD516BFC12}" type="datetimeFigureOut">
              <a:rPr lang="de-CH" smtClean="0"/>
              <a:t>13.07.2026</a:t>
            </a:fld>
            <a:endParaRPr lang="de-CH"/>
          </a:p>
        </p:txBody>
      </p:sp>
      <p:sp>
        <p:nvSpPr>
          <p:cNvPr id="3" name="Fußzeilenplatzhalter 2">
            <a:extLst>
              <a:ext uri="{FF2B5EF4-FFF2-40B4-BE49-F238E27FC236}">
                <a16:creationId xmlns:a16="http://schemas.microsoft.com/office/drawing/2014/main" id="{CE488CC2-309C-485A-A166-EE27F5BACA2A}"/>
              </a:ext>
            </a:extLst>
          </p:cNvPr>
          <p:cNvSpPr>
            <a:spLocks noGrp="1"/>
          </p:cNvSpPr>
          <p:nvPr>
            <p:ph type="ftr" sz="quarter" idx="11"/>
          </p:nvPr>
        </p:nvSpPr>
        <p:spPr/>
        <p:txBody>
          <a:bodyPr/>
          <a:lstStyle/>
          <a:p>
            <a:endParaRPr lang="de-CH"/>
          </a:p>
        </p:txBody>
      </p:sp>
      <p:sp>
        <p:nvSpPr>
          <p:cNvPr id="4" name="Foliennummernplatzhalter 3">
            <a:extLst>
              <a:ext uri="{FF2B5EF4-FFF2-40B4-BE49-F238E27FC236}">
                <a16:creationId xmlns:a16="http://schemas.microsoft.com/office/drawing/2014/main" id="{AB9A6487-0A3C-441C-B5CD-7FA803064644}"/>
              </a:ext>
            </a:extLst>
          </p:cNvPr>
          <p:cNvSpPr>
            <a:spLocks noGrp="1"/>
          </p:cNvSpPr>
          <p:nvPr>
            <p:ph type="sldNum" sz="quarter" idx="12"/>
          </p:nvPr>
        </p:nvSpPr>
        <p:spPr/>
        <p:txBody>
          <a:bodyPr/>
          <a:lstStyle/>
          <a:p>
            <a:fld id="{C181C67F-460F-47BA-B035-954D3BC4A752}" type="slidenum">
              <a:rPr lang="de-CH" smtClean="0"/>
              <a:t>‹Nr.›</a:t>
            </a:fld>
            <a:endParaRPr lang="de-CH"/>
          </a:p>
        </p:txBody>
      </p:sp>
    </p:spTree>
    <p:extLst>
      <p:ext uri="{BB962C8B-B14F-4D97-AF65-F5344CB8AC3E}">
        <p14:creationId xmlns:p14="http://schemas.microsoft.com/office/powerpoint/2010/main" val="4700742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9374E2-254C-48C9-B1D3-1BB5FEF6B684}"/>
              </a:ext>
            </a:extLst>
          </p:cNvPr>
          <p:cNvSpPr>
            <a:spLocks noGrp="1"/>
          </p:cNvSpPr>
          <p:nvPr>
            <p:ph type="title"/>
          </p:nvPr>
        </p:nvSpPr>
        <p:spPr/>
        <p:txBody>
          <a:bodyPr/>
          <a:lstStyle/>
          <a:p>
            <a:r>
              <a:rPr lang="de-DE"/>
              <a:t>Mastertitelformat bearbeiten</a:t>
            </a:r>
            <a:endParaRPr lang="de-CH"/>
          </a:p>
        </p:txBody>
      </p:sp>
      <p:sp>
        <p:nvSpPr>
          <p:cNvPr id="3" name="Vertikaler Textplatzhalter 2">
            <a:extLst>
              <a:ext uri="{FF2B5EF4-FFF2-40B4-BE49-F238E27FC236}">
                <a16:creationId xmlns:a16="http://schemas.microsoft.com/office/drawing/2014/main" id="{769AA159-5C4E-4960-9296-F79DF71103B2}"/>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B8302388-B7DB-4205-9B76-97760E8A033F}"/>
              </a:ext>
            </a:extLst>
          </p:cNvPr>
          <p:cNvSpPr>
            <a:spLocks noGrp="1"/>
          </p:cNvSpPr>
          <p:nvPr>
            <p:ph type="dt" sz="half" idx="10"/>
          </p:nvPr>
        </p:nvSpPr>
        <p:spPr/>
        <p:txBody>
          <a:bodyPr/>
          <a:lstStyle/>
          <a:p>
            <a:fld id="{09A10578-6AC6-4AE0-AD56-C7CD516BFC12}" type="datetimeFigureOut">
              <a:rPr lang="de-CH" smtClean="0"/>
              <a:t>13.07.2026</a:t>
            </a:fld>
            <a:endParaRPr lang="de-CH"/>
          </a:p>
        </p:txBody>
      </p:sp>
      <p:sp>
        <p:nvSpPr>
          <p:cNvPr id="5" name="Fußzeilenplatzhalter 4">
            <a:extLst>
              <a:ext uri="{FF2B5EF4-FFF2-40B4-BE49-F238E27FC236}">
                <a16:creationId xmlns:a16="http://schemas.microsoft.com/office/drawing/2014/main" id="{210B132E-570A-40B1-A9E1-7A15B1D664B7}"/>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2498FBCF-DFF1-44D3-9192-330237074D03}"/>
              </a:ext>
            </a:extLst>
          </p:cNvPr>
          <p:cNvSpPr>
            <a:spLocks noGrp="1"/>
          </p:cNvSpPr>
          <p:nvPr>
            <p:ph type="sldNum" sz="quarter" idx="12"/>
          </p:nvPr>
        </p:nvSpPr>
        <p:spPr/>
        <p:txBody>
          <a:bodyPr/>
          <a:lstStyle/>
          <a:p>
            <a:fld id="{C181C67F-460F-47BA-B035-954D3BC4A752}" type="slidenum">
              <a:rPr lang="de-CH" smtClean="0"/>
              <a:t>‹Nr.›</a:t>
            </a:fld>
            <a:endParaRPr lang="de-CH"/>
          </a:p>
        </p:txBody>
      </p:sp>
    </p:spTree>
    <p:extLst>
      <p:ext uri="{BB962C8B-B14F-4D97-AF65-F5344CB8AC3E}">
        <p14:creationId xmlns:p14="http://schemas.microsoft.com/office/powerpoint/2010/main" val="26494596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0908B97F-2E0C-4EFF-B0D5-EC908B916230}"/>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de-CH"/>
          </a:p>
        </p:txBody>
      </p:sp>
      <p:sp>
        <p:nvSpPr>
          <p:cNvPr id="3" name="Vertikaler Textplatzhalter 2">
            <a:extLst>
              <a:ext uri="{FF2B5EF4-FFF2-40B4-BE49-F238E27FC236}">
                <a16:creationId xmlns:a16="http://schemas.microsoft.com/office/drawing/2014/main" id="{AA2AC456-57A1-46E9-8F18-85A41CF688D8}"/>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139DBED2-AB2C-49EA-AD16-0041F16578D2}"/>
              </a:ext>
            </a:extLst>
          </p:cNvPr>
          <p:cNvSpPr>
            <a:spLocks noGrp="1"/>
          </p:cNvSpPr>
          <p:nvPr>
            <p:ph type="dt" sz="half" idx="10"/>
          </p:nvPr>
        </p:nvSpPr>
        <p:spPr/>
        <p:txBody>
          <a:bodyPr/>
          <a:lstStyle/>
          <a:p>
            <a:fld id="{09A10578-6AC6-4AE0-AD56-C7CD516BFC12}" type="datetimeFigureOut">
              <a:rPr lang="de-CH" smtClean="0"/>
              <a:t>13.07.2026</a:t>
            </a:fld>
            <a:endParaRPr lang="de-CH"/>
          </a:p>
        </p:txBody>
      </p:sp>
      <p:sp>
        <p:nvSpPr>
          <p:cNvPr id="5" name="Fußzeilenplatzhalter 4">
            <a:extLst>
              <a:ext uri="{FF2B5EF4-FFF2-40B4-BE49-F238E27FC236}">
                <a16:creationId xmlns:a16="http://schemas.microsoft.com/office/drawing/2014/main" id="{6A3FFE4F-05A8-4716-A7EC-122ACCC380D1}"/>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C13DD00E-14A7-4781-AB15-70A456DD7C68}"/>
              </a:ext>
            </a:extLst>
          </p:cNvPr>
          <p:cNvSpPr>
            <a:spLocks noGrp="1"/>
          </p:cNvSpPr>
          <p:nvPr>
            <p:ph type="sldNum" sz="quarter" idx="12"/>
          </p:nvPr>
        </p:nvSpPr>
        <p:spPr/>
        <p:txBody>
          <a:bodyPr/>
          <a:lstStyle/>
          <a:p>
            <a:fld id="{C181C67F-460F-47BA-B035-954D3BC4A752}" type="slidenum">
              <a:rPr lang="de-CH" smtClean="0"/>
              <a:t>‹Nr.›</a:t>
            </a:fld>
            <a:endParaRPr lang="de-CH"/>
          </a:p>
        </p:txBody>
      </p:sp>
    </p:spTree>
    <p:extLst>
      <p:ext uri="{BB962C8B-B14F-4D97-AF65-F5344CB8AC3E}">
        <p14:creationId xmlns:p14="http://schemas.microsoft.com/office/powerpoint/2010/main" val="39043805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EE0E6A73-61E1-4804-855F-B987EA4C10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de-CH"/>
          </a:p>
        </p:txBody>
      </p:sp>
      <p:sp>
        <p:nvSpPr>
          <p:cNvPr id="3" name="Textplatzhalter 2">
            <a:extLst>
              <a:ext uri="{FF2B5EF4-FFF2-40B4-BE49-F238E27FC236}">
                <a16:creationId xmlns:a16="http://schemas.microsoft.com/office/drawing/2014/main" id="{0735F25A-7B5B-4C07-AFD7-73D8854173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F6E89411-2BDA-41F5-9C09-FE32A94DBA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A10578-6AC6-4AE0-AD56-C7CD516BFC12}" type="datetimeFigureOut">
              <a:rPr lang="de-CH" smtClean="0"/>
              <a:t>13.07.2026</a:t>
            </a:fld>
            <a:endParaRPr lang="de-CH"/>
          </a:p>
        </p:txBody>
      </p:sp>
      <p:sp>
        <p:nvSpPr>
          <p:cNvPr id="5" name="Fußzeilenplatzhalter 4">
            <a:extLst>
              <a:ext uri="{FF2B5EF4-FFF2-40B4-BE49-F238E27FC236}">
                <a16:creationId xmlns:a16="http://schemas.microsoft.com/office/drawing/2014/main" id="{ABC86E8A-62B6-473B-A2E3-C1C1D489AE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CH"/>
          </a:p>
        </p:txBody>
      </p:sp>
      <p:sp>
        <p:nvSpPr>
          <p:cNvPr id="6" name="Foliennummernplatzhalter 5">
            <a:extLst>
              <a:ext uri="{FF2B5EF4-FFF2-40B4-BE49-F238E27FC236}">
                <a16:creationId xmlns:a16="http://schemas.microsoft.com/office/drawing/2014/main" id="{2331B0EF-9DDB-4F87-9204-401158E669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81C67F-460F-47BA-B035-954D3BC4A752}" type="slidenum">
              <a:rPr lang="de-CH" smtClean="0"/>
              <a:t>‹Nr.›</a:t>
            </a:fld>
            <a:endParaRPr lang="de-CH"/>
          </a:p>
        </p:txBody>
      </p:sp>
    </p:spTree>
    <p:extLst>
      <p:ext uri="{BB962C8B-B14F-4D97-AF65-F5344CB8AC3E}">
        <p14:creationId xmlns:p14="http://schemas.microsoft.com/office/powerpoint/2010/main" val="3084651091"/>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50" r:id="rId3"/>
    <p:sldLayoutId id="2147483660" r:id="rId4"/>
    <p:sldLayoutId id="2147483652" r:id="rId5"/>
    <p:sldLayoutId id="2147483662" r:id="rId6"/>
    <p:sldLayoutId id="2147483657" r:id="rId7"/>
    <p:sldLayoutId id="2147483654" r:id="rId8"/>
    <p:sldLayoutId id="2147483656" r:id="rId9"/>
    <p:sldLayoutId id="2147483651" r:id="rId10"/>
    <p:sldLayoutId id="2147483653" r:id="rId11"/>
    <p:sldLayoutId id="2147483655" r:id="rId12"/>
    <p:sldLayoutId id="2147483658" r:id="rId13"/>
    <p:sldLayoutId id="214748365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image" Target="../media/image15.jpg"/><Relationship Id="rId4" Type="http://schemas.openxmlformats.org/officeDocument/2006/relationships/image" Target="../media/image16.jpg"/><Relationship Id="rId5"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jpg"/><Relationship Id="rId6" Type="http://schemas.openxmlformats.org/officeDocument/2006/relationships/image" Target="../media/image20.jpg"/><Relationship Id="rId7"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2.xml"/><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60520" y="1417320"/>
            <a:ext cx="6949440" cy="274320"/>
          </a:xfrm>
          <a:prstGeom prst="rect">
            <a:avLst/>
          </a:prstGeom>
          <a:noFill/>
        </p:spPr>
        <p:txBody>
          <a:bodyPr wrap="square" lIns="0" rIns="0" tIns="0" bIns="0" anchor="t">
            <a:spAutoFit/>
          </a:bodyPr>
          <a:lstStyle/>
          <a:p>
            <a:pPr algn="l"/>
            <a:r>
              <a:rPr sz="1050" b="1" spc="160" cap="all">
                <a:solidFill>
                  <a:srgbClr val="58595B"/>
                </a:solidFill>
                <a:latin typeface="IBM Plex Sans"/>
              </a:rPr>
              <a:t>Mobil in Time AG · An Aggreko Company · Strom Schweiz</a:t>
            </a:r>
          </a:p>
        </p:txBody>
      </p:sp>
      <p:sp>
        <p:nvSpPr>
          <p:cNvPr id="3" name="TextBox 2"/>
          <p:cNvSpPr txBox="1"/>
          <p:nvPr/>
        </p:nvSpPr>
        <p:spPr>
          <a:xfrm>
            <a:off x="4160520" y="1874519"/>
            <a:ext cx="7132320" cy="1737360"/>
          </a:xfrm>
          <a:prstGeom prst="rect">
            <a:avLst/>
          </a:prstGeom>
          <a:noFill/>
        </p:spPr>
        <p:txBody>
          <a:bodyPr wrap="square" lIns="0" rIns="0" tIns="0" bIns="0" anchor="t">
            <a:spAutoFit/>
          </a:bodyPr>
          <a:lstStyle/>
          <a:p>
            <a:pPr algn="l">
              <a:lnSpc>
                <a:spcPct val="95000"/>
              </a:lnSpc>
              <a:spcBef>
                <a:spcPts val="0"/>
              </a:spcBef>
              <a:spcAft>
                <a:spcPts val="0"/>
              </a:spcAft>
            </a:pPr>
            <a:r>
              <a:rPr sz="4000" b="0">
                <a:solidFill>
                  <a:srgbClr val="000000"/>
                </a:solidFill>
                <a:latin typeface="Alata"/>
              </a:rPr>
              <a:t>Top-Player Power</a:t>
            </a:r>
          </a:p>
          <a:p>
            <a:pPr>
              <a:lnSpc>
                <a:spcPct val="95000"/>
              </a:lnSpc>
              <a:spcBef>
                <a:spcPts val="0"/>
              </a:spcBef>
              <a:spcAft>
                <a:spcPts val="0"/>
              </a:spcAft>
            </a:pPr>
            <a:r>
              <a:rPr sz="4000" b="0">
                <a:solidFill>
                  <a:srgbClr val="000000"/>
                </a:solidFill>
                <a:latin typeface="Alata"/>
              </a:rPr>
              <a:t>Schweiz 2027</a:t>
            </a:r>
          </a:p>
        </p:txBody>
      </p:sp>
      <p:sp>
        <p:nvSpPr>
          <p:cNvPr id="4" name="Rectangle 3"/>
          <p:cNvSpPr/>
          <p:nvPr/>
        </p:nvSpPr>
        <p:spPr>
          <a:xfrm>
            <a:off x="4160520" y="3767328"/>
            <a:ext cx="1280160" cy="45720"/>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60520" y="4041648"/>
            <a:ext cx="6949440" cy="411480"/>
          </a:xfrm>
          <a:prstGeom prst="rect">
            <a:avLst/>
          </a:prstGeom>
          <a:noFill/>
        </p:spPr>
        <p:txBody>
          <a:bodyPr wrap="square" lIns="0" rIns="0" tIns="0" bIns="0" anchor="t">
            <a:spAutoFit/>
          </a:bodyPr>
          <a:lstStyle/>
          <a:p>
            <a:pPr algn="l"/>
            <a:r>
              <a:rPr sz="1700" b="0">
                <a:solidFill>
                  <a:srgbClr val="58595B"/>
                </a:solidFill>
                <a:latin typeface="IBM Plex Sans"/>
              </a:rPr>
              <a:t>Wo 2027 die Power-Aufträge über CHF 50'000 liegen</a:t>
            </a:r>
          </a:p>
        </p:txBody>
      </p:sp>
      <p:sp>
        <p:nvSpPr>
          <p:cNvPr id="6" name="TextBox 5"/>
          <p:cNvSpPr txBox="1"/>
          <p:nvPr/>
        </p:nvSpPr>
        <p:spPr>
          <a:xfrm>
            <a:off x="4160520" y="5760720"/>
            <a:ext cx="6949440" cy="274320"/>
          </a:xfrm>
          <a:prstGeom prst="rect">
            <a:avLst/>
          </a:prstGeom>
          <a:noFill/>
        </p:spPr>
        <p:txBody>
          <a:bodyPr wrap="square" lIns="0" rIns="0" tIns="0" bIns="0" anchor="t">
            <a:spAutoFit/>
          </a:bodyPr>
          <a:lstStyle/>
          <a:p>
            <a:pPr algn="l"/>
            <a:r>
              <a:rPr sz="1150" b="0">
                <a:solidFill>
                  <a:srgbClr val="58595B"/>
                </a:solidFill>
                <a:latin typeface="IBM Plex Sans"/>
              </a:rPr>
              <a:t>Burak Ücöz · Area Sales Engineer · 27.09.2026</a:t>
            </a:r>
          </a:p>
        </p:txBody>
      </p:sp>
      <p:sp>
        <p:nvSpPr>
          <p:cNvPr id="7" name="TextBox 6"/>
          <p:cNvSpPr txBox="1"/>
          <p:nvPr/>
        </p:nvSpPr>
        <p:spPr>
          <a:xfrm>
            <a:off x="566928" y="2606040"/>
            <a:ext cx="2011680" cy="1554480"/>
          </a:xfrm>
          <a:prstGeom prst="rect">
            <a:avLst/>
          </a:prstGeom>
          <a:noFill/>
        </p:spPr>
        <p:txBody>
          <a:bodyPr wrap="square" lIns="0" rIns="0" tIns="0" bIns="0" anchor="t">
            <a:spAutoFit/>
          </a:bodyPr>
          <a:lstStyle/>
          <a:p>
            <a:pPr algn="l">
              <a:lnSpc>
                <a:spcPct val="90000"/>
              </a:lnSpc>
              <a:spcBef>
                <a:spcPts val="0"/>
              </a:spcBef>
              <a:spcAft>
                <a:spcPts val="0"/>
              </a:spcAft>
            </a:pPr>
            <a:r>
              <a:rPr sz="3400" b="0">
                <a:solidFill>
                  <a:srgbClr val="FFFFFF"/>
                </a:solidFill>
                <a:latin typeface="Alata"/>
              </a:rPr>
              <a:t>5,3 Mio.</a:t>
            </a:r>
          </a:p>
          <a:p>
            <a:pPr>
              <a:lnSpc>
                <a:spcPct val="100000"/>
              </a:lnSpc>
              <a:spcBef>
                <a:spcPts val="100"/>
              </a:spcBef>
              <a:spcAft>
                <a:spcPts val="0"/>
              </a:spcAft>
            </a:pPr>
            <a:r>
              <a:rPr sz="1100" b="0">
                <a:solidFill>
                  <a:srgbClr val="FFFFFF"/>
                </a:solidFill>
                <a:latin typeface="IBM Plex Sans"/>
              </a:rPr>
              <a:t>CHF Potenzial brutto</a:t>
            </a:r>
          </a:p>
          <a:p>
            <a:pPr>
              <a:lnSpc>
                <a:spcPct val="90000"/>
              </a:lnSpc>
              <a:spcBef>
                <a:spcPts val="1200"/>
              </a:spcBef>
              <a:spcAft>
                <a:spcPts val="0"/>
              </a:spcAft>
            </a:pPr>
            <a:r>
              <a:rPr sz="3400" b="0">
                <a:solidFill>
                  <a:srgbClr val="FFFFFF"/>
                </a:solidFill>
                <a:latin typeface="Alata"/>
              </a:rPr>
              <a:t>0,74 Mio.</a:t>
            </a:r>
          </a:p>
          <a:p>
            <a:pPr>
              <a:lnSpc>
                <a:spcPct val="100000"/>
              </a:lnSpc>
              <a:spcBef>
                <a:spcPts val="100"/>
              </a:spcBef>
              <a:spcAft>
                <a:spcPts val="0"/>
              </a:spcAft>
            </a:pPr>
            <a:r>
              <a:rPr sz="1100" b="0">
                <a:solidFill>
                  <a:srgbClr val="FFFFFF"/>
                </a:solidFill>
                <a:latin typeface="IBM Plex Sans"/>
              </a:rPr>
              <a:t>CHF Erwartung 2027</a:t>
            </a:r>
          </a:p>
        </p:txBody>
      </p:sp>
      <p:pic>
        <p:nvPicPr>
          <p:cNvPr id="8" name="Picture 7" descr="generator.png"/>
          <p:cNvPicPr>
            <a:picLocks noChangeAspect="1"/>
          </p:cNvPicPr>
          <p:nvPr/>
        </p:nvPicPr>
        <p:blipFill>
          <a:blip r:embed="rId2"/>
          <a:srcRect t="19966" b="12237"/>
          <a:stretch>
            <a:fillRect/>
          </a:stretch>
        </p:blipFill>
        <p:spPr>
          <a:xfrm>
            <a:off x="8549640" y="4526280"/>
            <a:ext cx="2697480" cy="1143000"/>
          </a:xfrm>
          <a:prstGeom prst="rect">
            <a:avLst/>
          </a:prstGeom>
          <a:ln>
            <a:noFill/>
          </a:ln>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1056" y="365760"/>
            <a:ext cx="8183879" cy="274320"/>
          </a:xfrm>
          <a:prstGeom prst="rect">
            <a:avLst/>
          </a:prstGeom>
          <a:noFill/>
        </p:spPr>
        <p:txBody>
          <a:bodyPr wrap="square" lIns="0" rIns="0" tIns="0" bIns="0" anchor="t">
            <a:spAutoFit/>
          </a:bodyPr>
          <a:lstStyle/>
          <a:p>
            <a:pPr algn="l"/>
            <a:r>
              <a:rPr sz="1050" b="1" spc="160" cap="all">
                <a:solidFill>
                  <a:srgbClr val="E00036"/>
                </a:solidFill>
                <a:latin typeface="IBM Plex Sans"/>
              </a:rPr>
              <a:t>01 · Kurzfassung</a:t>
            </a:r>
          </a:p>
        </p:txBody>
      </p:sp>
      <p:sp>
        <p:nvSpPr>
          <p:cNvPr id="3" name="TextBox 2"/>
          <p:cNvSpPr txBox="1"/>
          <p:nvPr/>
        </p:nvSpPr>
        <p:spPr>
          <a:xfrm>
            <a:off x="1591056" y="658368"/>
            <a:ext cx="8183879" cy="914400"/>
          </a:xfrm>
          <a:prstGeom prst="rect">
            <a:avLst/>
          </a:prstGeom>
          <a:noFill/>
        </p:spPr>
        <p:txBody>
          <a:bodyPr wrap="square" lIns="0" rIns="0" tIns="0" bIns="0" anchor="t">
            <a:spAutoFit/>
          </a:bodyPr>
          <a:lstStyle/>
          <a:p>
            <a:pPr algn="l">
              <a:lnSpc>
                <a:spcPct val="94000"/>
              </a:lnSpc>
            </a:pPr>
            <a:r>
              <a:rPr sz="2600" b="0">
                <a:solidFill>
                  <a:srgbClr val="000000"/>
                </a:solidFill>
                <a:latin typeface="Alata"/>
              </a:rPr>
              <a:t>38 Projekte, 0,74 Mio. CHF realistisch</a:t>
            </a:r>
          </a:p>
        </p:txBody>
      </p:sp>
      <p:sp>
        <p:nvSpPr>
          <p:cNvPr id="4" name="Rectangle 3"/>
          <p:cNvSpPr/>
          <p:nvPr/>
        </p:nvSpPr>
        <p:spPr>
          <a:xfrm>
            <a:off x="1591056" y="1572768"/>
            <a:ext cx="100584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91056" y="6355080"/>
            <a:ext cx="7863840" cy="256032"/>
          </a:xfrm>
          <a:prstGeom prst="rect">
            <a:avLst/>
          </a:prstGeom>
          <a:noFill/>
        </p:spPr>
        <p:txBody>
          <a:bodyPr wrap="square" lIns="0" rIns="0" tIns="0" bIns="0" anchor="t">
            <a:spAutoFit/>
          </a:bodyPr>
          <a:lstStyle/>
          <a:p>
            <a:pPr algn="l"/>
            <a:r>
              <a:rPr sz="850" b="0">
                <a:solidFill>
                  <a:srgbClr val="58595B"/>
                </a:solidFill>
                <a:latin typeface="IBM Plex Sans"/>
              </a:rPr>
              <a:t>MiT Strom CH · Top-Player Power 2027 · intern · 27.09.2026</a:t>
            </a:r>
          </a:p>
        </p:txBody>
      </p:sp>
      <p:sp>
        <p:nvSpPr>
          <p:cNvPr id="6" name="TextBox 5"/>
          <p:cNvSpPr txBox="1"/>
          <p:nvPr/>
        </p:nvSpPr>
        <p:spPr>
          <a:xfrm>
            <a:off x="10149840" y="6355080"/>
            <a:ext cx="914400" cy="256032"/>
          </a:xfrm>
          <a:prstGeom prst="rect">
            <a:avLst/>
          </a:prstGeom>
          <a:noFill/>
        </p:spPr>
        <p:txBody>
          <a:bodyPr wrap="square" lIns="0" rIns="0" tIns="0" bIns="0" anchor="t">
            <a:spAutoFit/>
          </a:bodyPr>
          <a:lstStyle/>
          <a:p>
            <a:pPr algn="r"/>
            <a:r>
              <a:rPr sz="850" b="0">
                <a:solidFill>
                  <a:srgbClr val="58595B"/>
                </a:solidFill>
                <a:latin typeface="IBM Plex Sans"/>
              </a:rPr>
              <a:t>2</a:t>
            </a:r>
          </a:p>
        </p:txBody>
      </p:sp>
      <p:sp>
        <p:nvSpPr>
          <p:cNvPr id="7" name="Rectangle 6"/>
          <p:cNvSpPr/>
          <p:nvPr/>
        </p:nvSpPr>
        <p:spPr>
          <a:xfrm>
            <a:off x="429768" y="1965960"/>
            <a:ext cx="64008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429768" y="2194560"/>
            <a:ext cx="2020824" cy="868680"/>
          </a:xfrm>
          <a:prstGeom prst="rect">
            <a:avLst/>
          </a:prstGeom>
          <a:noFill/>
        </p:spPr>
        <p:txBody>
          <a:bodyPr wrap="square" lIns="0" rIns="0" tIns="0" bIns="0" anchor="t">
            <a:spAutoFit/>
          </a:bodyPr>
          <a:lstStyle/>
          <a:p>
            <a:pPr algn="l">
              <a:lnSpc>
                <a:spcPct val="90000"/>
              </a:lnSpc>
            </a:pPr>
            <a:r>
              <a:rPr sz="4000" b="0">
                <a:solidFill>
                  <a:srgbClr val="000000"/>
                </a:solidFill>
                <a:latin typeface="Alata"/>
              </a:rPr>
              <a:t>38</a:t>
            </a:r>
          </a:p>
        </p:txBody>
      </p:sp>
      <p:sp>
        <p:nvSpPr>
          <p:cNvPr id="9" name="TextBox 8"/>
          <p:cNvSpPr txBox="1"/>
          <p:nvPr/>
        </p:nvSpPr>
        <p:spPr>
          <a:xfrm>
            <a:off x="429768" y="3154680"/>
            <a:ext cx="1792224" cy="822960"/>
          </a:xfrm>
          <a:prstGeom prst="rect">
            <a:avLst/>
          </a:prstGeom>
          <a:noFill/>
        </p:spPr>
        <p:txBody>
          <a:bodyPr wrap="square" lIns="0" rIns="0" tIns="0" bIns="0" anchor="t">
            <a:spAutoFit/>
          </a:bodyPr>
          <a:lstStyle/>
          <a:p>
            <a:pPr algn="l">
              <a:lnSpc>
                <a:spcPct val="105000"/>
              </a:lnSpc>
            </a:pPr>
            <a:r>
              <a:rPr sz="1150" b="0">
                <a:solidFill>
                  <a:srgbClr val="58595B"/>
                </a:solidFill>
                <a:latin typeface="IBM Plex Sans"/>
              </a:rPr>
              <a:t>Top-Player über CHF 50'000</a:t>
            </a:r>
          </a:p>
        </p:txBody>
      </p:sp>
      <p:sp>
        <p:nvSpPr>
          <p:cNvPr id="10" name="Rectangle 9"/>
          <p:cNvSpPr/>
          <p:nvPr/>
        </p:nvSpPr>
        <p:spPr>
          <a:xfrm>
            <a:off x="2651760" y="1965960"/>
            <a:ext cx="64008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2651760" y="2194560"/>
            <a:ext cx="2020824" cy="868680"/>
          </a:xfrm>
          <a:prstGeom prst="rect">
            <a:avLst/>
          </a:prstGeom>
          <a:noFill/>
        </p:spPr>
        <p:txBody>
          <a:bodyPr wrap="square" lIns="0" rIns="0" tIns="0" bIns="0" anchor="t">
            <a:spAutoFit/>
          </a:bodyPr>
          <a:lstStyle/>
          <a:p>
            <a:pPr algn="l">
              <a:lnSpc>
                <a:spcPct val="90000"/>
              </a:lnSpc>
            </a:pPr>
            <a:r>
              <a:rPr sz="4000" b="0">
                <a:solidFill>
                  <a:srgbClr val="000000"/>
                </a:solidFill>
                <a:latin typeface="Alata"/>
              </a:rPr>
              <a:t>5,3</a:t>
            </a:r>
          </a:p>
        </p:txBody>
      </p:sp>
      <p:sp>
        <p:nvSpPr>
          <p:cNvPr id="12" name="TextBox 11"/>
          <p:cNvSpPr txBox="1"/>
          <p:nvPr/>
        </p:nvSpPr>
        <p:spPr>
          <a:xfrm>
            <a:off x="2651760" y="3154680"/>
            <a:ext cx="1792224" cy="822960"/>
          </a:xfrm>
          <a:prstGeom prst="rect">
            <a:avLst/>
          </a:prstGeom>
          <a:noFill/>
        </p:spPr>
        <p:txBody>
          <a:bodyPr wrap="square" lIns="0" rIns="0" tIns="0" bIns="0" anchor="t">
            <a:spAutoFit/>
          </a:bodyPr>
          <a:lstStyle/>
          <a:p>
            <a:pPr algn="l">
              <a:lnSpc>
                <a:spcPct val="105000"/>
              </a:lnSpc>
            </a:pPr>
            <a:r>
              <a:rPr sz="1150" b="0">
                <a:solidFill>
                  <a:srgbClr val="58595B"/>
                </a:solidFill>
                <a:latin typeface="IBM Plex Sans"/>
              </a:rPr>
              <a:t>Mio. CHF Potenzial brutto</a:t>
            </a:r>
          </a:p>
        </p:txBody>
      </p:sp>
      <p:sp>
        <p:nvSpPr>
          <p:cNvPr id="13" name="Rectangle 12"/>
          <p:cNvSpPr/>
          <p:nvPr/>
        </p:nvSpPr>
        <p:spPr>
          <a:xfrm>
            <a:off x="4873752" y="1965960"/>
            <a:ext cx="64008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873752" y="2194560"/>
            <a:ext cx="2020824" cy="868680"/>
          </a:xfrm>
          <a:prstGeom prst="rect">
            <a:avLst/>
          </a:prstGeom>
          <a:noFill/>
        </p:spPr>
        <p:txBody>
          <a:bodyPr wrap="square" lIns="0" rIns="0" tIns="0" bIns="0" anchor="t">
            <a:spAutoFit/>
          </a:bodyPr>
          <a:lstStyle/>
          <a:p>
            <a:pPr algn="l">
              <a:lnSpc>
                <a:spcPct val="90000"/>
              </a:lnSpc>
            </a:pPr>
            <a:r>
              <a:rPr sz="4000" b="0">
                <a:solidFill>
                  <a:srgbClr val="000000"/>
                </a:solidFill>
                <a:latin typeface="Alata"/>
              </a:rPr>
              <a:t>0,74</a:t>
            </a:r>
          </a:p>
        </p:txBody>
      </p:sp>
      <p:sp>
        <p:nvSpPr>
          <p:cNvPr id="15" name="TextBox 14"/>
          <p:cNvSpPr txBox="1"/>
          <p:nvPr/>
        </p:nvSpPr>
        <p:spPr>
          <a:xfrm>
            <a:off x="4873752" y="3154680"/>
            <a:ext cx="1792224" cy="822960"/>
          </a:xfrm>
          <a:prstGeom prst="rect">
            <a:avLst/>
          </a:prstGeom>
          <a:noFill/>
        </p:spPr>
        <p:txBody>
          <a:bodyPr wrap="square" lIns="0" rIns="0" tIns="0" bIns="0" anchor="t">
            <a:spAutoFit/>
          </a:bodyPr>
          <a:lstStyle/>
          <a:p>
            <a:pPr algn="l">
              <a:lnSpc>
                <a:spcPct val="105000"/>
              </a:lnSpc>
            </a:pPr>
            <a:r>
              <a:rPr sz="1150" b="0">
                <a:solidFill>
                  <a:srgbClr val="58595B"/>
                </a:solidFill>
                <a:latin typeface="IBM Plex Sans"/>
              </a:rPr>
              <a:t>Mio. CHF Erwartung 2027 (gewichtet)</a:t>
            </a:r>
          </a:p>
        </p:txBody>
      </p:sp>
      <p:sp>
        <p:nvSpPr>
          <p:cNvPr id="16" name="Rectangle 15"/>
          <p:cNvSpPr/>
          <p:nvPr/>
        </p:nvSpPr>
        <p:spPr>
          <a:xfrm>
            <a:off x="7095744" y="1965960"/>
            <a:ext cx="64008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095744" y="2194560"/>
            <a:ext cx="2020824" cy="868680"/>
          </a:xfrm>
          <a:prstGeom prst="rect">
            <a:avLst/>
          </a:prstGeom>
          <a:noFill/>
        </p:spPr>
        <p:txBody>
          <a:bodyPr wrap="square" lIns="0" rIns="0" tIns="0" bIns="0" anchor="t">
            <a:spAutoFit/>
          </a:bodyPr>
          <a:lstStyle/>
          <a:p>
            <a:pPr algn="l">
              <a:lnSpc>
                <a:spcPct val="90000"/>
              </a:lnSpc>
            </a:pPr>
            <a:r>
              <a:rPr sz="4000" b="0">
                <a:solidFill>
                  <a:srgbClr val="000000"/>
                </a:solidFill>
                <a:latin typeface="Alata"/>
              </a:rPr>
              <a:t>8</a:t>
            </a:r>
          </a:p>
        </p:txBody>
      </p:sp>
      <p:sp>
        <p:nvSpPr>
          <p:cNvPr id="18" name="TextBox 17"/>
          <p:cNvSpPr txBox="1"/>
          <p:nvPr/>
        </p:nvSpPr>
        <p:spPr>
          <a:xfrm>
            <a:off x="7095744" y="3154680"/>
            <a:ext cx="1792224" cy="822960"/>
          </a:xfrm>
          <a:prstGeom prst="rect">
            <a:avLst/>
          </a:prstGeom>
          <a:noFill/>
        </p:spPr>
        <p:txBody>
          <a:bodyPr wrap="square" lIns="0" rIns="0" tIns="0" bIns="0" anchor="t">
            <a:spAutoFit/>
          </a:bodyPr>
          <a:lstStyle/>
          <a:p>
            <a:pPr algn="l">
              <a:lnSpc>
                <a:spcPct val="105000"/>
              </a:lnSpc>
            </a:pPr>
            <a:r>
              <a:rPr sz="1150" b="0">
                <a:solidFill>
                  <a:srgbClr val="58595B"/>
                </a:solidFill>
                <a:latin typeface="IBM Plex Sans"/>
              </a:rPr>
              <a:t>Rechenzentren im Fokus</a:t>
            </a:r>
          </a:p>
        </p:txBody>
      </p:sp>
      <p:sp>
        <p:nvSpPr>
          <p:cNvPr id="19" name="Rectangle 18"/>
          <p:cNvSpPr/>
          <p:nvPr/>
        </p:nvSpPr>
        <p:spPr>
          <a:xfrm>
            <a:off x="9317736" y="1965960"/>
            <a:ext cx="64008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317736" y="2194560"/>
            <a:ext cx="2020824" cy="868680"/>
          </a:xfrm>
          <a:prstGeom prst="rect">
            <a:avLst/>
          </a:prstGeom>
          <a:noFill/>
        </p:spPr>
        <p:txBody>
          <a:bodyPr wrap="square" lIns="0" rIns="0" tIns="0" bIns="0" anchor="t">
            <a:spAutoFit/>
          </a:bodyPr>
          <a:lstStyle/>
          <a:p>
            <a:pPr algn="l">
              <a:lnSpc>
                <a:spcPct val="90000"/>
              </a:lnSpc>
            </a:pPr>
            <a:r>
              <a:rPr sz="4000" b="0">
                <a:solidFill>
                  <a:srgbClr val="000000"/>
                </a:solidFill>
                <a:latin typeface="Alata"/>
              </a:rPr>
              <a:t>9</a:t>
            </a:r>
          </a:p>
        </p:txBody>
      </p:sp>
      <p:sp>
        <p:nvSpPr>
          <p:cNvPr id="21" name="TextBox 20"/>
          <p:cNvSpPr txBox="1"/>
          <p:nvPr/>
        </p:nvSpPr>
        <p:spPr>
          <a:xfrm>
            <a:off x="9317736" y="3154680"/>
            <a:ext cx="1792224" cy="822960"/>
          </a:xfrm>
          <a:prstGeom prst="rect">
            <a:avLst/>
          </a:prstGeom>
          <a:noFill/>
        </p:spPr>
        <p:txBody>
          <a:bodyPr wrap="square" lIns="0" rIns="0" tIns="0" bIns="0" anchor="t">
            <a:spAutoFit/>
          </a:bodyPr>
          <a:lstStyle/>
          <a:p>
            <a:pPr algn="l">
              <a:lnSpc>
                <a:spcPct val="105000"/>
              </a:lnSpc>
            </a:pPr>
            <a:r>
              <a:rPr sz="1150" b="0">
                <a:solidFill>
                  <a:srgbClr val="58595B"/>
                </a:solidFill>
                <a:latin typeface="IBM Plex Sans"/>
              </a:rPr>
              <a:t>Prio A: Erwartung ab CHF 25'000</a:t>
            </a:r>
          </a:p>
        </p:txBody>
      </p:sp>
      <p:sp>
        <p:nvSpPr>
          <p:cNvPr id="22" name="Rectangle 21"/>
          <p:cNvSpPr/>
          <p:nvPr/>
        </p:nvSpPr>
        <p:spPr>
          <a:xfrm>
            <a:off x="429768" y="4160520"/>
            <a:ext cx="10908792" cy="1280160"/>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41247" y="4407408"/>
            <a:ext cx="10085832" cy="822959"/>
          </a:xfrm>
          <a:prstGeom prst="rect">
            <a:avLst/>
          </a:prstGeom>
          <a:noFill/>
        </p:spPr>
        <p:txBody>
          <a:bodyPr wrap="square" lIns="0" rIns="0" tIns="0" bIns="0" anchor="t">
            <a:spAutoFit/>
          </a:bodyPr>
          <a:lstStyle/>
          <a:p>
            <a:pPr algn="l">
              <a:lnSpc>
                <a:spcPct val="105000"/>
              </a:lnSpc>
            </a:pPr>
            <a:r>
              <a:rPr sz="1500" b="1">
                <a:solidFill>
                  <a:srgbClr val="FFFFFF"/>
                </a:solidFill>
                <a:latin typeface="IBM Plex Sans"/>
              </a:rPr>
              <a:t>Kernaussage: </a:t>
            </a:r>
            <a:r>
              <a:rPr sz="1500" b="0">
                <a:solidFill>
                  <a:srgbClr val="E6E6E6"/>
                </a:solidFill>
                <a:latin typeface="IBM Plex Sans"/>
              </a:rPr>
              <a:t>Die grössten Einzeltickets liegen in Rechenzentren. Das sicherste Volumen liefern Tunnel, Netz und Spitäler mit langen Laufzeiten.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1056" y="365760"/>
            <a:ext cx="8183879" cy="274320"/>
          </a:xfrm>
          <a:prstGeom prst="rect">
            <a:avLst/>
          </a:prstGeom>
          <a:noFill/>
        </p:spPr>
        <p:txBody>
          <a:bodyPr wrap="square" lIns="0" rIns="0" tIns="0" bIns="0" anchor="t">
            <a:spAutoFit/>
          </a:bodyPr>
          <a:lstStyle/>
          <a:p>
            <a:pPr algn="l"/>
            <a:r>
              <a:rPr sz="1050" b="1" spc="160" cap="all">
                <a:solidFill>
                  <a:srgbClr val="E00036"/>
                </a:solidFill>
                <a:latin typeface="IBM Plex Sans"/>
              </a:rPr>
              <a:t>02 · Warum jetzt</a:t>
            </a:r>
          </a:p>
        </p:txBody>
      </p:sp>
      <p:sp>
        <p:nvSpPr>
          <p:cNvPr id="3" name="TextBox 2"/>
          <p:cNvSpPr txBox="1"/>
          <p:nvPr/>
        </p:nvSpPr>
        <p:spPr>
          <a:xfrm>
            <a:off x="1591056" y="658368"/>
            <a:ext cx="8183879" cy="914400"/>
          </a:xfrm>
          <a:prstGeom prst="rect">
            <a:avLst/>
          </a:prstGeom>
          <a:noFill/>
        </p:spPr>
        <p:txBody>
          <a:bodyPr wrap="square" lIns="0" rIns="0" tIns="0" bIns="0" anchor="t">
            <a:spAutoFit/>
          </a:bodyPr>
          <a:lstStyle/>
          <a:p>
            <a:pPr algn="l">
              <a:lnSpc>
                <a:spcPct val="94000"/>
              </a:lnSpc>
            </a:pPr>
            <a:r>
              <a:rPr sz="2600" b="0">
                <a:solidFill>
                  <a:srgbClr val="000000"/>
                </a:solidFill>
                <a:latin typeface="Alata"/>
              </a:rPr>
              <a:t>Drei Treiber machen 2027 zum Power-Jahr</a:t>
            </a:r>
          </a:p>
        </p:txBody>
      </p:sp>
      <p:sp>
        <p:nvSpPr>
          <p:cNvPr id="4" name="Rectangle 3"/>
          <p:cNvSpPr/>
          <p:nvPr/>
        </p:nvSpPr>
        <p:spPr>
          <a:xfrm>
            <a:off x="1591056" y="1572768"/>
            <a:ext cx="100584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91056" y="6355080"/>
            <a:ext cx="7863840" cy="256032"/>
          </a:xfrm>
          <a:prstGeom prst="rect">
            <a:avLst/>
          </a:prstGeom>
          <a:noFill/>
        </p:spPr>
        <p:txBody>
          <a:bodyPr wrap="square" lIns="0" rIns="0" tIns="0" bIns="0" anchor="t">
            <a:spAutoFit/>
          </a:bodyPr>
          <a:lstStyle/>
          <a:p>
            <a:pPr algn="l"/>
            <a:r>
              <a:rPr sz="850" b="0">
                <a:solidFill>
                  <a:srgbClr val="58595B"/>
                </a:solidFill>
                <a:latin typeface="IBM Plex Sans"/>
              </a:rPr>
              <a:t>MiT Strom CH · Top-Player Power 2027 · intern · 27.09.2026</a:t>
            </a:r>
          </a:p>
        </p:txBody>
      </p:sp>
      <p:sp>
        <p:nvSpPr>
          <p:cNvPr id="6" name="TextBox 5"/>
          <p:cNvSpPr txBox="1"/>
          <p:nvPr/>
        </p:nvSpPr>
        <p:spPr>
          <a:xfrm>
            <a:off x="10149840" y="6355080"/>
            <a:ext cx="914400" cy="256032"/>
          </a:xfrm>
          <a:prstGeom prst="rect">
            <a:avLst/>
          </a:prstGeom>
          <a:noFill/>
        </p:spPr>
        <p:txBody>
          <a:bodyPr wrap="square" lIns="0" rIns="0" tIns="0" bIns="0" anchor="t">
            <a:spAutoFit/>
          </a:bodyPr>
          <a:lstStyle/>
          <a:p>
            <a:pPr algn="r"/>
            <a:r>
              <a:rPr sz="850" b="0">
                <a:solidFill>
                  <a:srgbClr val="58595B"/>
                </a:solidFill>
                <a:latin typeface="IBM Plex Sans"/>
              </a:rPr>
              <a:t>3</a:t>
            </a:r>
          </a:p>
        </p:txBody>
      </p:sp>
      <p:pic>
        <p:nvPicPr>
          <p:cNvPr id="7" name="Picture 6" descr="rechenzentrum.png"/>
          <p:cNvPicPr>
            <a:picLocks noChangeAspect="1"/>
          </p:cNvPicPr>
          <p:nvPr/>
        </p:nvPicPr>
        <p:blipFill>
          <a:blip r:embed="rId2"/>
          <a:srcRect t="16580" b="16580"/>
          <a:stretch>
            <a:fillRect/>
          </a:stretch>
        </p:blipFill>
        <p:spPr>
          <a:xfrm>
            <a:off x="429768" y="1874519"/>
            <a:ext cx="3502152" cy="1463040"/>
          </a:xfrm>
          <a:prstGeom prst="rect">
            <a:avLst/>
          </a:prstGeom>
          <a:ln>
            <a:noFill/>
          </a:ln>
        </p:spPr>
      </p:pic>
      <p:sp>
        <p:nvSpPr>
          <p:cNvPr id="8" name="Rectangle 7"/>
          <p:cNvSpPr/>
          <p:nvPr/>
        </p:nvSpPr>
        <p:spPr>
          <a:xfrm>
            <a:off x="429768" y="3337560"/>
            <a:ext cx="3502152" cy="2331720"/>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3493008"/>
            <a:ext cx="3044952" cy="365760"/>
          </a:xfrm>
          <a:prstGeom prst="rect">
            <a:avLst/>
          </a:prstGeom>
          <a:noFill/>
        </p:spPr>
        <p:txBody>
          <a:bodyPr wrap="square" lIns="0" rIns="0" tIns="0" bIns="0" anchor="t">
            <a:spAutoFit/>
          </a:bodyPr>
          <a:lstStyle/>
          <a:p>
            <a:pPr algn="l">
              <a:lnSpc>
                <a:spcPct val="105000"/>
              </a:lnSpc>
              <a:spcBef>
                <a:spcPts val="0"/>
              </a:spcBef>
              <a:spcAft>
                <a:spcPts val="0"/>
              </a:spcAft>
            </a:pPr>
            <a:r>
              <a:rPr sz="1500" b="1">
                <a:solidFill>
                  <a:srgbClr val="FFFFFF"/>
                </a:solidFill>
                <a:latin typeface="IBM Plex Sans"/>
              </a:rPr>
              <a:t>Rechenzentrums-Boom</a:t>
            </a:r>
          </a:p>
        </p:txBody>
      </p:sp>
      <p:sp>
        <p:nvSpPr>
          <p:cNvPr id="10" name="TextBox 9"/>
          <p:cNvSpPr txBox="1"/>
          <p:nvPr/>
        </p:nvSpPr>
        <p:spPr>
          <a:xfrm>
            <a:off x="685800" y="3931920"/>
            <a:ext cx="3044952" cy="1737360"/>
          </a:xfrm>
          <a:prstGeom prst="rect">
            <a:avLst/>
          </a:prstGeom>
          <a:noFill/>
        </p:spPr>
        <p:txBody>
          <a:bodyPr wrap="square" lIns="0" rIns="0" tIns="0" bIns="0" anchor="t">
            <a:spAutoFit/>
          </a:bodyPr>
          <a:lstStyle/>
          <a:p>
            <a:pPr algn="l">
              <a:lnSpc>
                <a:spcPct val="105000"/>
              </a:lnSpc>
              <a:spcBef>
                <a:spcPts val="0"/>
              </a:spcBef>
              <a:spcAft>
                <a:spcPts val="0"/>
              </a:spcAft>
            </a:pPr>
            <a:r>
              <a:rPr sz="1200" b="0">
                <a:solidFill>
                  <a:srgbClr val="FFFFFF"/>
                </a:solidFill>
                <a:latin typeface="IBM Plex Sans"/>
              </a:rPr>
              <a:t>EKZ meldet über 100 Anschlussanfragen von Rechenzentren (RZ).</a:t>
            </a:r>
          </a:p>
          <a:p>
            <a:pPr algn="l">
              <a:lnSpc>
                <a:spcPct val="105000"/>
              </a:lnSpc>
              <a:spcBef>
                <a:spcPts val="300"/>
              </a:spcBef>
              <a:spcAft>
                <a:spcPts val="0"/>
              </a:spcAft>
            </a:pPr>
            <a:r>
              <a:rPr sz="1200" b="0">
                <a:solidFill>
                  <a:srgbClr val="FFFFFF"/>
                </a:solidFill>
                <a:latin typeface="IBM Plex Sans"/>
              </a:rPr>
              <a:t>6 von 9 neuen EKZ-Unterwerken entstehen für RZ.</a:t>
            </a:r>
          </a:p>
          <a:p>
            <a:pPr algn="l">
              <a:lnSpc>
                <a:spcPct val="105000"/>
              </a:lnSpc>
              <a:spcBef>
                <a:spcPts val="300"/>
              </a:spcBef>
              <a:spcAft>
                <a:spcPts val="0"/>
              </a:spcAft>
            </a:pPr>
            <a:r>
              <a:rPr sz="1200" b="0">
                <a:solidFill>
                  <a:srgbClr val="FFFFFF"/>
                </a:solidFill>
                <a:latin typeface="IBM Plex Sans"/>
              </a:rPr>
              <a:t>STACK 36 MW, Digital Realty 15 MW, Vantage 100+ MW.</a:t>
            </a:r>
          </a:p>
        </p:txBody>
      </p:sp>
      <p:pic>
        <p:nvPicPr>
          <p:cNvPr id="11" name="Picture 10" descr="foto_einspeisung.jpg"/>
          <p:cNvPicPr>
            <a:picLocks noChangeAspect="1"/>
          </p:cNvPicPr>
          <p:nvPr/>
        </p:nvPicPr>
        <p:blipFill>
          <a:blip r:embed="rId3"/>
          <a:srcRect t="10163" b="40653"/>
          <a:stretch>
            <a:fillRect/>
          </a:stretch>
        </p:blipFill>
        <p:spPr>
          <a:xfrm>
            <a:off x="4133087" y="1874519"/>
            <a:ext cx="3502152" cy="1463040"/>
          </a:xfrm>
          <a:prstGeom prst="rect">
            <a:avLst/>
          </a:prstGeom>
          <a:ln>
            <a:noFill/>
          </a:ln>
        </p:spPr>
      </p:pic>
      <p:sp>
        <p:nvSpPr>
          <p:cNvPr id="12" name="Rectangle 11"/>
          <p:cNvSpPr/>
          <p:nvPr/>
        </p:nvSpPr>
        <p:spPr>
          <a:xfrm>
            <a:off x="4133087" y="3337560"/>
            <a:ext cx="3502152" cy="2331720"/>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89120" y="3493008"/>
            <a:ext cx="3044952" cy="365760"/>
          </a:xfrm>
          <a:prstGeom prst="rect">
            <a:avLst/>
          </a:prstGeom>
          <a:noFill/>
        </p:spPr>
        <p:txBody>
          <a:bodyPr wrap="square" lIns="0" rIns="0" tIns="0" bIns="0" anchor="t">
            <a:spAutoFit/>
          </a:bodyPr>
          <a:lstStyle/>
          <a:p>
            <a:pPr algn="l">
              <a:lnSpc>
                <a:spcPct val="105000"/>
              </a:lnSpc>
              <a:spcBef>
                <a:spcPts val="0"/>
              </a:spcBef>
              <a:spcAft>
                <a:spcPts val="0"/>
              </a:spcAft>
            </a:pPr>
            <a:r>
              <a:rPr sz="1500" b="1">
                <a:solidFill>
                  <a:srgbClr val="FFFFFF"/>
                </a:solidFill>
                <a:latin typeface="IBM Plex Sans"/>
              </a:rPr>
              <a:t>Netzengpass</a:t>
            </a:r>
          </a:p>
        </p:txBody>
      </p:sp>
      <p:sp>
        <p:nvSpPr>
          <p:cNvPr id="14" name="TextBox 13"/>
          <p:cNvSpPr txBox="1"/>
          <p:nvPr/>
        </p:nvSpPr>
        <p:spPr>
          <a:xfrm>
            <a:off x="4389120" y="3931920"/>
            <a:ext cx="3044952" cy="1737360"/>
          </a:xfrm>
          <a:prstGeom prst="rect">
            <a:avLst/>
          </a:prstGeom>
          <a:noFill/>
        </p:spPr>
        <p:txBody>
          <a:bodyPr wrap="square" lIns="0" rIns="0" tIns="0" bIns="0" anchor="t">
            <a:spAutoFit/>
          </a:bodyPr>
          <a:lstStyle/>
          <a:p>
            <a:pPr algn="l">
              <a:lnSpc>
                <a:spcPct val="105000"/>
              </a:lnSpc>
              <a:spcBef>
                <a:spcPts val="0"/>
              </a:spcBef>
              <a:spcAft>
                <a:spcPts val="0"/>
              </a:spcAft>
            </a:pPr>
            <a:r>
              <a:rPr sz="1200" b="0">
                <a:solidFill>
                  <a:srgbClr val="E6E6E6"/>
                </a:solidFill>
                <a:latin typeface="IBM Plex Sans"/>
              </a:rPr>
              <a:t>Engpass im Vornetz von Axpo und Swissgrid.</a:t>
            </a:r>
          </a:p>
          <a:p>
            <a:pPr algn="l">
              <a:lnSpc>
                <a:spcPct val="105000"/>
              </a:lnSpc>
              <a:spcBef>
                <a:spcPts val="300"/>
              </a:spcBef>
              <a:spcAft>
                <a:spcPts val="0"/>
              </a:spcAft>
            </a:pPr>
            <a:r>
              <a:rPr sz="1200" b="0">
                <a:solidFill>
                  <a:srgbClr val="E6E6E6"/>
                </a:solidFill>
                <a:latin typeface="IBM Plex Sans"/>
              </a:rPr>
              <a:t>Neue Unterwerke kommen später als die Gebäude.</a:t>
            </a:r>
          </a:p>
          <a:p>
            <a:pPr algn="l">
              <a:lnSpc>
                <a:spcPct val="105000"/>
              </a:lnSpc>
              <a:spcBef>
                <a:spcPts val="300"/>
              </a:spcBef>
              <a:spcAft>
                <a:spcPts val="0"/>
              </a:spcAft>
            </a:pPr>
            <a:r>
              <a:rPr sz="1200" b="0">
                <a:solidFill>
                  <a:srgbClr val="E6E6E6"/>
                </a:solidFill>
                <a:latin typeface="IBM Plex Sans"/>
              </a:rPr>
              <a:t>Dazwischen: Generator- oder BESS-Überbrückung.</a:t>
            </a:r>
          </a:p>
        </p:txBody>
      </p:sp>
      <p:pic>
        <p:nvPicPr>
          <p:cNvPr id="15" name="Picture 14" descr="foto_logger.jpg"/>
          <p:cNvPicPr>
            <a:picLocks noChangeAspect="1"/>
          </p:cNvPicPr>
          <p:nvPr/>
        </p:nvPicPr>
        <p:blipFill>
          <a:blip r:embed="rId4"/>
          <a:srcRect t="21501" b="26279"/>
          <a:stretch>
            <a:fillRect/>
          </a:stretch>
        </p:blipFill>
        <p:spPr>
          <a:xfrm>
            <a:off x="7836408" y="1874519"/>
            <a:ext cx="3502152" cy="1463040"/>
          </a:xfrm>
          <a:prstGeom prst="rect">
            <a:avLst/>
          </a:prstGeom>
          <a:ln>
            <a:noFill/>
          </a:ln>
        </p:spPr>
      </p:pic>
      <p:sp>
        <p:nvSpPr>
          <p:cNvPr id="16" name="Rectangle 15"/>
          <p:cNvSpPr/>
          <p:nvPr/>
        </p:nvSpPr>
        <p:spPr>
          <a:xfrm>
            <a:off x="7836408" y="3337560"/>
            <a:ext cx="3502152" cy="2331720"/>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092440" y="3493008"/>
            <a:ext cx="3044952" cy="365760"/>
          </a:xfrm>
          <a:prstGeom prst="rect">
            <a:avLst/>
          </a:prstGeom>
          <a:noFill/>
        </p:spPr>
        <p:txBody>
          <a:bodyPr wrap="square" lIns="0" rIns="0" tIns="0" bIns="0" anchor="t">
            <a:spAutoFit/>
          </a:bodyPr>
          <a:lstStyle/>
          <a:p>
            <a:pPr algn="l">
              <a:lnSpc>
                <a:spcPct val="105000"/>
              </a:lnSpc>
              <a:spcBef>
                <a:spcPts val="0"/>
              </a:spcBef>
              <a:spcAft>
                <a:spcPts val="0"/>
              </a:spcAft>
            </a:pPr>
            <a:r>
              <a:rPr sz="1500" b="1">
                <a:solidFill>
                  <a:srgbClr val="FFFFFF"/>
                </a:solidFill>
                <a:latin typeface="IBM Plex Sans"/>
              </a:rPr>
              <a:t>Commissioning</a:t>
            </a:r>
          </a:p>
        </p:txBody>
      </p:sp>
      <p:sp>
        <p:nvSpPr>
          <p:cNvPr id="18" name="TextBox 17"/>
          <p:cNvSpPr txBox="1"/>
          <p:nvPr/>
        </p:nvSpPr>
        <p:spPr>
          <a:xfrm>
            <a:off x="8092440" y="3931920"/>
            <a:ext cx="3044952" cy="1737360"/>
          </a:xfrm>
          <a:prstGeom prst="rect">
            <a:avLst/>
          </a:prstGeom>
          <a:noFill/>
        </p:spPr>
        <p:txBody>
          <a:bodyPr wrap="square" lIns="0" rIns="0" tIns="0" bIns="0" anchor="t">
            <a:spAutoFit/>
          </a:bodyPr>
          <a:lstStyle/>
          <a:p>
            <a:pPr algn="l">
              <a:lnSpc>
                <a:spcPct val="105000"/>
              </a:lnSpc>
              <a:spcBef>
                <a:spcPts val="0"/>
              </a:spcBef>
              <a:spcAft>
                <a:spcPts val="0"/>
              </a:spcAft>
            </a:pPr>
            <a:r>
              <a:rPr sz="1200" b="0">
                <a:solidFill>
                  <a:srgbClr val="E6E6E6"/>
                </a:solidFill>
                <a:latin typeface="IBM Plex Sans"/>
              </a:rPr>
              <a:t>IST (Integrated Systems Test): Last ≈ IT-Last.</a:t>
            </a:r>
          </a:p>
          <a:p>
            <a:pPr algn="l">
              <a:lnSpc>
                <a:spcPct val="105000"/>
              </a:lnSpc>
              <a:spcBef>
                <a:spcPts val="300"/>
              </a:spcBef>
              <a:spcAft>
                <a:spcPts val="0"/>
              </a:spcAft>
            </a:pPr>
            <a:r>
              <a:rPr sz="1200" b="0">
                <a:solidFill>
                  <a:srgbClr val="E6E6E6"/>
                </a:solidFill>
                <a:latin typeface="IBM Plex Sans"/>
              </a:rPr>
              <a:t>Stufen 25 / 50 / 75 / 100 %, dann Volllast über Stunden.</a:t>
            </a:r>
          </a:p>
          <a:p>
            <a:pPr algn="l">
              <a:lnSpc>
                <a:spcPct val="105000"/>
              </a:lnSpc>
              <a:spcBef>
                <a:spcPts val="300"/>
              </a:spcBef>
              <a:spcAft>
                <a:spcPts val="0"/>
              </a:spcAft>
            </a:pPr>
            <a:r>
              <a:rPr sz="1200" b="0">
                <a:solidFill>
                  <a:srgbClr val="E6E6E6"/>
                </a:solidFill>
                <a:latin typeface="IBM Plex Sans"/>
              </a:rPr>
              <a:t>4 bis 6 Wochen, Mängel erzwingen Re-Tests.</a:t>
            </a:r>
          </a:p>
        </p:txBody>
      </p:sp>
      <p:sp>
        <p:nvSpPr>
          <p:cNvPr id="19" name="TextBox 18"/>
          <p:cNvSpPr txBox="1"/>
          <p:nvPr/>
        </p:nvSpPr>
        <p:spPr>
          <a:xfrm>
            <a:off x="429768" y="5806440"/>
            <a:ext cx="10881360" cy="274320"/>
          </a:xfrm>
          <a:prstGeom prst="rect">
            <a:avLst/>
          </a:prstGeom>
          <a:noFill/>
        </p:spPr>
        <p:txBody>
          <a:bodyPr wrap="square" lIns="0" rIns="0" tIns="0" bIns="0" anchor="t">
            <a:spAutoFit/>
          </a:bodyPr>
          <a:lstStyle/>
          <a:p>
            <a:pPr algn="l">
              <a:lnSpc>
                <a:spcPct val="105000"/>
              </a:lnSpc>
              <a:spcBef>
                <a:spcPts val="0"/>
              </a:spcBef>
              <a:spcAft>
                <a:spcPts val="0"/>
              </a:spcAft>
            </a:pPr>
            <a:r>
              <a:rPr sz="850" b="0">
                <a:solidFill>
                  <a:srgbClr val="58595B"/>
                </a:solidFill>
                <a:latin typeface="IBM Plex Sans"/>
              </a:rPr>
              <a:t>Quellen: ekz.ch (2025), stackinfra.com, investor.digitalrealty.com (27.08.2026), anvilfield.com, sunbeltsolomon.com. Fotos: eigene Aufnahmen, Logos unkenntlich.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1056" y="365760"/>
            <a:ext cx="8183879" cy="274320"/>
          </a:xfrm>
          <a:prstGeom prst="rect">
            <a:avLst/>
          </a:prstGeom>
          <a:noFill/>
        </p:spPr>
        <p:txBody>
          <a:bodyPr wrap="square" lIns="0" rIns="0" tIns="0" bIns="0" anchor="t">
            <a:spAutoFit/>
          </a:bodyPr>
          <a:lstStyle/>
          <a:p>
            <a:pPr algn="l"/>
            <a:r>
              <a:rPr sz="1050" b="1" spc="160" cap="all">
                <a:solidFill>
                  <a:srgbClr val="E00036"/>
                </a:solidFill>
                <a:latin typeface="IBM Plex Sans"/>
              </a:rPr>
              <a:t>03 · Portfolio Power</a:t>
            </a:r>
          </a:p>
        </p:txBody>
      </p:sp>
      <p:sp>
        <p:nvSpPr>
          <p:cNvPr id="3" name="TextBox 2"/>
          <p:cNvSpPr txBox="1"/>
          <p:nvPr/>
        </p:nvSpPr>
        <p:spPr>
          <a:xfrm>
            <a:off x="1591056" y="658368"/>
            <a:ext cx="8183879" cy="914400"/>
          </a:xfrm>
          <a:prstGeom prst="rect">
            <a:avLst/>
          </a:prstGeom>
          <a:noFill/>
        </p:spPr>
        <p:txBody>
          <a:bodyPr wrap="square" lIns="0" rIns="0" tIns="0" bIns="0" anchor="t">
            <a:spAutoFit/>
          </a:bodyPr>
          <a:lstStyle/>
          <a:p>
            <a:pPr algn="l">
              <a:lnSpc>
                <a:spcPct val="94000"/>
              </a:lnSpc>
            </a:pPr>
            <a:r>
              <a:rPr sz="2800" b="0">
                <a:solidFill>
                  <a:srgbClr val="000000"/>
                </a:solidFill>
                <a:latin typeface="Alata"/>
              </a:rPr>
              <a:t>Was wir vermieten, auf einen Blick</a:t>
            </a:r>
          </a:p>
        </p:txBody>
      </p:sp>
      <p:sp>
        <p:nvSpPr>
          <p:cNvPr id="4" name="Rectangle 3"/>
          <p:cNvSpPr/>
          <p:nvPr/>
        </p:nvSpPr>
        <p:spPr>
          <a:xfrm>
            <a:off x="1591056" y="1572768"/>
            <a:ext cx="100584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91056" y="6355080"/>
            <a:ext cx="7863840" cy="256032"/>
          </a:xfrm>
          <a:prstGeom prst="rect">
            <a:avLst/>
          </a:prstGeom>
          <a:noFill/>
        </p:spPr>
        <p:txBody>
          <a:bodyPr wrap="square" lIns="0" rIns="0" tIns="0" bIns="0" anchor="t">
            <a:spAutoFit/>
          </a:bodyPr>
          <a:lstStyle/>
          <a:p>
            <a:pPr algn="l"/>
            <a:r>
              <a:rPr sz="850" b="0">
                <a:solidFill>
                  <a:srgbClr val="58595B"/>
                </a:solidFill>
                <a:latin typeface="IBM Plex Sans"/>
              </a:rPr>
              <a:t>MiT Strom CH · Top-Player Power 2027 · intern · 27.09.2026</a:t>
            </a:r>
          </a:p>
        </p:txBody>
      </p:sp>
      <p:sp>
        <p:nvSpPr>
          <p:cNvPr id="6" name="TextBox 5"/>
          <p:cNvSpPr txBox="1"/>
          <p:nvPr/>
        </p:nvSpPr>
        <p:spPr>
          <a:xfrm>
            <a:off x="10149840" y="6355080"/>
            <a:ext cx="914400" cy="256032"/>
          </a:xfrm>
          <a:prstGeom prst="rect">
            <a:avLst/>
          </a:prstGeom>
          <a:noFill/>
        </p:spPr>
        <p:txBody>
          <a:bodyPr wrap="square" lIns="0" rIns="0" tIns="0" bIns="0" anchor="t">
            <a:spAutoFit/>
          </a:bodyPr>
          <a:lstStyle/>
          <a:p>
            <a:pPr algn="r"/>
            <a:r>
              <a:rPr sz="850" b="0">
                <a:solidFill>
                  <a:srgbClr val="58595B"/>
                </a:solidFill>
                <a:latin typeface="IBM Plex Sans"/>
              </a:rPr>
              <a:t>4</a:t>
            </a:r>
          </a:p>
        </p:txBody>
      </p:sp>
      <p:pic>
        <p:nvPicPr>
          <p:cNvPr id="7" name="Picture 6" descr="generator.png"/>
          <p:cNvPicPr>
            <a:picLocks noChangeAspect="1"/>
          </p:cNvPicPr>
          <p:nvPr/>
        </p:nvPicPr>
        <p:blipFill>
          <a:blip r:embed="rId2"/>
          <a:srcRect l="15171" r="5900"/>
          <a:stretch>
            <a:fillRect/>
          </a:stretch>
        </p:blipFill>
        <p:spPr>
          <a:xfrm>
            <a:off x="429768" y="1874519"/>
            <a:ext cx="2020824" cy="1600200"/>
          </a:xfrm>
          <a:prstGeom prst="rect">
            <a:avLst/>
          </a:prstGeom>
          <a:ln>
            <a:noFill/>
          </a:ln>
        </p:spPr>
      </p:pic>
      <p:sp>
        <p:nvSpPr>
          <p:cNvPr id="8" name="Rectangle 7"/>
          <p:cNvSpPr/>
          <p:nvPr/>
        </p:nvSpPr>
        <p:spPr>
          <a:xfrm>
            <a:off x="429768" y="3474720"/>
            <a:ext cx="2020824" cy="2377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29768" y="3474720"/>
            <a:ext cx="54864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59" y="3639312"/>
            <a:ext cx="1746504" cy="365760"/>
          </a:xfrm>
          <a:prstGeom prst="rect">
            <a:avLst/>
          </a:prstGeom>
          <a:noFill/>
        </p:spPr>
        <p:txBody>
          <a:bodyPr wrap="square" lIns="0" rIns="0" tIns="0" bIns="0" anchor="t">
            <a:spAutoFit/>
          </a:bodyPr>
          <a:lstStyle/>
          <a:p>
            <a:pPr algn="l">
              <a:lnSpc>
                <a:spcPct val="105000"/>
              </a:lnSpc>
              <a:spcBef>
                <a:spcPts val="0"/>
              </a:spcBef>
              <a:spcAft>
                <a:spcPts val="0"/>
              </a:spcAft>
            </a:pPr>
            <a:r>
              <a:rPr sz="1400" b="1">
                <a:solidFill>
                  <a:srgbClr val="000000"/>
                </a:solidFill>
                <a:latin typeface="IBM Plex Sans"/>
              </a:rPr>
              <a:t>Generator</a:t>
            </a:r>
          </a:p>
        </p:txBody>
      </p:sp>
      <p:sp>
        <p:nvSpPr>
          <p:cNvPr id="11" name="TextBox 10"/>
          <p:cNvSpPr txBox="1"/>
          <p:nvPr/>
        </p:nvSpPr>
        <p:spPr>
          <a:xfrm>
            <a:off x="594359" y="4069080"/>
            <a:ext cx="1728216" cy="1920240"/>
          </a:xfrm>
          <a:prstGeom prst="rect">
            <a:avLst/>
          </a:prstGeom>
          <a:noFill/>
        </p:spPr>
        <p:txBody>
          <a:bodyPr wrap="square" lIns="0" rIns="0" tIns="0" bIns="0" anchor="t">
            <a:spAutoFit/>
          </a:bodyPr>
          <a:lstStyle/>
          <a:p>
            <a:pPr algn="l">
              <a:lnSpc>
                <a:spcPct val="105000"/>
              </a:lnSpc>
              <a:spcBef>
                <a:spcPts val="0"/>
              </a:spcBef>
              <a:spcAft>
                <a:spcPts val="0"/>
              </a:spcAft>
            </a:pPr>
            <a:r>
              <a:rPr sz="1100" b="0">
                <a:solidFill>
                  <a:srgbClr val="58595B"/>
                </a:solidFill>
                <a:latin typeface="IBM Plex Sans"/>
              </a:rPr>
              <a:t>Diesel oder HVO, 30 bis 2'100 kVA. Baustrom, Netzersatz, Events. Leistung in kVA/MVA (Scheinleistung).</a:t>
            </a:r>
          </a:p>
        </p:txBody>
      </p:sp>
      <p:pic>
        <p:nvPicPr>
          <p:cNvPr id="12" name="Picture 11" descr="lastbank_detail.png"/>
          <p:cNvPicPr>
            <a:picLocks noChangeAspect="1"/>
          </p:cNvPicPr>
          <p:nvPr/>
        </p:nvPicPr>
        <p:blipFill>
          <a:blip r:embed="rId3"/>
          <a:srcRect t="17404" b="11602"/>
          <a:stretch>
            <a:fillRect/>
          </a:stretch>
        </p:blipFill>
        <p:spPr>
          <a:xfrm>
            <a:off x="2651760" y="1874519"/>
            <a:ext cx="2020824" cy="1600200"/>
          </a:xfrm>
          <a:prstGeom prst="rect">
            <a:avLst/>
          </a:prstGeom>
          <a:ln>
            <a:noFill/>
          </a:ln>
        </p:spPr>
      </p:pic>
      <p:sp>
        <p:nvSpPr>
          <p:cNvPr id="13" name="Rectangle 12"/>
          <p:cNvSpPr/>
          <p:nvPr/>
        </p:nvSpPr>
        <p:spPr>
          <a:xfrm>
            <a:off x="2651760" y="3474720"/>
            <a:ext cx="2020824" cy="2377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2651760" y="3474720"/>
            <a:ext cx="54864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816352" y="3639312"/>
            <a:ext cx="1746504" cy="365760"/>
          </a:xfrm>
          <a:prstGeom prst="rect">
            <a:avLst/>
          </a:prstGeom>
          <a:noFill/>
        </p:spPr>
        <p:txBody>
          <a:bodyPr wrap="square" lIns="0" rIns="0" tIns="0" bIns="0" anchor="t">
            <a:spAutoFit/>
          </a:bodyPr>
          <a:lstStyle/>
          <a:p>
            <a:pPr algn="l">
              <a:lnSpc>
                <a:spcPct val="105000"/>
              </a:lnSpc>
              <a:spcBef>
                <a:spcPts val="0"/>
              </a:spcBef>
              <a:spcAft>
                <a:spcPts val="0"/>
              </a:spcAft>
            </a:pPr>
            <a:r>
              <a:rPr sz="1400" b="1">
                <a:solidFill>
                  <a:srgbClr val="000000"/>
                </a:solidFill>
                <a:latin typeface="IBM Plex Sans"/>
              </a:rPr>
              <a:t>Lastbank</a:t>
            </a:r>
          </a:p>
        </p:txBody>
      </p:sp>
      <p:sp>
        <p:nvSpPr>
          <p:cNvPr id="16" name="TextBox 15"/>
          <p:cNvSpPr txBox="1"/>
          <p:nvPr/>
        </p:nvSpPr>
        <p:spPr>
          <a:xfrm>
            <a:off x="2816352" y="4069080"/>
            <a:ext cx="1728216" cy="1920240"/>
          </a:xfrm>
          <a:prstGeom prst="rect">
            <a:avLst/>
          </a:prstGeom>
          <a:noFill/>
        </p:spPr>
        <p:txBody>
          <a:bodyPr wrap="square" lIns="0" rIns="0" tIns="0" bIns="0" anchor="t">
            <a:spAutoFit/>
          </a:bodyPr>
          <a:lstStyle/>
          <a:p>
            <a:pPr algn="l">
              <a:lnSpc>
                <a:spcPct val="105000"/>
              </a:lnSpc>
              <a:spcBef>
                <a:spcPts val="0"/>
              </a:spcBef>
              <a:spcAft>
                <a:spcPts val="0"/>
              </a:spcAft>
            </a:pPr>
            <a:r>
              <a:rPr sz="1100" b="0">
                <a:solidFill>
                  <a:srgbClr val="58595B"/>
                </a:solidFill>
                <a:latin typeface="IBM Plex Sans"/>
              </a:rPr>
              <a:t>Künstliche Last bis 6,25 MW für NEA-Tests und RZ-Commissioning (IST).</a:t>
            </a:r>
          </a:p>
        </p:txBody>
      </p:sp>
      <p:pic>
        <p:nvPicPr>
          <p:cNvPr id="17" name="Picture 16" descr="bess_detail.png"/>
          <p:cNvPicPr>
            <a:picLocks noChangeAspect="1"/>
          </p:cNvPicPr>
          <p:nvPr/>
        </p:nvPicPr>
        <p:blipFill>
          <a:blip r:embed="rId4"/>
          <a:srcRect l="12063" r="9870"/>
          <a:stretch>
            <a:fillRect/>
          </a:stretch>
        </p:blipFill>
        <p:spPr>
          <a:xfrm>
            <a:off x="4873752" y="1874519"/>
            <a:ext cx="2020824" cy="1600200"/>
          </a:xfrm>
          <a:prstGeom prst="rect">
            <a:avLst/>
          </a:prstGeom>
          <a:ln>
            <a:noFill/>
          </a:ln>
        </p:spPr>
      </p:pic>
      <p:sp>
        <p:nvSpPr>
          <p:cNvPr id="18" name="Rectangle 17"/>
          <p:cNvSpPr/>
          <p:nvPr/>
        </p:nvSpPr>
        <p:spPr>
          <a:xfrm>
            <a:off x="4873752" y="3474720"/>
            <a:ext cx="2020824" cy="2377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873752" y="3474720"/>
            <a:ext cx="54864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038344" y="3639312"/>
            <a:ext cx="1746504" cy="365760"/>
          </a:xfrm>
          <a:prstGeom prst="rect">
            <a:avLst/>
          </a:prstGeom>
          <a:noFill/>
        </p:spPr>
        <p:txBody>
          <a:bodyPr wrap="square" lIns="0" rIns="0" tIns="0" bIns="0" anchor="t">
            <a:spAutoFit/>
          </a:bodyPr>
          <a:lstStyle/>
          <a:p>
            <a:pPr algn="l">
              <a:lnSpc>
                <a:spcPct val="105000"/>
              </a:lnSpc>
              <a:spcBef>
                <a:spcPts val="0"/>
              </a:spcBef>
              <a:spcAft>
                <a:spcPts val="0"/>
              </a:spcAft>
            </a:pPr>
            <a:r>
              <a:rPr sz="1400" b="1">
                <a:solidFill>
                  <a:srgbClr val="000000"/>
                </a:solidFill>
                <a:latin typeface="IBM Plex Sans"/>
              </a:rPr>
              <a:t>BESS</a:t>
            </a:r>
          </a:p>
        </p:txBody>
      </p:sp>
      <p:sp>
        <p:nvSpPr>
          <p:cNvPr id="21" name="TextBox 20"/>
          <p:cNvSpPr txBox="1"/>
          <p:nvPr/>
        </p:nvSpPr>
        <p:spPr>
          <a:xfrm>
            <a:off x="5038344" y="4069080"/>
            <a:ext cx="1728216" cy="1920240"/>
          </a:xfrm>
          <a:prstGeom prst="rect">
            <a:avLst/>
          </a:prstGeom>
          <a:noFill/>
        </p:spPr>
        <p:txBody>
          <a:bodyPr wrap="square" lIns="0" rIns="0" tIns="0" bIns="0" anchor="t">
            <a:spAutoFit/>
          </a:bodyPr>
          <a:lstStyle/>
          <a:p>
            <a:pPr algn="l">
              <a:lnSpc>
                <a:spcPct val="105000"/>
              </a:lnSpc>
              <a:spcBef>
                <a:spcPts val="0"/>
              </a:spcBef>
              <a:spcAft>
                <a:spcPts val="0"/>
              </a:spcAft>
            </a:pPr>
            <a:r>
              <a:rPr sz="1100" b="0">
                <a:solidFill>
                  <a:srgbClr val="58595B"/>
                </a:solidFill>
                <a:latin typeface="IBM Plex Sans"/>
              </a:rPr>
              <a:t>Battery Energy Storage System: leise, emissionsfrei, kappt Lastspitzen, Hybrid mit Generator.</a:t>
            </a:r>
          </a:p>
        </p:txBody>
      </p:sp>
      <p:pic>
        <p:nvPicPr>
          <p:cNvPr id="22" name="Picture 21" descr="foto_trafo.jpg"/>
          <p:cNvPicPr>
            <a:picLocks noChangeAspect="1"/>
          </p:cNvPicPr>
          <p:nvPr/>
        </p:nvPicPr>
        <p:blipFill>
          <a:blip r:embed="rId5"/>
          <a:srcRect t="2901" b="2901"/>
          <a:stretch>
            <a:fillRect/>
          </a:stretch>
        </p:blipFill>
        <p:spPr>
          <a:xfrm>
            <a:off x="7095744" y="1874519"/>
            <a:ext cx="2020824" cy="1600200"/>
          </a:xfrm>
          <a:prstGeom prst="rect">
            <a:avLst/>
          </a:prstGeom>
          <a:ln>
            <a:noFill/>
          </a:ln>
        </p:spPr>
      </p:pic>
      <p:sp>
        <p:nvSpPr>
          <p:cNvPr id="23" name="Rectangle 22"/>
          <p:cNvSpPr/>
          <p:nvPr/>
        </p:nvSpPr>
        <p:spPr>
          <a:xfrm>
            <a:off x="7095744" y="3474720"/>
            <a:ext cx="2020824" cy="2377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7095744" y="3474720"/>
            <a:ext cx="54864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260336" y="3639312"/>
            <a:ext cx="1746504" cy="365760"/>
          </a:xfrm>
          <a:prstGeom prst="rect">
            <a:avLst/>
          </a:prstGeom>
          <a:noFill/>
        </p:spPr>
        <p:txBody>
          <a:bodyPr wrap="square" lIns="0" rIns="0" tIns="0" bIns="0" anchor="t">
            <a:spAutoFit/>
          </a:bodyPr>
          <a:lstStyle/>
          <a:p>
            <a:pPr algn="l">
              <a:lnSpc>
                <a:spcPct val="105000"/>
              </a:lnSpc>
              <a:spcBef>
                <a:spcPts val="0"/>
              </a:spcBef>
              <a:spcAft>
                <a:spcPts val="0"/>
              </a:spcAft>
            </a:pPr>
            <a:r>
              <a:rPr sz="1400" b="1">
                <a:solidFill>
                  <a:srgbClr val="000000"/>
                </a:solidFill>
                <a:latin typeface="IBM Plex Sans"/>
              </a:rPr>
              <a:t>Mobiler Trafo</a:t>
            </a:r>
          </a:p>
        </p:txBody>
      </p:sp>
      <p:sp>
        <p:nvSpPr>
          <p:cNvPr id="26" name="TextBox 25"/>
          <p:cNvSpPr txBox="1"/>
          <p:nvPr/>
        </p:nvSpPr>
        <p:spPr>
          <a:xfrm>
            <a:off x="7260336" y="4069080"/>
            <a:ext cx="1728216" cy="1920240"/>
          </a:xfrm>
          <a:prstGeom prst="rect">
            <a:avLst/>
          </a:prstGeom>
          <a:noFill/>
        </p:spPr>
        <p:txBody>
          <a:bodyPr wrap="square" lIns="0" rIns="0" tIns="0" bIns="0" anchor="t">
            <a:spAutoFit/>
          </a:bodyPr>
          <a:lstStyle/>
          <a:p>
            <a:pPr algn="l">
              <a:lnSpc>
                <a:spcPct val="105000"/>
              </a:lnSpc>
              <a:spcBef>
                <a:spcPts val="0"/>
              </a:spcBef>
              <a:spcAft>
                <a:spcPts val="0"/>
              </a:spcAft>
            </a:pPr>
            <a:r>
              <a:rPr sz="1100" b="0">
                <a:solidFill>
                  <a:srgbClr val="58595B"/>
                </a:solidFill>
                <a:latin typeface="IBM Plex Sans"/>
              </a:rPr>
              <a:t>Provisorische Einspeisung MS/NS bei Unterwerk- und Stationsumbau.</a:t>
            </a:r>
          </a:p>
        </p:txBody>
      </p:sp>
      <p:pic>
        <p:nvPicPr>
          <p:cNvPr id="27" name="Picture 26" descr="foto_messung.jpg"/>
          <p:cNvPicPr>
            <a:picLocks noChangeAspect="1"/>
          </p:cNvPicPr>
          <p:nvPr/>
        </p:nvPicPr>
        <p:blipFill>
          <a:blip r:embed="rId6"/>
          <a:srcRect l="2643" r="2643"/>
          <a:stretch>
            <a:fillRect/>
          </a:stretch>
        </p:blipFill>
        <p:spPr>
          <a:xfrm>
            <a:off x="9317736" y="1874519"/>
            <a:ext cx="2020824" cy="1600200"/>
          </a:xfrm>
          <a:prstGeom prst="rect">
            <a:avLst/>
          </a:prstGeom>
          <a:ln>
            <a:noFill/>
          </a:ln>
        </p:spPr>
      </p:pic>
      <p:sp>
        <p:nvSpPr>
          <p:cNvPr id="28" name="Rectangle 27"/>
          <p:cNvSpPr/>
          <p:nvPr/>
        </p:nvSpPr>
        <p:spPr>
          <a:xfrm>
            <a:off x="9317736" y="3474720"/>
            <a:ext cx="2020824" cy="2377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9317736" y="3474720"/>
            <a:ext cx="54864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482328" y="3639312"/>
            <a:ext cx="1746504" cy="365760"/>
          </a:xfrm>
          <a:prstGeom prst="rect">
            <a:avLst/>
          </a:prstGeom>
          <a:noFill/>
        </p:spPr>
        <p:txBody>
          <a:bodyPr wrap="square" lIns="0" rIns="0" tIns="0" bIns="0" anchor="t">
            <a:spAutoFit/>
          </a:bodyPr>
          <a:lstStyle/>
          <a:p>
            <a:pPr algn="l">
              <a:lnSpc>
                <a:spcPct val="105000"/>
              </a:lnSpc>
              <a:spcBef>
                <a:spcPts val="0"/>
              </a:spcBef>
              <a:spcAft>
                <a:spcPts val="0"/>
              </a:spcAft>
            </a:pPr>
            <a:r>
              <a:rPr sz="1400" b="1">
                <a:solidFill>
                  <a:srgbClr val="000000"/>
                </a:solidFill>
                <a:latin typeface="IBM Plex Sans"/>
              </a:rPr>
              <a:t>NEA-Test &amp; Messung</a:t>
            </a:r>
          </a:p>
        </p:txBody>
      </p:sp>
      <p:sp>
        <p:nvSpPr>
          <p:cNvPr id="31" name="TextBox 30"/>
          <p:cNvSpPr txBox="1"/>
          <p:nvPr/>
        </p:nvSpPr>
        <p:spPr>
          <a:xfrm>
            <a:off x="9482328" y="4069080"/>
            <a:ext cx="1728216" cy="1920240"/>
          </a:xfrm>
          <a:prstGeom prst="rect">
            <a:avLst/>
          </a:prstGeom>
          <a:noFill/>
        </p:spPr>
        <p:txBody>
          <a:bodyPr wrap="square" lIns="0" rIns="0" tIns="0" bIns="0" anchor="t">
            <a:spAutoFit/>
          </a:bodyPr>
          <a:lstStyle/>
          <a:p>
            <a:pPr algn="l">
              <a:lnSpc>
                <a:spcPct val="105000"/>
              </a:lnSpc>
              <a:spcBef>
                <a:spcPts val="0"/>
              </a:spcBef>
              <a:spcAft>
                <a:spcPts val="0"/>
              </a:spcAft>
            </a:pPr>
            <a:r>
              <a:rPr sz="1100" b="0">
                <a:solidFill>
                  <a:srgbClr val="58595B"/>
                </a:solidFill>
                <a:latin typeface="IBM Plex Sans"/>
              </a:rPr>
              <a:t>Netzersatzanlage unter Last prüfen, Netzqualität messen vor und nach der Umschaltung.</a:t>
            </a:r>
          </a:p>
        </p:txBody>
      </p:sp>
      <p:sp>
        <p:nvSpPr>
          <p:cNvPr id="32" name="TextBox 31"/>
          <p:cNvSpPr txBox="1"/>
          <p:nvPr/>
        </p:nvSpPr>
        <p:spPr>
          <a:xfrm>
            <a:off x="429768" y="5943600"/>
            <a:ext cx="10881360" cy="228600"/>
          </a:xfrm>
          <a:prstGeom prst="rect">
            <a:avLst/>
          </a:prstGeom>
          <a:noFill/>
        </p:spPr>
        <p:txBody>
          <a:bodyPr wrap="square" lIns="0" rIns="0" tIns="0" bIns="0" anchor="t">
            <a:spAutoFit/>
          </a:bodyPr>
          <a:lstStyle/>
          <a:p>
            <a:pPr algn="l">
              <a:lnSpc>
                <a:spcPct val="105000"/>
              </a:lnSpc>
              <a:spcBef>
                <a:spcPts val="0"/>
              </a:spcBef>
              <a:spcAft>
                <a:spcPts val="0"/>
              </a:spcAft>
            </a:pPr>
            <a:r>
              <a:rPr sz="850" b="0">
                <a:solidFill>
                  <a:srgbClr val="58595B"/>
                </a:solidFill>
                <a:latin typeface="IBM Plex Sans"/>
              </a:rPr>
              <a:t>Illustrationen: eigene Grafik im MiT-Design. Fotos Trafo und Messung: eigene Aufnahmen, Typenschild unkenntlich. Portfolio laut mobilintime.com und aggreko.com.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1056" y="365760"/>
            <a:ext cx="8183879" cy="274320"/>
          </a:xfrm>
          <a:prstGeom prst="rect">
            <a:avLst/>
          </a:prstGeom>
          <a:noFill/>
        </p:spPr>
        <p:txBody>
          <a:bodyPr wrap="square" lIns="0" rIns="0" tIns="0" bIns="0" anchor="t">
            <a:spAutoFit/>
          </a:bodyPr>
          <a:lstStyle/>
          <a:p>
            <a:pPr algn="l"/>
            <a:r>
              <a:rPr sz="1050" b="1" spc="160" cap="all">
                <a:solidFill>
                  <a:srgbClr val="E00036"/>
                </a:solidFill>
                <a:latin typeface="IBM Plex Sans"/>
              </a:rPr>
              <a:t>04 · Pipeline</a:t>
            </a:r>
          </a:p>
        </p:txBody>
      </p:sp>
      <p:sp>
        <p:nvSpPr>
          <p:cNvPr id="3" name="TextBox 2"/>
          <p:cNvSpPr txBox="1"/>
          <p:nvPr/>
        </p:nvSpPr>
        <p:spPr>
          <a:xfrm>
            <a:off x="1591056" y="658368"/>
            <a:ext cx="8183879" cy="914400"/>
          </a:xfrm>
          <a:prstGeom prst="rect">
            <a:avLst/>
          </a:prstGeom>
          <a:noFill/>
        </p:spPr>
        <p:txBody>
          <a:bodyPr wrap="square" lIns="0" rIns="0" tIns="0" bIns="0" anchor="t">
            <a:spAutoFit/>
          </a:bodyPr>
          <a:lstStyle/>
          <a:p>
            <a:pPr algn="l">
              <a:lnSpc>
                <a:spcPct val="94000"/>
              </a:lnSpc>
            </a:pPr>
            <a:r>
              <a:rPr sz="2600" b="0">
                <a:solidFill>
                  <a:srgbClr val="000000"/>
                </a:solidFill>
                <a:latin typeface="Alata"/>
              </a:rPr>
              <a:t>Wo das Geld liegt: Potenzial und Erwartung</a:t>
            </a:r>
          </a:p>
        </p:txBody>
      </p:sp>
      <p:sp>
        <p:nvSpPr>
          <p:cNvPr id="4" name="Rectangle 3"/>
          <p:cNvSpPr/>
          <p:nvPr/>
        </p:nvSpPr>
        <p:spPr>
          <a:xfrm>
            <a:off x="1591056" y="1572768"/>
            <a:ext cx="100584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91056" y="6355080"/>
            <a:ext cx="7863840" cy="256032"/>
          </a:xfrm>
          <a:prstGeom prst="rect">
            <a:avLst/>
          </a:prstGeom>
          <a:noFill/>
        </p:spPr>
        <p:txBody>
          <a:bodyPr wrap="square" lIns="0" rIns="0" tIns="0" bIns="0" anchor="t">
            <a:spAutoFit/>
          </a:bodyPr>
          <a:lstStyle/>
          <a:p>
            <a:pPr algn="l"/>
            <a:r>
              <a:rPr sz="850" b="0">
                <a:solidFill>
                  <a:srgbClr val="58595B"/>
                </a:solidFill>
                <a:latin typeface="IBM Plex Sans"/>
              </a:rPr>
              <a:t>MiT Strom CH · Top-Player Power 2027 · intern · 27.09.2026</a:t>
            </a:r>
          </a:p>
        </p:txBody>
      </p:sp>
      <p:sp>
        <p:nvSpPr>
          <p:cNvPr id="6" name="TextBox 5"/>
          <p:cNvSpPr txBox="1"/>
          <p:nvPr/>
        </p:nvSpPr>
        <p:spPr>
          <a:xfrm>
            <a:off x="10149840" y="6355080"/>
            <a:ext cx="914400" cy="256032"/>
          </a:xfrm>
          <a:prstGeom prst="rect">
            <a:avLst/>
          </a:prstGeom>
          <a:noFill/>
        </p:spPr>
        <p:txBody>
          <a:bodyPr wrap="square" lIns="0" rIns="0" tIns="0" bIns="0" anchor="t">
            <a:spAutoFit/>
          </a:bodyPr>
          <a:lstStyle/>
          <a:p>
            <a:pPr algn="r"/>
            <a:r>
              <a:rPr sz="850" b="0">
                <a:solidFill>
                  <a:srgbClr val="58595B"/>
                </a:solidFill>
                <a:latin typeface="IBM Plex Sans"/>
              </a:rPr>
              <a:t>5</a:t>
            </a:r>
          </a:p>
        </p:txBody>
      </p:sp>
      <p:graphicFrame>
        <p:nvGraphicFramePr>
          <p:cNvPr id="7" name="Chart 6"/>
          <p:cNvGraphicFramePr>
            <a:graphicFrameLocks noGrp="1"/>
          </p:cNvGraphicFramePr>
          <p:nvPr/>
        </p:nvGraphicFramePr>
        <p:xfrm>
          <a:off x="429768" y="1828800"/>
          <a:ext cx="7589520" cy="4297680"/>
        </p:xfrm>
        <a:graphic>
          <a:graphicData uri="http://schemas.openxmlformats.org/drawingml/2006/chart">
            <c:chart xmlns:c="http://schemas.openxmlformats.org/drawingml/2006/chart" r:id="rId2"/>
          </a:graphicData>
        </a:graphic>
      </p:graphicFrame>
      <p:sp>
        <p:nvSpPr>
          <p:cNvPr id="8" name="Rectangle 7"/>
          <p:cNvSpPr/>
          <p:nvPr/>
        </p:nvSpPr>
        <p:spPr>
          <a:xfrm>
            <a:off x="8275320" y="1920240"/>
            <a:ext cx="3063240" cy="1965960"/>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503920" y="2103120"/>
            <a:ext cx="2651760" cy="365760"/>
          </a:xfrm>
          <a:prstGeom prst="rect">
            <a:avLst/>
          </a:prstGeom>
          <a:noFill/>
        </p:spPr>
        <p:txBody>
          <a:bodyPr wrap="square" lIns="0" rIns="0" tIns="0" bIns="0" anchor="t">
            <a:spAutoFit/>
          </a:bodyPr>
          <a:lstStyle/>
          <a:p>
            <a:pPr algn="l">
              <a:lnSpc>
                <a:spcPct val="105000"/>
              </a:lnSpc>
              <a:spcBef>
                <a:spcPts val="0"/>
              </a:spcBef>
              <a:spcAft>
                <a:spcPts val="0"/>
              </a:spcAft>
            </a:pPr>
            <a:r>
              <a:rPr sz="1300" b="1">
                <a:solidFill>
                  <a:srgbClr val="FFFFFF"/>
                </a:solidFill>
                <a:latin typeface="IBM Plex Sans"/>
              </a:rPr>
              <a:t>Rechenzentren</a:t>
            </a:r>
          </a:p>
        </p:txBody>
      </p:sp>
      <p:sp>
        <p:nvSpPr>
          <p:cNvPr id="10" name="TextBox 9"/>
          <p:cNvSpPr txBox="1"/>
          <p:nvPr/>
        </p:nvSpPr>
        <p:spPr>
          <a:xfrm>
            <a:off x="8503920" y="2487168"/>
            <a:ext cx="2651760" cy="1371600"/>
          </a:xfrm>
          <a:prstGeom prst="rect">
            <a:avLst/>
          </a:prstGeom>
          <a:noFill/>
        </p:spPr>
        <p:txBody>
          <a:bodyPr wrap="square" lIns="0" rIns="0" tIns="0" bIns="0" anchor="t">
            <a:spAutoFit/>
          </a:bodyPr>
          <a:lstStyle/>
          <a:p>
            <a:pPr algn="l">
              <a:lnSpc>
                <a:spcPct val="105000"/>
              </a:lnSpc>
              <a:spcBef>
                <a:spcPts val="0"/>
              </a:spcBef>
              <a:spcAft>
                <a:spcPts val="0"/>
              </a:spcAft>
            </a:pPr>
            <a:r>
              <a:rPr sz="1200" b="0">
                <a:solidFill>
                  <a:srgbClr val="FFFFFF"/>
                </a:solidFill>
                <a:latin typeface="IBM Plex Sans"/>
              </a:rPr>
              <a:t>1,8 Mio. CHF brutto</a:t>
            </a:r>
          </a:p>
          <a:p>
            <a:pPr algn="l">
              <a:lnSpc>
                <a:spcPct val="105000"/>
              </a:lnSpc>
              <a:spcBef>
                <a:spcPts val="300"/>
              </a:spcBef>
              <a:spcAft>
                <a:spcPts val="0"/>
              </a:spcAft>
            </a:pPr>
            <a:r>
              <a:rPr sz="1200" b="0">
                <a:solidFill>
                  <a:srgbClr val="FFFFFF"/>
                </a:solidFill>
                <a:latin typeface="IBM Plex Sans"/>
              </a:rPr>
              <a:t>grösste Einzeltickets,</a:t>
            </a:r>
          </a:p>
          <a:p>
            <a:pPr algn="l">
              <a:lnSpc>
                <a:spcPct val="105000"/>
              </a:lnSpc>
              <a:spcBef>
                <a:spcPts val="300"/>
              </a:spcBef>
              <a:spcAft>
                <a:spcPts val="0"/>
              </a:spcAft>
            </a:pPr>
            <a:r>
              <a:rPr sz="1200" b="0">
                <a:solidFill>
                  <a:srgbClr val="FFFFFF"/>
                </a:solidFill>
                <a:latin typeface="IBM Plex Sans"/>
              </a:rPr>
              <a:t>aber Beschaffung oft EMEA</a:t>
            </a:r>
          </a:p>
        </p:txBody>
      </p:sp>
      <p:sp>
        <p:nvSpPr>
          <p:cNvPr id="11" name="Rectangle 10"/>
          <p:cNvSpPr/>
          <p:nvPr/>
        </p:nvSpPr>
        <p:spPr>
          <a:xfrm>
            <a:off x="8275320" y="4069080"/>
            <a:ext cx="3063240" cy="1965960"/>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503920" y="4251960"/>
            <a:ext cx="2651760" cy="365760"/>
          </a:xfrm>
          <a:prstGeom prst="rect">
            <a:avLst/>
          </a:prstGeom>
          <a:noFill/>
        </p:spPr>
        <p:txBody>
          <a:bodyPr wrap="square" lIns="0" rIns="0" tIns="0" bIns="0" anchor="t">
            <a:spAutoFit/>
          </a:bodyPr>
          <a:lstStyle/>
          <a:p>
            <a:pPr algn="l">
              <a:lnSpc>
                <a:spcPct val="105000"/>
              </a:lnSpc>
              <a:spcBef>
                <a:spcPts val="0"/>
              </a:spcBef>
              <a:spcAft>
                <a:spcPts val="0"/>
              </a:spcAft>
            </a:pPr>
            <a:r>
              <a:rPr sz="1300" b="1">
                <a:solidFill>
                  <a:srgbClr val="FFFFFF"/>
                </a:solidFill>
                <a:latin typeface="IBM Plex Sans"/>
              </a:rPr>
              <a:t>Infrastruktur</a:t>
            </a:r>
          </a:p>
        </p:txBody>
      </p:sp>
      <p:sp>
        <p:nvSpPr>
          <p:cNvPr id="13" name="TextBox 12"/>
          <p:cNvSpPr txBox="1"/>
          <p:nvPr/>
        </p:nvSpPr>
        <p:spPr>
          <a:xfrm>
            <a:off x="8503920" y="4636008"/>
            <a:ext cx="2651760" cy="1371600"/>
          </a:xfrm>
          <a:prstGeom prst="rect">
            <a:avLst/>
          </a:prstGeom>
          <a:noFill/>
        </p:spPr>
        <p:txBody>
          <a:bodyPr wrap="square" lIns="0" rIns="0" tIns="0" bIns="0" anchor="t">
            <a:spAutoFit/>
          </a:bodyPr>
          <a:lstStyle/>
          <a:p>
            <a:pPr algn="l">
              <a:lnSpc>
                <a:spcPct val="105000"/>
              </a:lnSpc>
              <a:spcBef>
                <a:spcPts val="0"/>
              </a:spcBef>
              <a:spcAft>
                <a:spcPts val="0"/>
              </a:spcAft>
            </a:pPr>
            <a:r>
              <a:rPr sz="1200" b="0">
                <a:solidFill>
                  <a:srgbClr val="E6E6E6"/>
                </a:solidFill>
                <a:latin typeface="IBM Plex Sans"/>
              </a:rPr>
              <a:t>248k CHF Erwartung 2027</a:t>
            </a:r>
          </a:p>
          <a:p>
            <a:pPr algn="l">
              <a:lnSpc>
                <a:spcPct val="105000"/>
              </a:lnSpc>
              <a:spcBef>
                <a:spcPts val="300"/>
              </a:spcBef>
              <a:spcAft>
                <a:spcPts val="0"/>
              </a:spcAft>
            </a:pPr>
            <a:r>
              <a:rPr sz="1200" b="0">
                <a:solidFill>
                  <a:srgbClr val="E6E6E6"/>
                </a:solidFill>
                <a:latin typeface="IBM Plex Sans"/>
              </a:rPr>
              <a:t>Tunnel-Backup über 52 Wochen:</a:t>
            </a:r>
          </a:p>
          <a:p>
            <a:pPr algn="l">
              <a:lnSpc>
                <a:spcPct val="105000"/>
              </a:lnSpc>
              <a:spcBef>
                <a:spcPts val="300"/>
              </a:spcBef>
              <a:spcAft>
                <a:spcPts val="0"/>
              </a:spcAft>
            </a:pPr>
            <a:r>
              <a:rPr sz="1200" b="0">
                <a:solidFill>
                  <a:srgbClr val="E6E6E6"/>
                </a:solidFill>
                <a:latin typeface="IBM Plex Sans"/>
              </a:rPr>
              <a:t>planbarstes Volumen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1056" y="365760"/>
            <a:ext cx="8183879" cy="274320"/>
          </a:xfrm>
          <a:prstGeom prst="rect">
            <a:avLst/>
          </a:prstGeom>
          <a:noFill/>
        </p:spPr>
        <p:txBody>
          <a:bodyPr wrap="square" lIns="0" rIns="0" tIns="0" bIns="0" anchor="t">
            <a:spAutoFit/>
          </a:bodyPr>
          <a:lstStyle/>
          <a:p>
            <a:pPr algn="l"/>
            <a:r>
              <a:rPr sz="1050" b="1" spc="160" cap="all">
                <a:solidFill>
                  <a:srgbClr val="E00036"/>
                </a:solidFill>
                <a:latin typeface="IBM Plex Sans"/>
              </a:rPr>
              <a:t>05 · Rechenzentren</a:t>
            </a:r>
          </a:p>
        </p:txBody>
      </p:sp>
      <p:sp>
        <p:nvSpPr>
          <p:cNvPr id="3" name="TextBox 2"/>
          <p:cNvSpPr txBox="1"/>
          <p:nvPr/>
        </p:nvSpPr>
        <p:spPr>
          <a:xfrm>
            <a:off x="1591056" y="658368"/>
            <a:ext cx="8183879" cy="914400"/>
          </a:xfrm>
          <a:prstGeom prst="rect">
            <a:avLst/>
          </a:prstGeom>
          <a:noFill/>
        </p:spPr>
        <p:txBody>
          <a:bodyPr wrap="square" lIns="0" rIns="0" tIns="0" bIns="0" anchor="t">
            <a:spAutoFit/>
          </a:bodyPr>
          <a:lstStyle/>
          <a:p>
            <a:pPr algn="l">
              <a:lnSpc>
                <a:spcPct val="94000"/>
              </a:lnSpc>
            </a:pPr>
            <a:r>
              <a:rPr sz="2600" b="0">
                <a:solidFill>
                  <a:srgbClr val="000000"/>
                </a:solidFill>
                <a:latin typeface="Alata"/>
              </a:rPr>
              <a:t>Die Commissioning-Welle: 1,8 Mio. CHF</a:t>
            </a:r>
          </a:p>
        </p:txBody>
      </p:sp>
      <p:sp>
        <p:nvSpPr>
          <p:cNvPr id="4" name="Rectangle 3"/>
          <p:cNvSpPr/>
          <p:nvPr/>
        </p:nvSpPr>
        <p:spPr>
          <a:xfrm>
            <a:off x="1591056" y="1572768"/>
            <a:ext cx="100584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91056" y="6355080"/>
            <a:ext cx="7863840" cy="256032"/>
          </a:xfrm>
          <a:prstGeom prst="rect">
            <a:avLst/>
          </a:prstGeom>
          <a:noFill/>
        </p:spPr>
        <p:txBody>
          <a:bodyPr wrap="square" lIns="0" rIns="0" tIns="0" bIns="0" anchor="t">
            <a:spAutoFit/>
          </a:bodyPr>
          <a:lstStyle/>
          <a:p>
            <a:pPr algn="l"/>
            <a:r>
              <a:rPr sz="850" b="0">
                <a:solidFill>
                  <a:srgbClr val="58595B"/>
                </a:solidFill>
                <a:latin typeface="IBM Plex Sans"/>
              </a:rPr>
              <a:t>MiT Strom CH · Top-Player Power 2027 · intern · 27.09.2026</a:t>
            </a:r>
          </a:p>
        </p:txBody>
      </p:sp>
      <p:sp>
        <p:nvSpPr>
          <p:cNvPr id="6" name="TextBox 5"/>
          <p:cNvSpPr txBox="1"/>
          <p:nvPr/>
        </p:nvSpPr>
        <p:spPr>
          <a:xfrm>
            <a:off x="10149840" y="6355080"/>
            <a:ext cx="914400" cy="256032"/>
          </a:xfrm>
          <a:prstGeom prst="rect">
            <a:avLst/>
          </a:prstGeom>
          <a:noFill/>
        </p:spPr>
        <p:txBody>
          <a:bodyPr wrap="square" lIns="0" rIns="0" tIns="0" bIns="0" anchor="t">
            <a:spAutoFit/>
          </a:bodyPr>
          <a:lstStyle/>
          <a:p>
            <a:pPr algn="r"/>
            <a:r>
              <a:rPr sz="850" b="0">
                <a:solidFill>
                  <a:srgbClr val="58595B"/>
                </a:solidFill>
                <a:latin typeface="IBM Plex Sans"/>
              </a:rPr>
              <a:t>6</a:t>
            </a:r>
          </a:p>
        </p:txBody>
      </p:sp>
      <p:cxnSp>
        <p:nvCxnSpPr>
          <p:cNvPr id="7" name="Connector 6"/>
          <p:cNvCxnSpPr/>
          <p:nvPr/>
        </p:nvCxnSpPr>
        <p:spPr>
          <a:xfrm>
            <a:off x="1188720" y="5806440"/>
            <a:ext cx="9966960" cy="0"/>
          </a:xfrm>
          <a:prstGeom prst="line">
            <a:avLst/>
          </a:prstGeom>
          <a:ln w="22225">
            <a:solidFill>
              <a:srgbClr val="58595B"/>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061663" y="5733288"/>
            <a:ext cx="0" cy="146304"/>
          </a:xfrm>
          <a:prstGeom prst="line">
            <a:avLst/>
          </a:prstGeom>
          <a:ln w="19050">
            <a:solidFill>
              <a:srgbClr val="58595B"/>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07550" y="5733288"/>
            <a:ext cx="0" cy="146304"/>
          </a:xfrm>
          <a:prstGeom prst="line">
            <a:avLst/>
          </a:prstGeom>
          <a:ln w="19050">
            <a:solidFill>
              <a:srgbClr val="58595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576551" y="5879592"/>
            <a:ext cx="1097280" cy="274320"/>
          </a:xfrm>
          <a:prstGeom prst="rect">
            <a:avLst/>
          </a:prstGeom>
          <a:noFill/>
        </p:spPr>
        <p:txBody>
          <a:bodyPr wrap="square" lIns="0" rIns="0" tIns="0" bIns="0" anchor="t">
            <a:spAutoFit/>
          </a:bodyPr>
          <a:lstStyle/>
          <a:p>
            <a:pPr algn="ctr">
              <a:lnSpc>
                <a:spcPct val="105000"/>
              </a:lnSpc>
              <a:spcBef>
                <a:spcPts val="0"/>
              </a:spcBef>
              <a:spcAft>
                <a:spcPts val="0"/>
              </a:spcAft>
            </a:pPr>
            <a:r>
              <a:rPr sz="1200" b="1">
                <a:solidFill>
                  <a:srgbClr val="58595B"/>
                </a:solidFill>
                <a:latin typeface="Alata"/>
              </a:rPr>
              <a:t>2026</a:t>
            </a:r>
          </a:p>
        </p:txBody>
      </p:sp>
      <p:sp>
        <p:nvSpPr>
          <p:cNvPr id="11" name="TextBox 10"/>
          <p:cNvSpPr txBox="1"/>
          <p:nvPr/>
        </p:nvSpPr>
        <p:spPr>
          <a:xfrm>
            <a:off x="4385966" y="5879592"/>
            <a:ext cx="1097280" cy="274320"/>
          </a:xfrm>
          <a:prstGeom prst="rect">
            <a:avLst/>
          </a:prstGeom>
          <a:noFill/>
        </p:spPr>
        <p:txBody>
          <a:bodyPr wrap="square" lIns="0" rIns="0" tIns="0" bIns="0" anchor="t">
            <a:spAutoFit/>
          </a:bodyPr>
          <a:lstStyle/>
          <a:p>
            <a:pPr algn="ctr">
              <a:lnSpc>
                <a:spcPct val="105000"/>
              </a:lnSpc>
              <a:spcBef>
                <a:spcPts val="0"/>
              </a:spcBef>
              <a:spcAft>
                <a:spcPts val="0"/>
              </a:spcAft>
            </a:pPr>
            <a:r>
              <a:rPr sz="1200" b="1">
                <a:solidFill>
                  <a:srgbClr val="58595B"/>
                </a:solidFill>
                <a:latin typeface="Alata"/>
              </a:rPr>
              <a:t>2027</a:t>
            </a:r>
          </a:p>
        </p:txBody>
      </p:sp>
      <p:sp>
        <p:nvSpPr>
          <p:cNvPr id="12" name="TextBox 11"/>
          <p:cNvSpPr txBox="1"/>
          <p:nvPr/>
        </p:nvSpPr>
        <p:spPr>
          <a:xfrm>
            <a:off x="8131853" y="5879592"/>
            <a:ext cx="1097280" cy="274320"/>
          </a:xfrm>
          <a:prstGeom prst="rect">
            <a:avLst/>
          </a:prstGeom>
          <a:noFill/>
        </p:spPr>
        <p:txBody>
          <a:bodyPr wrap="square" lIns="0" rIns="0" tIns="0" bIns="0" anchor="t">
            <a:spAutoFit/>
          </a:bodyPr>
          <a:lstStyle/>
          <a:p>
            <a:pPr algn="ctr">
              <a:lnSpc>
                <a:spcPct val="105000"/>
              </a:lnSpc>
              <a:spcBef>
                <a:spcPts val="0"/>
              </a:spcBef>
              <a:spcAft>
                <a:spcPts val="0"/>
              </a:spcAft>
            </a:pPr>
            <a:r>
              <a:rPr sz="1200" b="1">
                <a:solidFill>
                  <a:srgbClr val="58595B"/>
                </a:solidFill>
                <a:latin typeface="Alata"/>
              </a:rPr>
              <a:t>2028</a:t>
            </a:r>
          </a:p>
        </p:txBody>
      </p:sp>
      <p:cxnSp>
        <p:nvCxnSpPr>
          <p:cNvPr id="13" name="Connector 12"/>
          <p:cNvCxnSpPr/>
          <p:nvPr/>
        </p:nvCxnSpPr>
        <p:spPr>
          <a:xfrm>
            <a:off x="2125191" y="5106924"/>
            <a:ext cx="0" cy="699516"/>
          </a:xfrm>
          <a:prstGeom prst="line">
            <a:avLst/>
          </a:prstGeom>
          <a:ln w="12700">
            <a:solidFill>
              <a:srgbClr val="BDBDBD"/>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361667" y="3579876"/>
            <a:ext cx="1527048" cy="1527048"/>
          </a:xfrm>
          <a:prstGeom prst="ellipse">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0">
                <a:solidFill>
                  <a:srgbClr val="FFFFFF"/>
                </a:solidFill>
                <a:latin typeface="Alata"/>
              </a:rPr>
              <a:t>36 MW</a:t>
            </a:r>
          </a:p>
        </p:txBody>
      </p:sp>
      <p:sp>
        <p:nvSpPr>
          <p:cNvPr id="15" name="TextBox 14"/>
          <p:cNvSpPr txBox="1"/>
          <p:nvPr/>
        </p:nvSpPr>
        <p:spPr>
          <a:xfrm>
            <a:off x="2980155" y="4114800"/>
            <a:ext cx="1234440" cy="502920"/>
          </a:xfrm>
          <a:prstGeom prst="rect">
            <a:avLst/>
          </a:prstGeom>
          <a:noFill/>
        </p:spPr>
        <p:txBody>
          <a:bodyPr wrap="square" lIns="0" rIns="0" tIns="0" bIns="0" anchor="t">
            <a:spAutoFit/>
          </a:bodyPr>
          <a:lstStyle/>
          <a:p>
            <a:pPr algn="l">
              <a:lnSpc>
                <a:spcPct val="105000"/>
              </a:lnSpc>
              <a:spcBef>
                <a:spcPts val="0"/>
              </a:spcBef>
              <a:spcAft>
                <a:spcPts val="0"/>
              </a:spcAft>
            </a:pPr>
            <a:r>
              <a:rPr sz="1050" b="0">
                <a:solidFill>
                  <a:srgbClr val="000000"/>
                </a:solidFill>
                <a:latin typeface="IBM Plex Sans"/>
              </a:rPr>
              <a:t>STACK Beringen</a:t>
            </a:r>
          </a:p>
          <a:p>
            <a:pPr algn="l">
              <a:lnSpc>
                <a:spcPct val="105000"/>
              </a:lnSpc>
              <a:spcBef>
                <a:spcPts val="300"/>
              </a:spcBef>
              <a:spcAft>
                <a:spcPts val="0"/>
              </a:spcAft>
            </a:pPr>
            <a:r>
              <a:rPr sz="1050" b="0">
                <a:solidFill>
                  <a:srgbClr val="000000"/>
                </a:solidFill>
                <a:latin typeface="IBM Plex Sans"/>
              </a:rPr>
              <a:t>Herbst 2026</a:t>
            </a:r>
          </a:p>
        </p:txBody>
      </p:sp>
      <p:cxnSp>
        <p:nvCxnSpPr>
          <p:cNvPr id="16" name="Connector 15"/>
          <p:cNvCxnSpPr/>
          <p:nvPr/>
        </p:nvCxnSpPr>
        <p:spPr>
          <a:xfrm>
            <a:off x="2749506" y="3257450"/>
            <a:ext cx="0" cy="2548990"/>
          </a:xfrm>
          <a:prstGeom prst="line">
            <a:avLst/>
          </a:prstGeom>
          <a:ln w="12700">
            <a:solidFill>
              <a:srgbClr val="BDBDBD"/>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2235255" y="2228949"/>
            <a:ext cx="1028500" cy="1028500"/>
          </a:xfrm>
          <a:prstGeom prst="ellipse">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0">
                <a:solidFill>
                  <a:srgbClr val="FFFFFF"/>
                </a:solidFill>
                <a:latin typeface="Alata"/>
              </a:rPr>
              <a:t>12 MW</a:t>
            </a:r>
          </a:p>
        </p:txBody>
      </p:sp>
      <p:sp>
        <p:nvSpPr>
          <p:cNvPr id="18" name="TextBox 17"/>
          <p:cNvSpPr txBox="1"/>
          <p:nvPr/>
        </p:nvSpPr>
        <p:spPr>
          <a:xfrm>
            <a:off x="3355196" y="2514600"/>
            <a:ext cx="1234440" cy="502920"/>
          </a:xfrm>
          <a:prstGeom prst="rect">
            <a:avLst/>
          </a:prstGeom>
          <a:noFill/>
        </p:spPr>
        <p:txBody>
          <a:bodyPr wrap="square" lIns="0" rIns="0" tIns="0" bIns="0" anchor="t">
            <a:spAutoFit/>
          </a:bodyPr>
          <a:lstStyle/>
          <a:p>
            <a:pPr algn="l">
              <a:lnSpc>
                <a:spcPct val="105000"/>
              </a:lnSpc>
              <a:spcBef>
                <a:spcPts val="0"/>
              </a:spcBef>
              <a:spcAft>
                <a:spcPts val="0"/>
              </a:spcAft>
            </a:pPr>
            <a:r>
              <a:rPr sz="1050" b="0">
                <a:solidFill>
                  <a:srgbClr val="000000"/>
                </a:solidFill>
                <a:latin typeface="IBM Plex Sans"/>
              </a:rPr>
              <a:t>Green Lupfig</a:t>
            </a:r>
          </a:p>
          <a:p>
            <a:pPr algn="l">
              <a:lnSpc>
                <a:spcPct val="105000"/>
              </a:lnSpc>
              <a:spcBef>
                <a:spcPts val="300"/>
              </a:spcBef>
              <a:spcAft>
                <a:spcPts val="0"/>
              </a:spcAft>
            </a:pPr>
            <a:r>
              <a:rPr sz="1050" b="0">
                <a:solidFill>
                  <a:srgbClr val="000000"/>
                </a:solidFill>
                <a:latin typeface="IBM Plex Sans"/>
              </a:rPr>
              <a:t>2026/27</a:t>
            </a:r>
          </a:p>
        </p:txBody>
      </p:sp>
      <p:cxnSp>
        <p:nvCxnSpPr>
          <p:cNvPr id="19" name="Connector 18"/>
          <p:cNvCxnSpPr/>
          <p:nvPr/>
        </p:nvCxnSpPr>
        <p:spPr>
          <a:xfrm>
            <a:off x="4622449" y="4725657"/>
            <a:ext cx="0" cy="1080783"/>
          </a:xfrm>
          <a:prstGeom prst="line">
            <a:avLst/>
          </a:prstGeom>
          <a:ln w="12700">
            <a:solidFill>
              <a:srgbClr val="BDBDBD"/>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240192" y="3961142"/>
            <a:ext cx="764515" cy="764515"/>
          </a:xfrm>
          <a:prstGeom prst="ellipse">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0">
                <a:solidFill>
                  <a:srgbClr val="FFFFFF"/>
                </a:solidFill>
                <a:latin typeface="Alata"/>
              </a:rPr>
              <a:t>4.5 MW</a:t>
            </a:r>
          </a:p>
        </p:txBody>
      </p:sp>
      <p:sp>
        <p:nvSpPr>
          <p:cNvPr id="21" name="TextBox 20"/>
          <p:cNvSpPr txBox="1"/>
          <p:nvPr/>
        </p:nvSpPr>
        <p:spPr>
          <a:xfrm>
            <a:off x="5096147" y="4114800"/>
            <a:ext cx="1234440" cy="502920"/>
          </a:xfrm>
          <a:prstGeom prst="rect">
            <a:avLst/>
          </a:prstGeom>
          <a:noFill/>
        </p:spPr>
        <p:txBody>
          <a:bodyPr wrap="square" lIns="0" rIns="0" tIns="0" bIns="0" anchor="t">
            <a:spAutoFit/>
          </a:bodyPr>
          <a:lstStyle/>
          <a:p>
            <a:pPr algn="l">
              <a:lnSpc>
                <a:spcPct val="105000"/>
              </a:lnSpc>
              <a:spcBef>
                <a:spcPts val="0"/>
              </a:spcBef>
              <a:spcAft>
                <a:spcPts val="0"/>
              </a:spcAft>
            </a:pPr>
            <a:r>
              <a:rPr sz="1050" b="0">
                <a:solidFill>
                  <a:srgbClr val="000000"/>
                </a:solidFill>
                <a:latin typeface="IBM Plex Sans"/>
              </a:rPr>
              <a:t>NorthC Arlesheim</a:t>
            </a:r>
          </a:p>
          <a:p>
            <a:pPr algn="l">
              <a:lnSpc>
                <a:spcPct val="105000"/>
              </a:lnSpc>
              <a:spcBef>
                <a:spcPts val="300"/>
              </a:spcBef>
              <a:spcAft>
                <a:spcPts val="0"/>
              </a:spcAft>
            </a:pPr>
            <a:r>
              <a:rPr sz="1050" b="0">
                <a:solidFill>
                  <a:srgbClr val="000000"/>
                </a:solidFill>
                <a:latin typeface="IBM Plex Sans"/>
              </a:rPr>
              <a:t>Mitte 2027</a:t>
            </a:r>
          </a:p>
        </p:txBody>
      </p:sp>
      <p:cxnSp>
        <p:nvCxnSpPr>
          <p:cNvPr id="22" name="Connector 21"/>
          <p:cNvCxnSpPr/>
          <p:nvPr/>
        </p:nvCxnSpPr>
        <p:spPr>
          <a:xfrm>
            <a:off x="7744022" y="4725657"/>
            <a:ext cx="0" cy="1080783"/>
          </a:xfrm>
          <a:prstGeom prst="line">
            <a:avLst/>
          </a:prstGeom>
          <a:ln w="12700">
            <a:solidFill>
              <a:srgbClr val="BDBDBD"/>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361764" y="3961142"/>
            <a:ext cx="764515" cy="764515"/>
          </a:xfrm>
          <a:prstGeom prst="ellipse">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0">
                <a:solidFill>
                  <a:srgbClr val="FFFFFF"/>
                </a:solidFill>
                <a:latin typeface="Alata"/>
              </a:rPr>
              <a:t>4.5 MW</a:t>
            </a:r>
          </a:p>
        </p:txBody>
      </p:sp>
      <p:sp>
        <p:nvSpPr>
          <p:cNvPr id="24" name="TextBox 23"/>
          <p:cNvSpPr txBox="1"/>
          <p:nvPr/>
        </p:nvSpPr>
        <p:spPr>
          <a:xfrm>
            <a:off x="5990164" y="4114800"/>
            <a:ext cx="1280160" cy="502920"/>
          </a:xfrm>
          <a:prstGeom prst="rect">
            <a:avLst/>
          </a:prstGeom>
          <a:noFill/>
        </p:spPr>
        <p:txBody>
          <a:bodyPr wrap="square" lIns="0" rIns="0" tIns="0" bIns="0" anchor="t">
            <a:spAutoFit/>
          </a:bodyPr>
          <a:lstStyle/>
          <a:p>
            <a:pPr algn="r">
              <a:lnSpc>
                <a:spcPct val="105000"/>
              </a:lnSpc>
              <a:spcBef>
                <a:spcPts val="0"/>
              </a:spcBef>
              <a:spcAft>
                <a:spcPts val="0"/>
              </a:spcAft>
            </a:pPr>
            <a:r>
              <a:rPr sz="1050" b="0">
                <a:solidFill>
                  <a:srgbClr val="000000"/>
                </a:solidFill>
                <a:latin typeface="IBM Plex Sans"/>
              </a:rPr>
              <a:t>NorthC Genf</a:t>
            </a:r>
          </a:p>
          <a:p>
            <a:pPr algn="r">
              <a:lnSpc>
                <a:spcPct val="105000"/>
              </a:lnSpc>
              <a:spcBef>
                <a:spcPts val="300"/>
              </a:spcBef>
              <a:spcAft>
                <a:spcPts val="0"/>
              </a:spcAft>
            </a:pPr>
            <a:r>
              <a:rPr sz="1050" b="0">
                <a:solidFill>
                  <a:srgbClr val="000000"/>
                </a:solidFill>
                <a:latin typeface="IBM Plex Sans"/>
              </a:rPr>
              <a:t>Q2 2028</a:t>
            </a:r>
          </a:p>
        </p:txBody>
      </p:sp>
      <p:cxnSp>
        <p:nvCxnSpPr>
          <p:cNvPr id="25" name="Connector 24"/>
          <p:cNvCxnSpPr/>
          <p:nvPr/>
        </p:nvCxnSpPr>
        <p:spPr>
          <a:xfrm>
            <a:off x="8368336" y="3297642"/>
            <a:ext cx="0" cy="2508798"/>
          </a:xfrm>
          <a:prstGeom prst="line">
            <a:avLst/>
          </a:prstGeom>
          <a:ln w="12700">
            <a:solidFill>
              <a:srgbClr val="BDBDBD"/>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7813894" y="2188757"/>
            <a:ext cx="1108885" cy="1108885"/>
          </a:xfrm>
          <a:prstGeom prst="ellipse">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0">
                <a:solidFill>
                  <a:srgbClr val="FFFFFF"/>
                </a:solidFill>
                <a:latin typeface="Alata"/>
              </a:rPr>
              <a:t>15 MW</a:t>
            </a:r>
          </a:p>
        </p:txBody>
      </p:sp>
      <p:sp>
        <p:nvSpPr>
          <p:cNvPr id="27" name="TextBox 26"/>
          <p:cNvSpPr txBox="1"/>
          <p:nvPr/>
        </p:nvSpPr>
        <p:spPr>
          <a:xfrm>
            <a:off x="6442294" y="2514600"/>
            <a:ext cx="1280160" cy="502920"/>
          </a:xfrm>
          <a:prstGeom prst="rect">
            <a:avLst/>
          </a:prstGeom>
          <a:noFill/>
        </p:spPr>
        <p:txBody>
          <a:bodyPr wrap="square" lIns="0" rIns="0" tIns="0" bIns="0" anchor="t">
            <a:spAutoFit/>
          </a:bodyPr>
          <a:lstStyle/>
          <a:p>
            <a:pPr algn="r">
              <a:lnSpc>
                <a:spcPct val="105000"/>
              </a:lnSpc>
              <a:spcBef>
                <a:spcPts val="0"/>
              </a:spcBef>
              <a:spcAft>
                <a:spcPts val="0"/>
              </a:spcAft>
            </a:pPr>
            <a:r>
              <a:rPr sz="1050" b="0">
                <a:solidFill>
                  <a:srgbClr val="000000"/>
                </a:solidFill>
                <a:latin typeface="IBM Plex Sans"/>
              </a:rPr>
              <a:t>Digital Realty ZUR4</a:t>
            </a:r>
          </a:p>
          <a:p>
            <a:pPr algn="r">
              <a:lnSpc>
                <a:spcPct val="105000"/>
              </a:lnSpc>
              <a:spcBef>
                <a:spcPts val="300"/>
              </a:spcBef>
              <a:spcAft>
                <a:spcPts val="0"/>
              </a:spcAft>
            </a:pPr>
            <a:r>
              <a:rPr sz="1050" b="0">
                <a:solidFill>
                  <a:srgbClr val="000000"/>
                </a:solidFill>
                <a:latin typeface="IBM Plex Sans"/>
              </a:rPr>
              <a:t>2028</a:t>
            </a:r>
          </a:p>
        </p:txBody>
      </p:sp>
      <p:cxnSp>
        <p:nvCxnSpPr>
          <p:cNvPr id="28" name="Connector 27"/>
          <p:cNvCxnSpPr/>
          <p:nvPr/>
        </p:nvCxnSpPr>
        <p:spPr>
          <a:xfrm>
            <a:off x="9616965" y="5500116"/>
            <a:ext cx="0" cy="306324"/>
          </a:xfrm>
          <a:prstGeom prst="line">
            <a:avLst/>
          </a:prstGeom>
          <a:ln w="12700">
            <a:solidFill>
              <a:srgbClr val="BDBDBD"/>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8460249" y="3186684"/>
            <a:ext cx="2313432" cy="2313432"/>
          </a:xfrm>
          <a:prstGeom prst="ellipse">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0">
                <a:solidFill>
                  <a:srgbClr val="FFFFFF"/>
                </a:solidFill>
                <a:latin typeface="Alata"/>
              </a:rPr>
              <a:t>100 MW</a:t>
            </a:r>
          </a:p>
        </p:txBody>
      </p:sp>
      <p:sp>
        <p:nvSpPr>
          <p:cNvPr id="30" name="TextBox 29"/>
          <p:cNvSpPr txBox="1"/>
          <p:nvPr/>
        </p:nvSpPr>
        <p:spPr>
          <a:xfrm>
            <a:off x="8702565" y="2683764"/>
            <a:ext cx="1828800" cy="457200"/>
          </a:xfrm>
          <a:prstGeom prst="rect">
            <a:avLst/>
          </a:prstGeom>
          <a:noFill/>
        </p:spPr>
        <p:txBody>
          <a:bodyPr wrap="square" lIns="0" rIns="0" tIns="0" bIns="0" anchor="t">
            <a:spAutoFit/>
          </a:bodyPr>
          <a:lstStyle/>
          <a:p>
            <a:pPr algn="ctr">
              <a:lnSpc>
                <a:spcPct val="105000"/>
              </a:lnSpc>
              <a:spcBef>
                <a:spcPts val="0"/>
              </a:spcBef>
              <a:spcAft>
                <a:spcPts val="0"/>
              </a:spcAft>
            </a:pPr>
            <a:r>
              <a:rPr sz="1050" b="0">
                <a:solidFill>
                  <a:srgbClr val="000000"/>
                </a:solidFill>
                <a:latin typeface="IBM Plex Sans"/>
              </a:rPr>
              <a:t>Vantage ZRH3</a:t>
            </a:r>
          </a:p>
          <a:p>
            <a:pPr algn="ctr">
              <a:lnSpc>
                <a:spcPct val="105000"/>
              </a:lnSpc>
              <a:spcBef>
                <a:spcPts val="300"/>
              </a:spcBef>
              <a:spcAft>
                <a:spcPts val="0"/>
              </a:spcAft>
            </a:pPr>
            <a:r>
              <a:rPr sz="1050" b="0">
                <a:solidFill>
                  <a:srgbClr val="000000"/>
                </a:solidFill>
                <a:latin typeface="IBM Plex Sans"/>
              </a:rPr>
              <a:t>Phase 1 2028</a:t>
            </a:r>
          </a:p>
        </p:txBody>
      </p:sp>
      <p:sp>
        <p:nvSpPr>
          <p:cNvPr id="31" name="TextBox 30"/>
          <p:cNvSpPr txBox="1"/>
          <p:nvPr/>
        </p:nvSpPr>
        <p:spPr>
          <a:xfrm>
            <a:off x="1188720" y="1783080"/>
            <a:ext cx="6400800" cy="274320"/>
          </a:xfrm>
          <a:prstGeom prst="rect">
            <a:avLst/>
          </a:prstGeom>
          <a:noFill/>
        </p:spPr>
        <p:txBody>
          <a:bodyPr wrap="square" lIns="0" rIns="0" tIns="0" bIns="0" anchor="t">
            <a:spAutoFit/>
          </a:bodyPr>
          <a:lstStyle/>
          <a:p>
            <a:pPr algn="l">
              <a:lnSpc>
                <a:spcPct val="105000"/>
              </a:lnSpc>
              <a:spcBef>
                <a:spcPts val="0"/>
              </a:spcBef>
              <a:spcAft>
                <a:spcPts val="0"/>
              </a:spcAft>
            </a:pPr>
            <a:r>
              <a:rPr sz="950" b="0">
                <a:solidFill>
                  <a:srgbClr val="58595B"/>
                </a:solidFill>
                <a:latin typeface="IBM Plex Sans"/>
              </a:rPr>
              <a:t>Kreisfläche ≈ IT-Leistung. Zusätzlich: Green Dielsdorf (Bau 2026-28), FlexBase Laufenburg (2028, unsicher).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1056" y="365760"/>
            <a:ext cx="8183879" cy="274320"/>
          </a:xfrm>
          <a:prstGeom prst="rect">
            <a:avLst/>
          </a:prstGeom>
          <a:noFill/>
        </p:spPr>
        <p:txBody>
          <a:bodyPr wrap="square" lIns="0" rIns="0" tIns="0" bIns="0" anchor="t">
            <a:spAutoFit/>
          </a:bodyPr>
          <a:lstStyle/>
          <a:p>
            <a:pPr algn="l"/>
            <a:r>
              <a:rPr sz="1050" b="1" spc="160" cap="all">
                <a:solidFill>
                  <a:srgbClr val="E00036"/>
                </a:solidFill>
                <a:latin typeface="IBM Plex Sans"/>
              </a:rPr>
              <a:t>06 · Top 10</a:t>
            </a:r>
          </a:p>
        </p:txBody>
      </p:sp>
      <p:sp>
        <p:nvSpPr>
          <p:cNvPr id="3" name="TextBox 2"/>
          <p:cNvSpPr txBox="1"/>
          <p:nvPr/>
        </p:nvSpPr>
        <p:spPr>
          <a:xfrm>
            <a:off x="1591056" y="658368"/>
            <a:ext cx="8183879" cy="914400"/>
          </a:xfrm>
          <a:prstGeom prst="rect">
            <a:avLst/>
          </a:prstGeom>
          <a:noFill/>
        </p:spPr>
        <p:txBody>
          <a:bodyPr wrap="square" lIns="0" rIns="0" tIns="0" bIns="0" anchor="t">
            <a:spAutoFit/>
          </a:bodyPr>
          <a:lstStyle/>
          <a:p>
            <a:pPr algn="l">
              <a:lnSpc>
                <a:spcPct val="94000"/>
              </a:lnSpc>
            </a:pPr>
            <a:r>
              <a:rPr sz="2600" b="0">
                <a:solidFill>
                  <a:srgbClr val="000000"/>
                </a:solidFill>
                <a:latin typeface="Alata"/>
              </a:rPr>
              <a:t>Die zehn Projekte mit der höchsten Erwartung</a:t>
            </a:r>
          </a:p>
        </p:txBody>
      </p:sp>
      <p:sp>
        <p:nvSpPr>
          <p:cNvPr id="4" name="Rectangle 3"/>
          <p:cNvSpPr/>
          <p:nvPr/>
        </p:nvSpPr>
        <p:spPr>
          <a:xfrm>
            <a:off x="1591056" y="1572768"/>
            <a:ext cx="100584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91056" y="6355080"/>
            <a:ext cx="7863840" cy="256032"/>
          </a:xfrm>
          <a:prstGeom prst="rect">
            <a:avLst/>
          </a:prstGeom>
          <a:noFill/>
        </p:spPr>
        <p:txBody>
          <a:bodyPr wrap="square" lIns="0" rIns="0" tIns="0" bIns="0" anchor="t">
            <a:spAutoFit/>
          </a:bodyPr>
          <a:lstStyle/>
          <a:p>
            <a:pPr algn="l"/>
            <a:r>
              <a:rPr sz="850" b="0">
                <a:solidFill>
                  <a:srgbClr val="58595B"/>
                </a:solidFill>
                <a:latin typeface="IBM Plex Sans"/>
              </a:rPr>
              <a:t>MiT Strom CH · Top-Player Power 2027 · intern · 27.09.2026</a:t>
            </a:r>
          </a:p>
        </p:txBody>
      </p:sp>
      <p:sp>
        <p:nvSpPr>
          <p:cNvPr id="6" name="TextBox 5"/>
          <p:cNvSpPr txBox="1"/>
          <p:nvPr/>
        </p:nvSpPr>
        <p:spPr>
          <a:xfrm>
            <a:off x="10149840" y="6355080"/>
            <a:ext cx="914400" cy="256032"/>
          </a:xfrm>
          <a:prstGeom prst="rect">
            <a:avLst/>
          </a:prstGeom>
          <a:noFill/>
        </p:spPr>
        <p:txBody>
          <a:bodyPr wrap="square" lIns="0" rIns="0" tIns="0" bIns="0" anchor="t">
            <a:spAutoFit/>
          </a:bodyPr>
          <a:lstStyle/>
          <a:p>
            <a:pPr algn="r"/>
            <a:r>
              <a:rPr sz="850" b="0">
                <a:solidFill>
                  <a:srgbClr val="58595B"/>
                </a:solidFill>
                <a:latin typeface="IBM Plex Sans"/>
              </a:rPr>
              <a:t>7</a:t>
            </a:r>
          </a:p>
        </p:txBody>
      </p:sp>
      <p:graphicFrame>
        <p:nvGraphicFramePr>
          <p:cNvPr id="7" name="Chart 6"/>
          <p:cNvGraphicFramePr>
            <a:graphicFrameLocks noGrp="1"/>
          </p:cNvGraphicFramePr>
          <p:nvPr/>
        </p:nvGraphicFramePr>
        <p:xfrm>
          <a:off x="429768" y="1783080"/>
          <a:ext cx="7498079" cy="4389120"/>
        </p:xfrm>
        <a:graphic>
          <a:graphicData uri="http://schemas.openxmlformats.org/drawingml/2006/chart">
            <c:chart xmlns:c="http://schemas.openxmlformats.org/drawingml/2006/chart" r:id="rId2"/>
          </a:graphicData>
        </a:graphic>
      </p:graphicFrame>
      <p:sp>
        <p:nvSpPr>
          <p:cNvPr id="8" name="Rectangle 7"/>
          <p:cNvSpPr/>
          <p:nvPr/>
        </p:nvSpPr>
        <p:spPr>
          <a:xfrm>
            <a:off x="8229600" y="1874519"/>
            <a:ext cx="3108960" cy="4206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458200" y="2057400"/>
            <a:ext cx="2743200" cy="365760"/>
          </a:xfrm>
          <a:prstGeom prst="rect">
            <a:avLst/>
          </a:prstGeom>
          <a:noFill/>
        </p:spPr>
        <p:txBody>
          <a:bodyPr wrap="square" lIns="0" rIns="0" tIns="0" bIns="0" anchor="t">
            <a:spAutoFit/>
          </a:bodyPr>
          <a:lstStyle/>
          <a:p>
            <a:pPr algn="l">
              <a:lnSpc>
                <a:spcPct val="105000"/>
              </a:lnSpc>
              <a:spcBef>
                <a:spcPts val="0"/>
              </a:spcBef>
              <a:spcAft>
                <a:spcPts val="0"/>
              </a:spcAft>
            </a:pPr>
            <a:r>
              <a:rPr sz="1300" b="1">
                <a:solidFill>
                  <a:srgbClr val="000000"/>
                </a:solidFill>
                <a:latin typeface="IBM Plex Sans"/>
              </a:rPr>
              <a:t>Lesehilfe</a:t>
            </a:r>
          </a:p>
        </p:txBody>
      </p:sp>
      <p:sp>
        <p:nvSpPr>
          <p:cNvPr id="10" name="TextBox 9"/>
          <p:cNvSpPr txBox="1"/>
          <p:nvPr/>
        </p:nvSpPr>
        <p:spPr>
          <a:xfrm>
            <a:off x="8458200" y="2514600"/>
            <a:ext cx="2697480" cy="3474720"/>
          </a:xfrm>
          <a:prstGeom prst="rect">
            <a:avLst/>
          </a:prstGeom>
          <a:noFill/>
        </p:spPr>
        <p:txBody>
          <a:bodyPr wrap="square" lIns="0" rIns="0" tIns="0" bIns="0" anchor="t">
            <a:spAutoFit/>
          </a:bodyPr>
          <a:lstStyle/>
          <a:p>
            <a:pPr algn="l">
              <a:lnSpc>
                <a:spcPct val="105000"/>
              </a:lnSpc>
              <a:spcBef>
                <a:spcPts val="0"/>
              </a:spcBef>
              <a:spcAft>
                <a:spcPts val="0"/>
              </a:spcAft>
            </a:pPr>
            <a:r>
              <a:rPr sz="1150" b="0">
                <a:solidFill>
                  <a:srgbClr val="58595B"/>
                </a:solidFill>
                <a:latin typeface="IBM Plex Sans"/>
              </a:rPr>
              <a:t>Rot = Rechenzentrum, grau = übrige.</a:t>
            </a:r>
          </a:p>
          <a:p>
            <a:pPr algn="l">
              <a:lnSpc>
                <a:spcPct val="105000"/>
              </a:lnSpc>
              <a:spcBef>
                <a:spcPts val="300"/>
              </a:spcBef>
              <a:spcAft>
                <a:spcPts val="0"/>
              </a:spcAft>
            </a:pPr>
            <a:r>
              <a:rPr sz="1150" b="0">
                <a:solidFill>
                  <a:srgbClr val="58595B"/>
                </a:solidFill>
                <a:latin typeface="IBM Plex Sans"/>
              </a:rPr>
              <a:t/>
            </a:r>
          </a:p>
          <a:p>
            <a:pPr algn="l">
              <a:lnSpc>
                <a:spcPct val="105000"/>
              </a:lnSpc>
              <a:spcBef>
                <a:spcPts val="300"/>
              </a:spcBef>
              <a:spcAft>
                <a:spcPts val="0"/>
              </a:spcAft>
            </a:pPr>
            <a:r>
              <a:rPr sz="1150" b="0">
                <a:solidFill>
                  <a:srgbClr val="58595B"/>
                </a:solidFill>
                <a:latin typeface="IBM Plex Sans"/>
              </a:rPr>
              <a:t>Tunnel führen, weil Backup-Generatoren über ein ganzes Jahr laufen.</a:t>
            </a:r>
          </a:p>
          <a:p>
            <a:pPr algn="l">
              <a:lnSpc>
                <a:spcPct val="105000"/>
              </a:lnSpc>
              <a:spcBef>
                <a:spcPts val="300"/>
              </a:spcBef>
              <a:spcAft>
                <a:spcPts val="0"/>
              </a:spcAft>
            </a:pPr>
            <a:r>
              <a:rPr sz="1150" b="0">
                <a:solidFill>
                  <a:srgbClr val="58595B"/>
                </a:solidFill>
                <a:latin typeface="IBM Plex Sans"/>
              </a:rPr>
              <a:t/>
            </a:r>
          </a:p>
          <a:p>
            <a:pPr algn="l">
              <a:lnSpc>
                <a:spcPct val="105000"/>
              </a:lnSpc>
              <a:spcBef>
                <a:spcPts val="300"/>
              </a:spcBef>
              <a:spcAft>
                <a:spcPts val="0"/>
              </a:spcAft>
            </a:pPr>
            <a:r>
              <a:rPr sz="1150" b="0">
                <a:solidFill>
                  <a:srgbClr val="58595B"/>
                </a:solidFill>
                <a:latin typeface="IBM Plex Sans"/>
              </a:rPr>
              <a:t>Vantage hat das grösste Potenzial (700k CHF), aber nur 10 % Wahrscheinlichkeit.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1056" y="365760"/>
            <a:ext cx="8183879" cy="274320"/>
          </a:xfrm>
          <a:prstGeom prst="rect">
            <a:avLst/>
          </a:prstGeom>
          <a:noFill/>
        </p:spPr>
        <p:txBody>
          <a:bodyPr wrap="square" lIns="0" rIns="0" tIns="0" bIns="0" anchor="t">
            <a:spAutoFit/>
          </a:bodyPr>
          <a:lstStyle/>
          <a:p>
            <a:pPr algn="l"/>
            <a:r>
              <a:rPr sz="1050" b="1" spc="160" cap="all">
                <a:solidFill>
                  <a:srgbClr val="E00036"/>
                </a:solidFill>
                <a:latin typeface="IBM Plex Sans"/>
              </a:rPr>
              <a:t>07 · Produktbedarf</a:t>
            </a:r>
          </a:p>
        </p:txBody>
      </p:sp>
      <p:sp>
        <p:nvSpPr>
          <p:cNvPr id="3" name="TextBox 2"/>
          <p:cNvSpPr txBox="1"/>
          <p:nvPr/>
        </p:nvSpPr>
        <p:spPr>
          <a:xfrm>
            <a:off x="1591056" y="658368"/>
            <a:ext cx="8183879" cy="914400"/>
          </a:xfrm>
          <a:prstGeom prst="rect">
            <a:avLst/>
          </a:prstGeom>
          <a:noFill/>
        </p:spPr>
        <p:txBody>
          <a:bodyPr wrap="square" lIns="0" rIns="0" tIns="0" bIns="0" anchor="t">
            <a:spAutoFit/>
          </a:bodyPr>
          <a:lstStyle/>
          <a:p>
            <a:pPr algn="l">
              <a:lnSpc>
                <a:spcPct val="94000"/>
              </a:lnSpc>
            </a:pPr>
            <a:r>
              <a:rPr sz="2600" b="0">
                <a:solidFill>
                  <a:srgbClr val="000000"/>
                </a:solidFill>
                <a:latin typeface="Alata"/>
              </a:rPr>
              <a:t>Was die Top-Player an Power brauchen</a:t>
            </a:r>
          </a:p>
        </p:txBody>
      </p:sp>
      <p:sp>
        <p:nvSpPr>
          <p:cNvPr id="4" name="Rectangle 3"/>
          <p:cNvSpPr/>
          <p:nvPr/>
        </p:nvSpPr>
        <p:spPr>
          <a:xfrm>
            <a:off x="1591056" y="1572768"/>
            <a:ext cx="100584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91056" y="6355080"/>
            <a:ext cx="7863840" cy="256032"/>
          </a:xfrm>
          <a:prstGeom prst="rect">
            <a:avLst/>
          </a:prstGeom>
          <a:noFill/>
        </p:spPr>
        <p:txBody>
          <a:bodyPr wrap="square" lIns="0" rIns="0" tIns="0" bIns="0" anchor="t">
            <a:spAutoFit/>
          </a:bodyPr>
          <a:lstStyle/>
          <a:p>
            <a:pPr algn="l"/>
            <a:r>
              <a:rPr sz="850" b="0">
                <a:solidFill>
                  <a:srgbClr val="58595B"/>
                </a:solidFill>
                <a:latin typeface="IBM Plex Sans"/>
              </a:rPr>
              <a:t>MiT Strom CH · Top-Player Power 2027 · intern · 27.09.2026</a:t>
            </a:r>
          </a:p>
        </p:txBody>
      </p:sp>
      <p:sp>
        <p:nvSpPr>
          <p:cNvPr id="6" name="TextBox 5"/>
          <p:cNvSpPr txBox="1"/>
          <p:nvPr/>
        </p:nvSpPr>
        <p:spPr>
          <a:xfrm>
            <a:off x="10149840" y="6355080"/>
            <a:ext cx="914400" cy="256032"/>
          </a:xfrm>
          <a:prstGeom prst="rect">
            <a:avLst/>
          </a:prstGeom>
          <a:noFill/>
        </p:spPr>
        <p:txBody>
          <a:bodyPr wrap="square" lIns="0" rIns="0" tIns="0" bIns="0" anchor="t">
            <a:spAutoFit/>
          </a:bodyPr>
          <a:lstStyle/>
          <a:p>
            <a:pPr algn="r"/>
            <a:r>
              <a:rPr sz="850" b="0">
                <a:solidFill>
                  <a:srgbClr val="58595B"/>
                </a:solidFill>
                <a:latin typeface="IBM Plex Sans"/>
              </a:rPr>
              <a:t>8</a:t>
            </a:r>
          </a:p>
        </p:txBody>
      </p:sp>
      <p:sp>
        <p:nvSpPr>
          <p:cNvPr id="7" name="TextBox 6"/>
          <p:cNvSpPr txBox="1"/>
          <p:nvPr/>
        </p:nvSpPr>
        <p:spPr>
          <a:xfrm>
            <a:off x="2578608" y="1783080"/>
            <a:ext cx="1417320" cy="320040"/>
          </a:xfrm>
          <a:prstGeom prst="rect">
            <a:avLst/>
          </a:prstGeom>
          <a:noFill/>
        </p:spPr>
        <p:txBody>
          <a:bodyPr wrap="square" lIns="0" rIns="0" tIns="0" bIns="0" anchor="t">
            <a:spAutoFit/>
          </a:bodyPr>
          <a:lstStyle/>
          <a:p>
            <a:pPr algn="ctr">
              <a:lnSpc>
                <a:spcPct val="105000"/>
              </a:lnSpc>
              <a:spcBef>
                <a:spcPts val="0"/>
              </a:spcBef>
              <a:spcAft>
                <a:spcPts val="0"/>
              </a:spcAft>
            </a:pPr>
            <a:r>
              <a:rPr sz="1100" b="1">
                <a:solidFill>
                  <a:srgbClr val="000000"/>
                </a:solidFill>
                <a:latin typeface="IBM Plex Sans"/>
              </a:rPr>
              <a:t>Generator</a:t>
            </a:r>
          </a:p>
        </p:txBody>
      </p:sp>
      <p:sp>
        <p:nvSpPr>
          <p:cNvPr id="8" name="TextBox 7"/>
          <p:cNvSpPr txBox="1"/>
          <p:nvPr/>
        </p:nvSpPr>
        <p:spPr>
          <a:xfrm>
            <a:off x="4041648" y="1783080"/>
            <a:ext cx="1417320" cy="320040"/>
          </a:xfrm>
          <a:prstGeom prst="rect">
            <a:avLst/>
          </a:prstGeom>
          <a:noFill/>
        </p:spPr>
        <p:txBody>
          <a:bodyPr wrap="square" lIns="0" rIns="0" tIns="0" bIns="0" anchor="t">
            <a:spAutoFit/>
          </a:bodyPr>
          <a:lstStyle/>
          <a:p>
            <a:pPr algn="ctr">
              <a:lnSpc>
                <a:spcPct val="105000"/>
              </a:lnSpc>
              <a:spcBef>
                <a:spcPts val="0"/>
              </a:spcBef>
              <a:spcAft>
                <a:spcPts val="0"/>
              </a:spcAft>
            </a:pPr>
            <a:r>
              <a:rPr sz="1100" b="1">
                <a:solidFill>
                  <a:srgbClr val="000000"/>
                </a:solidFill>
                <a:latin typeface="IBM Plex Sans"/>
              </a:rPr>
              <a:t>Lastbank</a:t>
            </a:r>
          </a:p>
        </p:txBody>
      </p:sp>
      <p:sp>
        <p:nvSpPr>
          <p:cNvPr id="9" name="TextBox 8"/>
          <p:cNvSpPr txBox="1"/>
          <p:nvPr/>
        </p:nvSpPr>
        <p:spPr>
          <a:xfrm>
            <a:off x="5504688" y="1783080"/>
            <a:ext cx="1417320" cy="320040"/>
          </a:xfrm>
          <a:prstGeom prst="rect">
            <a:avLst/>
          </a:prstGeom>
          <a:noFill/>
        </p:spPr>
        <p:txBody>
          <a:bodyPr wrap="square" lIns="0" rIns="0" tIns="0" bIns="0" anchor="t">
            <a:spAutoFit/>
          </a:bodyPr>
          <a:lstStyle/>
          <a:p>
            <a:pPr algn="ctr">
              <a:lnSpc>
                <a:spcPct val="105000"/>
              </a:lnSpc>
              <a:spcBef>
                <a:spcPts val="0"/>
              </a:spcBef>
              <a:spcAft>
                <a:spcPts val="0"/>
              </a:spcAft>
            </a:pPr>
            <a:r>
              <a:rPr sz="1100" b="1">
                <a:solidFill>
                  <a:srgbClr val="000000"/>
                </a:solidFill>
                <a:latin typeface="IBM Plex Sans"/>
              </a:rPr>
              <a:t>BESS</a:t>
            </a:r>
          </a:p>
        </p:txBody>
      </p:sp>
      <p:sp>
        <p:nvSpPr>
          <p:cNvPr id="10" name="TextBox 9"/>
          <p:cNvSpPr txBox="1"/>
          <p:nvPr/>
        </p:nvSpPr>
        <p:spPr>
          <a:xfrm>
            <a:off x="6967728" y="1783080"/>
            <a:ext cx="1417320" cy="320040"/>
          </a:xfrm>
          <a:prstGeom prst="rect">
            <a:avLst/>
          </a:prstGeom>
          <a:noFill/>
        </p:spPr>
        <p:txBody>
          <a:bodyPr wrap="square" lIns="0" rIns="0" tIns="0" bIns="0" anchor="t">
            <a:spAutoFit/>
          </a:bodyPr>
          <a:lstStyle/>
          <a:p>
            <a:pPr algn="ctr">
              <a:lnSpc>
                <a:spcPct val="105000"/>
              </a:lnSpc>
              <a:spcBef>
                <a:spcPts val="0"/>
              </a:spcBef>
              <a:spcAft>
                <a:spcPts val="0"/>
              </a:spcAft>
            </a:pPr>
            <a:r>
              <a:rPr sz="1100" b="1">
                <a:solidFill>
                  <a:srgbClr val="000000"/>
                </a:solidFill>
                <a:latin typeface="IBM Plex Sans"/>
              </a:rPr>
              <a:t>Mobiler Trafo</a:t>
            </a:r>
          </a:p>
        </p:txBody>
      </p:sp>
      <p:sp>
        <p:nvSpPr>
          <p:cNvPr id="11" name="TextBox 10"/>
          <p:cNvSpPr txBox="1"/>
          <p:nvPr/>
        </p:nvSpPr>
        <p:spPr>
          <a:xfrm>
            <a:off x="8430768" y="1783080"/>
            <a:ext cx="1417320" cy="320040"/>
          </a:xfrm>
          <a:prstGeom prst="rect">
            <a:avLst/>
          </a:prstGeom>
          <a:noFill/>
        </p:spPr>
        <p:txBody>
          <a:bodyPr wrap="square" lIns="0" rIns="0" tIns="0" bIns="0" anchor="t">
            <a:spAutoFit/>
          </a:bodyPr>
          <a:lstStyle/>
          <a:p>
            <a:pPr algn="ctr">
              <a:lnSpc>
                <a:spcPct val="105000"/>
              </a:lnSpc>
              <a:spcBef>
                <a:spcPts val="0"/>
              </a:spcBef>
              <a:spcAft>
                <a:spcPts val="0"/>
              </a:spcAft>
            </a:pPr>
            <a:r>
              <a:rPr sz="1100" b="1">
                <a:solidFill>
                  <a:srgbClr val="000000"/>
                </a:solidFill>
                <a:latin typeface="IBM Plex Sans"/>
              </a:rPr>
              <a:t>NEA-Test / USV</a:t>
            </a:r>
          </a:p>
        </p:txBody>
      </p:sp>
      <p:sp>
        <p:nvSpPr>
          <p:cNvPr id="12" name="TextBox 11"/>
          <p:cNvSpPr txBox="1"/>
          <p:nvPr/>
        </p:nvSpPr>
        <p:spPr>
          <a:xfrm>
            <a:off x="9893808" y="1783080"/>
            <a:ext cx="1417320" cy="320040"/>
          </a:xfrm>
          <a:prstGeom prst="rect">
            <a:avLst/>
          </a:prstGeom>
          <a:noFill/>
        </p:spPr>
        <p:txBody>
          <a:bodyPr wrap="square" lIns="0" rIns="0" tIns="0" bIns="0" anchor="t">
            <a:spAutoFit/>
          </a:bodyPr>
          <a:lstStyle/>
          <a:p>
            <a:pPr algn="ctr">
              <a:lnSpc>
                <a:spcPct val="105000"/>
              </a:lnSpc>
              <a:spcBef>
                <a:spcPts val="0"/>
              </a:spcBef>
              <a:spcAft>
                <a:spcPts val="0"/>
              </a:spcAft>
            </a:pPr>
            <a:r>
              <a:rPr sz="1100" b="1">
                <a:solidFill>
                  <a:srgbClr val="000000"/>
                </a:solidFill>
                <a:latin typeface="IBM Plex Sans"/>
              </a:rPr>
              <a:t>Tank / HVO</a:t>
            </a:r>
          </a:p>
        </p:txBody>
      </p:sp>
      <p:sp>
        <p:nvSpPr>
          <p:cNvPr id="13" name="TextBox 12"/>
          <p:cNvSpPr txBox="1"/>
          <p:nvPr/>
        </p:nvSpPr>
        <p:spPr>
          <a:xfrm>
            <a:off x="429768" y="2258568"/>
            <a:ext cx="2103120" cy="320040"/>
          </a:xfrm>
          <a:prstGeom prst="rect">
            <a:avLst/>
          </a:prstGeom>
          <a:noFill/>
        </p:spPr>
        <p:txBody>
          <a:bodyPr wrap="square" lIns="0" rIns="0" tIns="0" bIns="0" anchor="t">
            <a:spAutoFit/>
          </a:bodyPr>
          <a:lstStyle/>
          <a:p>
            <a:pPr algn="l">
              <a:lnSpc>
                <a:spcPct val="105000"/>
              </a:lnSpc>
              <a:spcBef>
                <a:spcPts val="0"/>
              </a:spcBef>
              <a:spcAft>
                <a:spcPts val="0"/>
              </a:spcAft>
            </a:pPr>
            <a:r>
              <a:rPr sz="1200" b="1">
                <a:solidFill>
                  <a:srgbClr val="000000"/>
                </a:solidFill>
                <a:latin typeface="IBM Plex Sans"/>
              </a:rPr>
              <a:t>Rechenzentren</a:t>
            </a:r>
          </a:p>
        </p:txBody>
      </p:sp>
      <p:sp>
        <p:nvSpPr>
          <p:cNvPr id="14" name="Rectangle 13"/>
          <p:cNvSpPr/>
          <p:nvPr/>
        </p:nvSpPr>
        <p:spPr>
          <a:xfrm>
            <a:off x="2578608" y="2148840"/>
            <a:ext cx="1417320" cy="47548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041648" y="2148840"/>
            <a:ext cx="1417320" cy="47548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504688" y="2148840"/>
            <a:ext cx="1417320" cy="475488"/>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967728" y="2148840"/>
            <a:ext cx="1417320" cy="475488"/>
          </a:xfrm>
          <a:prstGeom prst="rect">
            <a:avLst/>
          </a:prstGeom>
          <a:solidFill>
            <a:srgbClr val="BDB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430768" y="2148840"/>
            <a:ext cx="1417320" cy="47548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9893808" y="2148840"/>
            <a:ext cx="1417320" cy="475488"/>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29768" y="2779776"/>
            <a:ext cx="2103120" cy="320040"/>
          </a:xfrm>
          <a:prstGeom prst="rect">
            <a:avLst/>
          </a:prstGeom>
          <a:noFill/>
        </p:spPr>
        <p:txBody>
          <a:bodyPr wrap="square" lIns="0" rIns="0" tIns="0" bIns="0" anchor="t">
            <a:spAutoFit/>
          </a:bodyPr>
          <a:lstStyle/>
          <a:p>
            <a:pPr algn="l">
              <a:lnSpc>
                <a:spcPct val="105000"/>
              </a:lnSpc>
              <a:spcBef>
                <a:spcPts val="0"/>
              </a:spcBef>
              <a:spcAft>
                <a:spcPts val="0"/>
              </a:spcAft>
            </a:pPr>
            <a:r>
              <a:rPr sz="1200" b="1">
                <a:solidFill>
                  <a:srgbClr val="000000"/>
                </a:solidFill>
                <a:latin typeface="IBM Plex Sans"/>
              </a:rPr>
              <a:t>Infrastruktur</a:t>
            </a:r>
          </a:p>
        </p:txBody>
      </p:sp>
      <p:sp>
        <p:nvSpPr>
          <p:cNvPr id="21" name="Rectangle 20"/>
          <p:cNvSpPr/>
          <p:nvPr/>
        </p:nvSpPr>
        <p:spPr>
          <a:xfrm>
            <a:off x="2578608" y="2670048"/>
            <a:ext cx="1417320" cy="47548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4041648" y="2670048"/>
            <a:ext cx="141732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5504688" y="2670048"/>
            <a:ext cx="1417320" cy="475488"/>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967728" y="2670048"/>
            <a:ext cx="1417320" cy="475488"/>
          </a:xfrm>
          <a:prstGeom prst="rect">
            <a:avLst/>
          </a:prstGeom>
          <a:solidFill>
            <a:srgbClr val="BDB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430768" y="2670048"/>
            <a:ext cx="141732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9893808" y="2670048"/>
            <a:ext cx="1417320" cy="47548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29768" y="3300984"/>
            <a:ext cx="2103120" cy="320040"/>
          </a:xfrm>
          <a:prstGeom prst="rect">
            <a:avLst/>
          </a:prstGeom>
          <a:noFill/>
        </p:spPr>
        <p:txBody>
          <a:bodyPr wrap="square" lIns="0" rIns="0" tIns="0" bIns="0" anchor="t">
            <a:spAutoFit/>
          </a:bodyPr>
          <a:lstStyle/>
          <a:p>
            <a:pPr algn="l">
              <a:lnSpc>
                <a:spcPct val="105000"/>
              </a:lnSpc>
              <a:spcBef>
                <a:spcPts val="0"/>
              </a:spcBef>
              <a:spcAft>
                <a:spcPts val="0"/>
              </a:spcAft>
            </a:pPr>
            <a:r>
              <a:rPr sz="1200" b="1">
                <a:solidFill>
                  <a:srgbClr val="000000"/>
                </a:solidFill>
                <a:latin typeface="IBM Plex Sans"/>
              </a:rPr>
              <a:t>Netz / Unterwerk</a:t>
            </a:r>
          </a:p>
        </p:txBody>
      </p:sp>
      <p:sp>
        <p:nvSpPr>
          <p:cNvPr id="28" name="Rectangle 27"/>
          <p:cNvSpPr/>
          <p:nvPr/>
        </p:nvSpPr>
        <p:spPr>
          <a:xfrm>
            <a:off x="2578608" y="3191256"/>
            <a:ext cx="1417320" cy="47548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041648" y="3191256"/>
            <a:ext cx="141732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5504688" y="3191256"/>
            <a:ext cx="1417320" cy="475488"/>
          </a:xfrm>
          <a:prstGeom prst="rect">
            <a:avLst/>
          </a:prstGeom>
          <a:solidFill>
            <a:srgbClr val="BDB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967728" y="3191256"/>
            <a:ext cx="1417320" cy="47548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8430768" y="3191256"/>
            <a:ext cx="1417320" cy="475488"/>
          </a:xfrm>
          <a:prstGeom prst="rect">
            <a:avLst/>
          </a:prstGeom>
          <a:solidFill>
            <a:srgbClr val="BDB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9893808" y="3191256"/>
            <a:ext cx="1417320" cy="475488"/>
          </a:xfrm>
          <a:prstGeom prst="rect">
            <a:avLst/>
          </a:prstGeom>
          <a:solidFill>
            <a:srgbClr val="BDB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29768" y="3822192"/>
            <a:ext cx="2103120" cy="320040"/>
          </a:xfrm>
          <a:prstGeom prst="rect">
            <a:avLst/>
          </a:prstGeom>
          <a:noFill/>
        </p:spPr>
        <p:txBody>
          <a:bodyPr wrap="square" lIns="0" rIns="0" tIns="0" bIns="0" anchor="t">
            <a:spAutoFit/>
          </a:bodyPr>
          <a:lstStyle/>
          <a:p>
            <a:pPr algn="l">
              <a:lnSpc>
                <a:spcPct val="105000"/>
              </a:lnSpc>
              <a:spcBef>
                <a:spcPts val="0"/>
              </a:spcBef>
              <a:spcAft>
                <a:spcPts val="0"/>
              </a:spcAft>
            </a:pPr>
            <a:r>
              <a:rPr sz="1200" b="1">
                <a:solidFill>
                  <a:srgbClr val="000000"/>
                </a:solidFill>
                <a:latin typeface="IBM Plex Sans"/>
              </a:rPr>
              <a:t>Spitäler</a:t>
            </a:r>
          </a:p>
        </p:txBody>
      </p:sp>
      <p:sp>
        <p:nvSpPr>
          <p:cNvPr id="35" name="Rectangle 34"/>
          <p:cNvSpPr/>
          <p:nvPr/>
        </p:nvSpPr>
        <p:spPr>
          <a:xfrm>
            <a:off x="2578608" y="3712464"/>
            <a:ext cx="1417320" cy="475488"/>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4041648" y="3712464"/>
            <a:ext cx="1417320" cy="475488"/>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5504688" y="3712464"/>
            <a:ext cx="1417320" cy="475488"/>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6967728" y="3712464"/>
            <a:ext cx="1417320" cy="475488"/>
          </a:xfrm>
          <a:prstGeom prst="rect">
            <a:avLst/>
          </a:prstGeom>
          <a:solidFill>
            <a:srgbClr val="BDB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8430768" y="3712464"/>
            <a:ext cx="1417320" cy="47548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9893808" y="3712464"/>
            <a:ext cx="1417320" cy="475488"/>
          </a:xfrm>
          <a:prstGeom prst="rect">
            <a:avLst/>
          </a:prstGeom>
          <a:solidFill>
            <a:srgbClr val="BDB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29768" y="4343400"/>
            <a:ext cx="2103120" cy="320040"/>
          </a:xfrm>
          <a:prstGeom prst="rect">
            <a:avLst/>
          </a:prstGeom>
          <a:noFill/>
        </p:spPr>
        <p:txBody>
          <a:bodyPr wrap="square" lIns="0" rIns="0" tIns="0" bIns="0" anchor="t">
            <a:spAutoFit/>
          </a:bodyPr>
          <a:lstStyle/>
          <a:p>
            <a:pPr algn="l">
              <a:lnSpc>
                <a:spcPct val="105000"/>
              </a:lnSpc>
              <a:spcBef>
                <a:spcPts val="0"/>
              </a:spcBef>
              <a:spcAft>
                <a:spcPts val="0"/>
              </a:spcAft>
            </a:pPr>
            <a:r>
              <a:rPr sz="1200" b="1">
                <a:solidFill>
                  <a:srgbClr val="000000"/>
                </a:solidFill>
                <a:latin typeface="IBM Plex Sans"/>
              </a:rPr>
              <a:t>Industrie</a:t>
            </a:r>
          </a:p>
        </p:txBody>
      </p:sp>
      <p:sp>
        <p:nvSpPr>
          <p:cNvPr id="42" name="Rectangle 41"/>
          <p:cNvSpPr/>
          <p:nvPr/>
        </p:nvSpPr>
        <p:spPr>
          <a:xfrm>
            <a:off x="2578608" y="4233672"/>
            <a:ext cx="1417320" cy="47548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4041648" y="4233672"/>
            <a:ext cx="1417320" cy="475488"/>
          </a:xfrm>
          <a:prstGeom prst="rect">
            <a:avLst/>
          </a:prstGeom>
          <a:solidFill>
            <a:srgbClr val="BDB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5504688" y="4233672"/>
            <a:ext cx="1417320" cy="475488"/>
          </a:xfrm>
          <a:prstGeom prst="rect">
            <a:avLst/>
          </a:prstGeom>
          <a:solidFill>
            <a:srgbClr val="BDB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6967728" y="4233672"/>
            <a:ext cx="1417320" cy="475488"/>
          </a:xfrm>
          <a:prstGeom prst="rect">
            <a:avLst/>
          </a:prstGeom>
          <a:solidFill>
            <a:srgbClr val="BDB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8430768" y="4233672"/>
            <a:ext cx="1417320" cy="475488"/>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9893808" y="4233672"/>
            <a:ext cx="1417320" cy="475488"/>
          </a:xfrm>
          <a:prstGeom prst="rect">
            <a:avLst/>
          </a:prstGeom>
          <a:solidFill>
            <a:srgbClr val="BDB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429768" y="4864608"/>
            <a:ext cx="2103120" cy="320040"/>
          </a:xfrm>
          <a:prstGeom prst="rect">
            <a:avLst/>
          </a:prstGeom>
          <a:noFill/>
        </p:spPr>
        <p:txBody>
          <a:bodyPr wrap="square" lIns="0" rIns="0" tIns="0" bIns="0" anchor="t">
            <a:spAutoFit/>
          </a:bodyPr>
          <a:lstStyle/>
          <a:p>
            <a:pPr algn="l">
              <a:lnSpc>
                <a:spcPct val="105000"/>
              </a:lnSpc>
              <a:spcBef>
                <a:spcPts val="0"/>
              </a:spcBef>
              <a:spcAft>
                <a:spcPts val="0"/>
              </a:spcAft>
            </a:pPr>
            <a:r>
              <a:rPr sz="1200" b="1">
                <a:solidFill>
                  <a:srgbClr val="000000"/>
                </a:solidFill>
                <a:latin typeface="IBM Plex Sans"/>
              </a:rPr>
              <a:t>Events</a:t>
            </a:r>
          </a:p>
        </p:txBody>
      </p:sp>
      <p:sp>
        <p:nvSpPr>
          <p:cNvPr id="49" name="Rectangle 48"/>
          <p:cNvSpPr/>
          <p:nvPr/>
        </p:nvSpPr>
        <p:spPr>
          <a:xfrm>
            <a:off x="2578608" y="4754880"/>
            <a:ext cx="1417320" cy="47548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4041648" y="4754880"/>
            <a:ext cx="141732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5504688" y="4754880"/>
            <a:ext cx="1417320" cy="47548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6967728" y="4754880"/>
            <a:ext cx="141732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8430768" y="4754880"/>
            <a:ext cx="141732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9893808" y="4754880"/>
            <a:ext cx="1417320" cy="475488"/>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429768" y="5385816"/>
            <a:ext cx="2103120" cy="320040"/>
          </a:xfrm>
          <a:prstGeom prst="rect">
            <a:avLst/>
          </a:prstGeom>
          <a:noFill/>
        </p:spPr>
        <p:txBody>
          <a:bodyPr wrap="square" lIns="0" rIns="0" tIns="0" bIns="0" anchor="t">
            <a:spAutoFit/>
          </a:bodyPr>
          <a:lstStyle/>
          <a:p>
            <a:pPr algn="l">
              <a:lnSpc>
                <a:spcPct val="105000"/>
              </a:lnSpc>
              <a:spcBef>
                <a:spcPts val="0"/>
              </a:spcBef>
              <a:spcAft>
                <a:spcPts val="0"/>
              </a:spcAft>
            </a:pPr>
            <a:r>
              <a:rPr sz="1200" b="1">
                <a:solidFill>
                  <a:srgbClr val="000000"/>
                </a:solidFill>
                <a:latin typeface="IBM Plex Sans"/>
              </a:rPr>
              <a:t>Kanal-Partner</a:t>
            </a:r>
          </a:p>
        </p:txBody>
      </p:sp>
      <p:sp>
        <p:nvSpPr>
          <p:cNvPr id="56" name="Rectangle 55"/>
          <p:cNvSpPr/>
          <p:nvPr/>
        </p:nvSpPr>
        <p:spPr>
          <a:xfrm>
            <a:off x="2578608" y="5276088"/>
            <a:ext cx="1417320" cy="47548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4041648" y="5276088"/>
            <a:ext cx="1417320" cy="475488"/>
          </a:xfrm>
          <a:prstGeom prst="rect">
            <a:avLst/>
          </a:prstGeom>
          <a:solidFill>
            <a:srgbClr val="BDB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5504688" y="5276088"/>
            <a:ext cx="1417320" cy="475488"/>
          </a:xfrm>
          <a:prstGeom prst="rect">
            <a:avLst/>
          </a:prstGeom>
          <a:solidFill>
            <a:srgbClr val="BDB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6967728" y="5276088"/>
            <a:ext cx="1417320" cy="475488"/>
          </a:xfrm>
          <a:prstGeom prst="rect">
            <a:avLst/>
          </a:prstGeom>
          <a:solidFill>
            <a:srgbClr val="BDB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8430768" y="5276088"/>
            <a:ext cx="1417320" cy="475488"/>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9893808" y="5276088"/>
            <a:ext cx="1417320" cy="475488"/>
          </a:xfrm>
          <a:prstGeom prst="rect">
            <a:avLst/>
          </a:prstGeom>
          <a:solidFill>
            <a:srgbClr val="BDB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ectangle 61"/>
          <p:cNvSpPr/>
          <p:nvPr/>
        </p:nvSpPr>
        <p:spPr>
          <a:xfrm>
            <a:off x="2578608" y="5934456"/>
            <a:ext cx="274320" cy="20116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2944368" y="5916168"/>
            <a:ext cx="1371600" cy="274320"/>
          </a:xfrm>
          <a:prstGeom prst="rect">
            <a:avLst/>
          </a:prstGeom>
          <a:noFill/>
        </p:spPr>
        <p:txBody>
          <a:bodyPr wrap="square" lIns="0" rIns="0" tIns="0" bIns="0" anchor="t">
            <a:spAutoFit/>
          </a:bodyPr>
          <a:lstStyle/>
          <a:p>
            <a:pPr algn="l">
              <a:lnSpc>
                <a:spcPct val="105000"/>
              </a:lnSpc>
              <a:spcBef>
                <a:spcPts val="0"/>
              </a:spcBef>
              <a:spcAft>
                <a:spcPts val="0"/>
              </a:spcAft>
            </a:pPr>
            <a:r>
              <a:rPr sz="1050" b="0">
                <a:solidFill>
                  <a:srgbClr val="58595B"/>
                </a:solidFill>
                <a:latin typeface="IBM Plex Sans"/>
              </a:rPr>
              <a:t>Kernbedarf</a:t>
            </a:r>
          </a:p>
        </p:txBody>
      </p:sp>
      <p:sp>
        <p:nvSpPr>
          <p:cNvPr id="64" name="Rectangle 63"/>
          <p:cNvSpPr/>
          <p:nvPr/>
        </p:nvSpPr>
        <p:spPr>
          <a:xfrm>
            <a:off x="4407408" y="5934456"/>
            <a:ext cx="274320" cy="201168"/>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4773168" y="5916168"/>
            <a:ext cx="1371600" cy="274320"/>
          </a:xfrm>
          <a:prstGeom prst="rect">
            <a:avLst/>
          </a:prstGeom>
          <a:noFill/>
        </p:spPr>
        <p:txBody>
          <a:bodyPr wrap="square" lIns="0" rIns="0" tIns="0" bIns="0" anchor="t">
            <a:spAutoFit/>
          </a:bodyPr>
          <a:lstStyle/>
          <a:p>
            <a:pPr algn="l">
              <a:lnSpc>
                <a:spcPct val="105000"/>
              </a:lnSpc>
              <a:spcBef>
                <a:spcPts val="0"/>
              </a:spcBef>
              <a:spcAft>
                <a:spcPts val="0"/>
              </a:spcAft>
            </a:pPr>
            <a:r>
              <a:rPr sz="1050" b="0">
                <a:solidFill>
                  <a:srgbClr val="58595B"/>
                </a:solidFill>
                <a:latin typeface="IBM Plex Sans"/>
              </a:rPr>
              <a:t>häufig</a:t>
            </a:r>
          </a:p>
        </p:txBody>
      </p:sp>
      <p:sp>
        <p:nvSpPr>
          <p:cNvPr id="66" name="Rectangle 65"/>
          <p:cNvSpPr/>
          <p:nvPr/>
        </p:nvSpPr>
        <p:spPr>
          <a:xfrm>
            <a:off x="6236208" y="5934456"/>
            <a:ext cx="274320" cy="201168"/>
          </a:xfrm>
          <a:prstGeom prst="rect">
            <a:avLst/>
          </a:prstGeom>
          <a:solidFill>
            <a:srgbClr val="BDB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6601968" y="5916168"/>
            <a:ext cx="1371600" cy="274320"/>
          </a:xfrm>
          <a:prstGeom prst="rect">
            <a:avLst/>
          </a:prstGeom>
          <a:noFill/>
        </p:spPr>
        <p:txBody>
          <a:bodyPr wrap="square" lIns="0" rIns="0" tIns="0" bIns="0" anchor="t">
            <a:spAutoFit/>
          </a:bodyPr>
          <a:lstStyle/>
          <a:p>
            <a:pPr algn="l">
              <a:lnSpc>
                <a:spcPct val="105000"/>
              </a:lnSpc>
              <a:spcBef>
                <a:spcPts val="0"/>
              </a:spcBef>
              <a:spcAft>
                <a:spcPts val="0"/>
              </a:spcAft>
            </a:pPr>
            <a:r>
              <a:rPr sz="1050" b="0">
                <a:solidFill>
                  <a:srgbClr val="58595B"/>
                </a:solidFill>
                <a:latin typeface="IBM Plex Sans"/>
              </a:rPr>
              <a:t>gelegentlich</a:t>
            </a:r>
          </a:p>
        </p:txBody>
      </p:sp>
      <p:sp>
        <p:nvSpPr>
          <p:cNvPr id="68" name="Rectangle 67"/>
          <p:cNvSpPr/>
          <p:nvPr/>
        </p:nvSpPr>
        <p:spPr>
          <a:xfrm>
            <a:off x="8065008" y="5934456"/>
            <a:ext cx="274320" cy="2011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8430768" y="5916168"/>
            <a:ext cx="1371600" cy="274320"/>
          </a:xfrm>
          <a:prstGeom prst="rect">
            <a:avLst/>
          </a:prstGeom>
          <a:noFill/>
        </p:spPr>
        <p:txBody>
          <a:bodyPr wrap="square" lIns="0" rIns="0" tIns="0" bIns="0" anchor="t">
            <a:spAutoFit/>
          </a:bodyPr>
          <a:lstStyle/>
          <a:p>
            <a:pPr algn="l">
              <a:lnSpc>
                <a:spcPct val="105000"/>
              </a:lnSpc>
              <a:spcBef>
                <a:spcPts val="0"/>
              </a:spcBef>
              <a:spcAft>
                <a:spcPts val="0"/>
              </a:spcAft>
            </a:pPr>
            <a:r>
              <a:rPr sz="1050" b="0">
                <a:solidFill>
                  <a:srgbClr val="58595B"/>
                </a:solidFill>
                <a:latin typeface="IBM Plex Sans"/>
              </a:rPr>
              <a:t>kaum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1056" y="365760"/>
            <a:ext cx="8183879" cy="274320"/>
          </a:xfrm>
          <a:prstGeom prst="rect">
            <a:avLst/>
          </a:prstGeom>
          <a:noFill/>
        </p:spPr>
        <p:txBody>
          <a:bodyPr wrap="square" lIns="0" rIns="0" tIns="0" bIns="0" anchor="t">
            <a:spAutoFit/>
          </a:bodyPr>
          <a:lstStyle/>
          <a:p>
            <a:pPr algn="l"/>
            <a:r>
              <a:rPr sz="1050" b="1" spc="160" cap="all">
                <a:solidFill>
                  <a:srgbClr val="E00036"/>
                </a:solidFill>
                <a:latin typeface="IBM Plex Sans"/>
              </a:rPr>
              <a:t>08 · Rechenweg</a:t>
            </a:r>
          </a:p>
        </p:txBody>
      </p:sp>
      <p:sp>
        <p:nvSpPr>
          <p:cNvPr id="3" name="TextBox 2"/>
          <p:cNvSpPr txBox="1"/>
          <p:nvPr/>
        </p:nvSpPr>
        <p:spPr>
          <a:xfrm>
            <a:off x="1591056" y="658368"/>
            <a:ext cx="8183879" cy="914400"/>
          </a:xfrm>
          <a:prstGeom prst="rect">
            <a:avLst/>
          </a:prstGeom>
          <a:noFill/>
        </p:spPr>
        <p:txBody>
          <a:bodyPr wrap="square" lIns="0" rIns="0" tIns="0" bIns="0" anchor="t">
            <a:spAutoFit/>
          </a:bodyPr>
          <a:lstStyle/>
          <a:p>
            <a:pPr algn="l">
              <a:lnSpc>
                <a:spcPct val="94000"/>
              </a:lnSpc>
            </a:pPr>
            <a:r>
              <a:rPr sz="2800" b="0">
                <a:solidFill>
                  <a:srgbClr val="000000"/>
                </a:solidFill>
                <a:latin typeface="Alata"/>
              </a:rPr>
              <a:t>So entsteht jede Zahl in der Liste</a:t>
            </a:r>
          </a:p>
        </p:txBody>
      </p:sp>
      <p:sp>
        <p:nvSpPr>
          <p:cNvPr id="4" name="Rectangle 3"/>
          <p:cNvSpPr/>
          <p:nvPr/>
        </p:nvSpPr>
        <p:spPr>
          <a:xfrm>
            <a:off x="1591056" y="1572768"/>
            <a:ext cx="100584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91056" y="6355080"/>
            <a:ext cx="7863840" cy="256032"/>
          </a:xfrm>
          <a:prstGeom prst="rect">
            <a:avLst/>
          </a:prstGeom>
          <a:noFill/>
        </p:spPr>
        <p:txBody>
          <a:bodyPr wrap="square" lIns="0" rIns="0" tIns="0" bIns="0" anchor="t">
            <a:spAutoFit/>
          </a:bodyPr>
          <a:lstStyle/>
          <a:p>
            <a:pPr algn="l"/>
            <a:r>
              <a:rPr sz="850" b="0">
                <a:solidFill>
                  <a:srgbClr val="58595B"/>
                </a:solidFill>
                <a:latin typeface="IBM Plex Sans"/>
              </a:rPr>
              <a:t>MiT Strom CH · Top-Player Power 2027 · intern · 27.09.2026</a:t>
            </a:r>
          </a:p>
        </p:txBody>
      </p:sp>
      <p:sp>
        <p:nvSpPr>
          <p:cNvPr id="6" name="TextBox 5"/>
          <p:cNvSpPr txBox="1"/>
          <p:nvPr/>
        </p:nvSpPr>
        <p:spPr>
          <a:xfrm>
            <a:off x="10149840" y="6355080"/>
            <a:ext cx="914400" cy="256032"/>
          </a:xfrm>
          <a:prstGeom prst="rect">
            <a:avLst/>
          </a:prstGeom>
          <a:noFill/>
        </p:spPr>
        <p:txBody>
          <a:bodyPr wrap="square" lIns="0" rIns="0" tIns="0" bIns="0" anchor="t">
            <a:spAutoFit/>
          </a:bodyPr>
          <a:lstStyle/>
          <a:p>
            <a:pPr algn="r"/>
            <a:r>
              <a:rPr sz="850" b="0">
                <a:solidFill>
                  <a:srgbClr val="58595B"/>
                </a:solidFill>
                <a:latin typeface="IBM Plex Sans"/>
              </a:rPr>
              <a:t>9</a:t>
            </a:r>
          </a:p>
        </p:txBody>
      </p:sp>
      <p:sp>
        <p:nvSpPr>
          <p:cNvPr id="7" name="Rectangle 6"/>
          <p:cNvSpPr/>
          <p:nvPr/>
        </p:nvSpPr>
        <p:spPr>
          <a:xfrm>
            <a:off x="429768" y="1965960"/>
            <a:ext cx="2377440" cy="1188720"/>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12647" y="2103120"/>
            <a:ext cx="2011680" cy="320040"/>
          </a:xfrm>
          <a:prstGeom prst="rect">
            <a:avLst/>
          </a:prstGeom>
          <a:noFill/>
        </p:spPr>
        <p:txBody>
          <a:bodyPr wrap="square" lIns="0" rIns="0" tIns="0" bIns="0" anchor="t">
            <a:spAutoFit/>
          </a:bodyPr>
          <a:lstStyle/>
          <a:p>
            <a:pPr algn="l">
              <a:lnSpc>
                <a:spcPct val="105000"/>
              </a:lnSpc>
              <a:spcBef>
                <a:spcPts val="0"/>
              </a:spcBef>
              <a:spcAft>
                <a:spcPts val="0"/>
              </a:spcAft>
            </a:pPr>
            <a:r>
              <a:rPr sz="1400" b="1">
                <a:solidFill>
                  <a:srgbClr val="FFFFFF"/>
                </a:solidFill>
                <a:latin typeface="IBM Plex Sans"/>
              </a:rPr>
              <a:t>Generator</a:t>
            </a:r>
          </a:p>
        </p:txBody>
      </p:sp>
      <p:sp>
        <p:nvSpPr>
          <p:cNvPr id="9" name="TextBox 8"/>
          <p:cNvSpPr txBox="1"/>
          <p:nvPr/>
        </p:nvSpPr>
        <p:spPr>
          <a:xfrm>
            <a:off x="612647" y="2487168"/>
            <a:ext cx="2103120" cy="548640"/>
          </a:xfrm>
          <a:prstGeom prst="rect">
            <a:avLst/>
          </a:prstGeom>
          <a:noFill/>
        </p:spPr>
        <p:txBody>
          <a:bodyPr wrap="square" lIns="0" rIns="0" tIns="0" bIns="0" anchor="t">
            <a:spAutoFit/>
          </a:bodyPr>
          <a:lstStyle/>
          <a:p>
            <a:pPr algn="l">
              <a:lnSpc>
                <a:spcPct val="105000"/>
              </a:lnSpc>
              <a:spcBef>
                <a:spcPts val="0"/>
              </a:spcBef>
              <a:spcAft>
                <a:spcPts val="0"/>
              </a:spcAft>
            </a:pPr>
            <a:r>
              <a:rPr sz="1150" b="0">
                <a:solidFill>
                  <a:srgbClr val="E6E6E6"/>
                </a:solidFill>
                <a:latin typeface="IBM Plex Sans"/>
              </a:rPr>
              <a:t>MVA × Wochen × CHF 4'239</a:t>
            </a:r>
          </a:p>
        </p:txBody>
      </p:sp>
      <p:sp>
        <p:nvSpPr>
          <p:cNvPr id="10" name="TextBox 9"/>
          <p:cNvSpPr txBox="1"/>
          <p:nvPr/>
        </p:nvSpPr>
        <p:spPr>
          <a:xfrm>
            <a:off x="2807208" y="2240280"/>
            <a:ext cx="320040" cy="548640"/>
          </a:xfrm>
          <a:prstGeom prst="rect">
            <a:avLst/>
          </a:prstGeom>
          <a:noFill/>
        </p:spPr>
        <p:txBody>
          <a:bodyPr wrap="square" lIns="0" rIns="0" tIns="0" bIns="0" anchor="t">
            <a:spAutoFit/>
          </a:bodyPr>
          <a:lstStyle/>
          <a:p>
            <a:pPr algn="ctr">
              <a:lnSpc>
                <a:spcPct val="105000"/>
              </a:lnSpc>
              <a:spcBef>
                <a:spcPts val="0"/>
              </a:spcBef>
              <a:spcAft>
                <a:spcPts val="0"/>
              </a:spcAft>
            </a:pPr>
            <a:r>
              <a:rPr sz="2600" b="0">
                <a:solidFill>
                  <a:srgbClr val="58595B"/>
                </a:solidFill>
                <a:latin typeface="Alata"/>
              </a:rPr>
              <a:t>+</a:t>
            </a:r>
          </a:p>
        </p:txBody>
      </p:sp>
      <p:sp>
        <p:nvSpPr>
          <p:cNvPr id="11" name="Rectangle 10"/>
          <p:cNvSpPr/>
          <p:nvPr/>
        </p:nvSpPr>
        <p:spPr>
          <a:xfrm>
            <a:off x="3127248" y="1965960"/>
            <a:ext cx="2377440" cy="1188720"/>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310128" y="2103120"/>
            <a:ext cx="2011680" cy="320040"/>
          </a:xfrm>
          <a:prstGeom prst="rect">
            <a:avLst/>
          </a:prstGeom>
          <a:noFill/>
        </p:spPr>
        <p:txBody>
          <a:bodyPr wrap="square" lIns="0" rIns="0" tIns="0" bIns="0" anchor="t">
            <a:spAutoFit/>
          </a:bodyPr>
          <a:lstStyle/>
          <a:p>
            <a:pPr algn="l">
              <a:lnSpc>
                <a:spcPct val="105000"/>
              </a:lnSpc>
              <a:spcBef>
                <a:spcPts val="0"/>
              </a:spcBef>
              <a:spcAft>
                <a:spcPts val="0"/>
              </a:spcAft>
            </a:pPr>
            <a:r>
              <a:rPr sz="1400" b="1">
                <a:solidFill>
                  <a:srgbClr val="FFFFFF"/>
                </a:solidFill>
                <a:latin typeface="IBM Plex Sans"/>
              </a:rPr>
              <a:t>Lastbank</a:t>
            </a:r>
          </a:p>
        </p:txBody>
      </p:sp>
      <p:sp>
        <p:nvSpPr>
          <p:cNvPr id="13" name="TextBox 12"/>
          <p:cNvSpPr txBox="1"/>
          <p:nvPr/>
        </p:nvSpPr>
        <p:spPr>
          <a:xfrm>
            <a:off x="3310128" y="2487168"/>
            <a:ext cx="2103120" cy="548640"/>
          </a:xfrm>
          <a:prstGeom prst="rect">
            <a:avLst/>
          </a:prstGeom>
          <a:noFill/>
        </p:spPr>
        <p:txBody>
          <a:bodyPr wrap="square" lIns="0" rIns="0" tIns="0" bIns="0" anchor="t">
            <a:spAutoFit/>
          </a:bodyPr>
          <a:lstStyle/>
          <a:p>
            <a:pPr algn="l">
              <a:lnSpc>
                <a:spcPct val="105000"/>
              </a:lnSpc>
              <a:spcBef>
                <a:spcPts val="0"/>
              </a:spcBef>
              <a:spcAft>
                <a:spcPts val="0"/>
              </a:spcAft>
            </a:pPr>
            <a:r>
              <a:rPr sz="1150" b="0">
                <a:solidFill>
                  <a:srgbClr val="E6E6E6"/>
                </a:solidFill>
                <a:latin typeface="IBM Plex Sans"/>
              </a:rPr>
              <a:t>MW × Wochen × CHF 1'946</a:t>
            </a:r>
          </a:p>
        </p:txBody>
      </p:sp>
      <p:sp>
        <p:nvSpPr>
          <p:cNvPr id="14" name="TextBox 13"/>
          <p:cNvSpPr txBox="1"/>
          <p:nvPr/>
        </p:nvSpPr>
        <p:spPr>
          <a:xfrm>
            <a:off x="5504688" y="2240280"/>
            <a:ext cx="320040" cy="548640"/>
          </a:xfrm>
          <a:prstGeom prst="rect">
            <a:avLst/>
          </a:prstGeom>
          <a:noFill/>
        </p:spPr>
        <p:txBody>
          <a:bodyPr wrap="square" lIns="0" rIns="0" tIns="0" bIns="0" anchor="t">
            <a:spAutoFit/>
          </a:bodyPr>
          <a:lstStyle/>
          <a:p>
            <a:pPr algn="ctr">
              <a:lnSpc>
                <a:spcPct val="105000"/>
              </a:lnSpc>
              <a:spcBef>
                <a:spcPts val="0"/>
              </a:spcBef>
              <a:spcAft>
                <a:spcPts val="0"/>
              </a:spcAft>
            </a:pPr>
            <a:r>
              <a:rPr sz="2600" b="0">
                <a:solidFill>
                  <a:srgbClr val="58595B"/>
                </a:solidFill>
                <a:latin typeface="Alata"/>
              </a:rPr>
              <a:t>+</a:t>
            </a:r>
          </a:p>
        </p:txBody>
      </p:sp>
      <p:sp>
        <p:nvSpPr>
          <p:cNvPr id="15" name="Rectangle 14"/>
          <p:cNvSpPr/>
          <p:nvPr/>
        </p:nvSpPr>
        <p:spPr>
          <a:xfrm>
            <a:off x="5824728" y="1965960"/>
            <a:ext cx="2377440" cy="1188720"/>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007608" y="2103120"/>
            <a:ext cx="2011680" cy="320040"/>
          </a:xfrm>
          <a:prstGeom prst="rect">
            <a:avLst/>
          </a:prstGeom>
          <a:noFill/>
        </p:spPr>
        <p:txBody>
          <a:bodyPr wrap="square" lIns="0" rIns="0" tIns="0" bIns="0" anchor="t">
            <a:spAutoFit/>
          </a:bodyPr>
          <a:lstStyle/>
          <a:p>
            <a:pPr algn="l">
              <a:lnSpc>
                <a:spcPct val="105000"/>
              </a:lnSpc>
              <a:spcBef>
                <a:spcPts val="0"/>
              </a:spcBef>
              <a:spcAft>
                <a:spcPts val="0"/>
              </a:spcAft>
            </a:pPr>
            <a:r>
              <a:rPr sz="1400" b="1">
                <a:solidFill>
                  <a:srgbClr val="FFFFFF"/>
                </a:solidFill>
                <a:latin typeface="IBM Plex Sans"/>
              </a:rPr>
              <a:t>BESS</a:t>
            </a:r>
          </a:p>
        </p:txBody>
      </p:sp>
      <p:sp>
        <p:nvSpPr>
          <p:cNvPr id="17" name="TextBox 16"/>
          <p:cNvSpPr txBox="1"/>
          <p:nvPr/>
        </p:nvSpPr>
        <p:spPr>
          <a:xfrm>
            <a:off x="6007608" y="2487168"/>
            <a:ext cx="2103120" cy="548640"/>
          </a:xfrm>
          <a:prstGeom prst="rect">
            <a:avLst/>
          </a:prstGeom>
          <a:noFill/>
        </p:spPr>
        <p:txBody>
          <a:bodyPr wrap="square" lIns="0" rIns="0" tIns="0" bIns="0" anchor="t">
            <a:spAutoFit/>
          </a:bodyPr>
          <a:lstStyle/>
          <a:p>
            <a:pPr algn="l">
              <a:lnSpc>
                <a:spcPct val="105000"/>
              </a:lnSpc>
              <a:spcBef>
                <a:spcPts val="0"/>
              </a:spcBef>
              <a:spcAft>
                <a:spcPts val="0"/>
              </a:spcAft>
            </a:pPr>
            <a:r>
              <a:rPr sz="1150" b="0">
                <a:solidFill>
                  <a:srgbClr val="E6E6E6"/>
                </a:solidFill>
                <a:latin typeface="IBM Plex Sans"/>
              </a:rPr>
              <a:t>MW × Monate × CHF 24'840</a:t>
            </a:r>
          </a:p>
        </p:txBody>
      </p:sp>
      <p:sp>
        <p:nvSpPr>
          <p:cNvPr id="18" name="TextBox 17"/>
          <p:cNvSpPr txBox="1"/>
          <p:nvPr/>
        </p:nvSpPr>
        <p:spPr>
          <a:xfrm>
            <a:off x="8476488" y="2240280"/>
            <a:ext cx="365760" cy="548640"/>
          </a:xfrm>
          <a:prstGeom prst="rect">
            <a:avLst/>
          </a:prstGeom>
          <a:noFill/>
        </p:spPr>
        <p:txBody>
          <a:bodyPr wrap="square" lIns="0" rIns="0" tIns="0" bIns="0" anchor="t">
            <a:spAutoFit/>
          </a:bodyPr>
          <a:lstStyle/>
          <a:p>
            <a:pPr algn="ctr">
              <a:lnSpc>
                <a:spcPct val="105000"/>
              </a:lnSpc>
              <a:spcBef>
                <a:spcPts val="0"/>
              </a:spcBef>
              <a:spcAft>
                <a:spcPts val="0"/>
              </a:spcAft>
            </a:pPr>
            <a:r>
              <a:rPr sz="2600" b="0">
                <a:solidFill>
                  <a:srgbClr val="58595B"/>
                </a:solidFill>
                <a:latin typeface="Alata"/>
              </a:rPr>
              <a:t>=</a:t>
            </a:r>
          </a:p>
        </p:txBody>
      </p:sp>
      <p:sp>
        <p:nvSpPr>
          <p:cNvPr id="19" name="Rectangle 18"/>
          <p:cNvSpPr/>
          <p:nvPr/>
        </p:nvSpPr>
        <p:spPr>
          <a:xfrm>
            <a:off x="8933688" y="1965960"/>
            <a:ext cx="2404872" cy="1188720"/>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116568" y="2103120"/>
            <a:ext cx="2103120" cy="320040"/>
          </a:xfrm>
          <a:prstGeom prst="rect">
            <a:avLst/>
          </a:prstGeom>
          <a:noFill/>
        </p:spPr>
        <p:txBody>
          <a:bodyPr wrap="square" lIns="0" rIns="0" tIns="0" bIns="0" anchor="t">
            <a:spAutoFit/>
          </a:bodyPr>
          <a:lstStyle/>
          <a:p>
            <a:pPr algn="l">
              <a:lnSpc>
                <a:spcPct val="105000"/>
              </a:lnSpc>
              <a:spcBef>
                <a:spcPts val="0"/>
              </a:spcBef>
              <a:spcAft>
                <a:spcPts val="0"/>
              </a:spcAft>
            </a:pPr>
            <a:r>
              <a:rPr sz="1400" b="1">
                <a:solidFill>
                  <a:srgbClr val="FFFFFF"/>
                </a:solidFill>
                <a:latin typeface="IBM Plex Sans"/>
              </a:rPr>
              <a:t>Potenzial</a:t>
            </a:r>
          </a:p>
        </p:txBody>
      </p:sp>
      <p:sp>
        <p:nvSpPr>
          <p:cNvPr id="21" name="TextBox 20"/>
          <p:cNvSpPr txBox="1"/>
          <p:nvPr/>
        </p:nvSpPr>
        <p:spPr>
          <a:xfrm>
            <a:off x="9116568" y="2487168"/>
            <a:ext cx="2103120" cy="548640"/>
          </a:xfrm>
          <a:prstGeom prst="rect">
            <a:avLst/>
          </a:prstGeom>
          <a:noFill/>
        </p:spPr>
        <p:txBody>
          <a:bodyPr wrap="square" lIns="0" rIns="0" tIns="0" bIns="0" anchor="t">
            <a:spAutoFit/>
          </a:bodyPr>
          <a:lstStyle/>
          <a:p>
            <a:pPr algn="l">
              <a:lnSpc>
                <a:spcPct val="105000"/>
              </a:lnSpc>
              <a:spcBef>
                <a:spcPts val="0"/>
              </a:spcBef>
              <a:spcAft>
                <a:spcPts val="0"/>
              </a:spcAft>
            </a:pPr>
            <a:r>
              <a:rPr sz="1100" b="0">
                <a:solidFill>
                  <a:srgbClr val="FFFFFF"/>
                </a:solidFill>
                <a:latin typeface="IBM Plex Sans"/>
              </a:rPr>
              <a:t>× Anteil 2027 × Wahrscheinlichkeit = Erwartung</a:t>
            </a:r>
          </a:p>
        </p:txBody>
      </p:sp>
      <p:sp>
        <p:nvSpPr>
          <p:cNvPr id="22" name="Rectangle 21"/>
          <p:cNvSpPr/>
          <p:nvPr/>
        </p:nvSpPr>
        <p:spPr>
          <a:xfrm>
            <a:off x="429768" y="3429000"/>
            <a:ext cx="10908792" cy="1234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04088" y="3566160"/>
            <a:ext cx="10332720" cy="320040"/>
          </a:xfrm>
          <a:prstGeom prst="rect">
            <a:avLst/>
          </a:prstGeom>
          <a:noFill/>
        </p:spPr>
        <p:txBody>
          <a:bodyPr wrap="square" lIns="0" rIns="0" tIns="0" bIns="0" anchor="t">
            <a:spAutoFit/>
          </a:bodyPr>
          <a:lstStyle/>
          <a:p>
            <a:pPr algn="l">
              <a:lnSpc>
                <a:spcPct val="105000"/>
              </a:lnSpc>
              <a:spcBef>
                <a:spcPts val="0"/>
              </a:spcBef>
              <a:spcAft>
                <a:spcPts val="0"/>
              </a:spcAft>
            </a:pPr>
            <a:r>
              <a:rPr sz="1300" b="1">
                <a:solidFill>
                  <a:srgbClr val="000000"/>
                </a:solidFill>
                <a:latin typeface="IBM Plex Sans"/>
              </a:rPr>
              <a:t>Beispiel STACK Beringen</a:t>
            </a:r>
          </a:p>
        </p:txBody>
      </p:sp>
      <p:sp>
        <p:nvSpPr>
          <p:cNvPr id="24" name="TextBox 23"/>
          <p:cNvSpPr txBox="1"/>
          <p:nvPr/>
        </p:nvSpPr>
        <p:spPr>
          <a:xfrm>
            <a:off x="704088" y="3931920"/>
            <a:ext cx="10332720" cy="731520"/>
          </a:xfrm>
          <a:prstGeom prst="rect">
            <a:avLst/>
          </a:prstGeom>
          <a:noFill/>
        </p:spPr>
        <p:txBody>
          <a:bodyPr wrap="square" lIns="0" rIns="0" tIns="0" bIns="0" anchor="t">
            <a:spAutoFit/>
          </a:bodyPr>
          <a:lstStyle/>
          <a:p>
            <a:pPr algn="l">
              <a:lnSpc>
                <a:spcPct val="105000"/>
              </a:lnSpc>
              <a:spcBef>
                <a:spcPts val="0"/>
              </a:spcBef>
              <a:spcAft>
                <a:spcPts val="0"/>
              </a:spcAft>
            </a:pPr>
            <a:r>
              <a:rPr sz="1250" b="0">
                <a:solidFill>
                  <a:srgbClr val="58595B"/>
                </a:solidFill>
                <a:latin typeface="IBM Plex Sans"/>
              </a:rPr>
              <a:t>4 MVA × 8 Wochen Generator + 12 MW × 3 Wochen Lastbank = CHF 205'700 Potenzial.  × 60% in 2027 × 30% Gewinnchance = CHF 37'000 Erwartung 2027.</a:t>
            </a:r>
          </a:p>
        </p:txBody>
      </p:sp>
      <p:sp>
        <p:nvSpPr>
          <p:cNvPr id="25" name="Rectangle 24"/>
          <p:cNvSpPr/>
          <p:nvPr/>
        </p:nvSpPr>
        <p:spPr>
          <a:xfrm>
            <a:off x="429768" y="4892040"/>
            <a:ext cx="10908792" cy="1188720"/>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41247" y="5138927"/>
            <a:ext cx="10085832" cy="731520"/>
          </a:xfrm>
          <a:prstGeom prst="rect">
            <a:avLst/>
          </a:prstGeom>
          <a:noFill/>
        </p:spPr>
        <p:txBody>
          <a:bodyPr wrap="square" lIns="0" rIns="0" tIns="0" bIns="0" anchor="t">
            <a:spAutoFit/>
          </a:bodyPr>
          <a:lstStyle/>
          <a:p>
            <a:pPr algn="l">
              <a:lnSpc>
                <a:spcPct val="105000"/>
              </a:lnSpc>
            </a:pPr>
            <a:r>
              <a:rPr sz="1250" b="1">
                <a:solidFill>
                  <a:srgbClr val="FFFFFF"/>
                </a:solidFill>
                <a:latin typeface="IBM Plex Sans"/>
              </a:rPr>
              <a:t>Wichtig: </a:t>
            </a:r>
            <a:r>
              <a:rPr sz="1250" b="0">
                <a:solidFill>
                  <a:srgbClr val="E6E6E6"/>
                </a:solidFill>
                <a:latin typeface="IBM Plex Sans"/>
              </a:rPr>
              <a:t>Sätze sind US-Markt-Richtwerte, umgerechnet mit 0,828 CHF/USD (24.09.2026). Öffentliche CH-Preise ab 100 kVA gibt es nicht. Mit MiT-Sätzen in der Excel rechnet alles neu. Trafo, Transport, Service und Treibstoff sind nicht enthalten.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1056" y="365760"/>
            <a:ext cx="8183879" cy="274320"/>
          </a:xfrm>
          <a:prstGeom prst="rect">
            <a:avLst/>
          </a:prstGeom>
          <a:noFill/>
        </p:spPr>
        <p:txBody>
          <a:bodyPr wrap="square" lIns="0" rIns="0" tIns="0" bIns="0" anchor="t">
            <a:spAutoFit/>
          </a:bodyPr>
          <a:lstStyle/>
          <a:p>
            <a:pPr algn="l"/>
            <a:r>
              <a:rPr sz="1050" b="1" spc="160" cap="all">
                <a:solidFill>
                  <a:srgbClr val="E00036"/>
                </a:solidFill>
                <a:latin typeface="IBM Plex Sans"/>
              </a:rPr>
              <a:t>09 · Cross-Sell</a:t>
            </a:r>
          </a:p>
        </p:txBody>
      </p:sp>
      <p:sp>
        <p:nvSpPr>
          <p:cNvPr id="3" name="TextBox 2"/>
          <p:cNvSpPr txBox="1"/>
          <p:nvPr/>
        </p:nvSpPr>
        <p:spPr>
          <a:xfrm>
            <a:off x="1591056" y="658368"/>
            <a:ext cx="8183879" cy="914400"/>
          </a:xfrm>
          <a:prstGeom prst="rect">
            <a:avLst/>
          </a:prstGeom>
          <a:noFill/>
        </p:spPr>
        <p:txBody>
          <a:bodyPr wrap="square" lIns="0" rIns="0" tIns="0" bIns="0" anchor="t">
            <a:spAutoFit/>
          </a:bodyPr>
          <a:lstStyle/>
          <a:p>
            <a:pPr algn="l">
              <a:lnSpc>
                <a:spcPct val="94000"/>
              </a:lnSpc>
            </a:pPr>
            <a:r>
              <a:rPr sz="2600" b="0">
                <a:solidFill>
                  <a:srgbClr val="000000"/>
                </a:solidFill>
                <a:latin typeface="Alata"/>
              </a:rPr>
              <a:t>Power öffnet die Tür, Wärme und Kälte folgen</a:t>
            </a:r>
          </a:p>
        </p:txBody>
      </p:sp>
      <p:sp>
        <p:nvSpPr>
          <p:cNvPr id="4" name="Rectangle 3"/>
          <p:cNvSpPr/>
          <p:nvPr/>
        </p:nvSpPr>
        <p:spPr>
          <a:xfrm>
            <a:off x="1591056" y="1572768"/>
            <a:ext cx="100584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91056" y="6355080"/>
            <a:ext cx="7863840" cy="256032"/>
          </a:xfrm>
          <a:prstGeom prst="rect">
            <a:avLst/>
          </a:prstGeom>
          <a:noFill/>
        </p:spPr>
        <p:txBody>
          <a:bodyPr wrap="square" lIns="0" rIns="0" tIns="0" bIns="0" anchor="t">
            <a:spAutoFit/>
          </a:bodyPr>
          <a:lstStyle/>
          <a:p>
            <a:pPr algn="l"/>
            <a:r>
              <a:rPr sz="850" b="0">
                <a:solidFill>
                  <a:srgbClr val="58595B"/>
                </a:solidFill>
                <a:latin typeface="IBM Plex Sans"/>
              </a:rPr>
              <a:t>MiT Strom CH · Top-Player Power 2027 · intern · 27.09.2026</a:t>
            </a:r>
          </a:p>
        </p:txBody>
      </p:sp>
      <p:sp>
        <p:nvSpPr>
          <p:cNvPr id="6" name="TextBox 5"/>
          <p:cNvSpPr txBox="1"/>
          <p:nvPr/>
        </p:nvSpPr>
        <p:spPr>
          <a:xfrm>
            <a:off x="10149840" y="6355080"/>
            <a:ext cx="914400" cy="256032"/>
          </a:xfrm>
          <a:prstGeom prst="rect">
            <a:avLst/>
          </a:prstGeom>
          <a:noFill/>
        </p:spPr>
        <p:txBody>
          <a:bodyPr wrap="square" lIns="0" rIns="0" tIns="0" bIns="0" anchor="t">
            <a:spAutoFit/>
          </a:bodyPr>
          <a:lstStyle/>
          <a:p>
            <a:pPr algn="r"/>
            <a:r>
              <a:rPr sz="850" b="0">
                <a:solidFill>
                  <a:srgbClr val="58595B"/>
                </a:solidFill>
                <a:latin typeface="IBM Plex Sans"/>
              </a:rPr>
              <a:t>10</a:t>
            </a:r>
          </a:p>
        </p:txBody>
      </p:sp>
      <p:cxnSp>
        <p:nvCxnSpPr>
          <p:cNvPr id="7" name="Connector 6"/>
          <p:cNvCxnSpPr/>
          <p:nvPr/>
        </p:nvCxnSpPr>
        <p:spPr>
          <a:xfrm flipH="1" flipV="1">
            <a:off x="2788920" y="2468879"/>
            <a:ext cx="3090672" cy="1508760"/>
          </a:xfrm>
          <a:prstGeom prst="line">
            <a:avLst/>
          </a:prstGeom>
          <a:ln w="19050">
            <a:solidFill>
              <a:srgbClr val="BDBDB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5879592" y="2468879"/>
            <a:ext cx="3538727" cy="1508760"/>
          </a:xfrm>
          <a:prstGeom prst="line">
            <a:avLst/>
          </a:prstGeom>
          <a:ln w="19050">
            <a:solidFill>
              <a:srgbClr val="BDBDB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2788920" y="3977639"/>
            <a:ext cx="3090672" cy="1280161"/>
          </a:xfrm>
          <a:prstGeom prst="line">
            <a:avLst/>
          </a:prstGeom>
          <a:ln w="19050">
            <a:solidFill>
              <a:srgbClr val="BDBDB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879592" y="3977639"/>
            <a:ext cx="3538727" cy="1280161"/>
          </a:xfrm>
          <a:prstGeom prst="line">
            <a:avLst/>
          </a:prstGeom>
          <a:ln w="19050">
            <a:solidFill>
              <a:srgbClr val="BDBDBD"/>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1097280" y="1874519"/>
            <a:ext cx="3383280" cy="1280160"/>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298448" y="2011679"/>
            <a:ext cx="3017520" cy="320040"/>
          </a:xfrm>
          <a:prstGeom prst="rect">
            <a:avLst/>
          </a:prstGeom>
          <a:noFill/>
        </p:spPr>
        <p:txBody>
          <a:bodyPr wrap="square" lIns="0" rIns="0" tIns="0" bIns="0" anchor="t">
            <a:spAutoFit/>
          </a:bodyPr>
          <a:lstStyle/>
          <a:p>
            <a:pPr algn="l">
              <a:lnSpc>
                <a:spcPct val="105000"/>
              </a:lnSpc>
              <a:spcBef>
                <a:spcPts val="0"/>
              </a:spcBef>
              <a:spcAft>
                <a:spcPts val="0"/>
              </a:spcAft>
            </a:pPr>
            <a:r>
              <a:rPr sz="1350" b="1">
                <a:solidFill>
                  <a:srgbClr val="FFFFFF"/>
                </a:solidFill>
                <a:latin typeface="IBM Plex Sans"/>
              </a:rPr>
              <a:t>Bauheizung und Trocknung</a:t>
            </a:r>
          </a:p>
        </p:txBody>
      </p:sp>
      <p:sp>
        <p:nvSpPr>
          <p:cNvPr id="13" name="TextBox 12"/>
          <p:cNvSpPr txBox="1"/>
          <p:nvPr/>
        </p:nvSpPr>
        <p:spPr>
          <a:xfrm>
            <a:off x="1298448" y="2377439"/>
            <a:ext cx="3017520" cy="777240"/>
          </a:xfrm>
          <a:prstGeom prst="rect">
            <a:avLst/>
          </a:prstGeom>
          <a:noFill/>
        </p:spPr>
        <p:txBody>
          <a:bodyPr wrap="square" lIns="0" rIns="0" tIns="0" bIns="0" anchor="t">
            <a:spAutoFit/>
          </a:bodyPr>
          <a:lstStyle/>
          <a:p>
            <a:pPr algn="l">
              <a:lnSpc>
                <a:spcPct val="105000"/>
              </a:lnSpc>
              <a:spcBef>
                <a:spcPts val="0"/>
              </a:spcBef>
              <a:spcAft>
                <a:spcPts val="0"/>
              </a:spcAft>
            </a:pPr>
            <a:r>
              <a:rPr sz="1100" b="0">
                <a:solidFill>
                  <a:srgbClr val="E6E6E6"/>
                </a:solidFill>
                <a:latin typeface="IBM Plex Sans"/>
              </a:rPr>
              <a:t>Tunnel, GU-Baustellen, RZ-Rohbau im Winter</a:t>
            </a:r>
          </a:p>
          <a:p>
            <a:pPr algn="l">
              <a:lnSpc>
                <a:spcPct val="105000"/>
              </a:lnSpc>
              <a:spcBef>
                <a:spcPts val="300"/>
              </a:spcBef>
              <a:spcAft>
                <a:spcPts val="0"/>
              </a:spcAft>
            </a:pPr>
            <a:r>
              <a:rPr sz="1100" b="0">
                <a:solidFill>
                  <a:srgbClr val="E6E6E6"/>
                </a:solidFill>
                <a:latin typeface="IBM Plex Sans"/>
              </a:rPr>
              <a:t>Gotthard, Sisikon, Bachem, Dielsdorf</a:t>
            </a:r>
          </a:p>
        </p:txBody>
      </p:sp>
      <p:sp>
        <p:nvSpPr>
          <p:cNvPr id="14" name="Rectangle 13"/>
          <p:cNvSpPr/>
          <p:nvPr/>
        </p:nvSpPr>
        <p:spPr>
          <a:xfrm>
            <a:off x="7726679" y="1874519"/>
            <a:ext cx="3383280" cy="1280160"/>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927848" y="2011679"/>
            <a:ext cx="3017520" cy="320040"/>
          </a:xfrm>
          <a:prstGeom prst="rect">
            <a:avLst/>
          </a:prstGeom>
          <a:noFill/>
        </p:spPr>
        <p:txBody>
          <a:bodyPr wrap="square" lIns="0" rIns="0" tIns="0" bIns="0" anchor="t">
            <a:spAutoFit/>
          </a:bodyPr>
          <a:lstStyle/>
          <a:p>
            <a:pPr algn="l">
              <a:lnSpc>
                <a:spcPct val="105000"/>
              </a:lnSpc>
              <a:spcBef>
                <a:spcPts val="0"/>
              </a:spcBef>
              <a:spcAft>
                <a:spcPts val="0"/>
              </a:spcAft>
            </a:pPr>
            <a:r>
              <a:rPr sz="1350" b="1">
                <a:solidFill>
                  <a:srgbClr val="FFFFFF"/>
                </a:solidFill>
                <a:latin typeface="IBM Plex Sans"/>
              </a:rPr>
              <a:t>Temporäre Kühlung</a:t>
            </a:r>
          </a:p>
        </p:txBody>
      </p:sp>
      <p:sp>
        <p:nvSpPr>
          <p:cNvPr id="16" name="TextBox 15"/>
          <p:cNvSpPr txBox="1"/>
          <p:nvPr/>
        </p:nvSpPr>
        <p:spPr>
          <a:xfrm>
            <a:off x="7927848" y="2377439"/>
            <a:ext cx="3017520" cy="777240"/>
          </a:xfrm>
          <a:prstGeom prst="rect">
            <a:avLst/>
          </a:prstGeom>
          <a:noFill/>
        </p:spPr>
        <p:txBody>
          <a:bodyPr wrap="square" lIns="0" rIns="0" tIns="0" bIns="0" anchor="t">
            <a:spAutoFit/>
          </a:bodyPr>
          <a:lstStyle/>
          <a:p>
            <a:pPr algn="l">
              <a:lnSpc>
                <a:spcPct val="105000"/>
              </a:lnSpc>
              <a:spcBef>
                <a:spcPts val="0"/>
              </a:spcBef>
              <a:spcAft>
                <a:spcPts val="0"/>
              </a:spcAft>
            </a:pPr>
            <a:r>
              <a:rPr sz="1100" b="0">
                <a:solidFill>
                  <a:srgbClr val="E6E6E6"/>
                </a:solidFill>
                <a:latin typeface="IBM Plex Sans"/>
              </a:rPr>
              <a:t>RZ-IST, Spital-Umzug, Pharma-Validierung</a:t>
            </a:r>
          </a:p>
          <a:p>
            <a:pPr algn="l">
              <a:lnSpc>
                <a:spcPct val="105000"/>
              </a:lnSpc>
              <a:spcBef>
                <a:spcPts val="300"/>
              </a:spcBef>
              <a:spcAft>
                <a:spcPts val="0"/>
              </a:spcAft>
            </a:pPr>
            <a:r>
              <a:rPr sz="1100" b="0">
                <a:solidFill>
                  <a:srgbClr val="E6E6E6"/>
                </a:solidFill>
                <a:latin typeface="IBM Plex Sans"/>
              </a:rPr>
              <a:t>Richtwert ca. CHF 16'400 pro MW und Monat</a:t>
            </a:r>
          </a:p>
        </p:txBody>
      </p:sp>
      <p:sp>
        <p:nvSpPr>
          <p:cNvPr id="17" name="Rectangle 16"/>
          <p:cNvSpPr/>
          <p:nvPr/>
        </p:nvSpPr>
        <p:spPr>
          <a:xfrm>
            <a:off x="1097280" y="4663440"/>
            <a:ext cx="3383280" cy="1280160"/>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298448" y="4800600"/>
            <a:ext cx="3017520" cy="320040"/>
          </a:xfrm>
          <a:prstGeom prst="rect">
            <a:avLst/>
          </a:prstGeom>
          <a:noFill/>
        </p:spPr>
        <p:txBody>
          <a:bodyPr wrap="square" lIns="0" rIns="0" tIns="0" bIns="0" anchor="t">
            <a:spAutoFit/>
          </a:bodyPr>
          <a:lstStyle/>
          <a:p>
            <a:pPr algn="l">
              <a:lnSpc>
                <a:spcPct val="105000"/>
              </a:lnSpc>
              <a:spcBef>
                <a:spcPts val="0"/>
              </a:spcBef>
              <a:spcAft>
                <a:spcPts val="0"/>
              </a:spcAft>
            </a:pPr>
            <a:r>
              <a:rPr sz="1350" b="1">
                <a:solidFill>
                  <a:srgbClr val="FFFFFF"/>
                </a:solidFill>
                <a:latin typeface="IBM Plex Sans"/>
              </a:rPr>
              <a:t>Zelt- und Eventheizung</a:t>
            </a:r>
          </a:p>
        </p:txBody>
      </p:sp>
      <p:sp>
        <p:nvSpPr>
          <p:cNvPr id="19" name="TextBox 18"/>
          <p:cNvSpPr txBox="1"/>
          <p:nvPr/>
        </p:nvSpPr>
        <p:spPr>
          <a:xfrm>
            <a:off x="1298448" y="5166359"/>
            <a:ext cx="3017520" cy="777240"/>
          </a:xfrm>
          <a:prstGeom prst="rect">
            <a:avLst/>
          </a:prstGeom>
          <a:noFill/>
        </p:spPr>
        <p:txBody>
          <a:bodyPr wrap="square" lIns="0" rIns="0" tIns="0" bIns="0" anchor="t">
            <a:spAutoFit/>
          </a:bodyPr>
          <a:lstStyle/>
          <a:p>
            <a:pPr algn="l">
              <a:lnSpc>
                <a:spcPct val="105000"/>
              </a:lnSpc>
              <a:spcBef>
                <a:spcPts val="0"/>
              </a:spcBef>
              <a:spcAft>
                <a:spcPts val="0"/>
              </a:spcAft>
            </a:pPr>
            <a:r>
              <a:rPr sz="1100" b="0">
                <a:solidFill>
                  <a:srgbClr val="E6E6E6"/>
                </a:solidFill>
                <a:latin typeface="IBM Plex Sans"/>
              </a:rPr>
              <a:t>WEF Davos, Ski-WM Crans-Montana</a:t>
            </a:r>
          </a:p>
          <a:p>
            <a:pPr algn="l">
              <a:lnSpc>
                <a:spcPct val="105000"/>
              </a:lnSpc>
              <a:spcBef>
                <a:spcPts val="300"/>
              </a:spcBef>
              <a:spcAft>
                <a:spcPts val="0"/>
              </a:spcAft>
            </a:pPr>
            <a:r>
              <a:rPr sz="1100" b="0">
                <a:solidFill>
                  <a:srgbClr val="E6E6E6"/>
                </a:solidFill>
                <a:latin typeface="IBM Plex Sans"/>
              </a:rPr>
              <a:t>Heizzentralen sind MiT-Kerngeschäft</a:t>
            </a:r>
          </a:p>
        </p:txBody>
      </p:sp>
      <p:sp>
        <p:nvSpPr>
          <p:cNvPr id="20" name="Rectangle 19"/>
          <p:cNvSpPr/>
          <p:nvPr/>
        </p:nvSpPr>
        <p:spPr>
          <a:xfrm>
            <a:off x="7726679" y="4663440"/>
            <a:ext cx="3383280" cy="1280160"/>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927848" y="4800600"/>
            <a:ext cx="3017520" cy="320040"/>
          </a:xfrm>
          <a:prstGeom prst="rect">
            <a:avLst/>
          </a:prstGeom>
          <a:noFill/>
        </p:spPr>
        <p:txBody>
          <a:bodyPr wrap="square" lIns="0" rIns="0" tIns="0" bIns="0" anchor="t">
            <a:spAutoFit/>
          </a:bodyPr>
          <a:lstStyle/>
          <a:p>
            <a:pPr algn="l">
              <a:lnSpc>
                <a:spcPct val="105000"/>
              </a:lnSpc>
              <a:spcBef>
                <a:spcPts val="0"/>
              </a:spcBef>
              <a:spcAft>
                <a:spcPts val="0"/>
              </a:spcAft>
            </a:pPr>
            <a:r>
              <a:rPr sz="1350" b="1">
                <a:solidFill>
                  <a:srgbClr val="FFFFFF"/>
                </a:solidFill>
                <a:latin typeface="IBM Plex Sans"/>
              </a:rPr>
              <a:t>BESS-Hybrid und HVO</a:t>
            </a:r>
          </a:p>
        </p:txBody>
      </p:sp>
      <p:sp>
        <p:nvSpPr>
          <p:cNvPr id="22" name="TextBox 21"/>
          <p:cNvSpPr txBox="1"/>
          <p:nvPr/>
        </p:nvSpPr>
        <p:spPr>
          <a:xfrm>
            <a:off x="7927848" y="5166359"/>
            <a:ext cx="3017520" cy="777240"/>
          </a:xfrm>
          <a:prstGeom prst="rect">
            <a:avLst/>
          </a:prstGeom>
          <a:noFill/>
        </p:spPr>
        <p:txBody>
          <a:bodyPr wrap="square" lIns="0" rIns="0" tIns="0" bIns="0" anchor="t">
            <a:spAutoFit/>
          </a:bodyPr>
          <a:lstStyle/>
          <a:p>
            <a:pPr algn="l">
              <a:lnSpc>
                <a:spcPct val="105000"/>
              </a:lnSpc>
              <a:spcBef>
                <a:spcPts val="0"/>
              </a:spcBef>
              <a:spcAft>
                <a:spcPts val="0"/>
              </a:spcAft>
            </a:pPr>
            <a:r>
              <a:rPr sz="1100" b="0">
                <a:solidFill>
                  <a:srgbClr val="E6E6E6"/>
                </a:solidFill>
                <a:latin typeface="IBM Plex Sans"/>
              </a:rPr>
              <a:t>1 MVA bei 75 % Last: ca. CHF 349 Diesel pro Stunde</a:t>
            </a:r>
          </a:p>
          <a:p>
            <a:pPr algn="l">
              <a:lnSpc>
                <a:spcPct val="105000"/>
              </a:lnSpc>
              <a:spcBef>
                <a:spcPts val="300"/>
              </a:spcBef>
              <a:spcAft>
                <a:spcPts val="0"/>
              </a:spcAft>
            </a:pPr>
            <a:r>
              <a:rPr sz="1100" b="0">
                <a:solidFill>
                  <a:srgbClr val="E6E6E6"/>
                </a:solidFill>
                <a:latin typeface="IBM Plex Sans"/>
              </a:rPr>
              <a:t>Hybrid senkt Laufzeit, HVO passt zu NorthC</a:t>
            </a:r>
          </a:p>
        </p:txBody>
      </p:sp>
      <p:sp>
        <p:nvSpPr>
          <p:cNvPr id="23" name="Oval 22"/>
          <p:cNvSpPr/>
          <p:nvPr/>
        </p:nvSpPr>
        <p:spPr>
          <a:xfrm>
            <a:off x="4965192" y="3063239"/>
            <a:ext cx="1828800" cy="1828800"/>
          </a:xfrm>
          <a:prstGeom prst="ellipse">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400" b="0">
                <a:solidFill>
                  <a:srgbClr val="FFFFFF"/>
                </a:solidFill>
                <a:latin typeface="Alata"/>
              </a:rPr>
              <a:t>Power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1056" y="365760"/>
            <a:ext cx="8183879" cy="274320"/>
          </a:xfrm>
          <a:prstGeom prst="rect">
            <a:avLst/>
          </a:prstGeom>
          <a:noFill/>
        </p:spPr>
        <p:txBody>
          <a:bodyPr wrap="square" lIns="0" rIns="0" tIns="0" bIns="0" anchor="t">
            <a:spAutoFit/>
          </a:bodyPr>
          <a:lstStyle/>
          <a:p>
            <a:pPr algn="l"/>
            <a:r>
              <a:rPr sz="1050" b="1" spc="160" cap="all">
                <a:solidFill>
                  <a:srgbClr val="E00036"/>
                </a:solidFill>
                <a:latin typeface="IBM Plex Sans"/>
              </a:rPr>
              <a:t>10 · Infrastruktur, Netz, Spital, Industrie</a:t>
            </a:r>
          </a:p>
        </p:txBody>
      </p:sp>
      <p:sp>
        <p:nvSpPr>
          <p:cNvPr id="3" name="TextBox 2"/>
          <p:cNvSpPr txBox="1"/>
          <p:nvPr/>
        </p:nvSpPr>
        <p:spPr>
          <a:xfrm>
            <a:off x="1591056" y="658368"/>
            <a:ext cx="8183879" cy="914400"/>
          </a:xfrm>
          <a:prstGeom prst="rect">
            <a:avLst/>
          </a:prstGeom>
          <a:noFill/>
        </p:spPr>
        <p:txBody>
          <a:bodyPr wrap="square" lIns="0" rIns="0" tIns="0" bIns="0" anchor="t">
            <a:spAutoFit/>
          </a:bodyPr>
          <a:lstStyle/>
          <a:p>
            <a:pPr algn="l">
              <a:lnSpc>
                <a:spcPct val="94000"/>
              </a:lnSpc>
            </a:pPr>
            <a:r>
              <a:rPr sz="2600" b="0">
                <a:solidFill>
                  <a:srgbClr val="000000"/>
                </a:solidFill>
                <a:latin typeface="Alata"/>
              </a:rPr>
              <a:t>Das sichere Volumen: lange Laufzeiten</a:t>
            </a:r>
          </a:p>
        </p:txBody>
      </p:sp>
      <p:sp>
        <p:nvSpPr>
          <p:cNvPr id="4" name="Rectangle 3"/>
          <p:cNvSpPr/>
          <p:nvPr/>
        </p:nvSpPr>
        <p:spPr>
          <a:xfrm>
            <a:off x="1591056" y="1572768"/>
            <a:ext cx="100584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91056" y="6355080"/>
            <a:ext cx="7863840" cy="256032"/>
          </a:xfrm>
          <a:prstGeom prst="rect">
            <a:avLst/>
          </a:prstGeom>
          <a:noFill/>
        </p:spPr>
        <p:txBody>
          <a:bodyPr wrap="square" lIns="0" rIns="0" tIns="0" bIns="0" anchor="t">
            <a:spAutoFit/>
          </a:bodyPr>
          <a:lstStyle/>
          <a:p>
            <a:pPr algn="l"/>
            <a:r>
              <a:rPr sz="850" b="0">
                <a:solidFill>
                  <a:srgbClr val="58595B"/>
                </a:solidFill>
                <a:latin typeface="IBM Plex Sans"/>
              </a:rPr>
              <a:t>MiT Strom CH · Top-Player Power 2027 · intern · 27.09.2026</a:t>
            </a:r>
          </a:p>
        </p:txBody>
      </p:sp>
      <p:sp>
        <p:nvSpPr>
          <p:cNvPr id="6" name="TextBox 5"/>
          <p:cNvSpPr txBox="1"/>
          <p:nvPr/>
        </p:nvSpPr>
        <p:spPr>
          <a:xfrm>
            <a:off x="10149840" y="6355080"/>
            <a:ext cx="914400" cy="256032"/>
          </a:xfrm>
          <a:prstGeom prst="rect">
            <a:avLst/>
          </a:prstGeom>
          <a:noFill/>
        </p:spPr>
        <p:txBody>
          <a:bodyPr wrap="square" lIns="0" rIns="0" tIns="0" bIns="0" anchor="t">
            <a:spAutoFit/>
          </a:bodyPr>
          <a:lstStyle/>
          <a:p>
            <a:pPr algn="r"/>
            <a:r>
              <a:rPr sz="850" b="0">
                <a:solidFill>
                  <a:srgbClr val="58595B"/>
                </a:solidFill>
                <a:latin typeface="IBM Plex Sans"/>
              </a:rPr>
              <a:t>11</a:t>
            </a:r>
          </a:p>
        </p:txBody>
      </p:sp>
      <p:graphicFrame>
        <p:nvGraphicFramePr>
          <p:cNvPr id="7" name="Table 6"/>
          <p:cNvGraphicFramePr>
            <a:graphicFrameLocks noGrp="1"/>
          </p:cNvGraphicFramePr>
          <p:nvPr/>
        </p:nvGraphicFramePr>
        <p:xfrm>
          <a:off x="429768" y="1874519"/>
          <a:ext cx="7589518" cy="4041648"/>
        </p:xfrm>
        <a:graphic>
          <a:graphicData uri="http://schemas.openxmlformats.org/drawingml/2006/table">
            <a:tbl>
              <a:tblPr>
                <a:tableStyleId>{2D5ABB26-0587-4C30-8999-92F81FD0307C}</a:tableStyleId>
              </a:tblPr>
              <a:tblGrid>
                <a:gridCol w="2946519"/>
                <a:gridCol w="2232211"/>
                <a:gridCol w="1205394"/>
                <a:gridCol w="1205394"/>
              </a:tblGrid>
              <a:tr h="384048">
                <a:tc>
                  <a:txBody>
                    <a:bodyPr wrap="square"/>
                    <a:lstStyle/>
                    <a:p>
                      <a:pPr>
                        <a:lnSpc>
                          <a:spcPct val="100000"/>
                        </a:lnSpc>
                      </a:pPr>
                      <a:r>
                        <a:rPr sz="1050" b="1">
                          <a:solidFill>
                            <a:srgbClr val="FFFFFF"/>
                          </a:solidFill>
                          <a:latin typeface="IBM Plex Sans"/>
                        </a:rPr>
                        <a:t>Projekt</a:t>
                      </a:r>
                    </a:p>
                  </a:txBody>
                  <a:tcPr marL="109728" marR="91440" marT="45720" marB="45720" anchor="ctr">
                    <a:solidFill>
                      <a:srgbClr val="E00036"/>
                    </a:solidFill>
                  </a:tcPr>
                </a:tc>
                <a:tc>
                  <a:txBody>
                    <a:bodyPr wrap="square"/>
                    <a:lstStyle/>
                    <a:p>
                      <a:pPr>
                        <a:lnSpc>
                          <a:spcPct val="100000"/>
                        </a:lnSpc>
                      </a:pPr>
                      <a:r>
                        <a:rPr sz="1050" b="1">
                          <a:solidFill>
                            <a:srgbClr val="FFFFFF"/>
                          </a:solidFill>
                          <a:latin typeface="IBM Plex Sans"/>
                        </a:rPr>
                        <a:t>Einstieg über</a:t>
                      </a:r>
                    </a:p>
                  </a:txBody>
                  <a:tcPr marL="109728" marR="91440" marT="45720" marB="45720" anchor="ctr">
                    <a:solidFill>
                      <a:srgbClr val="E00036"/>
                    </a:solidFill>
                  </a:tcPr>
                </a:tc>
                <a:tc>
                  <a:txBody>
                    <a:bodyPr wrap="square"/>
                    <a:lstStyle/>
                    <a:p>
                      <a:pPr>
                        <a:lnSpc>
                          <a:spcPct val="100000"/>
                        </a:lnSpc>
                      </a:pPr>
                      <a:r>
                        <a:rPr sz="1050" b="1">
                          <a:solidFill>
                            <a:srgbClr val="FFFFFF"/>
                          </a:solidFill>
                          <a:latin typeface="IBM Plex Sans"/>
                        </a:rPr>
                        <a:t>Potenzial CHF</a:t>
                      </a:r>
                    </a:p>
                  </a:txBody>
                  <a:tcPr marL="109728" marR="91440" marT="45720" marB="45720" anchor="ctr">
                    <a:solidFill>
                      <a:srgbClr val="E00036"/>
                    </a:solidFill>
                  </a:tcPr>
                </a:tc>
                <a:tc>
                  <a:txBody>
                    <a:bodyPr wrap="square"/>
                    <a:lstStyle/>
                    <a:p>
                      <a:pPr>
                        <a:lnSpc>
                          <a:spcPct val="100000"/>
                        </a:lnSpc>
                      </a:pPr>
                      <a:r>
                        <a:rPr sz="1050" b="1">
                          <a:solidFill>
                            <a:srgbClr val="FFFFFF"/>
                          </a:solidFill>
                          <a:latin typeface="IBM Plex Sans"/>
                        </a:rPr>
                        <a:t>Erwartung 2027</a:t>
                      </a:r>
                    </a:p>
                  </a:txBody>
                  <a:tcPr marL="109728" marR="91440" marT="45720" marB="45720" anchor="ctr">
                    <a:solidFill>
                      <a:srgbClr val="E00036"/>
                    </a:solidFill>
                  </a:tcPr>
                </a:tc>
              </a:tr>
              <a:tr h="365760">
                <a:tc>
                  <a:txBody>
                    <a:bodyPr wrap="square"/>
                    <a:lstStyle/>
                    <a:p>
                      <a:pPr>
                        <a:lnSpc>
                          <a:spcPct val="100000"/>
                        </a:lnSpc>
                      </a:pPr>
                      <a:r>
                        <a:rPr sz="1050" b="1">
                          <a:solidFill>
                            <a:srgbClr val="58595B"/>
                          </a:solidFill>
                          <a:latin typeface="IBM Plex Sans"/>
                        </a:rPr>
                        <a:t>2. Gotthardröhre</a:t>
                      </a:r>
                    </a:p>
                  </a:txBody>
                  <a:tcPr marL="109728" marR="91440" marT="45720" marB="45720" anchor="ctr">
                    <a:solidFill>
                      <a:srgbClr val="FFFFFF"/>
                    </a:solidFill>
                  </a:tcPr>
                </a:tc>
                <a:tc>
                  <a:txBody>
                    <a:bodyPr wrap="square"/>
                    <a:lstStyle/>
                    <a:p>
                      <a:pPr>
                        <a:lnSpc>
                          <a:spcPct val="100000"/>
                        </a:lnSpc>
                      </a:pPr>
                      <a:r>
                        <a:rPr sz="1050" b="0">
                          <a:solidFill>
                            <a:srgbClr val="58595B"/>
                          </a:solidFill>
                          <a:latin typeface="IBM Plex Sans"/>
                        </a:rPr>
                        <a:t>Marti-Gruppe (Hauptlos Süd)</a:t>
                      </a:r>
                    </a:p>
                  </a:txBody>
                  <a:tcPr marL="109728" marR="91440" marT="45720" marB="45720" anchor="ctr">
                    <a:solidFill>
                      <a:srgbClr val="FFFFFF"/>
                    </a:solidFill>
                  </a:tcPr>
                </a:tc>
                <a:tc>
                  <a:txBody>
                    <a:bodyPr wrap="square"/>
                    <a:lstStyle/>
                    <a:p>
                      <a:pPr>
                        <a:lnSpc>
                          <a:spcPct val="100000"/>
                        </a:lnSpc>
                      </a:pPr>
                      <a:r>
                        <a:rPr sz="1050" b="0">
                          <a:solidFill>
                            <a:srgbClr val="58595B"/>
                          </a:solidFill>
                          <a:latin typeface="IBM Plex Sans"/>
                        </a:rPr>
                        <a:t>440'900</a:t>
                      </a:r>
                    </a:p>
                  </a:txBody>
                  <a:tcPr marL="109728" marR="91440" marT="45720" marB="45720" anchor="ctr">
                    <a:solidFill>
                      <a:srgbClr val="FFFFFF"/>
                    </a:solidFill>
                  </a:tcPr>
                </a:tc>
                <a:tc>
                  <a:txBody>
                    <a:bodyPr wrap="square"/>
                    <a:lstStyle/>
                    <a:p>
                      <a:pPr>
                        <a:lnSpc>
                          <a:spcPct val="100000"/>
                        </a:lnSpc>
                      </a:pPr>
                      <a:r>
                        <a:rPr sz="1050" b="0">
                          <a:solidFill>
                            <a:srgbClr val="58595B"/>
                          </a:solidFill>
                          <a:latin typeface="IBM Plex Sans"/>
                        </a:rPr>
                        <a:t>66'100</a:t>
                      </a:r>
                    </a:p>
                  </a:txBody>
                  <a:tcPr marL="109728" marR="91440" marT="45720" marB="45720" anchor="ctr">
                    <a:solidFill>
                      <a:srgbClr val="FFFFFF"/>
                    </a:solidFill>
                  </a:tcPr>
                </a:tc>
              </a:tr>
              <a:tr h="365760">
                <a:tc>
                  <a:txBody>
                    <a:bodyPr wrap="square"/>
                    <a:lstStyle/>
                    <a:p>
                      <a:pPr>
                        <a:lnSpc>
                          <a:spcPct val="100000"/>
                        </a:lnSpc>
                      </a:pPr>
                      <a:r>
                        <a:rPr sz="1050" b="1">
                          <a:solidFill>
                            <a:srgbClr val="58595B"/>
                          </a:solidFill>
                          <a:latin typeface="IBM Plex Sans"/>
                        </a:rPr>
                        <a:t>Sisikoner Tunnel (Neue Axenstrasse)</a:t>
                      </a:r>
                    </a:p>
                  </a:txBody>
                  <a:tcPr marL="109728" marR="91440" marT="45720" marB="45720" anchor="ctr">
                    <a:solidFill>
                      <a:srgbClr val="F4F4F4"/>
                    </a:solidFill>
                  </a:tcPr>
                </a:tc>
                <a:tc>
                  <a:txBody>
                    <a:bodyPr wrap="square"/>
                    <a:lstStyle/>
                    <a:p>
                      <a:pPr>
                        <a:lnSpc>
                          <a:spcPct val="100000"/>
                        </a:lnSpc>
                      </a:pPr>
                      <a:r>
                        <a:rPr sz="1050" b="0">
                          <a:solidFill>
                            <a:srgbClr val="58595B"/>
                          </a:solidFill>
                          <a:latin typeface="IBM Plex Sans"/>
                        </a:rPr>
                        <a:t>Bauherr ASTRA</a:t>
                      </a:r>
                    </a:p>
                  </a:txBody>
                  <a:tcPr marL="109728" marR="91440" marT="45720" marB="45720" anchor="ctr">
                    <a:solidFill>
                      <a:srgbClr val="F4F4F4"/>
                    </a:solidFill>
                  </a:tcPr>
                </a:tc>
                <a:tc>
                  <a:txBody>
                    <a:bodyPr wrap="square"/>
                    <a:lstStyle/>
                    <a:p>
                      <a:pPr>
                        <a:lnSpc>
                          <a:spcPct val="100000"/>
                        </a:lnSpc>
                      </a:pPr>
                      <a:r>
                        <a:rPr sz="1050" b="0">
                          <a:solidFill>
                            <a:srgbClr val="58595B"/>
                          </a:solidFill>
                          <a:latin typeface="IBM Plex Sans"/>
                        </a:rPr>
                        <a:t>330'700</a:t>
                      </a:r>
                    </a:p>
                  </a:txBody>
                  <a:tcPr marL="109728" marR="91440" marT="45720" marB="45720" anchor="ctr">
                    <a:solidFill>
                      <a:srgbClr val="F4F4F4"/>
                    </a:solidFill>
                  </a:tcPr>
                </a:tc>
                <a:tc>
                  <a:txBody>
                    <a:bodyPr wrap="square"/>
                    <a:lstStyle/>
                    <a:p>
                      <a:pPr>
                        <a:lnSpc>
                          <a:spcPct val="100000"/>
                        </a:lnSpc>
                      </a:pPr>
                      <a:r>
                        <a:rPr sz="1050" b="0">
                          <a:solidFill>
                            <a:srgbClr val="58595B"/>
                          </a:solidFill>
                          <a:latin typeface="IBM Plex Sans"/>
                        </a:rPr>
                        <a:t>66'100</a:t>
                      </a:r>
                    </a:p>
                  </a:txBody>
                  <a:tcPr marL="109728" marR="91440" marT="45720" marB="45720" anchor="ctr">
                    <a:solidFill>
                      <a:srgbClr val="F4F4F4"/>
                    </a:solidFill>
                  </a:tcPr>
                </a:tc>
              </a:tr>
              <a:tr h="365760">
                <a:tc>
                  <a:txBody>
                    <a:bodyPr wrap="square"/>
                    <a:lstStyle/>
                    <a:p>
                      <a:pPr>
                        <a:lnSpc>
                          <a:spcPct val="100000"/>
                        </a:lnSpc>
                      </a:pPr>
                      <a:r>
                        <a:rPr sz="1050" b="1">
                          <a:solidFill>
                            <a:srgbClr val="58595B"/>
                          </a:solidFill>
                          <a:latin typeface="IBM Plex Sans"/>
                        </a:rPr>
                        <a:t>Kantonsspital Aarau «Dreiklang»</a:t>
                      </a:r>
                    </a:p>
                  </a:txBody>
                  <a:tcPr marL="109728" marR="91440" marT="45720" marB="45720" anchor="ctr">
                    <a:solidFill>
                      <a:srgbClr val="FFFFFF"/>
                    </a:solidFill>
                  </a:tcPr>
                </a:tc>
                <a:tc>
                  <a:txBody>
                    <a:bodyPr wrap="square"/>
                    <a:lstStyle/>
                    <a:p>
                      <a:pPr>
                        <a:lnSpc>
                          <a:spcPct val="100000"/>
                        </a:lnSpc>
                      </a:pPr>
                      <a:r>
                        <a:rPr sz="1050" b="0">
                          <a:solidFill>
                            <a:srgbClr val="58595B"/>
                          </a:solidFill>
                          <a:latin typeface="IBM Plex Sans"/>
                        </a:rPr>
                        <a:t>TU Implenia</a:t>
                      </a:r>
                    </a:p>
                  </a:txBody>
                  <a:tcPr marL="109728" marR="91440" marT="45720" marB="45720" anchor="ctr">
                    <a:solidFill>
                      <a:srgbClr val="FFFFFF"/>
                    </a:solidFill>
                  </a:tcPr>
                </a:tc>
                <a:tc>
                  <a:txBody>
                    <a:bodyPr wrap="square"/>
                    <a:lstStyle/>
                    <a:p>
                      <a:pPr>
                        <a:lnSpc>
                          <a:spcPct val="100000"/>
                        </a:lnSpc>
                      </a:pPr>
                      <a:r>
                        <a:rPr sz="1050" b="0">
                          <a:solidFill>
                            <a:srgbClr val="58595B"/>
                          </a:solidFill>
                          <a:latin typeface="IBM Plex Sans"/>
                        </a:rPr>
                        <a:t>151'900</a:t>
                      </a:r>
                    </a:p>
                  </a:txBody>
                  <a:tcPr marL="109728" marR="91440" marT="45720" marB="45720" anchor="ctr">
                    <a:solidFill>
                      <a:srgbClr val="FFFFFF"/>
                    </a:solidFill>
                  </a:tcPr>
                </a:tc>
                <a:tc>
                  <a:txBody>
                    <a:bodyPr wrap="square"/>
                    <a:lstStyle/>
                    <a:p>
                      <a:pPr>
                        <a:lnSpc>
                          <a:spcPct val="100000"/>
                        </a:lnSpc>
                      </a:pPr>
                      <a:r>
                        <a:rPr sz="1050" b="0">
                          <a:solidFill>
                            <a:srgbClr val="58595B"/>
                          </a:solidFill>
                          <a:latin typeface="IBM Plex Sans"/>
                        </a:rPr>
                        <a:t>38'000</a:t>
                      </a:r>
                    </a:p>
                  </a:txBody>
                  <a:tcPr marL="109728" marR="91440" marT="45720" marB="45720" anchor="ctr">
                    <a:solidFill>
                      <a:srgbClr val="FFFFFF"/>
                    </a:solidFill>
                  </a:tcPr>
                </a:tc>
              </a:tr>
              <a:tr h="365760">
                <a:tc>
                  <a:txBody>
                    <a:bodyPr wrap="square"/>
                    <a:lstStyle/>
                    <a:p>
                      <a:pPr>
                        <a:lnSpc>
                          <a:spcPct val="100000"/>
                        </a:lnSpc>
                      </a:pPr>
                      <a:r>
                        <a:rPr sz="1050" b="1">
                          <a:solidFill>
                            <a:srgbClr val="58595B"/>
                          </a:solidFill>
                          <a:latin typeface="IBM Plex Sans"/>
                        </a:rPr>
                        <a:t>Bachem Werk Sisslerfeld</a:t>
                      </a:r>
                    </a:p>
                  </a:txBody>
                  <a:tcPr marL="109728" marR="91440" marT="45720" marB="45720" anchor="ctr">
                    <a:solidFill>
                      <a:srgbClr val="F4F4F4"/>
                    </a:solidFill>
                  </a:tcPr>
                </a:tc>
                <a:tc>
                  <a:txBody>
                    <a:bodyPr wrap="square"/>
                    <a:lstStyle/>
                    <a:p>
                      <a:pPr>
                        <a:lnSpc>
                          <a:spcPct val="100000"/>
                        </a:lnSpc>
                      </a:pPr>
                      <a:r>
                        <a:rPr sz="1050" b="0">
                          <a:solidFill>
                            <a:srgbClr val="58595B"/>
                          </a:solidFill>
                          <a:latin typeface="IBM Plex Sans"/>
                        </a:rPr>
                        <a:t>Bachem</a:t>
                      </a:r>
                    </a:p>
                  </a:txBody>
                  <a:tcPr marL="109728" marR="91440" marT="45720" marB="45720" anchor="ctr">
                    <a:solidFill>
                      <a:srgbClr val="F4F4F4"/>
                    </a:solidFill>
                  </a:tcPr>
                </a:tc>
                <a:tc>
                  <a:txBody>
                    <a:bodyPr wrap="square"/>
                    <a:lstStyle/>
                    <a:p>
                      <a:pPr>
                        <a:lnSpc>
                          <a:spcPct val="100000"/>
                        </a:lnSpc>
                      </a:pPr>
                      <a:r>
                        <a:rPr sz="1050" b="0">
                          <a:solidFill>
                            <a:srgbClr val="58595B"/>
                          </a:solidFill>
                          <a:latin typeface="IBM Plex Sans"/>
                        </a:rPr>
                        <a:t>169'600</a:t>
                      </a:r>
                    </a:p>
                  </a:txBody>
                  <a:tcPr marL="109728" marR="91440" marT="45720" marB="45720" anchor="ctr">
                    <a:solidFill>
                      <a:srgbClr val="F4F4F4"/>
                    </a:solidFill>
                  </a:tcPr>
                </a:tc>
                <a:tc>
                  <a:txBody>
                    <a:bodyPr wrap="square"/>
                    <a:lstStyle/>
                    <a:p>
                      <a:pPr>
                        <a:lnSpc>
                          <a:spcPct val="100000"/>
                        </a:lnSpc>
                      </a:pPr>
                      <a:r>
                        <a:rPr sz="1050" b="0">
                          <a:solidFill>
                            <a:srgbClr val="58595B"/>
                          </a:solidFill>
                          <a:latin typeface="IBM Plex Sans"/>
                        </a:rPr>
                        <a:t>33'900</a:t>
                      </a:r>
                    </a:p>
                  </a:txBody>
                  <a:tcPr marL="109728" marR="91440" marT="45720" marB="45720" anchor="ctr">
                    <a:solidFill>
                      <a:srgbClr val="F4F4F4"/>
                    </a:solidFill>
                  </a:tcPr>
                </a:tc>
              </a:tr>
              <a:tr h="365760">
                <a:tc>
                  <a:txBody>
                    <a:bodyPr wrap="square"/>
                    <a:lstStyle/>
                    <a:p>
                      <a:pPr>
                        <a:lnSpc>
                          <a:spcPct val="100000"/>
                        </a:lnSpc>
                      </a:pPr>
                      <a:r>
                        <a:rPr sz="1050" b="1">
                          <a:solidFill>
                            <a:srgbClr val="58595B"/>
                          </a:solidFill>
                          <a:latin typeface="IBM Plex Sans"/>
                        </a:rPr>
                        <a:t>Pumpspeicherwerk Grimsel 4</a:t>
                      </a:r>
                    </a:p>
                  </a:txBody>
                  <a:tcPr marL="109728" marR="91440" marT="45720" marB="45720" anchor="ctr">
                    <a:solidFill>
                      <a:srgbClr val="FFFFFF"/>
                    </a:solidFill>
                  </a:tcPr>
                </a:tc>
                <a:tc>
                  <a:txBody>
                    <a:bodyPr wrap="square"/>
                    <a:lstStyle/>
                    <a:p>
                      <a:pPr>
                        <a:lnSpc>
                          <a:spcPct val="100000"/>
                        </a:lnSpc>
                      </a:pPr>
                      <a:r>
                        <a:rPr sz="1050" b="0">
                          <a:solidFill>
                            <a:srgbClr val="58595B"/>
                          </a:solidFill>
                          <a:latin typeface="IBM Plex Sans"/>
                        </a:rPr>
                        <a:t>KWO (BKW-Beteiligung)</a:t>
                      </a:r>
                    </a:p>
                  </a:txBody>
                  <a:tcPr marL="109728" marR="91440" marT="45720" marB="45720" anchor="ctr">
                    <a:solidFill>
                      <a:srgbClr val="FFFFFF"/>
                    </a:solidFill>
                  </a:tcPr>
                </a:tc>
                <a:tc>
                  <a:txBody>
                    <a:bodyPr wrap="square"/>
                    <a:lstStyle/>
                    <a:p>
                      <a:pPr>
                        <a:lnSpc>
                          <a:spcPct val="100000"/>
                        </a:lnSpc>
                      </a:pPr>
                      <a:r>
                        <a:rPr sz="1050" b="0">
                          <a:solidFill>
                            <a:srgbClr val="58595B"/>
                          </a:solidFill>
                          <a:latin typeface="IBM Plex Sans"/>
                        </a:rPr>
                        <a:t>220'400</a:t>
                      </a:r>
                    </a:p>
                  </a:txBody>
                  <a:tcPr marL="109728" marR="91440" marT="45720" marB="45720" anchor="ctr">
                    <a:solidFill>
                      <a:srgbClr val="FFFFFF"/>
                    </a:solidFill>
                  </a:tcPr>
                </a:tc>
                <a:tc>
                  <a:txBody>
                    <a:bodyPr wrap="square"/>
                    <a:lstStyle/>
                    <a:p>
                      <a:pPr>
                        <a:lnSpc>
                          <a:spcPct val="100000"/>
                        </a:lnSpc>
                      </a:pPr>
                      <a:r>
                        <a:rPr sz="1050" b="0">
                          <a:solidFill>
                            <a:srgbClr val="58595B"/>
                          </a:solidFill>
                          <a:latin typeface="IBM Plex Sans"/>
                        </a:rPr>
                        <a:t>33'100</a:t>
                      </a:r>
                    </a:p>
                  </a:txBody>
                  <a:tcPr marL="109728" marR="91440" marT="45720" marB="45720" anchor="ctr">
                    <a:solidFill>
                      <a:srgbClr val="FFFFFF"/>
                    </a:solidFill>
                  </a:tcPr>
                </a:tc>
              </a:tr>
              <a:tr h="365760">
                <a:tc>
                  <a:txBody>
                    <a:bodyPr wrap="square"/>
                    <a:lstStyle/>
                    <a:p>
                      <a:pPr>
                        <a:lnSpc>
                          <a:spcPct val="100000"/>
                        </a:lnSpc>
                      </a:pPr>
                      <a:r>
                        <a:rPr sz="1050" b="1">
                          <a:solidFill>
                            <a:srgbClr val="58595B"/>
                          </a:solidFill>
                          <a:latin typeface="IBM Plex Sans"/>
                        </a:rPr>
                        <a:t>Bahnhof Zürich Stadelhofen (4. Gleis)</a:t>
                      </a:r>
                    </a:p>
                  </a:txBody>
                  <a:tcPr marL="109728" marR="91440" marT="45720" marB="45720" anchor="ctr">
                    <a:solidFill>
                      <a:srgbClr val="F4F4F4"/>
                    </a:solidFill>
                  </a:tcPr>
                </a:tc>
                <a:tc>
                  <a:txBody>
                    <a:bodyPr wrap="square"/>
                    <a:lstStyle/>
                    <a:p>
                      <a:pPr>
                        <a:lnSpc>
                          <a:spcPct val="100000"/>
                        </a:lnSpc>
                      </a:pPr>
                      <a:r>
                        <a:rPr sz="1050" b="0">
                          <a:solidFill>
                            <a:srgbClr val="58595B"/>
                          </a:solidFill>
                          <a:latin typeface="IBM Plex Sans"/>
                        </a:rPr>
                        <a:t>SBB</a:t>
                      </a:r>
                    </a:p>
                  </a:txBody>
                  <a:tcPr marL="109728" marR="91440" marT="45720" marB="45720" anchor="ctr">
                    <a:solidFill>
                      <a:srgbClr val="F4F4F4"/>
                    </a:solidFill>
                  </a:tcPr>
                </a:tc>
                <a:tc>
                  <a:txBody>
                    <a:bodyPr wrap="square"/>
                    <a:lstStyle/>
                    <a:p>
                      <a:pPr>
                        <a:lnSpc>
                          <a:spcPct val="100000"/>
                        </a:lnSpc>
                      </a:pPr>
                      <a:r>
                        <a:rPr sz="1050" b="0">
                          <a:solidFill>
                            <a:srgbClr val="58595B"/>
                          </a:solidFill>
                          <a:latin typeface="IBM Plex Sans"/>
                        </a:rPr>
                        <a:t>129'600</a:t>
                      </a:r>
                    </a:p>
                  </a:txBody>
                  <a:tcPr marL="109728" marR="91440" marT="45720" marB="45720" anchor="ctr">
                    <a:solidFill>
                      <a:srgbClr val="F4F4F4"/>
                    </a:solidFill>
                  </a:tcPr>
                </a:tc>
                <a:tc>
                  <a:txBody>
                    <a:bodyPr wrap="square"/>
                    <a:lstStyle/>
                    <a:p>
                      <a:pPr>
                        <a:lnSpc>
                          <a:spcPct val="100000"/>
                        </a:lnSpc>
                      </a:pPr>
                      <a:r>
                        <a:rPr sz="1050" b="0">
                          <a:solidFill>
                            <a:srgbClr val="58595B"/>
                          </a:solidFill>
                          <a:latin typeface="IBM Plex Sans"/>
                        </a:rPr>
                        <a:t>19'400</a:t>
                      </a:r>
                    </a:p>
                  </a:txBody>
                  <a:tcPr marL="109728" marR="91440" marT="45720" marB="45720" anchor="ctr">
                    <a:solidFill>
                      <a:srgbClr val="F4F4F4"/>
                    </a:solidFill>
                  </a:tcPr>
                </a:tc>
              </a:tr>
              <a:tr h="365760">
                <a:tc>
                  <a:txBody>
                    <a:bodyPr wrap="square"/>
                    <a:lstStyle/>
                    <a:p>
                      <a:pPr>
                        <a:lnSpc>
                          <a:spcPct val="100000"/>
                        </a:lnSpc>
                      </a:pPr>
                      <a:r>
                        <a:rPr sz="1050" b="1">
                          <a:solidFill>
                            <a:srgbClr val="58595B"/>
                          </a:solidFill>
                          <a:latin typeface="IBM Plex Sans"/>
                        </a:rPr>
                        <a:t>CKW: UW Sursee und Trafostations-Erneuerung</a:t>
                      </a:r>
                    </a:p>
                  </a:txBody>
                  <a:tcPr marL="109728" marR="91440" marT="45720" marB="45720" anchor="ctr">
                    <a:solidFill>
                      <a:srgbClr val="FFFFFF"/>
                    </a:solidFill>
                  </a:tcPr>
                </a:tc>
                <a:tc>
                  <a:txBody>
                    <a:bodyPr wrap="square"/>
                    <a:lstStyle/>
                    <a:p>
                      <a:pPr>
                        <a:lnSpc>
                          <a:spcPct val="100000"/>
                        </a:lnSpc>
                      </a:pPr>
                      <a:r>
                        <a:rPr sz="1050" b="0">
                          <a:solidFill>
                            <a:srgbClr val="58595B"/>
                          </a:solidFill>
                          <a:latin typeface="IBM Plex Sans"/>
                        </a:rPr>
                        <a:t>CKW</a:t>
                      </a:r>
                    </a:p>
                  </a:txBody>
                  <a:tcPr marL="109728" marR="91440" marT="45720" marB="45720" anchor="ctr">
                    <a:solidFill>
                      <a:srgbClr val="FFFFFF"/>
                    </a:solidFill>
                  </a:tcPr>
                </a:tc>
                <a:tc>
                  <a:txBody>
                    <a:bodyPr wrap="square"/>
                    <a:lstStyle/>
                    <a:p>
                      <a:pPr>
                        <a:lnSpc>
                          <a:spcPct val="100000"/>
                        </a:lnSpc>
                      </a:pPr>
                      <a:r>
                        <a:rPr sz="1050" b="0">
                          <a:solidFill>
                            <a:srgbClr val="58595B"/>
                          </a:solidFill>
                          <a:latin typeface="IBM Plex Sans"/>
                        </a:rPr>
                        <a:t>76'300</a:t>
                      </a:r>
                    </a:p>
                  </a:txBody>
                  <a:tcPr marL="109728" marR="91440" marT="45720" marB="45720" anchor="ctr">
                    <a:solidFill>
                      <a:srgbClr val="FFFFFF"/>
                    </a:solidFill>
                  </a:tcPr>
                </a:tc>
                <a:tc>
                  <a:txBody>
                    <a:bodyPr wrap="square"/>
                    <a:lstStyle/>
                    <a:p>
                      <a:pPr>
                        <a:lnSpc>
                          <a:spcPct val="100000"/>
                        </a:lnSpc>
                      </a:pPr>
                      <a:r>
                        <a:rPr sz="1050" b="0">
                          <a:solidFill>
                            <a:srgbClr val="58595B"/>
                          </a:solidFill>
                          <a:latin typeface="IBM Plex Sans"/>
                        </a:rPr>
                        <a:t>19'100</a:t>
                      </a:r>
                    </a:p>
                  </a:txBody>
                  <a:tcPr marL="109728" marR="91440" marT="45720" marB="45720" anchor="ctr">
                    <a:solidFill>
                      <a:srgbClr val="FFFFFF"/>
                    </a:solidFill>
                  </a:tcPr>
                </a:tc>
              </a:tr>
              <a:tr h="365760">
                <a:tc>
                  <a:txBody>
                    <a:bodyPr wrap="square"/>
                    <a:lstStyle/>
                    <a:p>
                      <a:pPr>
                        <a:lnSpc>
                          <a:spcPct val="100000"/>
                        </a:lnSpc>
                      </a:pPr>
                      <a:r>
                        <a:rPr sz="1050" b="1">
                          <a:solidFill>
                            <a:srgbClr val="58595B"/>
                          </a:solidFill>
                          <a:latin typeface="IBM Plex Sans"/>
                        </a:rPr>
                        <a:t>USZ Campus MITTE1|2</a:t>
                      </a:r>
                    </a:p>
                  </a:txBody>
                  <a:tcPr marL="109728" marR="91440" marT="45720" marB="45720" anchor="ctr">
                    <a:solidFill>
                      <a:srgbClr val="F4F4F4"/>
                    </a:solidFill>
                  </a:tcPr>
                </a:tc>
                <a:tc>
                  <a:txBody>
                    <a:bodyPr wrap="square"/>
                    <a:lstStyle/>
                    <a:p>
                      <a:pPr>
                        <a:lnSpc>
                          <a:spcPct val="100000"/>
                        </a:lnSpc>
                      </a:pPr>
                      <a:r>
                        <a:rPr sz="1050" b="0">
                          <a:solidFill>
                            <a:srgbClr val="58595B"/>
                          </a:solidFill>
                          <a:latin typeface="IBM Plex Sans"/>
                        </a:rPr>
                        <a:t>b+p baurealisation</a:t>
                      </a:r>
                    </a:p>
                  </a:txBody>
                  <a:tcPr marL="109728" marR="91440" marT="45720" marB="45720" anchor="ctr">
                    <a:solidFill>
                      <a:srgbClr val="F4F4F4"/>
                    </a:solidFill>
                  </a:tcPr>
                </a:tc>
                <a:tc>
                  <a:txBody>
                    <a:bodyPr wrap="square"/>
                    <a:lstStyle/>
                    <a:p>
                      <a:pPr>
                        <a:lnSpc>
                          <a:spcPct val="100000"/>
                        </a:lnSpc>
                      </a:pPr>
                      <a:r>
                        <a:rPr sz="1050" b="0">
                          <a:solidFill>
                            <a:srgbClr val="58595B"/>
                          </a:solidFill>
                          <a:latin typeface="IBM Plex Sans"/>
                        </a:rPr>
                        <a:t>125'400</a:t>
                      </a:r>
                    </a:p>
                  </a:txBody>
                  <a:tcPr marL="109728" marR="91440" marT="45720" marB="45720" anchor="ctr">
                    <a:solidFill>
                      <a:srgbClr val="F4F4F4"/>
                    </a:solidFill>
                  </a:tcPr>
                </a:tc>
                <a:tc>
                  <a:txBody>
                    <a:bodyPr wrap="square"/>
                    <a:lstStyle/>
                    <a:p>
                      <a:pPr>
                        <a:lnSpc>
                          <a:spcPct val="100000"/>
                        </a:lnSpc>
                      </a:pPr>
                      <a:r>
                        <a:rPr sz="1050" b="0">
                          <a:solidFill>
                            <a:srgbClr val="58595B"/>
                          </a:solidFill>
                          <a:latin typeface="IBM Plex Sans"/>
                        </a:rPr>
                        <a:t>18'800</a:t>
                      </a:r>
                    </a:p>
                  </a:txBody>
                  <a:tcPr marL="109728" marR="91440" marT="45720" marB="45720" anchor="ctr">
                    <a:solidFill>
                      <a:srgbClr val="F4F4F4"/>
                    </a:solidFill>
                  </a:tcPr>
                </a:tc>
              </a:tr>
              <a:tr h="365760">
                <a:tc>
                  <a:txBody>
                    <a:bodyPr wrap="square"/>
                    <a:lstStyle/>
                    <a:p>
                      <a:pPr>
                        <a:lnSpc>
                          <a:spcPct val="100000"/>
                        </a:lnSpc>
                      </a:pPr>
                      <a:r>
                        <a:rPr sz="1050" b="1">
                          <a:solidFill>
                            <a:srgbClr val="58595B"/>
                          </a:solidFill>
                          <a:latin typeface="IBM Plex Sans"/>
                        </a:rPr>
                        <a:t>Axpo UW Niederurnen (Gesamterneuerung)</a:t>
                      </a:r>
                    </a:p>
                  </a:txBody>
                  <a:tcPr marL="109728" marR="91440" marT="45720" marB="45720" anchor="ctr">
                    <a:solidFill>
                      <a:srgbClr val="FFFFFF"/>
                    </a:solidFill>
                  </a:tcPr>
                </a:tc>
                <a:tc>
                  <a:txBody>
                    <a:bodyPr wrap="square"/>
                    <a:lstStyle/>
                    <a:p>
                      <a:pPr>
                        <a:lnSpc>
                          <a:spcPct val="100000"/>
                        </a:lnSpc>
                      </a:pPr>
                      <a:r>
                        <a:rPr sz="1050" b="0">
                          <a:solidFill>
                            <a:srgbClr val="58595B"/>
                          </a:solidFill>
                          <a:latin typeface="IBM Plex Sans"/>
                        </a:rPr>
                        <a:t>Axpo Grid</a:t>
                      </a:r>
                    </a:p>
                  </a:txBody>
                  <a:tcPr marL="109728" marR="91440" marT="45720" marB="45720" anchor="ctr">
                    <a:solidFill>
                      <a:srgbClr val="FFFFFF"/>
                    </a:solidFill>
                  </a:tcPr>
                </a:tc>
                <a:tc>
                  <a:txBody>
                    <a:bodyPr wrap="square"/>
                    <a:lstStyle/>
                    <a:p>
                      <a:pPr>
                        <a:lnSpc>
                          <a:spcPct val="100000"/>
                        </a:lnSpc>
                      </a:pPr>
                      <a:r>
                        <a:rPr sz="1050" b="0">
                          <a:solidFill>
                            <a:srgbClr val="58595B"/>
                          </a:solidFill>
                          <a:latin typeface="IBM Plex Sans"/>
                        </a:rPr>
                        <a:t>67'800</a:t>
                      </a:r>
                    </a:p>
                  </a:txBody>
                  <a:tcPr marL="109728" marR="91440" marT="45720" marB="45720" anchor="ctr">
                    <a:solidFill>
                      <a:srgbClr val="FFFFFF"/>
                    </a:solidFill>
                  </a:tcPr>
                </a:tc>
                <a:tc>
                  <a:txBody>
                    <a:bodyPr wrap="square"/>
                    <a:lstStyle/>
                    <a:p>
                      <a:pPr>
                        <a:lnSpc>
                          <a:spcPct val="100000"/>
                        </a:lnSpc>
                      </a:pPr>
                      <a:r>
                        <a:rPr sz="1050" b="0">
                          <a:solidFill>
                            <a:srgbClr val="58595B"/>
                          </a:solidFill>
                          <a:latin typeface="IBM Plex Sans"/>
                        </a:rPr>
                        <a:t>17'000</a:t>
                      </a:r>
                    </a:p>
                  </a:txBody>
                  <a:tcPr marL="109728" marR="91440" marT="45720" marB="45720" anchor="ctr">
                    <a:solidFill>
                      <a:srgbClr val="FFFFFF"/>
                    </a:solidFill>
                  </a:tcPr>
                </a:tc>
              </a:tr>
              <a:tr h="365760">
                <a:tc>
                  <a:txBody>
                    <a:bodyPr wrap="square"/>
                    <a:lstStyle/>
                    <a:p>
                      <a:pPr>
                        <a:lnSpc>
                          <a:spcPct val="100000"/>
                        </a:lnSpc>
                      </a:pPr>
                      <a:r>
                        <a:rPr sz="1050" b="1">
                          <a:solidFill>
                            <a:srgbClr val="58595B"/>
                          </a:solidFill>
                          <a:latin typeface="IBM Plex Sans"/>
                        </a:rPr>
                        <a:t>Genève Aéroport Cap2030 / Plateforme multimodale</a:t>
                      </a:r>
                    </a:p>
                  </a:txBody>
                  <a:tcPr marL="109728" marR="91440" marT="45720" marB="45720" anchor="ctr">
                    <a:solidFill>
                      <a:srgbClr val="F4F4F4"/>
                    </a:solidFill>
                  </a:tcPr>
                </a:tc>
                <a:tc>
                  <a:txBody>
                    <a:bodyPr wrap="square"/>
                    <a:lstStyle/>
                    <a:p>
                      <a:pPr>
                        <a:lnSpc>
                          <a:spcPct val="100000"/>
                        </a:lnSpc>
                      </a:pPr>
                      <a:r>
                        <a:rPr sz="1050" b="0">
                          <a:solidFill>
                            <a:srgbClr val="58595B"/>
                          </a:solidFill>
                          <a:latin typeface="IBM Plex Sans"/>
                        </a:rPr>
                        <a:t>Losinger Marazzi (LMB)</a:t>
                      </a:r>
                    </a:p>
                  </a:txBody>
                  <a:tcPr marL="109728" marR="91440" marT="45720" marB="45720" anchor="ctr">
                    <a:solidFill>
                      <a:srgbClr val="F4F4F4"/>
                    </a:solidFill>
                  </a:tcPr>
                </a:tc>
                <a:tc>
                  <a:txBody>
                    <a:bodyPr wrap="square"/>
                    <a:lstStyle/>
                    <a:p>
                      <a:pPr>
                        <a:lnSpc>
                          <a:spcPct val="100000"/>
                        </a:lnSpc>
                      </a:pPr>
                      <a:r>
                        <a:rPr sz="1050" b="0">
                          <a:solidFill>
                            <a:srgbClr val="58595B"/>
                          </a:solidFill>
                          <a:latin typeface="IBM Plex Sans"/>
                        </a:rPr>
                        <a:t>184'700</a:t>
                      </a:r>
                    </a:p>
                  </a:txBody>
                  <a:tcPr marL="109728" marR="91440" marT="45720" marB="45720" anchor="ctr">
                    <a:solidFill>
                      <a:srgbClr val="F4F4F4"/>
                    </a:solidFill>
                  </a:tcPr>
                </a:tc>
                <a:tc>
                  <a:txBody>
                    <a:bodyPr wrap="square"/>
                    <a:lstStyle/>
                    <a:p>
                      <a:pPr>
                        <a:lnSpc>
                          <a:spcPct val="100000"/>
                        </a:lnSpc>
                      </a:pPr>
                      <a:r>
                        <a:rPr sz="1050" b="0">
                          <a:solidFill>
                            <a:srgbClr val="58595B"/>
                          </a:solidFill>
                          <a:latin typeface="IBM Plex Sans"/>
                        </a:rPr>
                        <a:t>16'600</a:t>
                      </a:r>
                    </a:p>
                  </a:txBody>
                  <a:tcPr marL="109728" marR="91440" marT="45720" marB="45720" anchor="ctr">
                    <a:solidFill>
                      <a:srgbClr val="F4F4F4"/>
                    </a:solidFill>
                  </a:tcPr>
                </a:tc>
              </a:tr>
            </a:tbl>
          </a:graphicData>
        </a:graphic>
      </p:graphicFrame>
      <p:pic>
        <p:nvPicPr>
          <p:cNvPr id="8" name="Picture 7" descr="tunnel.png"/>
          <p:cNvPicPr>
            <a:picLocks noChangeAspect="1"/>
          </p:cNvPicPr>
          <p:nvPr/>
        </p:nvPicPr>
        <p:blipFill>
          <a:blip r:embed="rId2"/>
          <a:srcRect t="706" b="471"/>
          <a:stretch>
            <a:fillRect/>
          </a:stretch>
        </p:blipFill>
        <p:spPr>
          <a:xfrm>
            <a:off x="8229600" y="1874519"/>
            <a:ext cx="3108960" cy="1920240"/>
          </a:xfrm>
          <a:prstGeom prst="rect">
            <a:avLst/>
          </a:prstGeom>
          <a:ln>
            <a:noFill/>
          </a:ln>
        </p:spPr>
      </p:pic>
      <p:pic>
        <p:nvPicPr>
          <p:cNvPr id="9" name="Picture 8" descr="spital.png"/>
          <p:cNvPicPr>
            <a:picLocks noChangeAspect="1"/>
          </p:cNvPicPr>
          <p:nvPr/>
        </p:nvPicPr>
        <p:blipFill>
          <a:blip r:embed="rId3"/>
          <a:srcRect t="647" b="529"/>
          <a:stretch>
            <a:fillRect/>
          </a:stretch>
        </p:blipFill>
        <p:spPr>
          <a:xfrm>
            <a:off x="8229600" y="3977639"/>
            <a:ext cx="3108960" cy="1920240"/>
          </a:xfrm>
          <a:prstGeom prst="rect">
            <a:avLst/>
          </a:prstGeom>
          <a:ln>
            <a:no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1056" y="365760"/>
            <a:ext cx="8183879" cy="274320"/>
          </a:xfrm>
          <a:prstGeom prst="rect">
            <a:avLst/>
          </a:prstGeom>
          <a:noFill/>
        </p:spPr>
        <p:txBody>
          <a:bodyPr wrap="square" lIns="0" rIns="0" tIns="0" bIns="0" anchor="t">
            <a:spAutoFit/>
          </a:bodyPr>
          <a:lstStyle/>
          <a:p>
            <a:pPr algn="l"/>
            <a:r>
              <a:rPr sz="1050" b="1" spc="160" cap="all">
                <a:solidFill>
                  <a:srgbClr val="E00036"/>
                </a:solidFill>
                <a:latin typeface="IBM Plex Sans"/>
              </a:rPr>
              <a:t>11 · Events</a:t>
            </a:r>
          </a:p>
        </p:txBody>
      </p:sp>
      <p:sp>
        <p:nvSpPr>
          <p:cNvPr id="3" name="TextBox 2"/>
          <p:cNvSpPr txBox="1"/>
          <p:nvPr/>
        </p:nvSpPr>
        <p:spPr>
          <a:xfrm>
            <a:off x="1591056" y="658368"/>
            <a:ext cx="8183879" cy="914400"/>
          </a:xfrm>
          <a:prstGeom prst="rect">
            <a:avLst/>
          </a:prstGeom>
          <a:noFill/>
        </p:spPr>
        <p:txBody>
          <a:bodyPr wrap="square" lIns="0" rIns="0" tIns="0" bIns="0" anchor="t">
            <a:spAutoFit/>
          </a:bodyPr>
          <a:lstStyle/>
          <a:p>
            <a:pPr algn="l">
              <a:lnSpc>
                <a:spcPct val="94000"/>
              </a:lnSpc>
            </a:pPr>
            <a:r>
              <a:rPr sz="2600" b="0">
                <a:solidFill>
                  <a:srgbClr val="000000"/>
                </a:solidFill>
                <a:latin typeface="Alata"/>
              </a:rPr>
              <a:t>Winter 2027 zuerst, ESAF 2028 jetzt offerieren</a:t>
            </a:r>
          </a:p>
        </p:txBody>
      </p:sp>
      <p:sp>
        <p:nvSpPr>
          <p:cNvPr id="4" name="Rectangle 3"/>
          <p:cNvSpPr/>
          <p:nvPr/>
        </p:nvSpPr>
        <p:spPr>
          <a:xfrm>
            <a:off x="1591056" y="1572768"/>
            <a:ext cx="100584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91056" y="6355080"/>
            <a:ext cx="7863840" cy="256032"/>
          </a:xfrm>
          <a:prstGeom prst="rect">
            <a:avLst/>
          </a:prstGeom>
          <a:noFill/>
        </p:spPr>
        <p:txBody>
          <a:bodyPr wrap="square" lIns="0" rIns="0" tIns="0" bIns="0" anchor="t">
            <a:spAutoFit/>
          </a:bodyPr>
          <a:lstStyle/>
          <a:p>
            <a:pPr algn="l"/>
            <a:r>
              <a:rPr sz="850" b="0">
                <a:solidFill>
                  <a:srgbClr val="58595B"/>
                </a:solidFill>
                <a:latin typeface="IBM Plex Sans"/>
              </a:rPr>
              <a:t>MiT Strom CH · Top-Player Power 2027 · intern · 27.09.2026</a:t>
            </a:r>
          </a:p>
        </p:txBody>
      </p:sp>
      <p:sp>
        <p:nvSpPr>
          <p:cNvPr id="6" name="TextBox 5"/>
          <p:cNvSpPr txBox="1"/>
          <p:nvPr/>
        </p:nvSpPr>
        <p:spPr>
          <a:xfrm>
            <a:off x="10149840" y="6355080"/>
            <a:ext cx="914400" cy="256032"/>
          </a:xfrm>
          <a:prstGeom prst="rect">
            <a:avLst/>
          </a:prstGeom>
          <a:noFill/>
        </p:spPr>
        <p:txBody>
          <a:bodyPr wrap="square" lIns="0" rIns="0" tIns="0" bIns="0" anchor="t">
            <a:spAutoFit/>
          </a:bodyPr>
          <a:lstStyle/>
          <a:p>
            <a:pPr algn="r"/>
            <a:r>
              <a:rPr sz="850" b="0">
                <a:solidFill>
                  <a:srgbClr val="58595B"/>
                </a:solidFill>
                <a:latin typeface="IBM Plex Sans"/>
              </a:rPr>
              <a:t>12</a:t>
            </a:r>
          </a:p>
        </p:txBody>
      </p:sp>
      <p:pic>
        <p:nvPicPr>
          <p:cNvPr id="7" name="Picture 6" descr="event.png"/>
          <p:cNvPicPr>
            <a:picLocks noChangeAspect="1"/>
          </p:cNvPicPr>
          <p:nvPr/>
        </p:nvPicPr>
        <p:blipFill>
          <a:blip r:embed="rId2"/>
          <a:srcRect l="11739" r="17609"/>
          <a:stretch>
            <a:fillRect/>
          </a:stretch>
        </p:blipFill>
        <p:spPr>
          <a:xfrm>
            <a:off x="429768" y="1874519"/>
            <a:ext cx="3566160" cy="3154680"/>
          </a:xfrm>
          <a:prstGeom prst="rect">
            <a:avLst/>
          </a:prstGeom>
          <a:ln>
            <a:noFill/>
          </a:ln>
        </p:spPr>
      </p:pic>
      <p:sp>
        <p:nvSpPr>
          <p:cNvPr id="8" name="Rectangle 7"/>
          <p:cNvSpPr/>
          <p:nvPr/>
        </p:nvSpPr>
        <p:spPr>
          <a:xfrm>
            <a:off x="4206240" y="1874519"/>
            <a:ext cx="7132320" cy="987552"/>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434840" y="2002536"/>
            <a:ext cx="3931920" cy="365760"/>
          </a:xfrm>
          <a:prstGeom prst="rect">
            <a:avLst/>
          </a:prstGeom>
          <a:noFill/>
        </p:spPr>
        <p:txBody>
          <a:bodyPr wrap="square" lIns="0" rIns="0" tIns="0" bIns="0" anchor="t">
            <a:spAutoFit/>
          </a:bodyPr>
          <a:lstStyle/>
          <a:p>
            <a:pPr algn="l">
              <a:lnSpc>
                <a:spcPct val="105000"/>
              </a:lnSpc>
              <a:spcBef>
                <a:spcPts val="0"/>
              </a:spcBef>
              <a:spcAft>
                <a:spcPts val="0"/>
              </a:spcAft>
            </a:pPr>
            <a:r>
              <a:rPr sz="1400" b="1">
                <a:solidFill>
                  <a:srgbClr val="FFFFFF"/>
                </a:solidFill>
                <a:latin typeface="IBM Plex Sans"/>
              </a:rPr>
              <a:t>FIS Ski-WM Crans-Montana 2027</a:t>
            </a:r>
          </a:p>
        </p:txBody>
      </p:sp>
      <p:sp>
        <p:nvSpPr>
          <p:cNvPr id="10" name="TextBox 9"/>
          <p:cNvSpPr txBox="1"/>
          <p:nvPr/>
        </p:nvSpPr>
        <p:spPr>
          <a:xfrm>
            <a:off x="4434840" y="2350008"/>
            <a:ext cx="4206240" cy="457200"/>
          </a:xfrm>
          <a:prstGeom prst="rect">
            <a:avLst/>
          </a:prstGeom>
          <a:noFill/>
        </p:spPr>
        <p:txBody>
          <a:bodyPr wrap="square" lIns="0" rIns="0" tIns="0" bIns="0" anchor="t">
            <a:spAutoFit/>
          </a:bodyPr>
          <a:lstStyle/>
          <a:p>
            <a:pPr algn="l">
              <a:lnSpc>
                <a:spcPct val="105000"/>
              </a:lnSpc>
              <a:spcBef>
                <a:spcPts val="0"/>
              </a:spcBef>
              <a:spcAft>
                <a:spcPts val="0"/>
              </a:spcAft>
            </a:pPr>
            <a:r>
              <a:rPr sz="1100" b="0">
                <a:solidFill>
                  <a:srgbClr val="FFFFFF"/>
                </a:solidFill>
                <a:latin typeface="IBM Plex Sans"/>
              </a:rPr>
              <a:t>01. bis 14.02.2027 · Broadcast, Fan-Zonen, Hospitality</a:t>
            </a:r>
          </a:p>
        </p:txBody>
      </p:sp>
      <p:sp>
        <p:nvSpPr>
          <p:cNvPr id="11" name="TextBox 10"/>
          <p:cNvSpPr txBox="1"/>
          <p:nvPr/>
        </p:nvSpPr>
        <p:spPr>
          <a:xfrm>
            <a:off x="8778240" y="2002536"/>
            <a:ext cx="2377440" cy="365760"/>
          </a:xfrm>
          <a:prstGeom prst="rect">
            <a:avLst/>
          </a:prstGeom>
          <a:noFill/>
        </p:spPr>
        <p:txBody>
          <a:bodyPr wrap="square" lIns="0" rIns="0" tIns="0" bIns="0" anchor="t">
            <a:spAutoFit/>
          </a:bodyPr>
          <a:lstStyle/>
          <a:p>
            <a:pPr algn="r">
              <a:lnSpc>
                <a:spcPct val="105000"/>
              </a:lnSpc>
              <a:spcBef>
                <a:spcPts val="0"/>
              </a:spcBef>
              <a:spcAft>
                <a:spcPts val="0"/>
              </a:spcAft>
            </a:pPr>
            <a:r>
              <a:rPr sz="1600" b="1">
                <a:solidFill>
                  <a:srgbClr val="FFFFFF"/>
                </a:solidFill>
                <a:latin typeface="Alata"/>
              </a:rPr>
              <a:t>CHF 63'300</a:t>
            </a:r>
          </a:p>
        </p:txBody>
      </p:sp>
      <p:sp>
        <p:nvSpPr>
          <p:cNvPr id="12" name="TextBox 11"/>
          <p:cNvSpPr txBox="1"/>
          <p:nvPr/>
        </p:nvSpPr>
        <p:spPr>
          <a:xfrm>
            <a:off x="8778240" y="2404872"/>
            <a:ext cx="2377440" cy="365760"/>
          </a:xfrm>
          <a:prstGeom prst="rect">
            <a:avLst/>
          </a:prstGeom>
          <a:noFill/>
        </p:spPr>
        <p:txBody>
          <a:bodyPr wrap="square" lIns="0" rIns="0" tIns="0" bIns="0" anchor="t">
            <a:spAutoFit/>
          </a:bodyPr>
          <a:lstStyle/>
          <a:p>
            <a:pPr algn="r">
              <a:lnSpc>
                <a:spcPct val="105000"/>
              </a:lnSpc>
              <a:spcBef>
                <a:spcPts val="0"/>
              </a:spcBef>
              <a:spcAft>
                <a:spcPts val="0"/>
              </a:spcAft>
            </a:pPr>
            <a:r>
              <a:rPr sz="1050" b="0">
                <a:solidFill>
                  <a:srgbClr val="FFFFFF"/>
                </a:solidFill>
                <a:latin typeface="IBM Plex Sans"/>
              </a:rPr>
              <a:t>Offerte auf Französisch</a:t>
            </a:r>
          </a:p>
        </p:txBody>
      </p:sp>
      <p:sp>
        <p:nvSpPr>
          <p:cNvPr id="13" name="Rectangle 12"/>
          <p:cNvSpPr/>
          <p:nvPr/>
        </p:nvSpPr>
        <p:spPr>
          <a:xfrm>
            <a:off x="4206240" y="2953511"/>
            <a:ext cx="7132320" cy="987552"/>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434840" y="3081527"/>
            <a:ext cx="3931920" cy="365760"/>
          </a:xfrm>
          <a:prstGeom prst="rect">
            <a:avLst/>
          </a:prstGeom>
          <a:noFill/>
        </p:spPr>
        <p:txBody>
          <a:bodyPr wrap="square" lIns="0" rIns="0" tIns="0" bIns="0" anchor="t">
            <a:spAutoFit/>
          </a:bodyPr>
          <a:lstStyle/>
          <a:p>
            <a:pPr algn="l">
              <a:lnSpc>
                <a:spcPct val="105000"/>
              </a:lnSpc>
              <a:spcBef>
                <a:spcPts val="0"/>
              </a:spcBef>
              <a:spcAft>
                <a:spcPts val="0"/>
              </a:spcAft>
            </a:pPr>
            <a:r>
              <a:rPr sz="1400" b="1">
                <a:solidFill>
                  <a:srgbClr val="FFFFFF"/>
                </a:solidFill>
                <a:latin typeface="IBM Plex Sans"/>
              </a:rPr>
              <a:t>WEF 2027</a:t>
            </a:r>
          </a:p>
        </p:txBody>
      </p:sp>
      <p:sp>
        <p:nvSpPr>
          <p:cNvPr id="15" name="TextBox 14"/>
          <p:cNvSpPr txBox="1"/>
          <p:nvPr/>
        </p:nvSpPr>
        <p:spPr>
          <a:xfrm>
            <a:off x="4434840" y="3428999"/>
            <a:ext cx="4206240" cy="457200"/>
          </a:xfrm>
          <a:prstGeom prst="rect">
            <a:avLst/>
          </a:prstGeom>
          <a:noFill/>
        </p:spPr>
        <p:txBody>
          <a:bodyPr wrap="square" lIns="0" rIns="0" tIns="0" bIns="0" anchor="t">
            <a:spAutoFit/>
          </a:bodyPr>
          <a:lstStyle/>
          <a:p>
            <a:pPr algn="l">
              <a:lnSpc>
                <a:spcPct val="105000"/>
              </a:lnSpc>
              <a:spcBef>
                <a:spcPts val="0"/>
              </a:spcBef>
              <a:spcAft>
                <a:spcPts val="0"/>
              </a:spcAft>
            </a:pPr>
            <a:r>
              <a:rPr sz="1100" b="0">
                <a:solidFill>
                  <a:srgbClr val="E6E6E6"/>
                </a:solidFill>
                <a:latin typeface="IBM Plex Sans"/>
              </a:rPr>
              <a:t>18. bis 22.01.2027, Davos · Pavillons und Sicherheit bei knappem Ortsnetz</a:t>
            </a:r>
          </a:p>
        </p:txBody>
      </p:sp>
      <p:sp>
        <p:nvSpPr>
          <p:cNvPr id="16" name="TextBox 15"/>
          <p:cNvSpPr txBox="1"/>
          <p:nvPr/>
        </p:nvSpPr>
        <p:spPr>
          <a:xfrm>
            <a:off x="8778240" y="3081527"/>
            <a:ext cx="2377440" cy="365760"/>
          </a:xfrm>
          <a:prstGeom prst="rect">
            <a:avLst/>
          </a:prstGeom>
          <a:noFill/>
        </p:spPr>
        <p:txBody>
          <a:bodyPr wrap="square" lIns="0" rIns="0" tIns="0" bIns="0" anchor="t">
            <a:spAutoFit/>
          </a:bodyPr>
          <a:lstStyle/>
          <a:p>
            <a:pPr algn="r">
              <a:lnSpc>
                <a:spcPct val="105000"/>
              </a:lnSpc>
              <a:spcBef>
                <a:spcPts val="0"/>
              </a:spcBef>
              <a:spcAft>
                <a:spcPts val="0"/>
              </a:spcAft>
            </a:pPr>
            <a:r>
              <a:rPr sz="1600" b="1">
                <a:solidFill>
                  <a:srgbClr val="FFFFFF"/>
                </a:solidFill>
                <a:latin typeface="Alata"/>
              </a:rPr>
              <a:t>CHF 75'700</a:t>
            </a:r>
          </a:p>
        </p:txBody>
      </p:sp>
      <p:sp>
        <p:nvSpPr>
          <p:cNvPr id="17" name="TextBox 16"/>
          <p:cNvSpPr txBox="1"/>
          <p:nvPr/>
        </p:nvSpPr>
        <p:spPr>
          <a:xfrm>
            <a:off x="8778240" y="3483863"/>
            <a:ext cx="2377440" cy="365760"/>
          </a:xfrm>
          <a:prstGeom prst="rect">
            <a:avLst/>
          </a:prstGeom>
          <a:noFill/>
        </p:spPr>
        <p:txBody>
          <a:bodyPr wrap="square" lIns="0" rIns="0" tIns="0" bIns="0" anchor="t">
            <a:spAutoFit/>
          </a:bodyPr>
          <a:lstStyle/>
          <a:p>
            <a:pPr algn="r">
              <a:lnSpc>
                <a:spcPct val="105000"/>
              </a:lnSpc>
              <a:spcBef>
                <a:spcPts val="0"/>
              </a:spcBef>
              <a:spcAft>
                <a:spcPts val="0"/>
              </a:spcAft>
            </a:pPr>
            <a:r>
              <a:rPr sz="1050" b="0">
                <a:solidFill>
                  <a:srgbClr val="E6E6E6"/>
                </a:solidFill>
                <a:latin typeface="IBM Plex Sans"/>
              </a:rPr>
              <a:t>Aufbau ab Dezember</a:t>
            </a:r>
          </a:p>
        </p:txBody>
      </p:sp>
      <p:sp>
        <p:nvSpPr>
          <p:cNvPr id="18" name="Rectangle 17"/>
          <p:cNvSpPr/>
          <p:nvPr/>
        </p:nvSpPr>
        <p:spPr>
          <a:xfrm>
            <a:off x="4206240" y="4032504"/>
            <a:ext cx="7132320" cy="987552"/>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434840" y="4160520"/>
            <a:ext cx="3931920" cy="365760"/>
          </a:xfrm>
          <a:prstGeom prst="rect">
            <a:avLst/>
          </a:prstGeom>
          <a:noFill/>
        </p:spPr>
        <p:txBody>
          <a:bodyPr wrap="square" lIns="0" rIns="0" tIns="0" bIns="0" anchor="t">
            <a:spAutoFit/>
          </a:bodyPr>
          <a:lstStyle/>
          <a:p>
            <a:pPr algn="l">
              <a:lnSpc>
                <a:spcPct val="105000"/>
              </a:lnSpc>
              <a:spcBef>
                <a:spcPts val="0"/>
              </a:spcBef>
              <a:spcAft>
                <a:spcPts val="0"/>
              </a:spcAft>
            </a:pPr>
            <a:r>
              <a:rPr sz="1400" b="1">
                <a:solidFill>
                  <a:srgbClr val="FFFFFF"/>
                </a:solidFill>
                <a:latin typeface="IBM Plex Sans"/>
              </a:rPr>
              <a:t>ESAF 2028 Thun</a:t>
            </a:r>
          </a:p>
        </p:txBody>
      </p:sp>
      <p:sp>
        <p:nvSpPr>
          <p:cNvPr id="20" name="TextBox 19"/>
          <p:cNvSpPr txBox="1"/>
          <p:nvPr/>
        </p:nvSpPr>
        <p:spPr>
          <a:xfrm>
            <a:off x="4434840" y="4507992"/>
            <a:ext cx="4206240" cy="457200"/>
          </a:xfrm>
          <a:prstGeom prst="rect">
            <a:avLst/>
          </a:prstGeom>
          <a:noFill/>
        </p:spPr>
        <p:txBody>
          <a:bodyPr wrap="square" lIns="0" rIns="0" tIns="0" bIns="0" anchor="t">
            <a:spAutoFit/>
          </a:bodyPr>
          <a:lstStyle/>
          <a:p>
            <a:pPr algn="l">
              <a:lnSpc>
                <a:spcPct val="105000"/>
              </a:lnSpc>
              <a:spcBef>
                <a:spcPts val="0"/>
              </a:spcBef>
              <a:spcAft>
                <a:spcPts val="0"/>
              </a:spcAft>
            </a:pPr>
            <a:r>
              <a:rPr sz="1100" b="0">
                <a:solidFill>
                  <a:srgbClr val="E6E6E6"/>
                </a:solidFill>
                <a:latin typeface="IBM Plex Sans"/>
              </a:rPr>
              <a:t>25. bis 27.08.2028, Thuner Allmend · Arena, Festgelände, Camping</a:t>
            </a:r>
          </a:p>
        </p:txBody>
      </p:sp>
      <p:sp>
        <p:nvSpPr>
          <p:cNvPr id="21" name="TextBox 20"/>
          <p:cNvSpPr txBox="1"/>
          <p:nvPr/>
        </p:nvSpPr>
        <p:spPr>
          <a:xfrm>
            <a:off x="8778240" y="4160520"/>
            <a:ext cx="2377440" cy="365760"/>
          </a:xfrm>
          <a:prstGeom prst="rect">
            <a:avLst/>
          </a:prstGeom>
          <a:noFill/>
        </p:spPr>
        <p:txBody>
          <a:bodyPr wrap="square" lIns="0" rIns="0" tIns="0" bIns="0" anchor="t">
            <a:spAutoFit/>
          </a:bodyPr>
          <a:lstStyle/>
          <a:p>
            <a:pPr algn="r">
              <a:lnSpc>
                <a:spcPct val="105000"/>
              </a:lnSpc>
              <a:spcBef>
                <a:spcPts val="0"/>
              </a:spcBef>
              <a:spcAft>
                <a:spcPts val="0"/>
              </a:spcAft>
            </a:pPr>
            <a:r>
              <a:rPr sz="1600" b="1">
                <a:solidFill>
                  <a:srgbClr val="FFFFFF"/>
                </a:solidFill>
                <a:latin typeface="Alata"/>
              </a:rPr>
              <a:t>CHF 92'700</a:t>
            </a:r>
          </a:p>
        </p:txBody>
      </p:sp>
      <p:sp>
        <p:nvSpPr>
          <p:cNvPr id="22" name="TextBox 21"/>
          <p:cNvSpPr txBox="1"/>
          <p:nvPr/>
        </p:nvSpPr>
        <p:spPr>
          <a:xfrm>
            <a:off x="8778240" y="4562856"/>
            <a:ext cx="2377440" cy="365760"/>
          </a:xfrm>
          <a:prstGeom prst="rect">
            <a:avLst/>
          </a:prstGeom>
          <a:noFill/>
        </p:spPr>
        <p:txBody>
          <a:bodyPr wrap="square" lIns="0" rIns="0" tIns="0" bIns="0" anchor="t">
            <a:spAutoFit/>
          </a:bodyPr>
          <a:lstStyle/>
          <a:p>
            <a:pPr algn="r">
              <a:lnSpc>
                <a:spcPct val="105000"/>
              </a:lnSpc>
              <a:spcBef>
                <a:spcPts val="0"/>
              </a:spcBef>
              <a:spcAft>
                <a:spcPts val="0"/>
              </a:spcAft>
            </a:pPr>
            <a:r>
              <a:rPr sz="1050" b="0">
                <a:solidFill>
                  <a:srgbClr val="E6E6E6"/>
                </a:solidFill>
                <a:latin typeface="IBM Plex Sans"/>
              </a:rPr>
              <a:t>Konzept 2027, Umsatz 2028</a:t>
            </a:r>
          </a:p>
        </p:txBody>
      </p:sp>
      <p:sp>
        <p:nvSpPr>
          <p:cNvPr id="23" name="Rectangle 22"/>
          <p:cNvSpPr/>
          <p:nvPr/>
        </p:nvSpPr>
        <p:spPr>
          <a:xfrm>
            <a:off x="429768" y="5257800"/>
            <a:ext cx="10908792" cy="777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41247" y="5504688"/>
            <a:ext cx="10085832" cy="320040"/>
          </a:xfrm>
          <a:prstGeom prst="rect">
            <a:avLst/>
          </a:prstGeom>
          <a:noFill/>
        </p:spPr>
        <p:txBody>
          <a:bodyPr wrap="square" lIns="0" rIns="0" tIns="0" bIns="0" anchor="t">
            <a:spAutoFit/>
          </a:bodyPr>
          <a:lstStyle/>
          <a:p>
            <a:pPr algn="l">
              <a:lnSpc>
                <a:spcPct val="105000"/>
              </a:lnSpc>
            </a:pPr>
            <a:r>
              <a:rPr sz="1250" b="0">
                <a:solidFill>
                  <a:srgbClr val="58595B"/>
                </a:solidFill>
                <a:latin typeface="IBM Plex Sans"/>
              </a:rPr>
              <a:t>Sommer-Openairs (St.Gallen, Frauenfeld, Gurten, Paléo, Montreux) liegen einzeln unter CHF 50'000: als Saisonpaket anbieten.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1056" y="365760"/>
            <a:ext cx="8183879" cy="274320"/>
          </a:xfrm>
          <a:prstGeom prst="rect">
            <a:avLst/>
          </a:prstGeom>
          <a:noFill/>
        </p:spPr>
        <p:txBody>
          <a:bodyPr wrap="square" lIns="0" rIns="0" tIns="0" bIns="0" anchor="t">
            <a:spAutoFit/>
          </a:bodyPr>
          <a:lstStyle/>
          <a:p>
            <a:pPr algn="l"/>
            <a:r>
              <a:rPr sz="1050" b="1" spc="160" cap="all">
                <a:solidFill>
                  <a:srgbClr val="E00036"/>
                </a:solidFill>
                <a:latin typeface="IBM Plex Sans"/>
              </a:rPr>
              <a:t>12 · Wettbewerb</a:t>
            </a:r>
          </a:p>
        </p:txBody>
      </p:sp>
      <p:sp>
        <p:nvSpPr>
          <p:cNvPr id="3" name="TextBox 2"/>
          <p:cNvSpPr txBox="1"/>
          <p:nvPr/>
        </p:nvSpPr>
        <p:spPr>
          <a:xfrm>
            <a:off x="1591056" y="658368"/>
            <a:ext cx="8183879" cy="914400"/>
          </a:xfrm>
          <a:prstGeom prst="rect">
            <a:avLst/>
          </a:prstGeom>
          <a:noFill/>
        </p:spPr>
        <p:txBody>
          <a:bodyPr wrap="square" lIns="0" rIns="0" tIns="0" bIns="0" anchor="t">
            <a:spAutoFit/>
          </a:bodyPr>
          <a:lstStyle/>
          <a:p>
            <a:pPr algn="l">
              <a:lnSpc>
                <a:spcPct val="94000"/>
              </a:lnSpc>
            </a:pPr>
            <a:r>
              <a:rPr sz="2800" b="0">
                <a:solidFill>
                  <a:srgbClr val="000000"/>
                </a:solidFill>
                <a:latin typeface="Alata"/>
              </a:rPr>
              <a:t>Wer sonst mobile Power anbietet</a:t>
            </a:r>
          </a:p>
        </p:txBody>
      </p:sp>
      <p:sp>
        <p:nvSpPr>
          <p:cNvPr id="4" name="Rectangle 3"/>
          <p:cNvSpPr/>
          <p:nvPr/>
        </p:nvSpPr>
        <p:spPr>
          <a:xfrm>
            <a:off x="1591056" y="1572768"/>
            <a:ext cx="100584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91056" y="6355080"/>
            <a:ext cx="7863840" cy="256032"/>
          </a:xfrm>
          <a:prstGeom prst="rect">
            <a:avLst/>
          </a:prstGeom>
          <a:noFill/>
        </p:spPr>
        <p:txBody>
          <a:bodyPr wrap="square" lIns="0" rIns="0" tIns="0" bIns="0" anchor="t">
            <a:spAutoFit/>
          </a:bodyPr>
          <a:lstStyle/>
          <a:p>
            <a:pPr algn="l"/>
            <a:r>
              <a:rPr sz="850" b="0">
                <a:solidFill>
                  <a:srgbClr val="58595B"/>
                </a:solidFill>
                <a:latin typeface="IBM Plex Sans"/>
              </a:rPr>
              <a:t>MiT Strom CH · Top-Player Power 2027 · intern · 27.09.2026</a:t>
            </a:r>
          </a:p>
        </p:txBody>
      </p:sp>
      <p:sp>
        <p:nvSpPr>
          <p:cNvPr id="6" name="TextBox 5"/>
          <p:cNvSpPr txBox="1"/>
          <p:nvPr/>
        </p:nvSpPr>
        <p:spPr>
          <a:xfrm>
            <a:off x="10149840" y="6355080"/>
            <a:ext cx="914400" cy="256032"/>
          </a:xfrm>
          <a:prstGeom prst="rect">
            <a:avLst/>
          </a:prstGeom>
          <a:noFill/>
        </p:spPr>
        <p:txBody>
          <a:bodyPr wrap="square" lIns="0" rIns="0" tIns="0" bIns="0" anchor="t">
            <a:spAutoFit/>
          </a:bodyPr>
          <a:lstStyle/>
          <a:p>
            <a:pPr algn="r"/>
            <a:r>
              <a:rPr sz="850" b="0">
                <a:solidFill>
                  <a:srgbClr val="58595B"/>
                </a:solidFill>
                <a:latin typeface="IBM Plex Sans"/>
              </a:rPr>
              <a:t>13</a:t>
            </a:r>
          </a:p>
        </p:txBody>
      </p:sp>
      <p:graphicFrame>
        <p:nvGraphicFramePr>
          <p:cNvPr id="7" name="Table 6"/>
          <p:cNvGraphicFramePr>
            <a:graphicFrameLocks noGrp="1"/>
          </p:cNvGraphicFramePr>
          <p:nvPr/>
        </p:nvGraphicFramePr>
        <p:xfrm>
          <a:off x="429768" y="1874519"/>
          <a:ext cx="10908791" cy="2816352"/>
        </p:xfrm>
        <a:graphic>
          <a:graphicData uri="http://schemas.openxmlformats.org/drawingml/2006/table">
            <a:tbl>
              <a:tblPr>
                <a:tableStyleId>{2D5ABB26-0587-4C30-8999-92F81FD0307C}</a:tableStyleId>
              </a:tblPr>
              <a:tblGrid>
                <a:gridCol w="2933456"/>
                <a:gridCol w="7975335"/>
              </a:tblGrid>
              <a:tr h="384048">
                <a:tc>
                  <a:txBody>
                    <a:bodyPr wrap="square"/>
                    <a:lstStyle/>
                    <a:p>
                      <a:pPr>
                        <a:lnSpc>
                          <a:spcPct val="100000"/>
                        </a:lnSpc>
                      </a:pPr>
                      <a:r>
                        <a:rPr sz="1100" b="1">
                          <a:solidFill>
                            <a:srgbClr val="FFFFFF"/>
                          </a:solidFill>
                          <a:latin typeface="IBM Plex Sans"/>
                        </a:rPr>
                        <a:t>Anbieter</a:t>
                      </a:r>
                    </a:p>
                  </a:txBody>
                  <a:tcPr marL="109728" marR="91440" marT="45720" marB="45720" anchor="ctr">
                    <a:solidFill>
                      <a:srgbClr val="E00036"/>
                    </a:solidFill>
                  </a:tcPr>
                </a:tc>
                <a:tc>
                  <a:txBody>
                    <a:bodyPr wrap="square"/>
                    <a:lstStyle/>
                    <a:p>
                      <a:pPr>
                        <a:lnSpc>
                          <a:spcPct val="100000"/>
                        </a:lnSpc>
                      </a:pPr>
                      <a:r>
                        <a:rPr sz="1100" b="1">
                          <a:solidFill>
                            <a:srgbClr val="FFFFFF"/>
                          </a:solidFill>
                          <a:latin typeface="IBM Plex Sans"/>
                        </a:rPr>
                        <a:t>Angebot laut eigener Website</a:t>
                      </a:r>
                    </a:p>
                  </a:txBody>
                  <a:tcPr marL="109728" marR="91440" marT="45720" marB="45720" anchor="ctr">
                    <a:solidFill>
                      <a:srgbClr val="E00036"/>
                    </a:solidFill>
                  </a:tcPr>
                </a:tc>
              </a:tr>
              <a:tr h="347472">
                <a:tc>
                  <a:txBody>
                    <a:bodyPr wrap="square"/>
                    <a:lstStyle/>
                    <a:p>
                      <a:pPr>
                        <a:lnSpc>
                          <a:spcPct val="100000"/>
                        </a:lnSpc>
                      </a:pPr>
                      <a:r>
                        <a:rPr sz="1100" b="1">
                          <a:solidFill>
                            <a:srgbClr val="58595B"/>
                          </a:solidFill>
                          <a:latin typeface="IBM Plex Sans"/>
                        </a:rPr>
                        <a:t>Avesco Rent (Cat)</a:t>
                      </a:r>
                    </a:p>
                  </a:txBody>
                  <a:tcPr marL="109728" marR="91440" marT="45720" marB="45720" anchor="ctr">
                    <a:solidFill>
                      <a:srgbClr val="FFFFFF"/>
                    </a:solidFill>
                  </a:tcPr>
                </a:tc>
                <a:tc>
                  <a:txBody>
                    <a:bodyPr wrap="square"/>
                    <a:lstStyle/>
                    <a:p>
                      <a:pPr>
                        <a:lnSpc>
                          <a:spcPct val="100000"/>
                        </a:lnSpc>
                      </a:pPr>
                      <a:r>
                        <a:rPr sz="1100" b="0">
                          <a:solidFill>
                            <a:srgbClr val="58595B"/>
                          </a:solidFill>
                          <a:latin typeface="IBM Plex Sans"/>
                        </a:rPr>
                        <a:t>Cat-Generatoren, z.B. XQP500 (550 kVA)</a:t>
                      </a:r>
                    </a:p>
                  </a:txBody>
                  <a:tcPr marL="109728" marR="91440" marT="45720" marB="45720" anchor="ctr">
                    <a:solidFill>
                      <a:srgbClr val="FFFFFF"/>
                    </a:solidFill>
                  </a:tcPr>
                </a:tc>
              </a:tr>
              <a:tr h="347472">
                <a:tc>
                  <a:txBody>
                    <a:bodyPr wrap="square"/>
                    <a:lstStyle/>
                    <a:p>
                      <a:pPr>
                        <a:lnSpc>
                          <a:spcPct val="100000"/>
                        </a:lnSpc>
                      </a:pPr>
                      <a:r>
                        <a:rPr sz="1100" b="1">
                          <a:solidFill>
                            <a:srgbClr val="58595B"/>
                          </a:solidFill>
                          <a:latin typeface="IBM Plex Sans"/>
                        </a:rPr>
                        <a:t>Bimex</a:t>
                      </a:r>
                    </a:p>
                  </a:txBody>
                  <a:tcPr marL="109728" marR="91440" marT="45720" marB="45720" anchor="ctr">
                    <a:solidFill>
                      <a:srgbClr val="F4F4F4"/>
                    </a:solidFill>
                  </a:tcPr>
                </a:tc>
                <a:tc>
                  <a:txBody>
                    <a:bodyPr wrap="square"/>
                    <a:lstStyle/>
                    <a:p>
                      <a:pPr>
                        <a:lnSpc>
                          <a:spcPct val="100000"/>
                        </a:lnSpc>
                      </a:pPr>
                      <a:r>
                        <a:rPr sz="1100" b="0">
                          <a:solidFill>
                            <a:srgbClr val="58595B"/>
                          </a:solidFill>
                          <a:latin typeface="IBM Plex Sans"/>
                        </a:rPr>
                        <a:t>Aggregate bis 2'000 kVA, netzparallel</a:t>
                      </a:r>
                    </a:p>
                  </a:txBody>
                  <a:tcPr marL="109728" marR="91440" marT="45720" marB="45720" anchor="ctr">
                    <a:solidFill>
                      <a:srgbClr val="F4F4F4"/>
                    </a:solidFill>
                  </a:tcPr>
                </a:tc>
              </a:tr>
              <a:tr h="347472">
                <a:tc>
                  <a:txBody>
                    <a:bodyPr wrap="square"/>
                    <a:lstStyle/>
                    <a:p>
                      <a:pPr>
                        <a:lnSpc>
                          <a:spcPct val="100000"/>
                        </a:lnSpc>
                      </a:pPr>
                      <a:r>
                        <a:rPr sz="1100" b="1">
                          <a:solidFill>
                            <a:srgbClr val="58595B"/>
                          </a:solidFill>
                          <a:latin typeface="IBM Plex Sans"/>
                        </a:rPr>
                        <a:t>GENGA AG</a:t>
                      </a:r>
                    </a:p>
                  </a:txBody>
                  <a:tcPr marL="109728" marR="91440" marT="45720" marB="45720" anchor="ctr">
                    <a:solidFill>
                      <a:srgbClr val="FFFFFF"/>
                    </a:solidFill>
                  </a:tcPr>
                </a:tc>
                <a:tc>
                  <a:txBody>
                    <a:bodyPr wrap="square"/>
                    <a:lstStyle/>
                    <a:p>
                      <a:pPr>
                        <a:lnSpc>
                          <a:spcPct val="100000"/>
                        </a:lnSpc>
                      </a:pPr>
                      <a:r>
                        <a:rPr sz="1100" b="0">
                          <a:solidFill>
                            <a:srgbClr val="58595B"/>
                          </a:solidFill>
                          <a:latin typeface="IBM Plex Sans"/>
                        </a:rPr>
                        <a:t>bis 670 kVA, auf Anfrage bis 2'500 kVA</a:t>
                      </a:r>
                    </a:p>
                  </a:txBody>
                  <a:tcPr marL="109728" marR="91440" marT="45720" marB="45720" anchor="ctr">
                    <a:solidFill>
                      <a:srgbClr val="FFFFFF"/>
                    </a:solidFill>
                  </a:tcPr>
                </a:tc>
              </a:tr>
              <a:tr h="347472">
                <a:tc>
                  <a:txBody>
                    <a:bodyPr wrap="square"/>
                    <a:lstStyle/>
                    <a:p>
                      <a:pPr>
                        <a:lnSpc>
                          <a:spcPct val="100000"/>
                        </a:lnSpc>
                      </a:pPr>
                      <a:r>
                        <a:rPr sz="1100" b="1">
                          <a:solidFill>
                            <a:srgbClr val="58595B"/>
                          </a:solidFill>
                          <a:latin typeface="IBM Plex Sans"/>
                        </a:rPr>
                        <a:t>Kummler+Matter EVT</a:t>
                      </a:r>
                    </a:p>
                  </a:txBody>
                  <a:tcPr marL="109728" marR="91440" marT="45720" marB="45720" anchor="ctr">
                    <a:solidFill>
                      <a:srgbClr val="F4F4F4"/>
                    </a:solidFill>
                  </a:tcPr>
                </a:tc>
                <a:tc>
                  <a:txBody>
                    <a:bodyPr wrap="square"/>
                    <a:lstStyle/>
                    <a:p>
                      <a:pPr>
                        <a:lnSpc>
                          <a:spcPct val="100000"/>
                        </a:lnSpc>
                      </a:pPr>
                      <a:r>
                        <a:rPr sz="1100" b="0">
                          <a:solidFill>
                            <a:srgbClr val="58595B"/>
                          </a:solidFill>
                          <a:latin typeface="IBM Plex Sans"/>
                        </a:rPr>
                        <a:t>Mobile Trafostationen MS/NS (Partner und Wettbewerber)</a:t>
                      </a:r>
                    </a:p>
                  </a:txBody>
                  <a:tcPr marL="109728" marR="91440" marT="45720" marB="45720" anchor="ctr">
                    <a:solidFill>
                      <a:srgbClr val="F4F4F4"/>
                    </a:solidFill>
                  </a:tcPr>
                </a:tc>
              </a:tr>
              <a:tr h="347472">
                <a:tc>
                  <a:txBody>
                    <a:bodyPr wrap="square"/>
                    <a:lstStyle/>
                    <a:p>
                      <a:pPr>
                        <a:lnSpc>
                          <a:spcPct val="100000"/>
                        </a:lnSpc>
                      </a:pPr>
                      <a:r>
                        <a:rPr sz="1100" b="1">
                          <a:solidFill>
                            <a:srgbClr val="58595B"/>
                          </a:solidFill>
                          <a:latin typeface="IBM Plex Sans"/>
                        </a:rPr>
                        <a:t>Arag Bau</a:t>
                      </a:r>
                    </a:p>
                  </a:txBody>
                  <a:tcPr marL="109728" marR="91440" marT="45720" marB="45720" anchor="ctr">
                    <a:solidFill>
                      <a:srgbClr val="FFFFFF"/>
                    </a:solidFill>
                  </a:tcPr>
                </a:tc>
                <a:tc>
                  <a:txBody>
                    <a:bodyPr wrap="square"/>
                    <a:lstStyle/>
                    <a:p>
                      <a:pPr>
                        <a:lnSpc>
                          <a:spcPct val="100000"/>
                        </a:lnSpc>
                      </a:pPr>
                      <a:r>
                        <a:rPr sz="1100" b="0">
                          <a:solidFill>
                            <a:srgbClr val="58595B"/>
                          </a:solidFill>
                          <a:latin typeface="IBM Plex Sans"/>
                        </a:rPr>
                        <a:t>Generatoren 20 bis 608 kVA</a:t>
                      </a:r>
                    </a:p>
                  </a:txBody>
                  <a:tcPr marL="109728" marR="91440" marT="45720" marB="45720" anchor="ctr">
                    <a:solidFill>
                      <a:srgbClr val="FFFFFF"/>
                    </a:solidFill>
                  </a:tcPr>
                </a:tc>
              </a:tr>
              <a:tr h="347472">
                <a:tc>
                  <a:txBody>
                    <a:bodyPr wrap="square"/>
                    <a:lstStyle/>
                    <a:p>
                      <a:pPr>
                        <a:lnSpc>
                          <a:spcPct val="100000"/>
                        </a:lnSpc>
                      </a:pPr>
                      <a:r>
                        <a:rPr sz="1100" b="1">
                          <a:solidFill>
                            <a:srgbClr val="58595B"/>
                          </a:solidFill>
                          <a:latin typeface="IBM Plex Sans"/>
                        </a:rPr>
                        <a:t>Loxam CH / Boels CH</a:t>
                      </a:r>
                    </a:p>
                  </a:txBody>
                  <a:tcPr marL="109728" marR="91440" marT="45720" marB="45720" anchor="ctr">
                    <a:solidFill>
                      <a:srgbClr val="F4F4F4"/>
                    </a:solidFill>
                  </a:tcPr>
                </a:tc>
                <a:tc>
                  <a:txBody>
                    <a:bodyPr wrap="square"/>
                    <a:lstStyle/>
                    <a:p>
                      <a:pPr>
                        <a:lnSpc>
                          <a:spcPct val="100000"/>
                        </a:lnSpc>
                      </a:pPr>
                      <a:r>
                        <a:rPr sz="1100" b="0">
                          <a:solidFill>
                            <a:srgbClr val="58595B"/>
                          </a:solidFill>
                          <a:latin typeface="IBM Plex Sans"/>
                        </a:rPr>
                        <a:t>Generatoren bis ca. 150 kVA</a:t>
                      </a:r>
                    </a:p>
                  </a:txBody>
                  <a:tcPr marL="109728" marR="91440" marT="45720" marB="45720" anchor="ctr">
                    <a:solidFill>
                      <a:srgbClr val="F4F4F4"/>
                    </a:solidFill>
                  </a:tcPr>
                </a:tc>
              </a:tr>
              <a:tr h="347472">
                <a:tc>
                  <a:txBody>
                    <a:bodyPr wrap="square"/>
                    <a:lstStyle/>
                    <a:p>
                      <a:pPr>
                        <a:lnSpc>
                          <a:spcPct val="100000"/>
                        </a:lnSpc>
                      </a:pPr>
                      <a:r>
                        <a:rPr sz="1100" b="1">
                          <a:solidFill>
                            <a:srgbClr val="58595B"/>
                          </a:solidFill>
                          <a:latin typeface="IBM Plex Sans"/>
                        </a:rPr>
                        <a:t>Energyst (Cat Rental Power)</a:t>
                      </a:r>
                    </a:p>
                  </a:txBody>
                  <a:tcPr marL="109728" marR="91440" marT="45720" marB="45720" anchor="ctr">
                    <a:solidFill>
                      <a:srgbClr val="FFFFFF"/>
                    </a:solidFill>
                  </a:tcPr>
                </a:tc>
                <a:tc>
                  <a:txBody>
                    <a:bodyPr wrap="square"/>
                    <a:lstStyle/>
                    <a:p>
                      <a:pPr>
                        <a:lnSpc>
                          <a:spcPct val="100000"/>
                        </a:lnSpc>
                      </a:pPr>
                      <a:r>
                        <a:rPr sz="1100" b="0">
                          <a:solidFill>
                            <a:srgbClr val="58595B"/>
                          </a:solidFill>
                          <a:latin typeface="IBM Plex Sans"/>
                        </a:rPr>
                        <a:t>Generatoren, Trafos, Lastbänke; CH vermutlich über Avesco</a:t>
                      </a:r>
                    </a:p>
                  </a:txBody>
                  <a:tcPr marL="109728" marR="91440" marT="45720" marB="45720" anchor="ctr">
                    <a:solidFill>
                      <a:srgbClr val="FFFFFF"/>
                    </a:solidFill>
                  </a:tcPr>
                </a:tc>
              </a:tr>
            </a:tbl>
          </a:graphicData>
        </a:graphic>
      </p:graphicFrame>
      <p:sp>
        <p:nvSpPr>
          <p:cNvPr id="8" name="Rectangle 7"/>
          <p:cNvSpPr/>
          <p:nvPr/>
        </p:nvSpPr>
        <p:spPr>
          <a:xfrm>
            <a:off x="429768" y="4892040"/>
            <a:ext cx="10908792" cy="1188720"/>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41247" y="5138927"/>
            <a:ext cx="10085832" cy="731520"/>
          </a:xfrm>
          <a:prstGeom prst="rect">
            <a:avLst/>
          </a:prstGeom>
          <a:noFill/>
        </p:spPr>
        <p:txBody>
          <a:bodyPr wrap="square" lIns="0" rIns="0" tIns="0" bIns="0" anchor="t">
            <a:spAutoFit/>
          </a:bodyPr>
          <a:lstStyle/>
          <a:p>
            <a:pPr algn="l">
              <a:lnSpc>
                <a:spcPct val="105000"/>
              </a:lnSpc>
            </a:pPr>
            <a:r>
              <a:rPr sz="1300" b="1">
                <a:solidFill>
                  <a:srgbClr val="FFFFFF"/>
                </a:solidFill>
                <a:latin typeface="IBM Plex Sans"/>
              </a:rPr>
              <a:t>Unser Unterschied: </a:t>
            </a:r>
            <a:r>
              <a:rPr sz="1300" b="0">
                <a:solidFill>
                  <a:srgbClr val="E6E6E6"/>
                </a:solidFill>
                <a:latin typeface="IBM Plex Sans"/>
              </a:rPr>
              <a:t>Lastbänke bis 6,25 MW mit Commissioning Level 1 bis 5, BESS, Kühlung und Heizung aus einer Hand, mit der Aggreko-Flotte im Rücken.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1056" y="365760"/>
            <a:ext cx="8183879" cy="274320"/>
          </a:xfrm>
          <a:prstGeom prst="rect">
            <a:avLst/>
          </a:prstGeom>
          <a:noFill/>
        </p:spPr>
        <p:txBody>
          <a:bodyPr wrap="square" lIns="0" rIns="0" tIns="0" bIns="0" anchor="t">
            <a:spAutoFit/>
          </a:bodyPr>
          <a:lstStyle/>
          <a:p>
            <a:pPr algn="l"/>
            <a:r>
              <a:rPr sz="1050" b="1" spc="160" cap="all">
                <a:solidFill>
                  <a:srgbClr val="E00036"/>
                </a:solidFill>
                <a:latin typeface="IBM Plex Sans"/>
              </a:rPr>
              <a:t>13 · Die nächsten 90 Tage</a:t>
            </a:r>
          </a:p>
        </p:txBody>
      </p:sp>
      <p:sp>
        <p:nvSpPr>
          <p:cNvPr id="3" name="TextBox 2"/>
          <p:cNvSpPr txBox="1"/>
          <p:nvPr/>
        </p:nvSpPr>
        <p:spPr>
          <a:xfrm>
            <a:off x="1591056" y="658368"/>
            <a:ext cx="8183879" cy="914400"/>
          </a:xfrm>
          <a:prstGeom prst="rect">
            <a:avLst/>
          </a:prstGeom>
          <a:noFill/>
        </p:spPr>
        <p:txBody>
          <a:bodyPr wrap="square" lIns="0" rIns="0" tIns="0" bIns="0" anchor="t">
            <a:spAutoFit/>
          </a:bodyPr>
          <a:lstStyle/>
          <a:p>
            <a:pPr algn="l">
              <a:lnSpc>
                <a:spcPct val="94000"/>
              </a:lnSpc>
            </a:pPr>
            <a:r>
              <a:rPr sz="2600" b="0">
                <a:solidFill>
                  <a:srgbClr val="000000"/>
                </a:solidFill>
                <a:latin typeface="Alata"/>
              </a:rPr>
              <a:t>Vom Modell zum Auftrag bis Januar 2027</a:t>
            </a:r>
          </a:p>
        </p:txBody>
      </p:sp>
      <p:sp>
        <p:nvSpPr>
          <p:cNvPr id="4" name="Rectangle 3"/>
          <p:cNvSpPr/>
          <p:nvPr/>
        </p:nvSpPr>
        <p:spPr>
          <a:xfrm>
            <a:off x="1591056" y="1572768"/>
            <a:ext cx="100584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91056" y="6355080"/>
            <a:ext cx="7863840" cy="256032"/>
          </a:xfrm>
          <a:prstGeom prst="rect">
            <a:avLst/>
          </a:prstGeom>
          <a:noFill/>
        </p:spPr>
        <p:txBody>
          <a:bodyPr wrap="square" lIns="0" rIns="0" tIns="0" bIns="0" anchor="t">
            <a:spAutoFit/>
          </a:bodyPr>
          <a:lstStyle/>
          <a:p>
            <a:pPr algn="l"/>
            <a:r>
              <a:rPr sz="850" b="0">
                <a:solidFill>
                  <a:srgbClr val="58595B"/>
                </a:solidFill>
                <a:latin typeface="IBM Plex Sans"/>
              </a:rPr>
              <a:t>MiT Strom CH · Top-Player Power 2027 · intern · 27.09.2026</a:t>
            </a:r>
          </a:p>
        </p:txBody>
      </p:sp>
      <p:sp>
        <p:nvSpPr>
          <p:cNvPr id="6" name="TextBox 5"/>
          <p:cNvSpPr txBox="1"/>
          <p:nvPr/>
        </p:nvSpPr>
        <p:spPr>
          <a:xfrm>
            <a:off x="10149840" y="6355080"/>
            <a:ext cx="914400" cy="256032"/>
          </a:xfrm>
          <a:prstGeom prst="rect">
            <a:avLst/>
          </a:prstGeom>
          <a:noFill/>
        </p:spPr>
        <p:txBody>
          <a:bodyPr wrap="square" lIns="0" rIns="0" tIns="0" bIns="0" anchor="t">
            <a:spAutoFit/>
          </a:bodyPr>
          <a:lstStyle/>
          <a:p>
            <a:pPr algn="r"/>
            <a:r>
              <a:rPr sz="850" b="0">
                <a:solidFill>
                  <a:srgbClr val="58595B"/>
                </a:solidFill>
                <a:latin typeface="IBM Plex Sans"/>
              </a:rPr>
              <a:t>14</a:t>
            </a:r>
          </a:p>
        </p:txBody>
      </p:sp>
      <p:sp>
        <p:nvSpPr>
          <p:cNvPr id="7" name="Rectangle 6"/>
          <p:cNvSpPr/>
          <p:nvPr/>
        </p:nvSpPr>
        <p:spPr>
          <a:xfrm>
            <a:off x="813815" y="2450591"/>
            <a:ext cx="8350758" cy="18288"/>
          </a:xfrm>
          <a:prstGeom prst="rect">
            <a:avLst/>
          </a:prstGeom>
          <a:solidFill>
            <a:srgbClr val="D6D6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29768" y="2103120"/>
            <a:ext cx="768096" cy="768096"/>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0">
                <a:solidFill>
                  <a:srgbClr val="FFFFFF"/>
                </a:solidFill>
                <a:latin typeface="Alata"/>
              </a:rPr>
              <a:t>01</a:t>
            </a:r>
          </a:p>
        </p:txBody>
      </p:sp>
      <p:sp>
        <p:nvSpPr>
          <p:cNvPr id="9" name="TextBox 8"/>
          <p:cNvSpPr txBox="1"/>
          <p:nvPr/>
        </p:nvSpPr>
        <p:spPr>
          <a:xfrm>
            <a:off x="429768" y="3172968"/>
            <a:ext cx="2302002" cy="457200"/>
          </a:xfrm>
          <a:prstGeom prst="rect">
            <a:avLst/>
          </a:prstGeom>
          <a:noFill/>
        </p:spPr>
        <p:txBody>
          <a:bodyPr wrap="square" lIns="0" rIns="0" tIns="0" bIns="0" anchor="t">
            <a:spAutoFit/>
          </a:bodyPr>
          <a:lstStyle/>
          <a:p>
            <a:pPr algn="l"/>
            <a:r>
              <a:rPr sz="1700" b="1">
                <a:solidFill>
                  <a:srgbClr val="000000"/>
                </a:solidFill>
                <a:latin typeface="IBM Plex Sans"/>
              </a:rPr>
              <a:t>Oktober</a:t>
            </a:r>
          </a:p>
        </p:txBody>
      </p:sp>
      <p:sp>
        <p:nvSpPr>
          <p:cNvPr id="10" name="TextBox 9"/>
          <p:cNvSpPr txBox="1"/>
          <p:nvPr/>
        </p:nvSpPr>
        <p:spPr>
          <a:xfrm>
            <a:off x="429768" y="3721608"/>
            <a:ext cx="2302002" cy="1280160"/>
          </a:xfrm>
          <a:prstGeom prst="rect">
            <a:avLst/>
          </a:prstGeom>
          <a:noFill/>
        </p:spPr>
        <p:txBody>
          <a:bodyPr wrap="square" lIns="0" rIns="0" tIns="0" bIns="0" anchor="t">
            <a:spAutoFit/>
          </a:bodyPr>
          <a:lstStyle/>
          <a:p>
            <a:pPr algn="l">
              <a:lnSpc>
                <a:spcPct val="110000"/>
              </a:lnSpc>
              <a:spcBef>
                <a:spcPts val="0"/>
              </a:spcBef>
              <a:spcAft>
                <a:spcPts val="0"/>
              </a:spcAft>
            </a:pPr>
            <a:r>
              <a:rPr sz="1200" b="0">
                <a:solidFill>
                  <a:srgbClr val="58595B"/>
                </a:solidFill>
                <a:latin typeface="IBM Plex Sans"/>
              </a:rPr>
              <a:t>Hot Leads: STACK, Green Lupfig, KSA, Ski-WM.</a:t>
            </a:r>
          </a:p>
          <a:p>
            <a:pPr>
              <a:lnSpc>
                <a:spcPct val="110000"/>
              </a:lnSpc>
              <a:spcBef>
                <a:spcPts val="200"/>
              </a:spcBef>
              <a:spcAft>
                <a:spcPts val="0"/>
              </a:spcAft>
            </a:pPr>
            <a:r>
              <a:rPr sz="1200" b="0">
                <a:solidFill>
                  <a:srgbClr val="58595B"/>
                </a:solidFill>
                <a:latin typeface="IBM Plex Sans"/>
              </a:rPr>
              <a:t>Commissioning- und Umzugstermine klären.</a:t>
            </a:r>
          </a:p>
        </p:txBody>
      </p:sp>
      <p:sp>
        <p:nvSpPr>
          <p:cNvPr id="11" name="Rectangle 10"/>
          <p:cNvSpPr/>
          <p:nvPr/>
        </p:nvSpPr>
        <p:spPr>
          <a:xfrm>
            <a:off x="3207258" y="2103120"/>
            <a:ext cx="768096" cy="768096"/>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0">
                <a:solidFill>
                  <a:srgbClr val="FFFFFF"/>
                </a:solidFill>
                <a:latin typeface="Alata"/>
              </a:rPr>
              <a:t>02</a:t>
            </a:r>
          </a:p>
        </p:txBody>
      </p:sp>
      <p:sp>
        <p:nvSpPr>
          <p:cNvPr id="12" name="TextBox 11"/>
          <p:cNvSpPr txBox="1"/>
          <p:nvPr/>
        </p:nvSpPr>
        <p:spPr>
          <a:xfrm>
            <a:off x="3207258" y="3172968"/>
            <a:ext cx="2302002" cy="457200"/>
          </a:xfrm>
          <a:prstGeom prst="rect">
            <a:avLst/>
          </a:prstGeom>
          <a:noFill/>
        </p:spPr>
        <p:txBody>
          <a:bodyPr wrap="square" lIns="0" rIns="0" tIns="0" bIns="0" anchor="t">
            <a:spAutoFit/>
          </a:bodyPr>
          <a:lstStyle/>
          <a:p>
            <a:pPr algn="l"/>
            <a:r>
              <a:rPr sz="1700" b="1">
                <a:solidFill>
                  <a:srgbClr val="000000"/>
                </a:solidFill>
                <a:latin typeface="IBM Plex Sans"/>
              </a:rPr>
              <a:t>November</a:t>
            </a:r>
          </a:p>
        </p:txBody>
      </p:sp>
      <p:sp>
        <p:nvSpPr>
          <p:cNvPr id="13" name="TextBox 12"/>
          <p:cNvSpPr txBox="1"/>
          <p:nvPr/>
        </p:nvSpPr>
        <p:spPr>
          <a:xfrm>
            <a:off x="3207258" y="3721608"/>
            <a:ext cx="2302002" cy="1280160"/>
          </a:xfrm>
          <a:prstGeom prst="rect">
            <a:avLst/>
          </a:prstGeom>
          <a:noFill/>
        </p:spPr>
        <p:txBody>
          <a:bodyPr wrap="square" lIns="0" rIns="0" tIns="0" bIns="0" anchor="t">
            <a:spAutoFit/>
          </a:bodyPr>
          <a:lstStyle/>
          <a:p>
            <a:pPr algn="l">
              <a:lnSpc>
                <a:spcPct val="110000"/>
              </a:lnSpc>
              <a:spcBef>
                <a:spcPts val="0"/>
              </a:spcBef>
              <a:spcAft>
                <a:spcPts val="0"/>
              </a:spcAft>
            </a:pPr>
            <a:r>
              <a:rPr sz="1200" b="0">
                <a:solidFill>
                  <a:srgbClr val="58595B"/>
                </a:solidFill>
                <a:latin typeface="IBM Plex Sans"/>
              </a:rPr>
              <a:t>Rahmengespräche Burkhalter, VINCI, Equans.</a:t>
            </a:r>
          </a:p>
          <a:p>
            <a:pPr>
              <a:lnSpc>
                <a:spcPct val="110000"/>
              </a:lnSpc>
              <a:spcBef>
                <a:spcPts val="200"/>
              </a:spcBef>
              <a:spcAft>
                <a:spcPts val="0"/>
              </a:spcAft>
            </a:pPr>
            <a:r>
              <a:rPr sz="1200" b="0">
                <a:solidFill>
                  <a:srgbClr val="58595B"/>
                </a:solidFill>
                <a:latin typeface="IBM Plex Sans"/>
              </a:rPr>
              <a:t>WEF-Offerte abgeben.</a:t>
            </a:r>
          </a:p>
        </p:txBody>
      </p:sp>
      <p:sp>
        <p:nvSpPr>
          <p:cNvPr id="14" name="Rectangle 13"/>
          <p:cNvSpPr/>
          <p:nvPr/>
        </p:nvSpPr>
        <p:spPr>
          <a:xfrm>
            <a:off x="5984748" y="2103120"/>
            <a:ext cx="768096" cy="768096"/>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0">
                <a:solidFill>
                  <a:srgbClr val="FFFFFF"/>
                </a:solidFill>
                <a:latin typeface="Alata"/>
              </a:rPr>
              <a:t>03</a:t>
            </a:r>
          </a:p>
        </p:txBody>
      </p:sp>
      <p:sp>
        <p:nvSpPr>
          <p:cNvPr id="15" name="TextBox 14"/>
          <p:cNvSpPr txBox="1"/>
          <p:nvPr/>
        </p:nvSpPr>
        <p:spPr>
          <a:xfrm>
            <a:off x="5984748" y="3172968"/>
            <a:ext cx="2302002" cy="457200"/>
          </a:xfrm>
          <a:prstGeom prst="rect">
            <a:avLst/>
          </a:prstGeom>
          <a:noFill/>
        </p:spPr>
        <p:txBody>
          <a:bodyPr wrap="square" lIns="0" rIns="0" tIns="0" bIns="0" anchor="t">
            <a:spAutoFit/>
          </a:bodyPr>
          <a:lstStyle/>
          <a:p>
            <a:pPr algn="l"/>
            <a:r>
              <a:rPr sz="1700" b="1">
                <a:solidFill>
                  <a:srgbClr val="000000"/>
                </a:solidFill>
                <a:latin typeface="IBM Plex Sans"/>
              </a:rPr>
              <a:t>Dezember</a:t>
            </a:r>
          </a:p>
        </p:txBody>
      </p:sp>
      <p:sp>
        <p:nvSpPr>
          <p:cNvPr id="16" name="TextBox 15"/>
          <p:cNvSpPr txBox="1"/>
          <p:nvPr/>
        </p:nvSpPr>
        <p:spPr>
          <a:xfrm>
            <a:off x="5984748" y="3721608"/>
            <a:ext cx="2302002" cy="1280160"/>
          </a:xfrm>
          <a:prstGeom prst="rect">
            <a:avLst/>
          </a:prstGeom>
          <a:noFill/>
        </p:spPr>
        <p:txBody>
          <a:bodyPr wrap="square" lIns="0" rIns="0" tIns="0" bIns="0" anchor="t">
            <a:spAutoFit/>
          </a:bodyPr>
          <a:lstStyle/>
          <a:p>
            <a:pPr algn="l">
              <a:lnSpc>
                <a:spcPct val="110000"/>
              </a:lnSpc>
              <a:spcBef>
                <a:spcPts val="0"/>
              </a:spcBef>
              <a:spcAft>
                <a:spcPts val="0"/>
              </a:spcAft>
            </a:pPr>
            <a:r>
              <a:rPr sz="1200" b="0">
                <a:solidFill>
                  <a:srgbClr val="58595B"/>
                </a:solidFill>
                <a:latin typeface="IBM Plex Sans"/>
              </a:rPr>
              <a:t>MiT-Sätze ins Modell, CRM-Status eintragen.</a:t>
            </a:r>
          </a:p>
          <a:p>
            <a:pPr>
              <a:lnSpc>
                <a:spcPct val="110000"/>
              </a:lnSpc>
              <a:spcBef>
                <a:spcPts val="200"/>
              </a:spcBef>
              <a:spcAft>
                <a:spcPts val="0"/>
              </a:spcAft>
            </a:pPr>
            <a:r>
              <a:rPr sz="1200" b="0">
                <a:solidFill>
                  <a:srgbClr val="58595B"/>
                </a:solidFill>
                <a:latin typeface="IBM Plex Sans"/>
              </a:rPr>
              <a:t>Pipeline neu rechnen.</a:t>
            </a:r>
          </a:p>
        </p:txBody>
      </p:sp>
      <p:sp>
        <p:nvSpPr>
          <p:cNvPr id="17" name="Rectangle 16"/>
          <p:cNvSpPr/>
          <p:nvPr/>
        </p:nvSpPr>
        <p:spPr>
          <a:xfrm>
            <a:off x="8762238" y="2103120"/>
            <a:ext cx="768096" cy="768096"/>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0">
                <a:solidFill>
                  <a:srgbClr val="FFFFFF"/>
                </a:solidFill>
                <a:latin typeface="Alata"/>
              </a:rPr>
              <a:t>04</a:t>
            </a:r>
          </a:p>
        </p:txBody>
      </p:sp>
      <p:sp>
        <p:nvSpPr>
          <p:cNvPr id="18" name="TextBox 17"/>
          <p:cNvSpPr txBox="1"/>
          <p:nvPr/>
        </p:nvSpPr>
        <p:spPr>
          <a:xfrm>
            <a:off x="8762238" y="3172968"/>
            <a:ext cx="2302002" cy="457200"/>
          </a:xfrm>
          <a:prstGeom prst="rect">
            <a:avLst/>
          </a:prstGeom>
          <a:noFill/>
        </p:spPr>
        <p:txBody>
          <a:bodyPr wrap="square" lIns="0" rIns="0" tIns="0" bIns="0" anchor="t">
            <a:spAutoFit/>
          </a:bodyPr>
          <a:lstStyle/>
          <a:p>
            <a:pPr algn="l"/>
            <a:r>
              <a:rPr sz="1700" b="1">
                <a:solidFill>
                  <a:srgbClr val="000000"/>
                </a:solidFill>
                <a:latin typeface="IBM Plex Sans"/>
              </a:rPr>
              <a:t>Januar</a:t>
            </a:r>
          </a:p>
        </p:txBody>
      </p:sp>
      <p:sp>
        <p:nvSpPr>
          <p:cNvPr id="19" name="TextBox 18"/>
          <p:cNvSpPr txBox="1"/>
          <p:nvPr/>
        </p:nvSpPr>
        <p:spPr>
          <a:xfrm>
            <a:off x="8762238" y="3721608"/>
            <a:ext cx="2302002" cy="1280160"/>
          </a:xfrm>
          <a:prstGeom prst="rect">
            <a:avLst/>
          </a:prstGeom>
          <a:noFill/>
        </p:spPr>
        <p:txBody>
          <a:bodyPr wrap="square" lIns="0" rIns="0" tIns="0" bIns="0" anchor="t">
            <a:spAutoFit/>
          </a:bodyPr>
          <a:lstStyle/>
          <a:p>
            <a:pPr algn="l">
              <a:lnSpc>
                <a:spcPct val="110000"/>
              </a:lnSpc>
              <a:spcBef>
                <a:spcPts val="0"/>
              </a:spcBef>
              <a:spcAft>
                <a:spcPts val="0"/>
              </a:spcAft>
            </a:pPr>
            <a:r>
              <a:rPr sz="1200" b="0">
                <a:solidFill>
                  <a:srgbClr val="58595B"/>
                </a:solidFill>
                <a:latin typeface="IBM Plex Sans"/>
              </a:rPr>
              <a:t>Review mit Mauro, Jörg, Roberto.</a:t>
            </a:r>
          </a:p>
          <a:p>
            <a:pPr>
              <a:lnSpc>
                <a:spcPct val="110000"/>
              </a:lnSpc>
              <a:spcBef>
                <a:spcPts val="200"/>
              </a:spcBef>
              <a:spcAft>
                <a:spcPts val="0"/>
              </a:spcAft>
            </a:pPr>
            <a:r>
              <a:rPr sz="1200" b="0">
                <a:solidFill>
                  <a:srgbClr val="58595B"/>
                </a:solidFill>
                <a:latin typeface="IBM Plex Sans"/>
              </a:rPr>
              <a:t>RZ 2028 und Tunnel-Rahmen aufgleisen.</a:t>
            </a:r>
          </a:p>
        </p:txBody>
      </p:sp>
      <p:sp>
        <p:nvSpPr>
          <p:cNvPr id="20" name="Rectangle 19"/>
          <p:cNvSpPr/>
          <p:nvPr/>
        </p:nvSpPr>
        <p:spPr>
          <a:xfrm>
            <a:off x="429768" y="5074920"/>
            <a:ext cx="10908792" cy="777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41247" y="5321808"/>
            <a:ext cx="10085832" cy="320040"/>
          </a:xfrm>
          <a:prstGeom prst="rect">
            <a:avLst/>
          </a:prstGeom>
          <a:noFill/>
        </p:spPr>
        <p:txBody>
          <a:bodyPr wrap="square" lIns="0" rIns="0" tIns="0" bIns="0" anchor="t">
            <a:spAutoFit/>
          </a:bodyPr>
          <a:lstStyle/>
          <a:p>
            <a:pPr algn="l">
              <a:lnSpc>
                <a:spcPct val="105000"/>
              </a:lnSpc>
            </a:pPr>
            <a:r>
              <a:rPr sz="1250" b="0">
                <a:solidFill>
                  <a:srgbClr val="58595B"/>
                </a:solidFill>
                <a:latin typeface="IBM Plex Sans"/>
              </a:rPr>
              <a:t>Termine sind ein Vorschlag, bitte im Team bestätigen.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91056" y="365760"/>
            <a:ext cx="8183879" cy="274320"/>
          </a:xfrm>
          <a:prstGeom prst="rect">
            <a:avLst/>
          </a:prstGeom>
          <a:noFill/>
        </p:spPr>
        <p:txBody>
          <a:bodyPr wrap="square" lIns="0" rIns="0" tIns="0" bIns="0" anchor="t">
            <a:spAutoFit/>
          </a:bodyPr>
          <a:lstStyle/>
          <a:p>
            <a:pPr algn="l"/>
            <a:r>
              <a:rPr sz="1050" b="1" spc="160" cap="all">
                <a:solidFill>
                  <a:srgbClr val="E00036"/>
                </a:solidFill>
                <a:latin typeface="IBM Plex Sans"/>
              </a:rPr>
              <a:t>Anhang · Glossar</a:t>
            </a:r>
          </a:p>
        </p:txBody>
      </p:sp>
      <p:sp>
        <p:nvSpPr>
          <p:cNvPr id="3" name="TextBox 2"/>
          <p:cNvSpPr txBox="1"/>
          <p:nvPr/>
        </p:nvSpPr>
        <p:spPr>
          <a:xfrm>
            <a:off x="1591056" y="658368"/>
            <a:ext cx="8183879" cy="914400"/>
          </a:xfrm>
          <a:prstGeom prst="rect">
            <a:avLst/>
          </a:prstGeom>
          <a:noFill/>
        </p:spPr>
        <p:txBody>
          <a:bodyPr wrap="square" lIns="0" rIns="0" tIns="0" bIns="0" anchor="t">
            <a:spAutoFit/>
          </a:bodyPr>
          <a:lstStyle/>
          <a:p>
            <a:pPr algn="l">
              <a:lnSpc>
                <a:spcPct val="94000"/>
              </a:lnSpc>
            </a:pPr>
            <a:r>
              <a:rPr sz="2800" b="0">
                <a:solidFill>
                  <a:srgbClr val="000000"/>
                </a:solidFill>
                <a:latin typeface="Alata"/>
              </a:rPr>
              <a:t>Abkürzungen in diesem Deck</a:t>
            </a:r>
          </a:p>
        </p:txBody>
      </p:sp>
      <p:sp>
        <p:nvSpPr>
          <p:cNvPr id="4" name="Rectangle 3"/>
          <p:cNvSpPr/>
          <p:nvPr/>
        </p:nvSpPr>
        <p:spPr>
          <a:xfrm>
            <a:off x="1591056" y="1572768"/>
            <a:ext cx="1005840" cy="41148"/>
          </a:xfrm>
          <a:prstGeom prst="rect">
            <a:avLst/>
          </a:prstGeom>
          <a:solidFill>
            <a:srgbClr val="E000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91056" y="6355080"/>
            <a:ext cx="7863840" cy="256032"/>
          </a:xfrm>
          <a:prstGeom prst="rect">
            <a:avLst/>
          </a:prstGeom>
          <a:noFill/>
        </p:spPr>
        <p:txBody>
          <a:bodyPr wrap="square" lIns="0" rIns="0" tIns="0" bIns="0" anchor="t">
            <a:spAutoFit/>
          </a:bodyPr>
          <a:lstStyle/>
          <a:p>
            <a:pPr algn="l"/>
            <a:r>
              <a:rPr sz="850" b="0">
                <a:solidFill>
                  <a:srgbClr val="58595B"/>
                </a:solidFill>
                <a:latin typeface="IBM Plex Sans"/>
              </a:rPr>
              <a:t>MiT Strom CH · Top-Player Power 2027 · intern · 27.09.2026</a:t>
            </a:r>
          </a:p>
        </p:txBody>
      </p:sp>
      <p:sp>
        <p:nvSpPr>
          <p:cNvPr id="6" name="TextBox 5"/>
          <p:cNvSpPr txBox="1"/>
          <p:nvPr/>
        </p:nvSpPr>
        <p:spPr>
          <a:xfrm>
            <a:off x="10149840" y="6355080"/>
            <a:ext cx="914400" cy="256032"/>
          </a:xfrm>
          <a:prstGeom prst="rect">
            <a:avLst/>
          </a:prstGeom>
          <a:noFill/>
        </p:spPr>
        <p:txBody>
          <a:bodyPr wrap="square" lIns="0" rIns="0" tIns="0" bIns="0" anchor="t">
            <a:spAutoFit/>
          </a:bodyPr>
          <a:lstStyle/>
          <a:p>
            <a:pPr algn="r"/>
            <a:r>
              <a:rPr sz="850" b="0">
                <a:solidFill>
                  <a:srgbClr val="58595B"/>
                </a:solidFill>
                <a:latin typeface="IBM Plex Sans"/>
              </a:rPr>
              <a:t>15</a:t>
            </a:r>
          </a:p>
        </p:txBody>
      </p:sp>
      <p:graphicFrame>
        <p:nvGraphicFramePr>
          <p:cNvPr id="7" name="Table 6"/>
          <p:cNvGraphicFramePr>
            <a:graphicFrameLocks noGrp="1"/>
          </p:cNvGraphicFramePr>
          <p:nvPr/>
        </p:nvGraphicFramePr>
        <p:xfrm>
          <a:off x="429768" y="1874519"/>
          <a:ext cx="5349239" cy="4206229"/>
        </p:xfrm>
        <a:graphic>
          <a:graphicData uri="http://schemas.openxmlformats.org/drawingml/2006/table">
            <a:tbl>
              <a:tblPr>
                <a:tableStyleId>{2D5ABB26-0587-4C30-8999-92F81FD0307C}</a:tableStyleId>
              </a:tblPr>
              <a:tblGrid>
                <a:gridCol w="1475652"/>
                <a:gridCol w="3873587"/>
              </a:tblGrid>
              <a:tr h="384048">
                <a:tc>
                  <a:txBody>
                    <a:bodyPr wrap="square"/>
                    <a:lstStyle/>
                    <a:p>
                      <a:pPr>
                        <a:lnSpc>
                          <a:spcPct val="100000"/>
                        </a:lnSpc>
                      </a:pPr>
                      <a:r>
                        <a:rPr sz="1050" b="1">
                          <a:solidFill>
                            <a:srgbClr val="FFFFFF"/>
                          </a:solidFill>
                          <a:latin typeface="IBM Plex Sans"/>
                        </a:rPr>
                        <a:t>Kürzel</a:t>
                      </a:r>
                    </a:p>
                  </a:txBody>
                  <a:tcPr marL="109728" marR="91440" marT="45720" marB="45720" anchor="ctr">
                    <a:solidFill>
                      <a:srgbClr val="E00036"/>
                    </a:solidFill>
                  </a:tcPr>
                </a:tc>
                <a:tc>
                  <a:txBody>
                    <a:bodyPr wrap="square"/>
                    <a:lstStyle/>
                    <a:p>
                      <a:pPr>
                        <a:lnSpc>
                          <a:spcPct val="100000"/>
                        </a:lnSpc>
                      </a:pPr>
                      <a:r>
                        <a:rPr sz="1050" b="1">
                          <a:solidFill>
                            <a:srgbClr val="FFFFFF"/>
                          </a:solidFill>
                          <a:latin typeface="IBM Plex Sans"/>
                        </a:rPr>
                        <a:t>Bedeutung</a:t>
                      </a:r>
                    </a:p>
                  </a:txBody>
                  <a:tcPr marL="109728" marR="91440" marT="45720" marB="45720" anchor="ctr">
                    <a:solidFill>
                      <a:srgbClr val="E00036"/>
                    </a:solidFill>
                  </a:tcPr>
                </a:tc>
              </a:tr>
              <a:tr h="347471">
                <a:tc>
                  <a:txBody>
                    <a:bodyPr wrap="square"/>
                    <a:lstStyle/>
                    <a:p>
                      <a:pPr>
                        <a:lnSpc>
                          <a:spcPct val="100000"/>
                        </a:lnSpc>
                      </a:pPr>
                      <a:r>
                        <a:rPr sz="1000" b="1">
                          <a:solidFill>
                            <a:srgbClr val="58595B"/>
                          </a:solidFill>
                          <a:latin typeface="IBM Plex Sans"/>
                        </a:rPr>
                        <a:t>BESS</a:t>
                      </a:r>
                    </a:p>
                  </a:txBody>
                  <a:tcPr marL="109728" marR="91440" marT="45720" marB="45720" anchor="ctr">
                    <a:solidFill>
                      <a:srgbClr val="FFFFFF"/>
                    </a:solidFill>
                  </a:tcPr>
                </a:tc>
                <a:tc>
                  <a:txBody>
                    <a:bodyPr wrap="square"/>
                    <a:lstStyle/>
                    <a:p>
                      <a:pPr>
                        <a:lnSpc>
                          <a:spcPct val="100000"/>
                        </a:lnSpc>
                      </a:pPr>
                      <a:r>
                        <a:rPr sz="1000" b="0">
                          <a:solidFill>
                            <a:srgbClr val="58595B"/>
                          </a:solidFill>
                          <a:latin typeface="IBM Plex Sans"/>
                        </a:rPr>
                        <a:t>Battery Energy Storage System, Batteriespeicher</a:t>
                      </a:r>
                    </a:p>
                  </a:txBody>
                  <a:tcPr marL="109728" marR="91440" marT="45720" marB="45720" anchor="ctr">
                    <a:solidFill>
                      <a:srgbClr val="FFFFFF"/>
                    </a:solidFill>
                  </a:tcPr>
                </a:tc>
              </a:tr>
              <a:tr h="347471">
                <a:tc>
                  <a:txBody>
                    <a:bodyPr wrap="square"/>
                    <a:lstStyle/>
                    <a:p>
                      <a:pPr>
                        <a:lnSpc>
                          <a:spcPct val="100000"/>
                        </a:lnSpc>
                      </a:pPr>
                      <a:r>
                        <a:rPr sz="1000" b="1">
                          <a:solidFill>
                            <a:srgbClr val="58595B"/>
                          </a:solidFill>
                          <a:latin typeface="IBM Plex Sans"/>
                        </a:rPr>
                        <a:t>NEA</a:t>
                      </a:r>
                    </a:p>
                  </a:txBody>
                  <a:tcPr marL="109728" marR="91440" marT="45720" marB="45720" anchor="ctr">
                    <a:solidFill>
                      <a:srgbClr val="F4F4F4"/>
                    </a:solidFill>
                  </a:tcPr>
                </a:tc>
                <a:tc>
                  <a:txBody>
                    <a:bodyPr wrap="square"/>
                    <a:lstStyle/>
                    <a:p>
                      <a:pPr>
                        <a:lnSpc>
                          <a:spcPct val="100000"/>
                        </a:lnSpc>
                      </a:pPr>
                      <a:r>
                        <a:rPr sz="1000" b="0">
                          <a:solidFill>
                            <a:srgbClr val="58595B"/>
                          </a:solidFill>
                          <a:latin typeface="IBM Plex Sans"/>
                        </a:rPr>
                        <a:t>Netzersatzanlage (Notstromaggregat)</a:t>
                      </a:r>
                    </a:p>
                  </a:txBody>
                  <a:tcPr marL="109728" marR="91440" marT="45720" marB="45720" anchor="ctr">
                    <a:solidFill>
                      <a:srgbClr val="F4F4F4"/>
                    </a:solidFill>
                  </a:tcPr>
                </a:tc>
              </a:tr>
              <a:tr h="347471">
                <a:tc>
                  <a:txBody>
                    <a:bodyPr wrap="square"/>
                    <a:lstStyle/>
                    <a:p>
                      <a:pPr>
                        <a:lnSpc>
                          <a:spcPct val="100000"/>
                        </a:lnSpc>
                      </a:pPr>
                      <a:r>
                        <a:rPr sz="1000" b="1">
                          <a:solidFill>
                            <a:srgbClr val="58595B"/>
                          </a:solidFill>
                          <a:latin typeface="IBM Plex Sans"/>
                        </a:rPr>
                        <a:t>USV</a:t>
                      </a:r>
                    </a:p>
                  </a:txBody>
                  <a:tcPr marL="109728" marR="91440" marT="45720" marB="45720" anchor="ctr">
                    <a:solidFill>
                      <a:srgbClr val="FFFFFF"/>
                    </a:solidFill>
                  </a:tcPr>
                </a:tc>
                <a:tc>
                  <a:txBody>
                    <a:bodyPr wrap="square"/>
                    <a:lstStyle/>
                    <a:p>
                      <a:pPr>
                        <a:lnSpc>
                          <a:spcPct val="100000"/>
                        </a:lnSpc>
                      </a:pPr>
                      <a:r>
                        <a:rPr sz="1000" b="0">
                          <a:solidFill>
                            <a:srgbClr val="58595B"/>
                          </a:solidFill>
                          <a:latin typeface="IBM Plex Sans"/>
                        </a:rPr>
                        <a:t>Unterbrechungsfreie Stromversorgung</a:t>
                      </a:r>
                    </a:p>
                  </a:txBody>
                  <a:tcPr marL="109728" marR="91440" marT="45720" marB="45720" anchor="ctr">
                    <a:solidFill>
                      <a:srgbClr val="FFFFFF"/>
                    </a:solidFill>
                  </a:tcPr>
                </a:tc>
              </a:tr>
              <a:tr h="347471">
                <a:tc>
                  <a:txBody>
                    <a:bodyPr wrap="square"/>
                    <a:lstStyle/>
                    <a:p>
                      <a:pPr>
                        <a:lnSpc>
                          <a:spcPct val="100000"/>
                        </a:lnSpc>
                      </a:pPr>
                      <a:r>
                        <a:rPr sz="1000" b="1">
                          <a:solidFill>
                            <a:srgbClr val="58595B"/>
                          </a:solidFill>
                          <a:latin typeface="IBM Plex Sans"/>
                        </a:rPr>
                        <a:t>IST / L1-L5</a:t>
                      </a:r>
                    </a:p>
                  </a:txBody>
                  <a:tcPr marL="109728" marR="91440" marT="45720" marB="45720" anchor="ctr">
                    <a:solidFill>
                      <a:srgbClr val="F4F4F4"/>
                    </a:solidFill>
                  </a:tcPr>
                </a:tc>
                <a:tc>
                  <a:txBody>
                    <a:bodyPr wrap="square"/>
                    <a:lstStyle/>
                    <a:p>
                      <a:pPr>
                        <a:lnSpc>
                          <a:spcPct val="100000"/>
                        </a:lnSpc>
                      </a:pPr>
                      <a:r>
                        <a:rPr sz="1000" b="0">
                          <a:solidFill>
                            <a:srgbClr val="58595B"/>
                          </a:solidFill>
                          <a:latin typeface="IBM Plex Sans"/>
                        </a:rPr>
                        <a:t>Integrated Systems Test, RZ-Gesamttest = Level 5</a:t>
                      </a:r>
                    </a:p>
                  </a:txBody>
                  <a:tcPr marL="109728" marR="91440" marT="45720" marB="45720" anchor="ctr">
                    <a:solidFill>
                      <a:srgbClr val="F4F4F4"/>
                    </a:solidFill>
                  </a:tcPr>
                </a:tc>
              </a:tr>
              <a:tr h="347471">
                <a:tc>
                  <a:txBody>
                    <a:bodyPr wrap="square"/>
                    <a:lstStyle/>
                    <a:p>
                      <a:pPr>
                        <a:lnSpc>
                          <a:spcPct val="100000"/>
                        </a:lnSpc>
                      </a:pPr>
                      <a:r>
                        <a:rPr sz="1000" b="1">
                          <a:solidFill>
                            <a:srgbClr val="58595B"/>
                          </a:solidFill>
                          <a:latin typeface="IBM Plex Sans"/>
                        </a:rPr>
                        <a:t>kVA / MVA</a:t>
                      </a:r>
                    </a:p>
                  </a:txBody>
                  <a:tcPr marL="109728" marR="91440" marT="45720" marB="45720" anchor="ctr">
                    <a:solidFill>
                      <a:srgbClr val="FFFFFF"/>
                    </a:solidFill>
                  </a:tcPr>
                </a:tc>
                <a:tc>
                  <a:txBody>
                    <a:bodyPr wrap="square"/>
                    <a:lstStyle/>
                    <a:p>
                      <a:pPr>
                        <a:lnSpc>
                          <a:spcPct val="100000"/>
                        </a:lnSpc>
                      </a:pPr>
                      <a:r>
                        <a:rPr sz="1000" b="0">
                          <a:solidFill>
                            <a:srgbClr val="58595B"/>
                          </a:solidFill>
                          <a:latin typeface="IBM Plex Sans"/>
                        </a:rPr>
                        <a:t>Scheinleistung (Nennleistung Generator)</a:t>
                      </a:r>
                    </a:p>
                  </a:txBody>
                  <a:tcPr marL="109728" marR="91440" marT="45720" marB="45720" anchor="ctr">
                    <a:solidFill>
                      <a:srgbClr val="FFFFFF"/>
                    </a:solidFill>
                  </a:tcPr>
                </a:tc>
              </a:tr>
              <a:tr h="347471">
                <a:tc>
                  <a:txBody>
                    <a:bodyPr wrap="square"/>
                    <a:lstStyle/>
                    <a:p>
                      <a:pPr>
                        <a:lnSpc>
                          <a:spcPct val="100000"/>
                        </a:lnSpc>
                      </a:pPr>
                      <a:r>
                        <a:rPr sz="1000" b="1">
                          <a:solidFill>
                            <a:srgbClr val="58595B"/>
                          </a:solidFill>
                          <a:latin typeface="IBM Plex Sans"/>
                        </a:rPr>
                        <a:t>kW / MW</a:t>
                      </a:r>
                    </a:p>
                  </a:txBody>
                  <a:tcPr marL="109728" marR="91440" marT="45720" marB="45720" anchor="ctr">
                    <a:solidFill>
                      <a:srgbClr val="F4F4F4"/>
                    </a:solidFill>
                  </a:tcPr>
                </a:tc>
                <a:tc>
                  <a:txBody>
                    <a:bodyPr wrap="square"/>
                    <a:lstStyle/>
                    <a:p>
                      <a:pPr>
                        <a:lnSpc>
                          <a:spcPct val="100000"/>
                        </a:lnSpc>
                      </a:pPr>
                      <a:r>
                        <a:rPr sz="1000" b="0">
                          <a:solidFill>
                            <a:srgbClr val="58595B"/>
                          </a:solidFill>
                          <a:latin typeface="IBM Plex Sans"/>
                        </a:rPr>
                        <a:t>Wirkleistung; bei cos phi 0,8: 1 MVA ≈ 0,8 MW</a:t>
                      </a:r>
                    </a:p>
                  </a:txBody>
                  <a:tcPr marL="109728" marR="91440" marT="45720" marB="45720" anchor="ctr">
                    <a:solidFill>
                      <a:srgbClr val="F4F4F4"/>
                    </a:solidFill>
                  </a:tcPr>
                </a:tc>
              </a:tr>
              <a:tr h="347471">
                <a:tc>
                  <a:txBody>
                    <a:bodyPr wrap="square"/>
                    <a:lstStyle/>
                    <a:p>
                      <a:pPr>
                        <a:lnSpc>
                          <a:spcPct val="100000"/>
                        </a:lnSpc>
                      </a:pPr>
                      <a:r>
                        <a:rPr sz="1000" b="1">
                          <a:solidFill>
                            <a:srgbClr val="58595B"/>
                          </a:solidFill>
                          <a:latin typeface="IBM Plex Sans"/>
                        </a:rPr>
                        <a:t>IT-MW</a:t>
                      </a:r>
                    </a:p>
                  </a:txBody>
                  <a:tcPr marL="109728" marR="91440" marT="45720" marB="45720" anchor="ctr">
                    <a:solidFill>
                      <a:srgbClr val="FFFFFF"/>
                    </a:solidFill>
                  </a:tcPr>
                </a:tc>
                <a:tc>
                  <a:txBody>
                    <a:bodyPr wrap="square"/>
                    <a:lstStyle/>
                    <a:p>
                      <a:pPr>
                        <a:lnSpc>
                          <a:spcPct val="100000"/>
                        </a:lnSpc>
                      </a:pPr>
                      <a:r>
                        <a:rPr sz="1000" b="0">
                          <a:solidFill>
                            <a:srgbClr val="58595B"/>
                          </a:solidFill>
                          <a:latin typeface="IBM Plex Sans"/>
                        </a:rPr>
                        <a:t>Elektrische Leistung der Server im RZ</a:t>
                      </a:r>
                    </a:p>
                  </a:txBody>
                  <a:tcPr marL="109728" marR="91440" marT="45720" marB="45720" anchor="ctr">
                    <a:solidFill>
                      <a:srgbClr val="FFFFFF"/>
                    </a:solidFill>
                  </a:tcPr>
                </a:tc>
              </a:tr>
              <a:tr h="347471">
                <a:tc>
                  <a:txBody>
                    <a:bodyPr wrap="square"/>
                    <a:lstStyle/>
                    <a:p>
                      <a:pPr>
                        <a:lnSpc>
                          <a:spcPct val="100000"/>
                        </a:lnSpc>
                      </a:pPr>
                      <a:r>
                        <a:rPr sz="1000" b="1">
                          <a:solidFill>
                            <a:srgbClr val="58595B"/>
                          </a:solidFill>
                          <a:latin typeface="IBM Plex Sans"/>
                        </a:rPr>
                        <a:t>UW / GIS</a:t>
                      </a:r>
                    </a:p>
                  </a:txBody>
                  <a:tcPr marL="109728" marR="91440" marT="45720" marB="45720" anchor="ctr">
                    <a:solidFill>
                      <a:srgbClr val="F4F4F4"/>
                    </a:solidFill>
                  </a:tcPr>
                </a:tc>
                <a:tc>
                  <a:txBody>
                    <a:bodyPr wrap="square"/>
                    <a:lstStyle/>
                    <a:p>
                      <a:pPr>
                        <a:lnSpc>
                          <a:spcPct val="100000"/>
                        </a:lnSpc>
                      </a:pPr>
                      <a:r>
                        <a:rPr sz="1000" b="0">
                          <a:solidFill>
                            <a:srgbClr val="58595B"/>
                          </a:solidFill>
                          <a:latin typeface="IBM Plex Sans"/>
                        </a:rPr>
                        <a:t>Unterwerk / gasisolierte Schaltanlage</a:t>
                      </a:r>
                    </a:p>
                  </a:txBody>
                  <a:tcPr marL="109728" marR="91440" marT="45720" marB="45720" anchor="ctr">
                    <a:solidFill>
                      <a:srgbClr val="F4F4F4"/>
                    </a:solidFill>
                  </a:tcPr>
                </a:tc>
              </a:tr>
              <a:tr h="347471">
                <a:tc>
                  <a:txBody>
                    <a:bodyPr wrap="square"/>
                    <a:lstStyle/>
                    <a:p>
                      <a:pPr>
                        <a:lnSpc>
                          <a:spcPct val="100000"/>
                        </a:lnSpc>
                      </a:pPr>
                      <a:r>
                        <a:rPr sz="1000" b="1">
                          <a:solidFill>
                            <a:srgbClr val="58595B"/>
                          </a:solidFill>
                          <a:latin typeface="IBM Plex Sans"/>
                        </a:rPr>
                        <a:t>HS / MS / NS</a:t>
                      </a:r>
                    </a:p>
                  </a:txBody>
                  <a:tcPr marL="109728" marR="91440" marT="45720" marB="45720" anchor="ctr">
                    <a:solidFill>
                      <a:srgbClr val="FFFFFF"/>
                    </a:solidFill>
                  </a:tcPr>
                </a:tc>
                <a:tc>
                  <a:txBody>
                    <a:bodyPr wrap="square"/>
                    <a:lstStyle/>
                    <a:p>
                      <a:pPr>
                        <a:lnSpc>
                          <a:spcPct val="100000"/>
                        </a:lnSpc>
                      </a:pPr>
                      <a:r>
                        <a:rPr sz="1000" b="0">
                          <a:solidFill>
                            <a:srgbClr val="58595B"/>
                          </a:solidFill>
                          <a:latin typeface="IBM Plex Sans"/>
                        </a:rPr>
                        <a:t>Hoch-, Mittel-, Niederspannung</a:t>
                      </a:r>
                    </a:p>
                  </a:txBody>
                  <a:tcPr marL="109728" marR="91440" marT="45720" marB="45720" anchor="ctr">
                    <a:solidFill>
                      <a:srgbClr val="FFFFFF"/>
                    </a:solidFill>
                  </a:tcPr>
                </a:tc>
              </a:tr>
              <a:tr h="347471">
                <a:tc>
                  <a:txBody>
                    <a:bodyPr wrap="square"/>
                    <a:lstStyle/>
                    <a:p>
                      <a:pPr>
                        <a:lnSpc>
                          <a:spcPct val="100000"/>
                        </a:lnSpc>
                      </a:pPr>
                      <a:r>
                        <a:rPr sz="1000" b="1">
                          <a:solidFill>
                            <a:srgbClr val="58595B"/>
                          </a:solidFill>
                          <a:latin typeface="IBM Plex Sans"/>
                        </a:rPr>
                        <a:t>HVO</a:t>
                      </a:r>
                    </a:p>
                  </a:txBody>
                  <a:tcPr marL="109728" marR="91440" marT="45720" marB="45720" anchor="ctr">
                    <a:solidFill>
                      <a:srgbClr val="F4F4F4"/>
                    </a:solidFill>
                  </a:tcPr>
                </a:tc>
                <a:tc>
                  <a:txBody>
                    <a:bodyPr wrap="square"/>
                    <a:lstStyle/>
                    <a:p>
                      <a:pPr>
                        <a:lnSpc>
                          <a:spcPct val="100000"/>
                        </a:lnSpc>
                      </a:pPr>
                      <a:r>
                        <a:rPr sz="1000" b="0">
                          <a:solidFill>
                            <a:srgbClr val="58595B"/>
                          </a:solidFill>
                          <a:latin typeface="IBM Plex Sans"/>
                        </a:rPr>
                        <a:t>Hydriertes Pflanzenöl, erneuerbarer Diesel</a:t>
                      </a:r>
                    </a:p>
                  </a:txBody>
                  <a:tcPr marL="109728" marR="91440" marT="45720" marB="45720" anchor="ctr">
                    <a:solidFill>
                      <a:srgbClr val="F4F4F4"/>
                    </a:solidFill>
                  </a:tcPr>
                </a:tc>
              </a:tr>
              <a:tr h="347471">
                <a:tc>
                  <a:txBody>
                    <a:bodyPr wrap="square"/>
                    <a:lstStyle/>
                    <a:p>
                      <a:pPr>
                        <a:lnSpc>
                          <a:spcPct val="100000"/>
                        </a:lnSpc>
                      </a:pPr>
                      <a:r>
                        <a:rPr sz="1000" b="1">
                          <a:solidFill>
                            <a:srgbClr val="58595B"/>
                          </a:solidFill>
                          <a:latin typeface="IBM Plex Sans"/>
                        </a:rPr>
                        <a:t>TBM / BSA</a:t>
                      </a:r>
                    </a:p>
                  </a:txBody>
                  <a:tcPr marL="109728" marR="91440" marT="45720" marB="45720" anchor="ctr">
                    <a:solidFill>
                      <a:srgbClr val="FFFFFF"/>
                    </a:solidFill>
                  </a:tcPr>
                </a:tc>
                <a:tc>
                  <a:txBody>
                    <a:bodyPr wrap="square"/>
                    <a:lstStyle/>
                    <a:p>
                      <a:pPr>
                        <a:lnSpc>
                          <a:spcPct val="100000"/>
                        </a:lnSpc>
                      </a:pPr>
                      <a:r>
                        <a:rPr sz="1000" b="0">
                          <a:solidFill>
                            <a:srgbClr val="58595B"/>
                          </a:solidFill>
                          <a:latin typeface="IBM Plex Sans"/>
                        </a:rPr>
                        <a:t>Tunnelbohrmaschine / Tunnel-Sicherheitstechnik</a:t>
                      </a:r>
                    </a:p>
                  </a:txBody>
                  <a:tcPr marL="109728" marR="91440" marT="45720" marB="45720" anchor="ctr">
                    <a:solidFill>
                      <a:srgbClr val="FFFFFF"/>
                    </a:solidFill>
                  </a:tcPr>
                </a:tc>
              </a:tr>
            </a:tbl>
          </a:graphicData>
        </a:graphic>
      </p:graphicFrame>
      <p:graphicFrame>
        <p:nvGraphicFramePr>
          <p:cNvPr id="8" name="Table 7"/>
          <p:cNvGraphicFramePr>
            <a:graphicFrameLocks noGrp="1"/>
          </p:cNvGraphicFramePr>
          <p:nvPr/>
        </p:nvGraphicFramePr>
        <p:xfrm>
          <a:off x="5989320" y="1874519"/>
          <a:ext cx="5349240" cy="4206229"/>
        </p:xfrm>
        <a:graphic>
          <a:graphicData uri="http://schemas.openxmlformats.org/drawingml/2006/table">
            <a:tbl>
              <a:tblPr>
                <a:tableStyleId>{2D5ABB26-0587-4C30-8999-92F81FD0307C}</a:tableStyleId>
              </a:tblPr>
              <a:tblGrid>
                <a:gridCol w="1737360"/>
                <a:gridCol w="3611880"/>
              </a:tblGrid>
              <a:tr h="384048">
                <a:tc>
                  <a:txBody>
                    <a:bodyPr wrap="square"/>
                    <a:lstStyle/>
                    <a:p>
                      <a:pPr>
                        <a:lnSpc>
                          <a:spcPct val="100000"/>
                        </a:lnSpc>
                      </a:pPr>
                      <a:r>
                        <a:rPr sz="1050" b="1">
                          <a:solidFill>
                            <a:srgbClr val="FFFFFF"/>
                          </a:solidFill>
                          <a:latin typeface="IBM Plex Sans"/>
                        </a:rPr>
                        <a:t>Kürzel</a:t>
                      </a:r>
                    </a:p>
                  </a:txBody>
                  <a:tcPr marL="109728" marR="91440" marT="45720" marB="45720" anchor="ctr">
                    <a:solidFill>
                      <a:srgbClr val="E00036"/>
                    </a:solidFill>
                  </a:tcPr>
                </a:tc>
                <a:tc>
                  <a:txBody>
                    <a:bodyPr wrap="square"/>
                    <a:lstStyle/>
                    <a:p>
                      <a:pPr>
                        <a:lnSpc>
                          <a:spcPct val="100000"/>
                        </a:lnSpc>
                      </a:pPr>
                      <a:r>
                        <a:rPr sz="1050" b="1">
                          <a:solidFill>
                            <a:srgbClr val="FFFFFF"/>
                          </a:solidFill>
                          <a:latin typeface="IBM Plex Sans"/>
                        </a:rPr>
                        <a:t>Bedeutung</a:t>
                      </a:r>
                    </a:p>
                  </a:txBody>
                  <a:tcPr marL="109728" marR="91440" marT="45720" marB="45720" anchor="ctr">
                    <a:solidFill>
                      <a:srgbClr val="E00036"/>
                    </a:solidFill>
                  </a:tcPr>
                </a:tc>
              </a:tr>
              <a:tr h="347471">
                <a:tc>
                  <a:txBody>
                    <a:bodyPr wrap="square"/>
                    <a:lstStyle/>
                    <a:p>
                      <a:pPr>
                        <a:lnSpc>
                          <a:spcPct val="100000"/>
                        </a:lnSpc>
                      </a:pPr>
                      <a:r>
                        <a:rPr sz="1000" b="1">
                          <a:solidFill>
                            <a:srgbClr val="58595B"/>
                          </a:solidFill>
                          <a:latin typeface="IBM Plex Sans"/>
                        </a:rPr>
                        <a:t>RZ</a:t>
                      </a:r>
                    </a:p>
                  </a:txBody>
                  <a:tcPr marL="109728" marR="91440" marT="45720" marB="45720" anchor="ctr">
                    <a:solidFill>
                      <a:srgbClr val="FFFFFF"/>
                    </a:solidFill>
                  </a:tcPr>
                </a:tc>
                <a:tc>
                  <a:txBody>
                    <a:bodyPr wrap="square"/>
                    <a:lstStyle/>
                    <a:p>
                      <a:pPr>
                        <a:lnSpc>
                          <a:spcPct val="100000"/>
                        </a:lnSpc>
                      </a:pPr>
                      <a:r>
                        <a:rPr sz="1000" b="0">
                          <a:solidFill>
                            <a:srgbClr val="58595B"/>
                          </a:solidFill>
                          <a:latin typeface="IBM Plex Sans"/>
                        </a:rPr>
                        <a:t>Rechenzentrum</a:t>
                      </a:r>
                    </a:p>
                  </a:txBody>
                  <a:tcPr marL="109728" marR="91440" marT="45720" marB="45720" anchor="ctr">
                    <a:solidFill>
                      <a:srgbClr val="FFFFFF"/>
                    </a:solidFill>
                  </a:tcPr>
                </a:tc>
              </a:tr>
              <a:tr h="347471">
                <a:tc>
                  <a:txBody>
                    <a:bodyPr wrap="square"/>
                    <a:lstStyle/>
                    <a:p>
                      <a:pPr>
                        <a:lnSpc>
                          <a:spcPct val="100000"/>
                        </a:lnSpc>
                      </a:pPr>
                      <a:r>
                        <a:rPr sz="1000" b="1">
                          <a:solidFill>
                            <a:srgbClr val="58595B"/>
                          </a:solidFill>
                          <a:latin typeface="IBM Plex Sans"/>
                        </a:rPr>
                        <a:t>GU / TU / ARGE</a:t>
                      </a:r>
                    </a:p>
                  </a:txBody>
                  <a:tcPr marL="109728" marR="91440" marT="45720" marB="45720" anchor="ctr">
                    <a:solidFill>
                      <a:srgbClr val="F4F4F4"/>
                    </a:solidFill>
                  </a:tcPr>
                </a:tc>
                <a:tc>
                  <a:txBody>
                    <a:bodyPr wrap="square"/>
                    <a:lstStyle/>
                    <a:p>
                      <a:pPr>
                        <a:lnSpc>
                          <a:spcPct val="100000"/>
                        </a:lnSpc>
                      </a:pPr>
                      <a:r>
                        <a:rPr sz="1000" b="0">
                          <a:solidFill>
                            <a:srgbClr val="58595B"/>
                          </a:solidFill>
                          <a:latin typeface="IBM Plex Sans"/>
                        </a:rPr>
                        <a:t>General-, Totalunternehmer / Arbeitsgemeinschaft</a:t>
                      </a:r>
                    </a:p>
                  </a:txBody>
                  <a:tcPr marL="109728" marR="91440" marT="45720" marB="45720" anchor="ctr">
                    <a:solidFill>
                      <a:srgbClr val="F4F4F4"/>
                    </a:solidFill>
                  </a:tcPr>
                </a:tc>
              </a:tr>
              <a:tr h="347471">
                <a:tc>
                  <a:txBody>
                    <a:bodyPr wrap="square"/>
                    <a:lstStyle/>
                    <a:p>
                      <a:pPr>
                        <a:lnSpc>
                          <a:spcPct val="100000"/>
                        </a:lnSpc>
                      </a:pPr>
                      <a:r>
                        <a:rPr sz="1000" b="1">
                          <a:solidFill>
                            <a:srgbClr val="58595B"/>
                          </a:solidFill>
                          <a:latin typeface="IBM Plex Sans"/>
                        </a:rPr>
                        <a:t>IBN / PM</a:t>
                      </a:r>
                    </a:p>
                  </a:txBody>
                  <a:tcPr marL="109728" marR="91440" marT="45720" marB="45720" anchor="ctr">
                    <a:solidFill>
                      <a:srgbClr val="FFFFFF"/>
                    </a:solidFill>
                  </a:tcPr>
                </a:tc>
                <a:tc>
                  <a:txBody>
                    <a:bodyPr wrap="square"/>
                    <a:lstStyle/>
                    <a:p>
                      <a:pPr>
                        <a:lnSpc>
                          <a:spcPct val="100000"/>
                        </a:lnSpc>
                      </a:pPr>
                      <a:r>
                        <a:rPr sz="1000" b="0">
                          <a:solidFill>
                            <a:srgbClr val="58595B"/>
                          </a:solidFill>
                          <a:latin typeface="IBM Plex Sans"/>
                        </a:rPr>
                        <a:t>Inbetriebnahme / Projektmanagement</a:t>
                      </a:r>
                    </a:p>
                  </a:txBody>
                  <a:tcPr marL="109728" marR="91440" marT="45720" marB="45720" anchor="ctr">
                    <a:solidFill>
                      <a:srgbClr val="FFFFFF"/>
                    </a:solidFill>
                  </a:tcPr>
                </a:tc>
              </a:tr>
              <a:tr h="347471">
                <a:tc>
                  <a:txBody>
                    <a:bodyPr wrap="square"/>
                    <a:lstStyle/>
                    <a:p>
                      <a:pPr>
                        <a:lnSpc>
                          <a:spcPct val="100000"/>
                        </a:lnSpc>
                      </a:pPr>
                      <a:r>
                        <a:rPr sz="1000" b="1">
                          <a:solidFill>
                            <a:srgbClr val="58595B"/>
                          </a:solidFill>
                          <a:latin typeface="IBM Plex Sans"/>
                        </a:rPr>
                        <a:t>IVöB / simap</a:t>
                      </a:r>
                    </a:p>
                  </a:txBody>
                  <a:tcPr marL="109728" marR="91440" marT="45720" marB="45720" anchor="ctr">
                    <a:solidFill>
                      <a:srgbClr val="F4F4F4"/>
                    </a:solidFill>
                  </a:tcPr>
                </a:tc>
                <a:tc>
                  <a:txBody>
                    <a:bodyPr wrap="square"/>
                    <a:lstStyle/>
                    <a:p>
                      <a:pPr>
                        <a:lnSpc>
                          <a:spcPct val="100000"/>
                        </a:lnSpc>
                      </a:pPr>
                      <a:r>
                        <a:rPr sz="1000" b="0">
                          <a:solidFill>
                            <a:srgbClr val="58595B"/>
                          </a:solidFill>
                          <a:latin typeface="IBM Plex Sans"/>
                        </a:rPr>
                        <a:t>Beschaffungsrecht / Ausschreibungsportal</a:t>
                      </a:r>
                    </a:p>
                  </a:txBody>
                  <a:tcPr marL="109728" marR="91440" marT="45720" marB="45720" anchor="ctr">
                    <a:solidFill>
                      <a:srgbClr val="F4F4F4"/>
                    </a:solidFill>
                  </a:tcPr>
                </a:tc>
              </a:tr>
              <a:tr h="347471">
                <a:tc>
                  <a:txBody>
                    <a:bodyPr wrap="square"/>
                    <a:lstStyle/>
                    <a:p>
                      <a:pPr>
                        <a:lnSpc>
                          <a:spcPct val="100000"/>
                        </a:lnSpc>
                      </a:pPr>
                      <a:r>
                        <a:rPr sz="1000" b="1">
                          <a:solidFill>
                            <a:srgbClr val="58595B"/>
                          </a:solidFill>
                          <a:latin typeface="IBM Plex Sans"/>
                        </a:rPr>
                        <a:t>EMEA</a:t>
                      </a:r>
                    </a:p>
                  </a:txBody>
                  <a:tcPr marL="109728" marR="91440" marT="45720" marB="45720" anchor="ctr">
                    <a:solidFill>
                      <a:srgbClr val="FFFFFF"/>
                    </a:solidFill>
                  </a:tcPr>
                </a:tc>
                <a:tc>
                  <a:txBody>
                    <a:bodyPr wrap="square"/>
                    <a:lstStyle/>
                    <a:p>
                      <a:pPr>
                        <a:lnSpc>
                          <a:spcPct val="100000"/>
                        </a:lnSpc>
                      </a:pPr>
                      <a:r>
                        <a:rPr sz="1000" b="0">
                          <a:solidFill>
                            <a:srgbClr val="58595B"/>
                          </a:solidFill>
                          <a:latin typeface="IBM Plex Sans"/>
                        </a:rPr>
                        <a:t>Europa, Nahost, Afrika: zentraler Einkauf</a:t>
                      </a:r>
                    </a:p>
                  </a:txBody>
                  <a:tcPr marL="109728" marR="91440" marT="45720" marB="45720" anchor="ctr">
                    <a:solidFill>
                      <a:srgbClr val="FFFFFF"/>
                    </a:solidFill>
                  </a:tcPr>
                </a:tc>
              </a:tr>
              <a:tr h="347471">
                <a:tc>
                  <a:txBody>
                    <a:bodyPr wrap="square"/>
                    <a:lstStyle/>
                    <a:p>
                      <a:pPr>
                        <a:lnSpc>
                          <a:spcPct val="100000"/>
                        </a:lnSpc>
                      </a:pPr>
                      <a:r>
                        <a:rPr sz="1000" b="1">
                          <a:solidFill>
                            <a:srgbClr val="58595B"/>
                          </a:solidFill>
                          <a:latin typeface="IBM Plex Sans"/>
                        </a:rPr>
                        <a:t>GMP</a:t>
                      </a:r>
                    </a:p>
                  </a:txBody>
                  <a:tcPr marL="109728" marR="91440" marT="45720" marB="45720" anchor="ctr">
                    <a:solidFill>
                      <a:srgbClr val="F4F4F4"/>
                    </a:solidFill>
                  </a:tcPr>
                </a:tc>
                <a:tc>
                  <a:txBody>
                    <a:bodyPr wrap="square"/>
                    <a:lstStyle/>
                    <a:p>
                      <a:pPr>
                        <a:lnSpc>
                          <a:spcPct val="100000"/>
                        </a:lnSpc>
                      </a:pPr>
                      <a:r>
                        <a:rPr sz="1000" b="0">
                          <a:solidFill>
                            <a:srgbClr val="58595B"/>
                          </a:solidFill>
                          <a:latin typeface="IBM Plex Sans"/>
                        </a:rPr>
                        <a:t>Good Manufacturing Practice (Pharma-Regeln)</a:t>
                      </a:r>
                    </a:p>
                  </a:txBody>
                  <a:tcPr marL="109728" marR="91440" marT="45720" marB="45720" anchor="ctr">
                    <a:solidFill>
                      <a:srgbClr val="F4F4F4"/>
                    </a:solidFill>
                  </a:tcPr>
                </a:tc>
              </a:tr>
              <a:tr h="347471">
                <a:tc>
                  <a:txBody>
                    <a:bodyPr wrap="square"/>
                    <a:lstStyle/>
                    <a:p>
                      <a:pPr>
                        <a:lnSpc>
                          <a:spcPct val="100000"/>
                        </a:lnSpc>
                      </a:pPr>
                      <a:r>
                        <a:rPr sz="1000" b="1">
                          <a:solidFill>
                            <a:srgbClr val="58595B"/>
                          </a:solidFill>
                          <a:latin typeface="IBM Plex Sans"/>
                        </a:rPr>
                        <a:t>ASTRA / SBB</a:t>
                      </a:r>
                    </a:p>
                  </a:txBody>
                  <a:tcPr marL="109728" marR="91440" marT="45720" marB="45720" anchor="ctr">
                    <a:solidFill>
                      <a:srgbClr val="FFFFFF"/>
                    </a:solidFill>
                  </a:tcPr>
                </a:tc>
                <a:tc>
                  <a:txBody>
                    <a:bodyPr wrap="square"/>
                    <a:lstStyle/>
                    <a:p>
                      <a:pPr>
                        <a:lnSpc>
                          <a:spcPct val="100000"/>
                        </a:lnSpc>
                      </a:pPr>
                      <a:r>
                        <a:rPr sz="1000" b="0">
                          <a:solidFill>
                            <a:srgbClr val="58595B"/>
                          </a:solidFill>
                          <a:latin typeface="IBM Plex Sans"/>
                        </a:rPr>
                        <a:t>Bundesamt für Strassen / Schweizerische Bundesbahnen</a:t>
                      </a:r>
                    </a:p>
                  </a:txBody>
                  <a:tcPr marL="109728" marR="91440" marT="45720" marB="45720" anchor="ctr">
                    <a:solidFill>
                      <a:srgbClr val="FFFFFF"/>
                    </a:solidFill>
                  </a:tcPr>
                </a:tc>
              </a:tr>
              <a:tr h="347471">
                <a:tc>
                  <a:txBody>
                    <a:bodyPr wrap="square"/>
                    <a:lstStyle/>
                    <a:p>
                      <a:pPr>
                        <a:lnSpc>
                          <a:spcPct val="100000"/>
                        </a:lnSpc>
                      </a:pPr>
                      <a:r>
                        <a:rPr sz="1000" b="1">
                          <a:solidFill>
                            <a:srgbClr val="58595B"/>
                          </a:solidFill>
                          <a:latin typeface="IBM Plex Sans"/>
                        </a:rPr>
                        <a:t>EKZ / ewz / CKW / IWB</a:t>
                      </a:r>
                    </a:p>
                  </a:txBody>
                  <a:tcPr marL="109728" marR="91440" marT="45720" marB="45720" anchor="ctr">
                    <a:solidFill>
                      <a:srgbClr val="F4F4F4"/>
                    </a:solidFill>
                  </a:tcPr>
                </a:tc>
                <a:tc>
                  <a:txBody>
                    <a:bodyPr wrap="square"/>
                    <a:lstStyle/>
                    <a:p>
                      <a:pPr>
                        <a:lnSpc>
                          <a:spcPct val="100000"/>
                        </a:lnSpc>
                      </a:pPr>
                      <a:r>
                        <a:rPr sz="1000" b="0">
                          <a:solidFill>
                            <a:srgbClr val="58595B"/>
                          </a:solidFill>
                          <a:latin typeface="IBM Plex Sans"/>
                        </a:rPr>
                        <a:t>Stromversorger Kt. Zürich, Stadt Zürich, Zentralschweiz, Basel</a:t>
                      </a:r>
                    </a:p>
                  </a:txBody>
                  <a:tcPr marL="109728" marR="91440" marT="45720" marB="45720" anchor="ctr">
                    <a:solidFill>
                      <a:srgbClr val="F4F4F4"/>
                    </a:solidFill>
                  </a:tcPr>
                </a:tc>
              </a:tr>
              <a:tr h="347471">
                <a:tc>
                  <a:txBody>
                    <a:bodyPr wrap="square"/>
                    <a:lstStyle/>
                    <a:p>
                      <a:pPr>
                        <a:lnSpc>
                          <a:spcPct val="100000"/>
                        </a:lnSpc>
                      </a:pPr>
                      <a:r>
                        <a:rPr sz="1000" b="1">
                          <a:solidFill>
                            <a:srgbClr val="58595B"/>
                          </a:solidFill>
                          <a:latin typeface="IBM Plex Sans"/>
                        </a:rPr>
                        <a:t>KWO / KSA / USZ / KSSG</a:t>
                      </a:r>
                    </a:p>
                  </a:txBody>
                  <a:tcPr marL="109728" marR="91440" marT="45720" marB="45720" anchor="ctr">
                    <a:solidFill>
                      <a:srgbClr val="FFFFFF"/>
                    </a:solidFill>
                  </a:tcPr>
                </a:tc>
                <a:tc>
                  <a:txBody>
                    <a:bodyPr wrap="square"/>
                    <a:lstStyle/>
                    <a:p>
                      <a:pPr>
                        <a:lnSpc>
                          <a:spcPct val="100000"/>
                        </a:lnSpc>
                      </a:pPr>
                      <a:r>
                        <a:rPr sz="1000" b="0">
                          <a:solidFill>
                            <a:srgbClr val="58595B"/>
                          </a:solidFill>
                          <a:latin typeface="IBM Plex Sans"/>
                        </a:rPr>
                        <a:t>Kraftwerke Oberhasli; Spitäler Aarau, Zürich, St.Gallen</a:t>
                      </a:r>
                    </a:p>
                  </a:txBody>
                  <a:tcPr marL="109728" marR="91440" marT="45720" marB="45720" anchor="ctr">
                    <a:solidFill>
                      <a:srgbClr val="FFFFFF"/>
                    </a:solidFill>
                  </a:tcPr>
                </a:tc>
              </a:tr>
              <a:tr h="347471">
                <a:tc>
                  <a:txBody>
                    <a:bodyPr wrap="square"/>
                    <a:lstStyle/>
                    <a:p>
                      <a:pPr>
                        <a:lnSpc>
                          <a:spcPct val="100000"/>
                        </a:lnSpc>
                      </a:pPr>
                      <a:r>
                        <a:rPr sz="1000" b="1">
                          <a:solidFill>
                            <a:srgbClr val="58595B"/>
                          </a:solidFill>
                          <a:latin typeface="IBM Plex Sans"/>
                        </a:rPr>
                        <a:t>WEF / FIS / ESAF</a:t>
                      </a:r>
                    </a:p>
                  </a:txBody>
                  <a:tcPr marL="109728" marR="91440" marT="45720" marB="45720" anchor="ctr">
                    <a:solidFill>
                      <a:srgbClr val="F4F4F4"/>
                    </a:solidFill>
                  </a:tcPr>
                </a:tc>
                <a:tc>
                  <a:txBody>
                    <a:bodyPr wrap="square"/>
                    <a:lstStyle/>
                    <a:p>
                      <a:pPr>
                        <a:lnSpc>
                          <a:spcPct val="100000"/>
                        </a:lnSpc>
                      </a:pPr>
                      <a:r>
                        <a:rPr sz="1000" b="0">
                          <a:solidFill>
                            <a:srgbClr val="58595B"/>
                          </a:solidFill>
                          <a:latin typeface="IBM Plex Sans"/>
                        </a:rPr>
                        <a:t>World Economic Forum / Ski-Weltverband / Schwingfest</a:t>
                      </a:r>
                    </a:p>
                  </a:txBody>
                  <a:tcPr marL="109728" marR="91440" marT="45720" marB="45720" anchor="ctr">
                    <a:solidFill>
                      <a:srgbClr val="F4F4F4"/>
                    </a:solidFill>
                  </a:tcPr>
                </a:tc>
              </a:tr>
              <a:tr h="347471">
                <a:tc>
                  <a:txBody>
                    <a:bodyPr wrap="square"/>
                    <a:lstStyle/>
                    <a:p>
                      <a:pPr>
                        <a:lnSpc>
                          <a:spcPct val="100000"/>
                        </a:lnSpc>
                      </a:pPr>
                      <a:r>
                        <a:rPr sz="1000" b="1">
                          <a:solidFill>
                            <a:srgbClr val="58595B"/>
                          </a:solidFill>
                          <a:latin typeface="IBM Plex Sans"/>
                        </a:rPr>
                        <a:t>CRM / FX</a:t>
                      </a:r>
                    </a:p>
                  </a:txBody>
                  <a:tcPr marL="109728" marR="91440" marT="45720" marB="45720" anchor="ctr">
                    <a:solidFill>
                      <a:srgbClr val="FFFFFF"/>
                    </a:solidFill>
                  </a:tcPr>
                </a:tc>
                <a:tc>
                  <a:txBody>
                    <a:bodyPr wrap="square"/>
                    <a:lstStyle/>
                    <a:p>
                      <a:pPr>
                        <a:lnSpc>
                          <a:spcPct val="100000"/>
                        </a:lnSpc>
                      </a:pPr>
                      <a:r>
                        <a:rPr sz="1000" b="0">
                          <a:solidFill>
                            <a:srgbClr val="58595B"/>
                          </a:solidFill>
                          <a:latin typeface="IBM Plex Sans"/>
                        </a:rPr>
                        <a:t>Kundendatenbank / Wechselkurs</a:t>
                      </a:r>
                    </a:p>
                  </a:txBody>
                  <a:tcPr marL="109728" marR="91440" marT="45720" marB="45720"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06240" y="1737360"/>
            <a:ext cx="4983480" cy="292608"/>
          </a:xfrm>
          <a:prstGeom prst="rect">
            <a:avLst/>
          </a:prstGeom>
          <a:noFill/>
        </p:spPr>
        <p:txBody>
          <a:bodyPr wrap="square" lIns="0" rIns="0" tIns="0" bIns="0" anchor="t">
            <a:spAutoFit/>
          </a:bodyPr>
          <a:lstStyle/>
          <a:p>
            <a:pPr algn="l"/>
            <a:r>
              <a:rPr sz="1200" b="1" spc="180" cap="all">
                <a:solidFill>
                  <a:srgbClr val="FFFFFF"/>
                </a:solidFill>
                <a:latin typeface="IBM Plex Sans"/>
              </a:rPr>
              <a:t>Der eine Hebel</a:t>
            </a:r>
          </a:p>
        </p:txBody>
      </p:sp>
      <p:sp>
        <p:nvSpPr>
          <p:cNvPr id="3" name="TextBox 2"/>
          <p:cNvSpPr txBox="1"/>
          <p:nvPr/>
        </p:nvSpPr>
        <p:spPr>
          <a:xfrm>
            <a:off x="4206240" y="2212848"/>
            <a:ext cx="4983480" cy="2103120"/>
          </a:xfrm>
          <a:prstGeom prst="rect">
            <a:avLst/>
          </a:prstGeom>
          <a:noFill/>
        </p:spPr>
        <p:txBody>
          <a:bodyPr wrap="square" lIns="0" rIns="0" tIns="0" bIns="0" anchor="t">
            <a:spAutoFit/>
          </a:bodyPr>
          <a:lstStyle/>
          <a:p>
            <a:pPr algn="l">
              <a:lnSpc>
                <a:spcPct val="100000"/>
              </a:lnSpc>
              <a:spcBef>
                <a:spcPts val="0"/>
              </a:spcBef>
              <a:spcAft>
                <a:spcPts val="0"/>
              </a:spcAft>
            </a:pPr>
            <a:r>
              <a:rPr sz="2400" b="0">
                <a:solidFill>
                  <a:srgbClr val="FFFFFF"/>
                </a:solidFill>
                <a:latin typeface="Alata"/>
              </a:rPr>
              <a:t>Rechenzentren früh</a:t>
            </a:r>
          </a:p>
          <a:p>
            <a:pPr>
              <a:lnSpc>
                <a:spcPct val="100000"/>
              </a:lnSpc>
              <a:spcBef>
                <a:spcPts val="1200"/>
              </a:spcBef>
              <a:spcAft>
                <a:spcPts val="0"/>
              </a:spcAft>
            </a:pPr>
            <a:r>
              <a:rPr sz="2400" b="0">
                <a:solidFill>
                  <a:srgbClr val="FFFFFF"/>
                </a:solidFill>
                <a:latin typeface="Alata"/>
              </a:rPr>
              <a:t>im Bau besetzen,</a:t>
            </a:r>
          </a:p>
          <a:p>
            <a:pPr>
              <a:lnSpc>
                <a:spcPct val="100000"/>
              </a:lnSpc>
              <a:spcBef>
                <a:spcPts val="1200"/>
              </a:spcBef>
              <a:spcAft>
                <a:spcPts val="0"/>
              </a:spcAft>
            </a:pPr>
            <a:r>
              <a:rPr sz="2400" b="0">
                <a:solidFill>
                  <a:srgbClr val="FFFFFF"/>
                </a:solidFill>
                <a:latin typeface="Alata"/>
              </a:rPr>
              <a:t>nicht erst beim IST.</a:t>
            </a:r>
          </a:p>
        </p:txBody>
      </p:sp>
      <p:sp>
        <p:nvSpPr>
          <p:cNvPr id="4" name="Rectangle 3"/>
          <p:cNvSpPr/>
          <p:nvPr/>
        </p:nvSpPr>
        <p:spPr>
          <a:xfrm>
            <a:off x="4206240" y="4434840"/>
            <a:ext cx="109728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206240" y="4709160"/>
            <a:ext cx="4023360" cy="548640"/>
          </a:xfrm>
          <a:prstGeom prst="rect">
            <a:avLst/>
          </a:prstGeom>
          <a:noFill/>
        </p:spPr>
        <p:txBody>
          <a:bodyPr wrap="square" lIns="0" rIns="0" tIns="0" bIns="0" anchor="t">
            <a:spAutoFit/>
          </a:bodyPr>
          <a:lstStyle/>
          <a:p>
            <a:pPr algn="l">
              <a:spcBef>
                <a:spcPts val="0"/>
              </a:spcBef>
              <a:spcAft>
                <a:spcPts val="0"/>
              </a:spcAft>
            </a:pPr>
            <a:r>
              <a:rPr sz="1150" b="0">
                <a:solidFill>
                  <a:srgbClr val="FFFFFF"/>
                </a:solidFill>
                <a:latin typeface="IBM Plex Sans"/>
              </a:rPr>
              <a:t>Burak Ücöz · Area Sales Engineer</a:t>
            </a:r>
          </a:p>
          <a:p>
            <a:pPr>
              <a:spcBef>
                <a:spcPts val="300"/>
              </a:spcBef>
              <a:spcAft>
                <a:spcPts val="0"/>
              </a:spcAft>
            </a:pPr>
            <a:r>
              <a:rPr sz="1150" b="0">
                <a:solidFill>
                  <a:srgbClr val="FFFFFF"/>
                </a:solidFill>
                <a:latin typeface="IBM Plex Sans"/>
              </a:rPr>
              <a:t>Mobil in Time AG · An Aggreko Company</a:t>
            </a:r>
          </a:p>
        </p:txBody>
      </p:sp>
    </p:spTree>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chriftarten MiT_ab_2021">
      <a:majorFont>
        <a:latin typeface="Alata"/>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CF6CAFF9-42BB-4E45-AAD0-138463FC66B6}" vid="{4080DF66-D807-473F-B2D8-B94D420065BE}"/>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A81AC30EB9537A49AF48C735E80D08C6" ma:contentTypeVersion="15" ma:contentTypeDescription="Ein neues Dokument erstellen." ma:contentTypeScope="" ma:versionID="eebee769a3460c40acc337d4501e840b">
  <xsd:schema xmlns:xsd="http://www.w3.org/2001/XMLSchema" xmlns:xs="http://www.w3.org/2001/XMLSchema" xmlns:p="http://schemas.microsoft.com/office/2006/metadata/properties" xmlns:ns2="c3bc38b3-6449-4a1c-a380-47d6575fb472" xmlns:ns3="50b5a504-641a-4807-83f9-f08ddca33ab4" targetNamespace="http://schemas.microsoft.com/office/2006/metadata/properties" ma:root="true" ma:fieldsID="cb83f664cfc6bf2969c499e089e8de19" ns2:_="" ns3:_="">
    <xsd:import namespace="c3bc38b3-6449-4a1c-a380-47d6575fb472"/>
    <xsd:import namespace="50b5a504-641a-4807-83f9-f08ddca33ab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LengthInSeconds" minOccurs="0"/>
                <xsd:element ref="ns2:MediaServiceDateTaken" minOccurs="0"/>
                <xsd:element ref="ns2:lcf76f155ced4ddcb4097134ff3c332f" minOccurs="0"/>
                <xsd:element ref="ns3:TaxCatchAll" minOccurs="0"/>
                <xsd:element ref="ns2:MediaServiceOCR"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3bc38b3-6449-4a1c-a380-47d6575fb4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dmarkierungen" ma:readOnly="false" ma:fieldId="{5cf76f15-5ced-4ddc-b409-7134ff3c332f}" ma:taxonomyMulti="true" ma:sspId="6583c19e-58ea-46dc-918b-99ad88035b59"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0b5a504-641a-4807-83f9-f08ddca33ab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f15867dd-cfca-4df0-9cb6-6d4e724f97fb}" ma:internalName="TaxCatchAll" ma:showField="CatchAllData" ma:web="50b5a504-641a-4807-83f9-f08ddca33ab4">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0b5a504-641a-4807-83f9-f08ddca33ab4" xsi:nil="true"/>
    <lcf76f155ced4ddcb4097134ff3c332f xmlns="c3bc38b3-6449-4a1c-a380-47d6575fb472">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F648FF-40EE-4ECD-94D7-CDB8253A13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3bc38b3-6449-4a1c-a380-47d6575fb472"/>
    <ds:schemaRef ds:uri="50b5a504-641a-4807-83f9-f08ddca33a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A0E9496-5E67-4C84-A139-32CD2A62BEF6}">
  <ds:schemaRefs>
    <ds:schemaRef ds:uri="http://purl.org/dc/elements/1.1/"/>
    <ds:schemaRef ds:uri="http://www.w3.org/XML/1998/namespace"/>
    <ds:schemaRef ds:uri="http://schemas.microsoft.com/office/2006/documentManagement/types"/>
    <ds:schemaRef ds:uri="http://schemas.openxmlformats.org/package/2006/metadata/core-properties"/>
    <ds:schemaRef ds:uri="http://purl.org/dc/dcmitype/"/>
    <ds:schemaRef ds:uri="c3bc38b3-6449-4a1c-a380-47d6575fb472"/>
    <ds:schemaRef ds:uri="http://schemas.microsoft.com/office/infopath/2007/PartnerControls"/>
    <ds:schemaRef ds:uri="50b5a504-641a-4807-83f9-f08ddca33ab4"/>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EC261B7D-0959-49C5-8C92-09BACBA42A8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743</Words>
  <Application>Microsoft Office PowerPoint</Application>
  <PresentationFormat>Breitbild</PresentationFormat>
  <Paragraphs>194</Paragraphs>
  <Slides>15</Slides>
  <Notes>8</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15</vt:i4>
      </vt:variant>
    </vt:vector>
  </HeadingPairs>
  <TitlesOfParts>
    <vt:vector size="21" baseType="lpstr">
      <vt:lpstr>Alata</vt:lpstr>
      <vt:lpstr>Aptos</vt:lpstr>
      <vt:lpstr>Arial</vt:lpstr>
      <vt:lpstr>Calibri</vt:lpstr>
      <vt:lpstr>IBM Plex Sans</vt:lpstr>
      <vt:lpstr>Office</vt:lpstr>
      <vt:lpstr>Mobil in Time AG</vt:lpstr>
      <vt:lpstr>PowerPoint-Präsentation</vt:lpstr>
      <vt:lpstr>PowerPoint-Präsentation</vt:lpstr>
      <vt:lpstr>PowerPoint-Präsentation</vt:lpstr>
      <vt:lpstr>Unser Portfolio</vt:lpstr>
      <vt:lpstr>Mehr Power durch Zusammenarbeit.</vt:lpstr>
      <vt:lpstr>PowerPoint-Präsentation</vt:lpstr>
      <vt:lpstr>Mobile Generatoren</vt:lpstr>
      <vt:lpstr>Mobile Batteriespeicher</vt:lpstr>
      <vt:lpstr>Mobile Batteriespeicher</vt:lpstr>
      <vt:lpstr>Einsatzgebiete</vt:lpstr>
      <vt:lpstr>Aggreko Portfolio</vt:lpstr>
      <vt:lpstr>Power-Quality-Messung</vt:lpstr>
      <vt:lpstr>PowerPoint-Präsentation</vt:lpstr>
      <vt:lpstr>Vielen Dank.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Top-Player Power Schweiz 2027</dc:title>
  <dc:creator>Burak Ücöz</dc:creator>
  <cp:lastModifiedBy>Sascha Promberger</cp:lastModifiedBy>
  <cp:revision>74</cp:revision>
  <dcterms:created xsi:type="dcterms:W3CDTF">2026-05-28T08:15:02Z</dcterms:created>
  <dcterms:modified xsi:type="dcterms:W3CDTF">2026-07-13T13:39:22Z</dcterms:modified>
  <dc:subject>Leeres Master-Template (Layouts, Hintergruende, Logo)</dc:subject>
  <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0x010100A81AC30EB9537A49AF48C735E80D08C6</vt:lpwstr>
  </property>
  <property fmtid="{D5CDD505-2E9C-101B-9397-08002B2CF9AE}" pid="3" name="MediaServiceImageTags">
    <vt:lpwstr/>
  </property>
</Properties>
</file>