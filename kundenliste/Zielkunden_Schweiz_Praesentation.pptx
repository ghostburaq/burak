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Prio</c:v>
                </c:pt>
              </c:strCache>
            </c:strRef>
          </c:tx>
          <c:spPr>
            <a:solidFill>
              <a:schemeClr val="accent1"/>
            </a:solidFill>
            <a:ln w="9525" cap="flat">
              <a:solidFill>
                <a:srgbClr val="F9F9F9"/>
              </a:solidFill>
              <a:prstDash val="solid"/>
              <a:round/>
            </a:ln>
            <a:effectLst/>
          </c:spPr>
          <c:dPt>
            <c:idx val="0"/>
            <c:bubble3D val="0"/>
            <c:spPr>
              <a:solidFill>
                <a:srgbClr val="1F7A4D"/>
              </a:solidFill>
              <a:effectLst/>
            </c:spPr>
          </c:dPt>
          <c:dPt>
            <c:idx val="1"/>
            <c:bubble3D val="0"/>
            <c:spPr>
              <a:solidFill>
                <a:srgbClr val="F2A900"/>
              </a:solidFill>
              <a:effectLst/>
            </c:spPr>
          </c:dPt>
          <c:dPt>
            <c:idx val="2"/>
            <c:bubble3D val="0"/>
            <c:spPr>
              <a:solidFill>
                <a:srgbClr val="9AA0A6"/>
              </a:solidFill>
              <a:effectLst/>
            </c:spPr>
          </c:dPt>
          <c:dLbls>
            <c:dLbl>
              <c:idx val="0"/>
              <c:numFmt formatCode="General" sourceLinked="0"/>
              <c:spPr/>
              <c:txPr>
                <a:bodyPr/>
                <a:lstStyle/>
                <a:p>
                  <a:pPr>
                    <a:defRPr sz="1000" b="1" i="0" u="none" strike="noStrike">
                      <a:solidFill>
                        <a:srgbClr val="FFFFFF"/>
                      </a:solidFill>
                      <a:latin typeface="Arial"/>
                    </a:defRPr>
                  </a:pPr>
                </a:p>
              </c:txPr>
              <c:showLegendKey val="0"/>
              <c:showVal val="1"/>
              <c:showCatName val="0"/>
              <c:showSerName val="0"/>
              <c:showPercent val="0"/>
              <c:showBubbleSize val="0"/>
            </c:dLbl>
            <c:dLbl>
              <c:idx val="1"/>
              <c:numFmt formatCode="General" sourceLinked="0"/>
              <c:spPr/>
              <c:txPr>
                <a:bodyPr/>
                <a:lstStyle/>
                <a:p>
                  <a:pPr>
                    <a:defRPr sz="1000" b="1" i="0" u="none" strike="noStrike">
                      <a:solidFill>
                        <a:srgbClr val="FFFFFF"/>
                      </a:solidFill>
                      <a:latin typeface="Arial"/>
                    </a:defRPr>
                  </a:pPr>
                </a:p>
              </c:txPr>
              <c:showLegendKey val="0"/>
              <c:showVal val="1"/>
              <c:showCatName val="0"/>
              <c:showSerName val="0"/>
              <c:showPercent val="0"/>
              <c:showBubbleSize val="0"/>
            </c:dLbl>
            <c:dLbl>
              <c:idx val="2"/>
              <c:numFmt formatCode="General" sourceLinked="0"/>
              <c:spPr/>
              <c:txPr>
                <a:bodyPr/>
                <a:lstStyle/>
                <a:p>
                  <a:pPr>
                    <a:defRPr sz="1000" b="1" i="0" u="none" strike="noStrike">
                      <a:solidFill>
                        <a:srgbClr val="FFFFFF"/>
                      </a:solidFill>
                      <a:latin typeface="Arial"/>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A</c:v>
                </c:pt>
                <c:pt idx="1">
                  <c:v>B</c:v>
                </c:pt>
                <c:pt idx="2">
                  <c:v>C</c:v>
                </c:pt>
              </c:strCache>
            </c:strRef>
          </c:cat>
          <c:val>
            <c:numRef>
              <c:f>Sheet1!$B$2:$B$4</c:f>
              <c:numCache>
                <c:ptCount val="3"/>
                <c:pt idx="0">
                  <c:v>36</c:v>
                </c:pt>
                <c:pt idx="1">
                  <c:v>69</c:v>
                </c:pt>
                <c:pt idx="2">
                  <c:v>20</c:v>
                </c:pt>
              </c:numCache>
            </c:numRef>
          </c:val>
        </c:ser>
        <c:firstSliceAng val="0"/>
        <c:holeSize val="55"/>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Prio A</c:v>
                </c:pt>
              </c:strCache>
            </c:strRef>
          </c:tx>
          <c:spPr>
            <a:solidFill>
              <a:srgbClr val="1F7A4D"/>
            </a:solidFill>
            <a:effectLst/>
          </c:spPr>
          <c:invertIfNegative val="0"/>
          <c:dLbls>
            <c:numFmt formatCode="#,##0" sourceLinked="0"/>
            <c:txPr>
              <a:bodyPr/>
              <a:lstStyle/>
              <a:p>
                <a:pPr>
                  <a:defRPr b="1" i="0" strike="noStrike" sz="1000" u="none">
                    <a:solidFill>
                      <a:srgbClr val="FFFFFF"/>
                    </a:solidFill>
                    <a:latin typeface="Arial"/>
                  </a:defRPr>
                </a:pPr>
              </a:p>
            </c:txPr>
            <c:dLblPos val="ctr"/>
            <c:showLegendKey val="0"/>
            <c:showVal val="1"/>
            <c:showCatName val="0"/>
            <c:showSerName val="0"/>
            <c:showPercent val="0"/>
            <c:showBubbleSize val="0"/>
            <c:showLeaderLines val="0"/>
          </c:dLbls>
          <c:cat>
            <c:multiLvlStrRef>
              <c:f>Sheet1!$A$2:$A$4</c:f>
              <c:multiLvlStrCache>
                <c:ptCount val="3"/>
                <c:lvl>
                  <c:pt idx="0">
                    <c:v>Installateure</c:v>
                  </c:pt>
                  <c:pt idx="1">
                    <c:v>FM / EVU / Planer</c:v>
                  </c:pt>
                  <c:pt idx="2">
                    <c:v>GU/TU + Industrie</c:v>
                  </c:pt>
                </c:lvl>
              </c:multiLvlStrCache>
            </c:multiLvlStrRef>
          </c:cat>
          <c:val>
            <c:numRef>
              <c:f>Sheet1!$B$2:$B$4</c:f>
              <c:numCache>
                <c:formatCode>General</c:formatCode>
                <c:ptCount val="3"/>
                <c:pt idx="0">
                  <c:v>11</c:v>
                </c:pt>
                <c:pt idx="1">
                  <c:v>7</c:v>
                </c:pt>
                <c:pt idx="2">
                  <c:v>18</c:v>
                </c:pt>
              </c:numCache>
            </c:numRef>
          </c:val>
        </c:ser>
        <c:ser>
          <c:idx val="1"/>
          <c:order val="1"/>
          <c:tx>
            <c:strRef>
              <c:f>Sheet1!$C$1</c:f>
              <c:strCache>
                <c:ptCount val="1"/>
                <c:pt idx="0">
                  <c:v>Prio B</c:v>
                </c:pt>
              </c:strCache>
            </c:strRef>
          </c:tx>
          <c:spPr>
            <a:solidFill>
              <a:srgbClr val="F2A900"/>
            </a:solidFill>
            <a:effectLst/>
          </c:spPr>
          <c:invertIfNegative val="0"/>
          <c:dLbls>
            <c:numFmt formatCode="#,##0" sourceLinked="0"/>
            <c:txPr>
              <a:bodyPr/>
              <a:lstStyle/>
              <a:p>
                <a:pPr>
                  <a:defRPr b="1" i="0" strike="noStrike" sz="1000" u="none">
                    <a:solidFill>
                      <a:srgbClr val="FFFFFF"/>
                    </a:solidFill>
                    <a:latin typeface="Arial"/>
                  </a:defRPr>
                </a:pPr>
              </a:p>
            </c:txPr>
            <c:dLblPos val="ctr"/>
            <c:showLegendKey val="0"/>
            <c:showVal val="1"/>
            <c:showCatName val="0"/>
            <c:showSerName val="0"/>
            <c:showPercent val="0"/>
            <c:showBubbleSize val="0"/>
            <c:showLeaderLines val="0"/>
          </c:dLbls>
          <c:cat>
            <c:multiLvlStrRef>
              <c:f>Sheet1!$A$2:$A$4</c:f>
              <c:multiLvlStrCache>
                <c:ptCount val="3"/>
                <c:lvl>
                  <c:pt idx="0">
                    <c:v>Installateure</c:v>
                  </c:pt>
                  <c:pt idx="1">
                    <c:v>FM / EVU / Planer</c:v>
                  </c:pt>
                  <c:pt idx="2">
                    <c:v>GU/TU + Industrie</c:v>
                  </c:pt>
                </c:lvl>
              </c:multiLvlStrCache>
            </c:multiLvlStrRef>
          </c:cat>
          <c:val>
            <c:numRef>
              <c:f>Sheet1!$C$2:$C$4</c:f>
              <c:numCache>
                <c:formatCode>General</c:formatCode>
                <c:ptCount val="3"/>
                <c:pt idx="0">
                  <c:v>20</c:v>
                </c:pt>
                <c:pt idx="1">
                  <c:v>25</c:v>
                </c:pt>
                <c:pt idx="2">
                  <c:v>24</c:v>
                </c:pt>
              </c:numCache>
            </c:numRef>
          </c:val>
        </c:ser>
        <c:ser>
          <c:idx val="2"/>
          <c:order val="2"/>
          <c:tx>
            <c:strRef>
              <c:f>Sheet1!$D$1</c:f>
              <c:strCache>
                <c:ptCount val="1"/>
                <c:pt idx="0">
                  <c:v>Prio C</c:v>
                </c:pt>
              </c:strCache>
            </c:strRef>
          </c:tx>
          <c:spPr>
            <a:solidFill>
              <a:srgbClr val="9AA0A6"/>
            </a:solidFill>
            <a:effectLst/>
          </c:spPr>
          <c:invertIfNegative val="0"/>
          <c:dLbls>
            <c:numFmt formatCode="#,##0" sourceLinked="0"/>
            <c:txPr>
              <a:bodyPr/>
              <a:lstStyle/>
              <a:p>
                <a:pPr>
                  <a:defRPr b="1" i="0" strike="noStrike" sz="1000" u="none">
                    <a:solidFill>
                      <a:srgbClr val="FFFFFF"/>
                    </a:solidFill>
                    <a:latin typeface="Arial"/>
                  </a:defRPr>
                </a:pPr>
              </a:p>
            </c:txPr>
            <c:dLblPos val="ctr"/>
            <c:showLegendKey val="0"/>
            <c:showVal val="1"/>
            <c:showCatName val="0"/>
            <c:showSerName val="0"/>
            <c:showPercent val="0"/>
            <c:showBubbleSize val="0"/>
            <c:showLeaderLines val="0"/>
          </c:dLbls>
          <c:cat>
            <c:multiLvlStrRef>
              <c:f>Sheet1!$A$2:$A$4</c:f>
              <c:multiLvlStrCache>
                <c:ptCount val="3"/>
                <c:lvl>
                  <c:pt idx="0">
                    <c:v>Installateure</c:v>
                  </c:pt>
                  <c:pt idx="1">
                    <c:v>FM / EVU / Planer</c:v>
                  </c:pt>
                  <c:pt idx="2">
                    <c:v>GU/TU + Industrie</c:v>
                  </c:pt>
                </c:lvl>
              </c:multiLvlStrCache>
            </c:multiLvlStrRef>
          </c:cat>
          <c:val>
            <c:numRef>
              <c:f>Sheet1!$D$2:$D$4</c:f>
              <c:numCache>
                <c:formatCode>General</c:formatCode>
                <c:ptCount val="3"/>
                <c:pt idx="0">
                  <c:v>11</c:v>
                </c:pt>
                <c:pt idx="1">
                  <c:v>3</c:v>
                </c:pt>
                <c:pt idx="2">
                  <c:v>6</c:v>
                </c:pt>
              </c:numCache>
            </c:numRef>
          </c:val>
        </c:ser>
        <c:dLbls>
          <c:numFmt formatCode="#,##0" sourceLinked="0"/>
          <c:txPr>
            <a:bodyPr/>
            <a:lstStyle/>
            <a:p>
              <a:pPr>
                <a:defRPr b="1" i="0" strike="noStrike" sz="1000" u="none">
                  <a:solidFill>
                    <a:srgbClr val="FFFFFF"/>
                  </a:solidFill>
                  <a:latin typeface="Arial"/>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A4048"/>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Prio A</c:v>
                </c:pt>
              </c:strCache>
            </c:strRef>
          </c:tx>
          <c:spPr>
            <a:solidFill>
              <a:srgbClr val="1F7A4D"/>
            </a:solidFill>
            <a:effectLst/>
          </c:spPr>
          <c:invertIfNegative val="0"/>
          <c:dLbls>
            <c:numFmt formatCode="#,##0" sourceLinked="0"/>
            <c:txPr>
              <a:bodyPr/>
              <a:lstStyle/>
              <a:p>
                <a:pPr>
                  <a:defRPr b="1" i="0" strike="noStrike" sz="900" u="none">
                    <a:solidFill>
                      <a:srgbClr val="FFFFFF"/>
                    </a:solidFill>
                    <a:latin typeface="Arial"/>
                  </a:defRPr>
                </a:pPr>
              </a:p>
            </c:txPr>
            <c:dLblPos val="ctr"/>
            <c:showLegendKey val="0"/>
            <c:showVal val="1"/>
            <c:showCatName val="0"/>
            <c:showSerName val="0"/>
            <c:showPercent val="0"/>
            <c:showBubbleSize val="0"/>
            <c:showLeaderLines val="0"/>
          </c:dLbls>
          <c:cat>
            <c:multiLvlStrRef>
              <c:f>Sheet1!$A$2:$A$8</c:f>
              <c:multiLvlStrCache>
                <c:ptCount val="7"/>
                <c:lvl>
                  <c:pt idx="0">
                    <c:v>Tessin</c:v>
                  </c:pt>
                  <c:pt idx="1">
                    <c:v>Zentralschweiz</c:v>
                  </c:pt>
                  <c:pt idx="2">
                    <c:v>Ostschweiz</c:v>
                  </c:pt>
                  <c:pt idx="3">
                    <c:v>Mittelland/Bern</c:v>
                  </c:pt>
                  <c:pt idx="4">
                    <c:v>West (Romandie)</c:v>
                  </c:pt>
                  <c:pt idx="5">
                    <c:v>Nordwestschweiz</c:v>
                  </c:pt>
                  <c:pt idx="6">
                    <c:v>Zürich</c:v>
                  </c:pt>
                </c:lvl>
              </c:multiLvlStrCache>
            </c:multiLvlStrRef>
          </c:cat>
          <c:val>
            <c:numRef>
              <c:f>Sheet1!$B$2:$B$8</c:f>
              <c:numCache>
                <c:formatCode>General</c:formatCode>
                <c:ptCount val="7"/>
                <c:pt idx="0">
                  <c:v>1</c:v>
                </c:pt>
                <c:pt idx="1">
                  <c:v>3</c:v>
                </c:pt>
                <c:pt idx="2">
                  <c:v>2</c:v>
                </c:pt>
                <c:pt idx="3">
                  <c:v>4</c:v>
                </c:pt>
                <c:pt idx="4">
                  <c:v>4</c:v>
                </c:pt>
                <c:pt idx="5">
                  <c:v>11</c:v>
                </c:pt>
                <c:pt idx="6">
                  <c:v>11</c:v>
                </c:pt>
              </c:numCache>
            </c:numRef>
          </c:val>
        </c:ser>
        <c:ser>
          <c:idx val="1"/>
          <c:order val="1"/>
          <c:tx>
            <c:strRef>
              <c:f>Sheet1!$C$1</c:f>
              <c:strCache>
                <c:ptCount val="1"/>
                <c:pt idx="0">
                  <c:v>Prio B</c:v>
                </c:pt>
              </c:strCache>
            </c:strRef>
          </c:tx>
          <c:spPr>
            <a:solidFill>
              <a:srgbClr val="F2A900"/>
            </a:solidFill>
            <a:effectLst/>
          </c:spPr>
          <c:invertIfNegative val="0"/>
          <c:dLbls>
            <c:numFmt formatCode="#,##0" sourceLinked="0"/>
            <c:txPr>
              <a:bodyPr/>
              <a:lstStyle/>
              <a:p>
                <a:pPr>
                  <a:defRPr b="1" i="0" strike="noStrike" sz="900" u="none">
                    <a:solidFill>
                      <a:srgbClr val="FFFFFF"/>
                    </a:solidFill>
                    <a:latin typeface="Arial"/>
                  </a:defRPr>
                </a:pPr>
              </a:p>
            </c:txPr>
            <c:dLblPos val="ctr"/>
            <c:showLegendKey val="0"/>
            <c:showVal val="1"/>
            <c:showCatName val="0"/>
            <c:showSerName val="0"/>
            <c:showPercent val="0"/>
            <c:showBubbleSize val="0"/>
            <c:showLeaderLines val="0"/>
          </c:dLbls>
          <c:cat>
            <c:multiLvlStrRef>
              <c:f>Sheet1!$A$2:$A$8</c:f>
              <c:multiLvlStrCache>
                <c:ptCount val="7"/>
                <c:lvl>
                  <c:pt idx="0">
                    <c:v>Tessin</c:v>
                  </c:pt>
                  <c:pt idx="1">
                    <c:v>Zentralschweiz</c:v>
                  </c:pt>
                  <c:pt idx="2">
                    <c:v>Ostschweiz</c:v>
                  </c:pt>
                  <c:pt idx="3">
                    <c:v>Mittelland/Bern</c:v>
                  </c:pt>
                  <c:pt idx="4">
                    <c:v>West (Romandie)</c:v>
                  </c:pt>
                  <c:pt idx="5">
                    <c:v>Nordwestschweiz</c:v>
                  </c:pt>
                  <c:pt idx="6">
                    <c:v>Zürich</c:v>
                  </c:pt>
                </c:lvl>
              </c:multiLvlStrCache>
            </c:multiLvlStrRef>
          </c:cat>
          <c:val>
            <c:numRef>
              <c:f>Sheet1!$C$2:$C$8</c:f>
              <c:numCache>
                <c:formatCode>General</c:formatCode>
                <c:ptCount val="7"/>
                <c:pt idx="0">
                  <c:v>6</c:v>
                </c:pt>
                <c:pt idx="1">
                  <c:v>4</c:v>
                </c:pt>
                <c:pt idx="2">
                  <c:v>8</c:v>
                </c:pt>
                <c:pt idx="3">
                  <c:v>9</c:v>
                </c:pt>
                <c:pt idx="4">
                  <c:v>17</c:v>
                </c:pt>
                <c:pt idx="5">
                  <c:v>10</c:v>
                </c:pt>
                <c:pt idx="6">
                  <c:v>15</c:v>
                </c:pt>
              </c:numCache>
            </c:numRef>
          </c:val>
        </c:ser>
        <c:ser>
          <c:idx val="2"/>
          <c:order val="2"/>
          <c:tx>
            <c:strRef>
              <c:f>Sheet1!$D$1</c:f>
              <c:strCache>
                <c:ptCount val="1"/>
                <c:pt idx="0">
                  <c:v>Prio C</c:v>
                </c:pt>
              </c:strCache>
            </c:strRef>
          </c:tx>
          <c:spPr>
            <a:solidFill>
              <a:srgbClr val="9AA0A6"/>
            </a:solidFill>
            <a:effectLst/>
          </c:spPr>
          <c:invertIfNegative val="0"/>
          <c:dLbls>
            <c:numFmt formatCode="#,##0" sourceLinked="0"/>
            <c:txPr>
              <a:bodyPr/>
              <a:lstStyle/>
              <a:p>
                <a:pPr>
                  <a:defRPr b="1" i="0" strike="noStrike" sz="900" u="none">
                    <a:solidFill>
                      <a:srgbClr val="FFFFFF"/>
                    </a:solidFill>
                    <a:latin typeface="Arial"/>
                  </a:defRPr>
                </a:pPr>
              </a:p>
            </c:txPr>
            <c:dLblPos val="ctr"/>
            <c:showLegendKey val="0"/>
            <c:showVal val="1"/>
            <c:showCatName val="0"/>
            <c:showSerName val="0"/>
            <c:showPercent val="0"/>
            <c:showBubbleSize val="0"/>
            <c:showLeaderLines val="0"/>
          </c:dLbls>
          <c:cat>
            <c:multiLvlStrRef>
              <c:f>Sheet1!$A$2:$A$8</c:f>
              <c:multiLvlStrCache>
                <c:ptCount val="7"/>
                <c:lvl>
                  <c:pt idx="0">
                    <c:v>Tessin</c:v>
                  </c:pt>
                  <c:pt idx="1">
                    <c:v>Zentralschweiz</c:v>
                  </c:pt>
                  <c:pt idx="2">
                    <c:v>Ostschweiz</c:v>
                  </c:pt>
                  <c:pt idx="3">
                    <c:v>Mittelland/Bern</c:v>
                  </c:pt>
                  <c:pt idx="4">
                    <c:v>West (Romandie)</c:v>
                  </c:pt>
                  <c:pt idx="5">
                    <c:v>Nordwestschweiz</c:v>
                  </c:pt>
                  <c:pt idx="6">
                    <c:v>Zürich</c:v>
                  </c:pt>
                </c:lvl>
              </c:multiLvlStrCache>
            </c:multiLvlStrRef>
          </c:cat>
          <c:val>
            <c:numRef>
              <c:f>Sheet1!$D$2:$D$8</c:f>
              <c:numCache>
                <c:formatCode>General</c:formatCode>
                <c:ptCount val="7"/>
                <c:pt idx="0">
                  <c:v>6</c:v>
                </c:pt>
                <c:pt idx="1">
                  <c:v>3</c:v>
                </c:pt>
                <c:pt idx="2">
                  <c:v>1</c:v>
                </c:pt>
                <c:pt idx="3">
                  <c:v>3</c:v>
                </c:pt>
                <c:pt idx="4">
                  <c:v>6</c:v>
                </c:pt>
                <c:pt idx="5">
                  <c:v>1</c:v>
                </c:pt>
                <c:pt idx="6">
                  <c:v>0</c:v>
                </c:pt>
              </c:numCache>
            </c:numRef>
          </c:val>
        </c:ser>
        <c:dLbls>
          <c:numFmt formatCode="#,##0" sourceLinked="0"/>
          <c:txPr>
            <a:bodyPr/>
            <a:lstStyle/>
            <a:p>
              <a:pPr>
                <a:defRPr b="1" i="0" strike="noStrike" sz="900" u="none">
                  <a:solidFill>
                    <a:srgbClr val="FFFFFF"/>
                  </a:solidFill>
                  <a:latin typeface="Arial"/>
                </a:defRPr>
              </a:pPr>
            </a:p>
          </c:txPr>
          <c:dLblPos val="ctr"/>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3A4048"/>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Einstieg: Roberto und ich haben die Vorgabe gemacht, hier ist die Umsetzung für die ganze Schweiz. 125 Firmen recherchiert, 70 davon als Kernliste im Verhältnis 60/20/20. Alles liegt in der Excel, die Folien zeigen die Essenz.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Links die Vorgabe, rechts was drin ist. Wichtig: Den MiT-Kundenstatus kann keine Webrecherche liefern. Die Spalte ist vorbereitet, alle stehen auf 'Offen: CRM prüfen'. Das ist der Teil, den wir gemeinsam machen müssen.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 A, 69 B, 20 C. Die A-Firmen haben entweder einen konkreten Anlass 2026/27 oder sind Konzerne mit Rahmenvertrags-Hebel.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Kernliste exakt 42/14/14. Die Reserve (55 Firmen) ist vor allem bei EVU/Planer und GU/Industrie, weil es dort mehr relevante Namen gibt als Plätze.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Scoring ist transparent und diskutierbar. Wenn ihr eine Firma anders seht: Prio final setzen, dann gilt eure Einschätzung.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Region folgt dem Hauptsitz bzw. der relevanten Baustelle. Lonza Visp zählt zu West, ist aber Oberwallis und deutschsprachig.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Hebel: Gruppen zuerst. Burkhalter-Töchter in der Liste: Sedelec, Mérinat, Grichting &amp; Valterio, EAGB, Hufschmid, Celio. VINCI: ETAVIS-Töchter, Gfeller, Actemium. BKW: AEK, ISP, swisspro, Arnold, inelectro.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EVU-Beschaffung ist teils öffentlich (IVöB), das braucht Vorlauf. Bei den Planern zählt Präsenz in der Projektierung, nicht der Preis.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Jedes neue RZ braucht Lastbanktests und NEA-Commissioning. Wer im Bau schon Baustrom liefert, sitzt beim Commissioning am Tisch. Einstieg über GU (Implenia bei Green, ERNE bei FlexBase) oder direkt beim Betreiber. Hyperscaler sprechen oft Englisch, Beschaffung teils EMEA.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 sind die Fakten mit Quelle belegt, siehe Spalte 'Anlass' und 'Quelle' in der Excel. Industrie-Einkauf läuft oft zentral: Zugang über Installateur oder FM vor Ort (ETAVIS K+S, Selmoni, CBRE).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Zusätzlich: Mitarbeiterzahlen teils aus Sekundärquellen, mit 'prüfen' markiert. Ansprechpersonen bewusst nicht erfunden, die LinkedIn-Spalten öffnen nur die Suche.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Termine sind ein Vorschlag. Konkret brauche ich von Mauro und Jörg bis 09.10.2026 den Status je Firma aus dem CRM und bei verlorenen Kunden das Datum und den Grund, falls bekannt.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328"/>
        </a:solidFill>
      </p:bgPr>
    </p:bg>
    <p:spTree>
      <p:nvGrpSpPr>
        <p:cNvPr id="1" name=""/>
        <p:cNvGrpSpPr/>
        <p:nvPr/>
      </p:nvGrpSpPr>
      <p:grpSpPr>
        <a:xfrm>
          <a:off x="0" y="0"/>
          <a:ext cx="0" cy="0"/>
          <a:chOff x="0" y="0"/>
          <a:chExt cx="0" cy="0"/>
        </a:xfrm>
      </p:grpSpPr>
      <p:sp>
        <p:nvSpPr>
          <p:cNvPr id="2" name="Text 0"/>
          <p:cNvSpPr txBox="1"/>
          <p:nvPr/>
        </p:nvSpPr>
        <p:spPr>
          <a:xfrm>
            <a:off x="548640" y="548640"/>
            <a:ext cx="4572000" cy="274320"/>
          </a:xfrm>
          <a:prstGeom prst="rect">
            <a:avLst/>
          </a:prstGeom>
          <a:noFill/>
          <a:ln/>
        </p:spPr>
        <p:txBody>
          <a:bodyPr wrap="square" lIns="0" tIns="0" rIns="0" bIns="0" rtlCol="0" anchor="ctr"/>
          <a:lstStyle/>
          <a:p>
            <a:pPr indent="0" marL="0">
              <a:buNone/>
            </a:pPr>
            <a:r>
              <a:rPr lang="en-US" sz="1000" b="1" spc="400" kern="0" dirty="0">
                <a:solidFill>
                  <a:srgbClr val="F2A900"/>
                </a:solidFill>
                <a:latin typeface="Arial" pitchFamily="34" charset="0"/>
                <a:ea typeface="Arial" pitchFamily="34" charset="-122"/>
                <a:cs typeface="Arial" pitchFamily="34" charset="-120"/>
              </a:rPr>
              <a:t>INTERN  ·  VERTRAULICH</a:t>
            </a:r>
            <a:endParaRPr lang="en-US" sz="1000" dirty="0"/>
          </a:p>
        </p:txBody>
      </p:sp>
      <p:sp>
        <p:nvSpPr>
          <p:cNvPr id="3" name="Text 1"/>
          <p:cNvSpPr txBox="1"/>
          <p:nvPr/>
        </p:nvSpPr>
        <p:spPr>
          <a:xfrm>
            <a:off x="548640" y="1097280"/>
            <a:ext cx="5486400" cy="128016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Zielkunden Schweiz 2026/27</a:t>
            </a:r>
            <a:endParaRPr lang="en-US" sz="3800" dirty="0"/>
          </a:p>
        </p:txBody>
      </p:sp>
      <p:sp>
        <p:nvSpPr>
          <p:cNvPr id="4" name="Text 2"/>
          <p:cNvSpPr txBox="1"/>
          <p:nvPr/>
        </p:nvSpPr>
        <p:spPr>
          <a:xfrm>
            <a:off x="548640" y="2514600"/>
            <a:ext cx="5120640" cy="548640"/>
          </a:xfrm>
          <a:prstGeom prst="rect">
            <a:avLst/>
          </a:prstGeom>
          <a:noFill/>
          <a:ln/>
        </p:spPr>
        <p:txBody>
          <a:bodyPr wrap="square" lIns="0" tIns="0" rIns="0" bIns="0" rtlCol="0" anchor="t"/>
          <a:lstStyle/>
          <a:p>
            <a:pPr indent="0" marL="0">
              <a:buNone/>
            </a:pPr>
            <a:r>
              <a:rPr lang="en-US" sz="1400" dirty="0">
                <a:solidFill>
                  <a:srgbClr val="D1D5DB"/>
                </a:solidFill>
                <a:latin typeface="Calibri" pitchFamily="34" charset="0"/>
                <a:ea typeface="Calibri" pitchFamily="34" charset="-122"/>
                <a:cs typeface="Calibri" pitchFamily="34" charset="-120"/>
              </a:rPr>
              <a:t>Mobile Energie: Generator, BESS, USV, Trafo, NEA-Test, PQ-Audit, Baustrom, Event</a:t>
            </a:r>
            <a:endParaRPr lang="en-US" sz="1400" dirty="0"/>
          </a:p>
        </p:txBody>
      </p:sp>
      <p:sp>
        <p:nvSpPr>
          <p:cNvPr id="5" name="Text 3"/>
          <p:cNvSpPr txBox="1"/>
          <p:nvPr/>
        </p:nvSpPr>
        <p:spPr>
          <a:xfrm>
            <a:off x="548640" y="4114800"/>
            <a:ext cx="5486400" cy="274320"/>
          </a:xfrm>
          <a:prstGeom prst="rect">
            <a:avLst/>
          </a:prstGeom>
          <a:noFill/>
          <a:ln/>
        </p:spPr>
        <p:txBody>
          <a:bodyPr wrap="square" lIns="0" tIns="0" rIns="0" bIns="0" rtlCol="0" anchor="ctr"/>
          <a:lstStyle/>
          <a:p>
            <a:pPr indent="0" marL="0">
              <a:buNone/>
            </a:pPr>
            <a:r>
              <a:rPr lang="en-US" sz="1100" dirty="0">
                <a:solidFill>
                  <a:srgbClr val="9AA0A6"/>
                </a:solidFill>
                <a:latin typeface="Calibri" pitchFamily="34" charset="0"/>
                <a:ea typeface="Calibri" pitchFamily="34" charset="-122"/>
                <a:cs typeface="Calibri" pitchFamily="34" charset="-120"/>
              </a:rPr>
              <a:t>Kundenliste nach Vorgabe 60/20/20  ·  Stand 27.09.2026  ·  Burak Ücöz</a:t>
            </a:r>
            <a:endParaRPr lang="en-US" sz="1100" dirty="0"/>
          </a:p>
        </p:txBody>
      </p:sp>
      <p:sp>
        <p:nvSpPr>
          <p:cNvPr id="6" name="Shape 4"/>
          <p:cNvSpPr/>
          <p:nvPr/>
        </p:nvSpPr>
        <p:spPr>
          <a:xfrm>
            <a:off x="6309360" y="1097280"/>
            <a:ext cx="2286000" cy="2926080"/>
          </a:xfrm>
          <a:prstGeom prst="roundRect">
            <a:avLst>
              <a:gd name="adj" fmla="val 4000"/>
            </a:avLst>
          </a:prstGeom>
          <a:solidFill>
            <a:srgbClr val="2E343B"/>
          </a:solidFill>
          <a:ln w="12700">
            <a:solidFill>
              <a:srgbClr val="2E343B"/>
            </a:solidFill>
            <a:prstDash val="solid"/>
          </a:ln>
        </p:spPr>
      </p:sp>
      <p:sp>
        <p:nvSpPr>
          <p:cNvPr id="7" name="Shape 5"/>
          <p:cNvSpPr/>
          <p:nvPr/>
        </p:nvSpPr>
        <p:spPr>
          <a:xfrm>
            <a:off x="7178040" y="1325880"/>
            <a:ext cx="548640" cy="548640"/>
          </a:xfrm>
          <a:prstGeom prst="ellipse">
            <a:avLst/>
          </a:prstGeom>
          <a:solidFill>
            <a:srgbClr val="F2A900"/>
          </a:solidFill>
          <a:ln w="12700">
            <a:solidFill>
              <a:srgbClr val="F2A900"/>
            </a:solidFill>
            <a:prstDash val="solid"/>
          </a:ln>
        </p:spPr>
      </p:sp>
      <p:pic>
        <p:nvPicPr>
          <p:cNvPr id="8" name="Image 0" descr="preencoded.png">    </p:cNvPr>
          <p:cNvPicPr>
            <a:picLocks noChangeAspect="1"/>
          </p:cNvPicPr>
          <p:nvPr/>
        </p:nvPicPr>
        <p:blipFill>
          <a:blip r:embed="rId1"/>
          <a:stretch>
            <a:fillRect/>
          </a:stretch>
        </p:blipFill>
        <p:spPr>
          <a:xfrm>
            <a:off x="7315200" y="1463040"/>
            <a:ext cx="274320" cy="274320"/>
          </a:xfrm>
          <a:prstGeom prst="rect">
            <a:avLst/>
          </a:prstGeom>
        </p:spPr>
      </p:pic>
      <p:sp>
        <p:nvSpPr>
          <p:cNvPr id="9" name="Text 6"/>
          <p:cNvSpPr txBox="1"/>
          <p:nvPr/>
        </p:nvSpPr>
        <p:spPr>
          <a:xfrm>
            <a:off x="6309360" y="1965960"/>
            <a:ext cx="2286000" cy="685800"/>
          </a:xfrm>
          <a:prstGeom prst="rect">
            <a:avLst/>
          </a:prstGeom>
          <a:noFill/>
          <a:ln/>
        </p:spPr>
        <p:txBody>
          <a:bodyPr wrap="square" lIns="0" tIns="0" rIns="0" bIns="0" rtlCol="0" anchor="ctr"/>
          <a:lstStyle/>
          <a:p>
            <a:pPr algn="ctr" indent="0" marL="0">
              <a:buNone/>
            </a:pPr>
            <a:r>
              <a:rPr lang="en-US" sz="4400" b="1" dirty="0">
                <a:solidFill>
                  <a:srgbClr val="F2A900"/>
                </a:solidFill>
                <a:latin typeface="Arial" pitchFamily="34" charset="0"/>
                <a:ea typeface="Arial" pitchFamily="34" charset="-122"/>
                <a:cs typeface="Arial" pitchFamily="34" charset="-120"/>
              </a:rPr>
              <a:t>125</a:t>
            </a:r>
            <a:endParaRPr lang="en-US" sz="4400" dirty="0"/>
          </a:p>
        </p:txBody>
      </p:sp>
      <p:sp>
        <p:nvSpPr>
          <p:cNvPr id="10" name="Text 7"/>
          <p:cNvSpPr txBox="1"/>
          <p:nvPr/>
        </p:nvSpPr>
        <p:spPr>
          <a:xfrm>
            <a:off x="6309360" y="2651760"/>
            <a:ext cx="2286000" cy="274320"/>
          </a:xfrm>
          <a:prstGeom prst="rect">
            <a:avLst/>
          </a:prstGeom>
          <a:noFill/>
          <a:ln/>
        </p:spPr>
        <p:txBody>
          <a:bodyPr wrap="square" lIns="0" tIns="0" rIns="0" bIns="0" rtlCol="0" anchor="ctr"/>
          <a:lstStyle/>
          <a:p>
            <a:pPr algn="ctr" indent="0" marL="0">
              <a:buNone/>
            </a:pPr>
            <a:r>
              <a:rPr lang="en-US" sz="1100" dirty="0">
                <a:solidFill>
                  <a:srgbClr val="D1D5DB"/>
                </a:solidFill>
                <a:latin typeface="Calibri" pitchFamily="34" charset="0"/>
                <a:ea typeface="Calibri" pitchFamily="34" charset="-122"/>
                <a:cs typeface="Calibri" pitchFamily="34" charset="-120"/>
              </a:rPr>
              <a:t>Firmen recherchiert</a:t>
            </a:r>
            <a:endParaRPr lang="en-US" sz="1100" dirty="0"/>
          </a:p>
        </p:txBody>
      </p:sp>
      <p:sp>
        <p:nvSpPr>
          <p:cNvPr id="11" name="Text 8"/>
          <p:cNvSpPr txBox="1"/>
          <p:nvPr/>
        </p:nvSpPr>
        <p:spPr>
          <a:xfrm>
            <a:off x="6309360" y="2971800"/>
            <a:ext cx="2286000" cy="548640"/>
          </a:xfrm>
          <a:prstGeom prst="rect">
            <a:avLst/>
          </a:prstGeom>
          <a:noFill/>
          <a:ln/>
        </p:spPr>
        <p:txBody>
          <a:bodyPr wrap="square" lIns="0" tIns="0" rIns="0" bIns="0"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70</a:t>
            </a:r>
            <a:endParaRPr lang="en-US" sz="3200" dirty="0"/>
          </a:p>
        </p:txBody>
      </p:sp>
      <p:sp>
        <p:nvSpPr>
          <p:cNvPr id="12" name="Text 9"/>
          <p:cNvSpPr txBox="1"/>
          <p:nvPr/>
        </p:nvSpPr>
        <p:spPr>
          <a:xfrm>
            <a:off x="6309360" y="3520440"/>
            <a:ext cx="2286000" cy="274320"/>
          </a:xfrm>
          <a:prstGeom prst="rect">
            <a:avLst/>
          </a:prstGeom>
          <a:noFill/>
          <a:ln/>
        </p:spPr>
        <p:txBody>
          <a:bodyPr wrap="square" lIns="0" tIns="0" rIns="0" bIns="0" rtlCol="0" anchor="ctr"/>
          <a:lstStyle/>
          <a:p>
            <a:pPr algn="ctr" indent="0" marL="0">
              <a:buNone/>
            </a:pPr>
            <a:r>
              <a:rPr lang="en-US" sz="1100" dirty="0">
                <a:solidFill>
                  <a:srgbClr val="D1D5DB"/>
                </a:solidFill>
                <a:latin typeface="Calibri" pitchFamily="34" charset="0"/>
                <a:ea typeface="Calibri" pitchFamily="34" charset="-122"/>
                <a:cs typeface="Calibri" pitchFamily="34" charset="-120"/>
              </a:rPr>
              <a:t>in der Kernliste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28600"/>
          </a:xfrm>
          <a:prstGeom prst="rect">
            <a:avLst/>
          </a:prstGeom>
          <a:noFill/>
          <a:ln/>
        </p:spPr>
        <p:txBody>
          <a:bodyPr wrap="square" lIns="0" tIns="0" rIns="0" bIns="0" rtlCol="0" anchor="ctr"/>
          <a:lstStyle/>
          <a:p>
            <a:pPr indent="0" marL="0">
              <a:buNone/>
            </a:pPr>
            <a:r>
              <a:rPr lang="en-US" sz="900" b="1" spc="300" kern="0" dirty="0">
                <a:solidFill>
                  <a:srgbClr val="B07B00"/>
                </a:solidFill>
                <a:latin typeface="Arial" pitchFamily="34" charset="0"/>
                <a:ea typeface="Arial" pitchFamily="34" charset="-122"/>
                <a:cs typeface="Arial" pitchFamily="34" charset="-120"/>
              </a:rPr>
              <a:t>AUFTRAG UND UMSETZUNG</a:t>
            </a:r>
            <a:endParaRPr lang="en-US" sz="900" dirty="0"/>
          </a:p>
        </p:txBody>
      </p:sp>
      <p:sp>
        <p:nvSpPr>
          <p:cNvPr id="3" name="Text 1"/>
          <p:cNvSpPr txBox="1"/>
          <p:nvPr/>
        </p:nvSpPr>
        <p:spPr>
          <a:xfrm>
            <a:off x="457200" y="548640"/>
            <a:ext cx="8229600" cy="548640"/>
          </a:xfrm>
          <a:prstGeom prst="rect">
            <a:avLst/>
          </a:prstGeom>
          <a:noFill/>
          <a:ln/>
        </p:spPr>
        <p:txBody>
          <a:bodyPr wrap="square" lIns="0" tIns="0" rIns="0" bIns="0" rtlCol="0" anchor="t"/>
          <a:lstStyle/>
          <a:p>
            <a:pPr indent="0" marL="0">
              <a:buNone/>
            </a:pPr>
            <a:r>
              <a:rPr lang="en-US" sz="2400" b="1" dirty="0">
                <a:solidFill>
                  <a:srgbClr val="1F2328"/>
                </a:solidFill>
                <a:latin typeface="Arial" pitchFamily="34" charset="0"/>
                <a:ea typeface="Arial" pitchFamily="34" charset="-122"/>
                <a:cs typeface="Arial" pitchFamily="34" charset="-120"/>
              </a:rPr>
              <a:t>Die Vorgabe ist 1:1 umgesetzt, und etwas mehr</a:t>
            </a:r>
            <a:endParaRPr lang="en-US" sz="2400" dirty="0"/>
          </a:p>
        </p:txBody>
      </p:sp>
      <p:sp>
        <p:nvSpPr>
          <p:cNvPr id="4" name="Shape 2"/>
          <p:cNvSpPr/>
          <p:nvPr/>
        </p:nvSpPr>
        <p:spPr>
          <a:xfrm>
            <a:off x="457200" y="1325880"/>
            <a:ext cx="3840480" cy="3246120"/>
          </a:xfrm>
          <a:prstGeom prst="roundRect">
            <a:avLst>
              <a:gd name="adj" fmla="val 2254"/>
            </a:avLst>
          </a:prstGeom>
          <a:solidFill>
            <a:srgbClr val="F3F4F6"/>
          </a:solidFill>
          <a:ln w="12700">
            <a:solidFill>
              <a:srgbClr val="F3F4F6"/>
            </a:solidFill>
            <a:prstDash val="solid"/>
          </a:ln>
        </p:spPr>
      </p:sp>
      <p:sp>
        <p:nvSpPr>
          <p:cNvPr id="5" name="Shape 3"/>
          <p:cNvSpPr/>
          <p:nvPr/>
        </p:nvSpPr>
        <p:spPr>
          <a:xfrm>
            <a:off x="731520" y="1554480"/>
            <a:ext cx="457200" cy="457200"/>
          </a:xfrm>
          <a:prstGeom prst="ellipse">
            <a:avLst/>
          </a:prstGeom>
          <a:solidFill>
            <a:srgbClr val="F2A900"/>
          </a:solidFill>
          <a:ln w="12700">
            <a:solidFill>
              <a:srgbClr val="F2A900"/>
            </a:solidFill>
            <a:prstDash val="solid"/>
          </a:ln>
        </p:spPr>
      </p:sp>
      <p:pic>
        <p:nvPicPr>
          <p:cNvPr id="6" name="Image 0" descr="preencoded.png">    </p:cNvPr>
          <p:cNvPicPr>
            <a:picLocks noChangeAspect="1"/>
          </p:cNvPicPr>
          <p:nvPr/>
        </p:nvPicPr>
        <p:blipFill>
          <a:blip r:embed="rId1"/>
          <a:stretch>
            <a:fillRect/>
          </a:stretch>
        </p:blipFill>
        <p:spPr>
          <a:xfrm>
            <a:off x="845820" y="1668780"/>
            <a:ext cx="228600" cy="228600"/>
          </a:xfrm>
          <a:prstGeom prst="rect">
            <a:avLst/>
          </a:prstGeom>
        </p:spPr>
      </p:pic>
      <p:sp>
        <p:nvSpPr>
          <p:cNvPr id="7" name="Text 4"/>
          <p:cNvSpPr txBox="1"/>
          <p:nvPr/>
        </p:nvSpPr>
        <p:spPr>
          <a:xfrm>
            <a:off x="1325880" y="1627632"/>
            <a:ext cx="2743200" cy="365760"/>
          </a:xfrm>
          <a:prstGeom prst="rect">
            <a:avLst/>
          </a:prstGeom>
          <a:noFill/>
          <a:ln/>
        </p:spPr>
        <p:txBody>
          <a:bodyPr wrap="square" lIns="0" tIns="0" rIns="0" bIns="0" rtlCol="0" anchor="t"/>
          <a:lstStyle/>
          <a:p>
            <a:pPr indent="0" marL="0">
              <a:buNone/>
            </a:pPr>
            <a:r>
              <a:rPr lang="en-US" sz="1500" b="1" dirty="0">
                <a:solidFill>
                  <a:srgbClr val="1F2328"/>
                </a:solidFill>
                <a:latin typeface="Arial" pitchFamily="34" charset="0"/>
                <a:ea typeface="Arial" pitchFamily="34" charset="-122"/>
                <a:cs typeface="Arial" pitchFamily="34" charset="-120"/>
              </a:rPr>
              <a:t>Vorgabe</a:t>
            </a:r>
            <a:endParaRPr lang="en-US" sz="1500" dirty="0"/>
          </a:p>
        </p:txBody>
      </p:sp>
      <p:sp>
        <p:nvSpPr>
          <p:cNvPr id="8" name="Text 5"/>
          <p:cNvSpPr txBox="1"/>
          <p:nvPr/>
        </p:nvSpPr>
        <p:spPr>
          <a:xfrm>
            <a:off x="731520" y="2240280"/>
            <a:ext cx="3383280" cy="219456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3A4048"/>
                </a:solidFill>
                <a:latin typeface="Calibri" pitchFamily="34" charset="0"/>
                <a:ea typeface="Calibri" pitchFamily="34" charset="-122"/>
                <a:cs typeface="Calibri" pitchFamily="34" charset="-120"/>
              </a:rPr>
              <a:t>50 bis 70 Kunden mit Namen</a:t>
            </a:r>
            <a:endParaRPr lang="en-US" sz="1200" dirty="0"/>
          </a:p>
          <a:p>
            <a:pPr marL="342900" indent="-342900">
              <a:spcAft>
                <a:spcPts val="700"/>
              </a:spcAft>
              <a:buSzPct val="100000"/>
              <a:buChar char="•"/>
            </a:pPr>
            <a:r>
              <a:rPr lang="en-US" sz="1200" dirty="0">
                <a:solidFill>
                  <a:srgbClr val="3A4048"/>
                </a:solidFill>
                <a:latin typeface="Calibri" pitchFamily="34" charset="0"/>
                <a:ea typeface="Calibri" pitchFamily="34" charset="-122"/>
                <a:cs typeface="Calibri" pitchFamily="34" charset="-120"/>
              </a:rPr>
              <a:t>Mix: Installateure 60 %, FM / Stadtwerke / Planer 20 %, GU/TU + Industrie 20 %</a:t>
            </a:r>
            <a:endParaRPr lang="en-US" sz="1200" dirty="0"/>
          </a:p>
          <a:p>
            <a:pPr marL="342900" indent="-342900">
              <a:spcAft>
                <a:spcPts val="700"/>
              </a:spcAft>
              <a:buSzPct val="100000"/>
              <a:buChar char="•"/>
            </a:pPr>
            <a:r>
              <a:rPr lang="en-US" sz="1200" dirty="0">
                <a:solidFill>
                  <a:srgbClr val="3A4048"/>
                </a:solidFill>
                <a:latin typeface="Calibri" pitchFamily="34" charset="0"/>
                <a:ea typeface="Calibri" pitchFamily="34" charset="-122"/>
                <a:cs typeface="Calibri" pitchFamily="34" charset="-120"/>
              </a:rPr>
              <a:t>Status: Bestandskunde, verlorener Kunde, Potenzial / Aufbau</a:t>
            </a:r>
            <a:endParaRPr lang="en-US" sz="1200" dirty="0"/>
          </a:p>
          <a:p>
            <a:pPr marL="342900" indent="-342900">
              <a:spcAft>
                <a:spcPts val="700"/>
              </a:spcAft>
              <a:buSzPct val="100000"/>
              <a:buChar char="•"/>
            </a:pPr>
            <a:r>
              <a:rPr lang="en-US" sz="1200" dirty="0">
                <a:solidFill>
                  <a:srgbClr val="3A4048"/>
                </a:solidFill>
                <a:latin typeface="Calibri" pitchFamily="34" charset="0"/>
                <a:ea typeface="Calibri" pitchFamily="34" charset="-122"/>
                <a:cs typeface="Calibri" pitchFamily="34" charset="-120"/>
              </a:rPr>
              <a:t>Lieber mehr als weniger, damit wir priorisieren können</a:t>
            </a:r>
            <a:endParaRPr lang="en-US" sz="1200" dirty="0"/>
          </a:p>
        </p:txBody>
      </p:sp>
      <p:pic>
        <p:nvPicPr>
          <p:cNvPr id="9" name="Image 1" descr="preencoded.png">    </p:cNvPr>
          <p:cNvPicPr>
            <a:picLocks noChangeAspect="1"/>
          </p:cNvPicPr>
          <p:nvPr/>
        </p:nvPicPr>
        <p:blipFill>
          <a:blip r:embed="rId2"/>
          <a:stretch>
            <a:fillRect/>
          </a:stretch>
        </p:blipFill>
        <p:spPr>
          <a:xfrm>
            <a:off x="4389120" y="2788920"/>
            <a:ext cx="320040" cy="320040"/>
          </a:xfrm>
          <a:prstGeom prst="rect">
            <a:avLst/>
          </a:prstGeom>
        </p:spPr>
      </p:pic>
      <p:sp>
        <p:nvSpPr>
          <p:cNvPr id="10" name="Shape 6"/>
          <p:cNvSpPr/>
          <p:nvPr/>
        </p:nvSpPr>
        <p:spPr>
          <a:xfrm>
            <a:off x="4846320" y="1325880"/>
            <a:ext cx="3840480" cy="3246120"/>
          </a:xfrm>
          <a:prstGeom prst="roundRect">
            <a:avLst>
              <a:gd name="adj" fmla="val 2254"/>
            </a:avLst>
          </a:prstGeom>
          <a:solidFill>
            <a:srgbClr val="FFF4D6"/>
          </a:solidFill>
          <a:ln w="12700">
            <a:solidFill>
              <a:srgbClr val="FFF4D6"/>
            </a:solidFill>
            <a:prstDash val="solid"/>
          </a:ln>
        </p:spPr>
      </p:sp>
      <p:sp>
        <p:nvSpPr>
          <p:cNvPr id="11" name="Shape 7"/>
          <p:cNvSpPr/>
          <p:nvPr/>
        </p:nvSpPr>
        <p:spPr>
          <a:xfrm>
            <a:off x="5120640" y="1554480"/>
            <a:ext cx="457200" cy="457200"/>
          </a:xfrm>
          <a:prstGeom prst="ellipse">
            <a:avLst/>
          </a:prstGeom>
          <a:solidFill>
            <a:srgbClr val="F2A900"/>
          </a:solidFill>
          <a:ln w="12700">
            <a:solidFill>
              <a:srgbClr val="F2A900"/>
            </a:solidFill>
            <a:prstDash val="solid"/>
          </a:ln>
        </p:spPr>
      </p:sp>
      <p:pic>
        <p:nvPicPr>
          <p:cNvPr id="12" name="Image 2" descr="preencoded.png">    </p:cNvPr>
          <p:cNvPicPr>
            <a:picLocks noChangeAspect="1"/>
          </p:cNvPicPr>
          <p:nvPr/>
        </p:nvPicPr>
        <p:blipFill>
          <a:blip r:embed="rId3"/>
          <a:stretch>
            <a:fillRect/>
          </a:stretch>
        </p:blipFill>
        <p:spPr>
          <a:xfrm>
            <a:off x="5234940" y="1668780"/>
            <a:ext cx="228600" cy="228600"/>
          </a:xfrm>
          <a:prstGeom prst="rect">
            <a:avLst/>
          </a:prstGeom>
        </p:spPr>
      </p:pic>
      <p:sp>
        <p:nvSpPr>
          <p:cNvPr id="13" name="Text 8"/>
          <p:cNvSpPr txBox="1"/>
          <p:nvPr/>
        </p:nvSpPr>
        <p:spPr>
          <a:xfrm>
            <a:off x="5715000" y="1627632"/>
            <a:ext cx="2743200" cy="365760"/>
          </a:xfrm>
          <a:prstGeom prst="rect">
            <a:avLst/>
          </a:prstGeom>
          <a:noFill/>
          <a:ln/>
        </p:spPr>
        <p:txBody>
          <a:bodyPr wrap="square" lIns="0" tIns="0" rIns="0" bIns="0" rtlCol="0" anchor="t"/>
          <a:lstStyle/>
          <a:p>
            <a:pPr indent="0" marL="0">
              <a:buNone/>
            </a:pPr>
            <a:r>
              <a:rPr lang="en-US" sz="1500" b="1" dirty="0">
                <a:solidFill>
                  <a:srgbClr val="1F2328"/>
                </a:solidFill>
                <a:latin typeface="Arial" pitchFamily="34" charset="0"/>
                <a:ea typeface="Arial" pitchFamily="34" charset="-122"/>
                <a:cs typeface="Arial" pitchFamily="34" charset="-120"/>
              </a:rPr>
              <a:t>Umgesetzt</a:t>
            </a:r>
            <a:endParaRPr lang="en-US" sz="1500" dirty="0"/>
          </a:p>
        </p:txBody>
      </p:sp>
      <p:sp>
        <p:nvSpPr>
          <p:cNvPr id="14" name="Text 9"/>
          <p:cNvSpPr txBox="1"/>
          <p:nvPr/>
        </p:nvSpPr>
        <p:spPr>
          <a:xfrm>
            <a:off x="5120640" y="2240280"/>
            <a:ext cx="3383280" cy="219456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3A4048"/>
                </a:solidFill>
                <a:latin typeface="Calibri" pitchFamily="34" charset="0"/>
                <a:ea typeface="Calibri" pitchFamily="34" charset="-122"/>
                <a:cs typeface="Calibri" pitchFamily="34" charset="-120"/>
              </a:rPr>
              <a:t>125 Firmen recherchiert, alle mit Quelle</a:t>
            </a:r>
            <a:endParaRPr lang="en-US" sz="1200" dirty="0"/>
          </a:p>
          <a:p>
            <a:pPr marL="342900" indent="-342900">
              <a:spcAft>
                <a:spcPts val="700"/>
              </a:spcAft>
              <a:buSzPct val="100000"/>
              <a:buChar char="•"/>
            </a:pPr>
            <a:r>
              <a:rPr lang="en-US" sz="1200" dirty="0">
                <a:solidFill>
                  <a:srgbClr val="3A4048"/>
                </a:solidFill>
                <a:latin typeface="Calibri" pitchFamily="34" charset="0"/>
                <a:ea typeface="Calibri" pitchFamily="34" charset="-122"/>
                <a:cs typeface="Calibri" pitchFamily="34" charset="-120"/>
              </a:rPr>
              <a:t>Kernliste 70: exakt 42 / 14 / 14</a:t>
            </a:r>
            <a:endParaRPr lang="en-US" sz="1200" dirty="0"/>
          </a:p>
          <a:p>
            <a:pPr marL="342900" indent="-342900">
              <a:spcAft>
                <a:spcPts val="700"/>
              </a:spcAft>
              <a:buSzPct val="100000"/>
              <a:buChar char="•"/>
            </a:pPr>
            <a:r>
              <a:rPr lang="en-US" sz="1200" dirty="0">
                <a:solidFill>
                  <a:srgbClr val="3A4048"/>
                </a:solidFill>
                <a:latin typeface="Calibri" pitchFamily="34" charset="0"/>
                <a:ea typeface="Calibri" pitchFamily="34" charset="-122"/>
                <a:cs typeface="Calibri" pitchFamily="34" charset="-120"/>
              </a:rPr>
              <a:t>Score aus 4 Kriterien, Prio A/B/C mit Begründung</a:t>
            </a:r>
            <a:endParaRPr lang="en-US" sz="1200" dirty="0"/>
          </a:p>
          <a:p>
            <a:pPr marL="342900" indent="-342900">
              <a:spcAft>
                <a:spcPts val="700"/>
              </a:spcAft>
              <a:buSzPct val="100000"/>
              <a:buChar char="•"/>
            </a:pPr>
            <a:r>
              <a:rPr lang="en-US" sz="1200" dirty="0">
                <a:solidFill>
                  <a:srgbClr val="3A4048"/>
                </a:solidFill>
                <a:latin typeface="Calibri" pitchFamily="34" charset="0"/>
                <a:ea typeface="Calibri" pitchFamily="34" charset="-122"/>
                <a:cs typeface="Calibri" pitchFamily="34" charset="-120"/>
              </a:rPr>
              <a:t>Status-Spalte vorbereitet: CRM-Abgleich offen</a:t>
            </a:r>
            <a:endParaRPr lang="en-US" sz="1200" dirty="0"/>
          </a:p>
        </p:txBody>
      </p:sp>
      <p:sp>
        <p:nvSpPr>
          <p:cNvPr id="15" name="Text 10"/>
          <p:cNvSpPr txBox="1"/>
          <p:nvPr/>
        </p:nvSpPr>
        <p:spPr>
          <a:xfrm>
            <a:off x="457200" y="4800600"/>
            <a:ext cx="5486400" cy="228600"/>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Mobil In Time  ·  Zielkunden Schweiz 2026/27  ·  intern</a:t>
            </a:r>
            <a:endParaRPr lang="en-US" sz="800" dirty="0"/>
          </a:p>
        </p:txBody>
      </p:sp>
      <p:sp>
        <p:nvSpPr>
          <p:cNvPr id="16" name="Text 11"/>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28600"/>
          </a:xfrm>
          <a:prstGeom prst="rect">
            <a:avLst/>
          </a:prstGeom>
          <a:noFill/>
          <a:ln/>
        </p:spPr>
        <p:txBody>
          <a:bodyPr wrap="square" lIns="0" tIns="0" rIns="0" bIns="0" rtlCol="0" anchor="ctr"/>
          <a:lstStyle/>
          <a:p>
            <a:pPr indent="0" marL="0">
              <a:buNone/>
            </a:pPr>
            <a:r>
              <a:rPr lang="en-US" sz="900" b="1" spc="300" kern="0" dirty="0">
                <a:solidFill>
                  <a:srgbClr val="B07B00"/>
                </a:solidFill>
                <a:latin typeface="Arial" pitchFamily="34" charset="0"/>
                <a:ea typeface="Arial" pitchFamily="34" charset="-122"/>
                <a:cs typeface="Arial" pitchFamily="34" charset="-120"/>
              </a:rPr>
              <a:t>AUF EINEN BLICK</a:t>
            </a:r>
            <a:endParaRPr lang="en-US" sz="900" dirty="0"/>
          </a:p>
        </p:txBody>
      </p:sp>
      <p:sp>
        <p:nvSpPr>
          <p:cNvPr id="3" name="Text 1"/>
          <p:cNvSpPr txBox="1"/>
          <p:nvPr/>
        </p:nvSpPr>
        <p:spPr>
          <a:xfrm>
            <a:off x="457200" y="548640"/>
            <a:ext cx="8229600" cy="548640"/>
          </a:xfrm>
          <a:prstGeom prst="rect">
            <a:avLst/>
          </a:prstGeom>
          <a:noFill/>
          <a:ln/>
        </p:spPr>
        <p:txBody>
          <a:bodyPr wrap="square" lIns="0" tIns="0" rIns="0" bIns="0" rtlCol="0" anchor="t"/>
          <a:lstStyle/>
          <a:p>
            <a:pPr indent="0" marL="0">
              <a:buNone/>
            </a:pPr>
            <a:r>
              <a:rPr lang="en-US" sz="2400" b="1" dirty="0">
                <a:solidFill>
                  <a:srgbClr val="1F2328"/>
                </a:solidFill>
                <a:latin typeface="Arial" pitchFamily="34" charset="0"/>
                <a:ea typeface="Arial" pitchFamily="34" charset="-122"/>
                <a:cs typeface="Arial" pitchFamily="34" charset="-120"/>
              </a:rPr>
              <a:t>36 Firmen sind jetzt reif für den Erstkontakt</a:t>
            </a:r>
            <a:endParaRPr lang="en-US" sz="2400" dirty="0"/>
          </a:p>
        </p:txBody>
      </p:sp>
      <p:sp>
        <p:nvSpPr>
          <p:cNvPr id="4" name="Shape 2"/>
          <p:cNvSpPr/>
          <p:nvPr/>
        </p:nvSpPr>
        <p:spPr>
          <a:xfrm>
            <a:off x="457200" y="1371600"/>
            <a:ext cx="1920240" cy="1417320"/>
          </a:xfrm>
          <a:prstGeom prst="roundRect">
            <a:avLst>
              <a:gd name="adj" fmla="val 5161"/>
            </a:avLst>
          </a:prstGeom>
          <a:solidFill>
            <a:srgbClr val="F3F4F6"/>
          </a:solidFill>
          <a:ln w="12700">
            <a:solidFill>
              <a:srgbClr val="F3F4F6"/>
            </a:solidFill>
            <a:prstDash val="solid"/>
          </a:ln>
        </p:spPr>
      </p:sp>
      <p:sp>
        <p:nvSpPr>
          <p:cNvPr id="5" name="Text 3"/>
          <p:cNvSpPr txBox="1"/>
          <p:nvPr/>
        </p:nvSpPr>
        <p:spPr>
          <a:xfrm>
            <a:off x="457200" y="1508760"/>
            <a:ext cx="1920240" cy="731520"/>
          </a:xfrm>
          <a:prstGeom prst="rect">
            <a:avLst/>
          </a:prstGeom>
          <a:noFill/>
          <a:ln/>
        </p:spPr>
        <p:txBody>
          <a:bodyPr wrap="square" lIns="0" tIns="0" rIns="0" bIns="0" rtlCol="0" anchor="t"/>
          <a:lstStyle/>
          <a:p>
            <a:pPr algn="ctr" indent="0" marL="0">
              <a:buNone/>
            </a:pPr>
            <a:r>
              <a:rPr lang="en-US" sz="4000" b="1" dirty="0">
                <a:solidFill>
                  <a:srgbClr val="1F2328"/>
                </a:solidFill>
                <a:latin typeface="Arial" pitchFamily="34" charset="0"/>
                <a:ea typeface="Arial" pitchFamily="34" charset="-122"/>
                <a:cs typeface="Arial" pitchFamily="34" charset="-120"/>
              </a:rPr>
              <a:t>125</a:t>
            </a:r>
            <a:endParaRPr lang="en-US" sz="4000" dirty="0"/>
          </a:p>
        </p:txBody>
      </p:sp>
      <p:sp>
        <p:nvSpPr>
          <p:cNvPr id="6" name="Text 4"/>
          <p:cNvSpPr txBox="1"/>
          <p:nvPr/>
        </p:nvSpPr>
        <p:spPr>
          <a:xfrm>
            <a:off x="457200" y="2286000"/>
            <a:ext cx="1920240" cy="320040"/>
          </a:xfrm>
          <a:prstGeom prst="rect">
            <a:avLst/>
          </a:prstGeom>
          <a:noFill/>
          <a:ln/>
        </p:spPr>
        <p:txBody>
          <a:bodyPr wrap="square" lIns="0" tIns="0" rIns="0" bIns="0" rtlCol="0" anchor="t"/>
          <a:lstStyle/>
          <a:p>
            <a:pPr algn="ctr" indent="0" marL="0">
              <a:buNone/>
            </a:pPr>
            <a:r>
              <a:rPr lang="en-US" sz="1100" dirty="0">
                <a:solidFill>
                  <a:srgbClr val="6B7280"/>
                </a:solidFill>
                <a:latin typeface="Calibri" pitchFamily="34" charset="0"/>
                <a:ea typeface="Calibri" pitchFamily="34" charset="-122"/>
                <a:cs typeface="Calibri" pitchFamily="34" charset="-120"/>
              </a:rPr>
              <a:t>Firmen gesamt</a:t>
            </a:r>
            <a:endParaRPr lang="en-US" sz="1100" dirty="0"/>
          </a:p>
        </p:txBody>
      </p:sp>
      <p:sp>
        <p:nvSpPr>
          <p:cNvPr id="7" name="Shape 5"/>
          <p:cNvSpPr/>
          <p:nvPr/>
        </p:nvSpPr>
        <p:spPr>
          <a:xfrm>
            <a:off x="2560320" y="1371600"/>
            <a:ext cx="1920240" cy="1417320"/>
          </a:xfrm>
          <a:prstGeom prst="roundRect">
            <a:avLst>
              <a:gd name="adj" fmla="val 5161"/>
            </a:avLst>
          </a:prstGeom>
          <a:solidFill>
            <a:srgbClr val="F3F4F6"/>
          </a:solidFill>
          <a:ln w="12700">
            <a:solidFill>
              <a:srgbClr val="F3F4F6"/>
            </a:solidFill>
            <a:prstDash val="solid"/>
          </a:ln>
        </p:spPr>
      </p:sp>
      <p:sp>
        <p:nvSpPr>
          <p:cNvPr id="8" name="Text 6"/>
          <p:cNvSpPr txBox="1"/>
          <p:nvPr/>
        </p:nvSpPr>
        <p:spPr>
          <a:xfrm>
            <a:off x="2560320" y="1508760"/>
            <a:ext cx="1920240" cy="731520"/>
          </a:xfrm>
          <a:prstGeom prst="rect">
            <a:avLst/>
          </a:prstGeom>
          <a:noFill/>
          <a:ln/>
        </p:spPr>
        <p:txBody>
          <a:bodyPr wrap="square" lIns="0" tIns="0" rIns="0" bIns="0" rtlCol="0" anchor="t"/>
          <a:lstStyle/>
          <a:p>
            <a:pPr algn="ctr" indent="0" marL="0">
              <a:buNone/>
            </a:pPr>
            <a:r>
              <a:rPr lang="en-US" sz="4000" b="1" dirty="0">
                <a:solidFill>
                  <a:srgbClr val="1F2328"/>
                </a:solidFill>
                <a:latin typeface="Arial" pitchFamily="34" charset="0"/>
                <a:ea typeface="Arial" pitchFamily="34" charset="-122"/>
                <a:cs typeface="Arial" pitchFamily="34" charset="-120"/>
              </a:rPr>
              <a:t>70</a:t>
            </a:r>
            <a:endParaRPr lang="en-US" sz="4000" dirty="0"/>
          </a:p>
        </p:txBody>
      </p:sp>
      <p:sp>
        <p:nvSpPr>
          <p:cNvPr id="9" name="Text 7"/>
          <p:cNvSpPr txBox="1"/>
          <p:nvPr/>
        </p:nvSpPr>
        <p:spPr>
          <a:xfrm>
            <a:off x="2560320" y="2286000"/>
            <a:ext cx="1920240" cy="320040"/>
          </a:xfrm>
          <a:prstGeom prst="rect">
            <a:avLst/>
          </a:prstGeom>
          <a:noFill/>
          <a:ln/>
        </p:spPr>
        <p:txBody>
          <a:bodyPr wrap="square" lIns="0" tIns="0" rIns="0" bIns="0" rtlCol="0" anchor="t"/>
          <a:lstStyle/>
          <a:p>
            <a:pPr algn="ctr" indent="0" marL="0">
              <a:buNone/>
            </a:pPr>
            <a:r>
              <a:rPr lang="en-US" sz="1100" dirty="0">
                <a:solidFill>
                  <a:srgbClr val="6B7280"/>
                </a:solidFill>
                <a:latin typeface="Calibri" pitchFamily="34" charset="0"/>
                <a:ea typeface="Calibri" pitchFamily="34" charset="-122"/>
                <a:cs typeface="Calibri" pitchFamily="34" charset="-120"/>
              </a:rPr>
              <a:t>Kernliste 60/20/20</a:t>
            </a:r>
            <a:endParaRPr lang="en-US" sz="1100" dirty="0"/>
          </a:p>
        </p:txBody>
      </p:sp>
      <p:sp>
        <p:nvSpPr>
          <p:cNvPr id="10" name="Shape 8"/>
          <p:cNvSpPr/>
          <p:nvPr/>
        </p:nvSpPr>
        <p:spPr>
          <a:xfrm>
            <a:off x="4663440" y="1371600"/>
            <a:ext cx="1920240" cy="1417320"/>
          </a:xfrm>
          <a:prstGeom prst="roundRect">
            <a:avLst>
              <a:gd name="adj" fmla="val 5161"/>
            </a:avLst>
          </a:prstGeom>
          <a:solidFill>
            <a:srgbClr val="F3F4F6"/>
          </a:solidFill>
          <a:ln w="12700">
            <a:solidFill>
              <a:srgbClr val="F3F4F6"/>
            </a:solidFill>
            <a:prstDash val="solid"/>
          </a:ln>
        </p:spPr>
      </p:sp>
      <p:sp>
        <p:nvSpPr>
          <p:cNvPr id="11" name="Text 9"/>
          <p:cNvSpPr txBox="1"/>
          <p:nvPr/>
        </p:nvSpPr>
        <p:spPr>
          <a:xfrm>
            <a:off x="4663440" y="1508760"/>
            <a:ext cx="1920240" cy="731520"/>
          </a:xfrm>
          <a:prstGeom prst="rect">
            <a:avLst/>
          </a:prstGeom>
          <a:noFill/>
          <a:ln/>
        </p:spPr>
        <p:txBody>
          <a:bodyPr wrap="square" lIns="0" tIns="0" rIns="0" bIns="0" rtlCol="0" anchor="t"/>
          <a:lstStyle/>
          <a:p>
            <a:pPr algn="ctr" indent="0" marL="0">
              <a:buNone/>
            </a:pPr>
            <a:r>
              <a:rPr lang="en-US" sz="4000" b="1" dirty="0">
                <a:solidFill>
                  <a:srgbClr val="1F7A4D"/>
                </a:solidFill>
                <a:latin typeface="Arial" pitchFamily="34" charset="0"/>
                <a:ea typeface="Arial" pitchFamily="34" charset="-122"/>
                <a:cs typeface="Arial" pitchFamily="34" charset="-120"/>
              </a:rPr>
              <a:t>36</a:t>
            </a:r>
            <a:endParaRPr lang="en-US" sz="4000" dirty="0"/>
          </a:p>
        </p:txBody>
      </p:sp>
      <p:sp>
        <p:nvSpPr>
          <p:cNvPr id="12" name="Text 10"/>
          <p:cNvSpPr txBox="1"/>
          <p:nvPr/>
        </p:nvSpPr>
        <p:spPr>
          <a:xfrm>
            <a:off x="4663440" y="2286000"/>
            <a:ext cx="1920240" cy="320040"/>
          </a:xfrm>
          <a:prstGeom prst="rect">
            <a:avLst/>
          </a:prstGeom>
          <a:noFill/>
          <a:ln/>
        </p:spPr>
        <p:txBody>
          <a:bodyPr wrap="square" lIns="0" tIns="0" rIns="0" bIns="0" rtlCol="0" anchor="t"/>
          <a:lstStyle/>
          <a:p>
            <a:pPr algn="ctr" indent="0" marL="0">
              <a:buNone/>
            </a:pPr>
            <a:r>
              <a:rPr lang="en-US" sz="1100" dirty="0">
                <a:solidFill>
                  <a:srgbClr val="6B7280"/>
                </a:solidFill>
                <a:latin typeface="Calibri" pitchFamily="34" charset="0"/>
                <a:ea typeface="Calibri" pitchFamily="34" charset="-122"/>
                <a:cs typeface="Calibri" pitchFamily="34" charset="-120"/>
              </a:rPr>
              <a:t>Prio A</a:t>
            </a:r>
            <a:endParaRPr lang="en-US" sz="1100" dirty="0"/>
          </a:p>
        </p:txBody>
      </p:sp>
      <p:sp>
        <p:nvSpPr>
          <p:cNvPr id="13" name="Shape 11"/>
          <p:cNvSpPr/>
          <p:nvPr/>
        </p:nvSpPr>
        <p:spPr>
          <a:xfrm>
            <a:off x="6766560" y="1371600"/>
            <a:ext cx="1920240" cy="1417320"/>
          </a:xfrm>
          <a:prstGeom prst="roundRect">
            <a:avLst>
              <a:gd name="adj" fmla="val 5161"/>
            </a:avLst>
          </a:prstGeom>
          <a:solidFill>
            <a:srgbClr val="F3F4F6"/>
          </a:solidFill>
          <a:ln w="12700">
            <a:solidFill>
              <a:srgbClr val="F3F4F6"/>
            </a:solidFill>
            <a:prstDash val="solid"/>
          </a:ln>
        </p:spPr>
      </p:sp>
      <p:sp>
        <p:nvSpPr>
          <p:cNvPr id="14" name="Text 12"/>
          <p:cNvSpPr txBox="1"/>
          <p:nvPr/>
        </p:nvSpPr>
        <p:spPr>
          <a:xfrm>
            <a:off x="6766560" y="1508760"/>
            <a:ext cx="1920240" cy="731520"/>
          </a:xfrm>
          <a:prstGeom prst="rect">
            <a:avLst/>
          </a:prstGeom>
          <a:noFill/>
          <a:ln/>
        </p:spPr>
        <p:txBody>
          <a:bodyPr wrap="square" lIns="0" tIns="0" rIns="0" bIns="0" rtlCol="0" anchor="t"/>
          <a:lstStyle/>
          <a:p>
            <a:pPr algn="ctr" indent="0" marL="0">
              <a:buNone/>
            </a:pPr>
            <a:r>
              <a:rPr lang="en-US" sz="4000" b="1" dirty="0">
                <a:solidFill>
                  <a:srgbClr val="1F2328"/>
                </a:solidFill>
                <a:latin typeface="Arial" pitchFamily="34" charset="0"/>
                <a:ea typeface="Arial" pitchFamily="34" charset="-122"/>
                <a:cs typeface="Arial" pitchFamily="34" charset="-120"/>
              </a:rPr>
              <a:t>7</a:t>
            </a:r>
            <a:endParaRPr lang="en-US" sz="4000" dirty="0"/>
          </a:p>
        </p:txBody>
      </p:sp>
      <p:sp>
        <p:nvSpPr>
          <p:cNvPr id="15" name="Text 13"/>
          <p:cNvSpPr txBox="1"/>
          <p:nvPr/>
        </p:nvSpPr>
        <p:spPr>
          <a:xfrm>
            <a:off x="6766560" y="2286000"/>
            <a:ext cx="1920240" cy="320040"/>
          </a:xfrm>
          <a:prstGeom prst="rect">
            <a:avLst/>
          </a:prstGeom>
          <a:noFill/>
          <a:ln/>
        </p:spPr>
        <p:txBody>
          <a:bodyPr wrap="square" lIns="0" tIns="0" rIns="0" bIns="0" rtlCol="0" anchor="t"/>
          <a:lstStyle/>
          <a:p>
            <a:pPr algn="ctr" indent="0" marL="0">
              <a:buNone/>
            </a:pPr>
            <a:r>
              <a:rPr lang="en-US" sz="1100" dirty="0">
                <a:solidFill>
                  <a:srgbClr val="6B7280"/>
                </a:solidFill>
                <a:latin typeface="Calibri" pitchFamily="34" charset="0"/>
                <a:ea typeface="Calibri" pitchFamily="34" charset="-122"/>
                <a:cs typeface="Calibri" pitchFamily="34" charset="-120"/>
              </a:rPr>
              <a:t>Regionen, 3 Sprachen</a:t>
            </a:r>
            <a:endParaRPr lang="en-US" sz="1100" dirty="0"/>
          </a:p>
        </p:txBody>
      </p:sp>
      <p:graphicFrame>
        <p:nvGraphicFramePr>
          <p:cNvPr id="16" name="Chart 0" descr=""/>
          <p:cNvGraphicFramePr/>
          <p:nvPr/>
        </p:nvGraphicFramePr>
        <p:xfrm>
          <a:off x="457200" y="2926080"/>
          <a:ext cx="2377440" cy="1783080"/>
        </p:xfrm>
        <a:graphic xmlns:a="http://schemas.openxmlformats.org/drawingml/2006/main">
          <a:graphicData uri="http://schemas.openxmlformats.org/drawingml/2006/chart">
            <c:chart xmlns:c="http://schemas.openxmlformats.org/drawingml/2006/chart" r:id="rId1"/>
          </a:graphicData>
        </a:graphic>
      </p:graphicFrame>
      <p:sp>
        <p:nvSpPr>
          <p:cNvPr id="17" name="Text 14"/>
          <p:cNvSpPr txBox="1"/>
          <p:nvPr/>
        </p:nvSpPr>
        <p:spPr>
          <a:xfrm>
            <a:off x="3108960" y="3246120"/>
            <a:ext cx="5577840" cy="1280160"/>
          </a:xfrm>
          <a:prstGeom prst="rect">
            <a:avLst/>
          </a:prstGeom>
          <a:noFill/>
          <a:ln/>
        </p:spPr>
        <p:txBody>
          <a:bodyPr wrap="square" lIns="0" tIns="0" rIns="0" bIns="0" rtlCol="0" anchor="t"/>
          <a:lstStyle/>
          <a:p>
            <a:pPr indent="0" marL="0">
              <a:spcAft>
                <a:spcPts val="800"/>
              </a:spcAft>
              <a:buNone/>
            </a:pPr>
            <a:r>
              <a:rPr lang="en-US" sz="1300" b="1" dirty="0">
                <a:solidFill>
                  <a:srgbClr val="1F7A4D"/>
                </a:solidFill>
                <a:latin typeface="Calibri" pitchFamily="34" charset="0"/>
                <a:ea typeface="Calibri" pitchFamily="34" charset="-122"/>
                <a:cs typeface="Calibri" pitchFamily="34" charset="-120"/>
              </a:rPr>
              <a:t>A (36): </a:t>
            </a:r>
            <a:pPr indent="0" marL="0">
              <a:spcAft>
                <a:spcPts val="800"/>
              </a:spcAft>
              <a:buNone/>
            </a:pPr>
            <a:r>
              <a:rPr lang="en-US" sz="1300" dirty="0">
                <a:solidFill>
                  <a:srgbClr val="3A4048"/>
                </a:solidFill>
                <a:latin typeface="Calibri" pitchFamily="34" charset="0"/>
                <a:ea typeface="Calibri" pitchFamily="34" charset="-122"/>
                <a:cs typeface="Calibri" pitchFamily="34" charset="-120"/>
              </a:rPr>
              <a:t>Score ab 4,0. Jetzt angehen, Termin in 6 Wochen.</a:t>
            </a:r>
            <a:endParaRPr lang="en-US" sz="1300" dirty="0"/>
          </a:p>
          <a:p>
            <a:pPr indent="0" marL="0">
              <a:spcAft>
                <a:spcPts val="800"/>
              </a:spcAft>
              <a:buNone/>
            </a:pPr>
            <a:r>
              <a:rPr lang="en-US" sz="1300" b="1" dirty="0">
                <a:solidFill>
                  <a:srgbClr val="B07B00"/>
                </a:solidFill>
                <a:latin typeface="Calibri" pitchFamily="34" charset="0"/>
                <a:ea typeface="Calibri" pitchFamily="34" charset="-122"/>
                <a:cs typeface="Calibri" pitchFamily="34" charset="-120"/>
              </a:rPr>
              <a:t>B (69): </a:t>
            </a:r>
            <a:pPr indent="0" marL="0">
              <a:spcAft>
                <a:spcPts val="800"/>
              </a:spcAft>
              <a:buNone/>
            </a:pPr>
            <a:r>
              <a:rPr lang="en-US" sz="1300" dirty="0">
                <a:solidFill>
                  <a:srgbClr val="3A4048"/>
                </a:solidFill>
                <a:latin typeface="Calibri" pitchFamily="34" charset="0"/>
                <a:ea typeface="Calibri" pitchFamily="34" charset="-122"/>
                <a:cs typeface="Calibri" pitchFamily="34" charset="-120"/>
              </a:rPr>
              <a:t>Score ab 3,0. Im Quartal angehen, Anlass beobachten.</a:t>
            </a:r>
            <a:endParaRPr lang="en-US" sz="1300" dirty="0"/>
          </a:p>
          <a:p>
            <a:pPr indent="0" marL="0">
              <a:spcAft>
                <a:spcPts val="800"/>
              </a:spcAft>
              <a:buNone/>
            </a:pPr>
            <a:r>
              <a:rPr lang="en-US" sz="1300" b="1" dirty="0">
                <a:solidFill>
                  <a:srgbClr val="6B7280"/>
                </a:solidFill>
                <a:latin typeface="Calibri" pitchFamily="34" charset="0"/>
                <a:ea typeface="Calibri" pitchFamily="34" charset="-122"/>
                <a:cs typeface="Calibri" pitchFamily="34" charset="-120"/>
              </a:rPr>
              <a:t>C (20): </a:t>
            </a:r>
            <a:pPr indent="0" marL="0">
              <a:spcAft>
                <a:spcPts val="800"/>
              </a:spcAft>
              <a:buNone/>
            </a:pPr>
            <a:r>
              <a:rPr lang="en-US" sz="1300" dirty="0">
                <a:solidFill>
                  <a:srgbClr val="3A4048"/>
                </a:solidFill>
                <a:latin typeface="Calibri" pitchFamily="34" charset="0"/>
                <a:ea typeface="Calibri" pitchFamily="34" charset="-122"/>
                <a:cs typeface="Calibri" pitchFamily="34" charset="-120"/>
              </a:rPr>
              <a:t>Beobachten, über Partner oder Töchter abdecken.</a:t>
            </a:r>
            <a:endParaRPr lang="en-US" sz="1300" dirty="0"/>
          </a:p>
        </p:txBody>
      </p:sp>
      <p:sp>
        <p:nvSpPr>
          <p:cNvPr id="18" name="Text 15"/>
          <p:cNvSpPr txBox="1"/>
          <p:nvPr/>
        </p:nvSpPr>
        <p:spPr>
          <a:xfrm>
            <a:off x="457200" y="4800600"/>
            <a:ext cx="5486400" cy="228600"/>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Mobil In Time  ·  Zielkunden Schweiz 2026/27  ·  intern</a:t>
            </a:r>
            <a:endParaRPr lang="en-US" sz="800" dirty="0"/>
          </a:p>
        </p:txBody>
      </p:sp>
      <p:sp>
        <p:nvSpPr>
          <p:cNvPr id="19" name="Text 16"/>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28600"/>
          </a:xfrm>
          <a:prstGeom prst="rect">
            <a:avLst/>
          </a:prstGeom>
          <a:noFill/>
          <a:ln/>
        </p:spPr>
        <p:txBody>
          <a:bodyPr wrap="square" lIns="0" tIns="0" rIns="0" bIns="0" rtlCol="0" anchor="ctr"/>
          <a:lstStyle/>
          <a:p>
            <a:pPr indent="0" marL="0">
              <a:buNone/>
            </a:pPr>
            <a:r>
              <a:rPr lang="en-US" sz="900" b="1" spc="300" kern="0" dirty="0">
                <a:solidFill>
                  <a:srgbClr val="B07B00"/>
                </a:solidFill>
                <a:latin typeface="Arial" pitchFamily="34" charset="0"/>
                <a:ea typeface="Arial" pitchFamily="34" charset="-122"/>
                <a:cs typeface="Arial" pitchFamily="34" charset="-120"/>
              </a:rPr>
              <a:t>SEGMENTMIX</a:t>
            </a:r>
            <a:endParaRPr lang="en-US" sz="900" dirty="0"/>
          </a:p>
        </p:txBody>
      </p:sp>
      <p:sp>
        <p:nvSpPr>
          <p:cNvPr id="3" name="Text 1"/>
          <p:cNvSpPr txBox="1"/>
          <p:nvPr/>
        </p:nvSpPr>
        <p:spPr>
          <a:xfrm>
            <a:off x="457200" y="548640"/>
            <a:ext cx="8229600" cy="548640"/>
          </a:xfrm>
          <a:prstGeom prst="rect">
            <a:avLst/>
          </a:prstGeom>
          <a:noFill/>
          <a:ln/>
        </p:spPr>
        <p:txBody>
          <a:bodyPr wrap="square" lIns="0" tIns="0" rIns="0" bIns="0" rtlCol="0" anchor="t"/>
          <a:lstStyle/>
          <a:p>
            <a:pPr indent="0" marL="0">
              <a:buNone/>
            </a:pPr>
            <a:r>
              <a:rPr lang="en-US" sz="2400" b="1" dirty="0">
                <a:solidFill>
                  <a:srgbClr val="1F2328"/>
                </a:solidFill>
                <a:latin typeface="Arial" pitchFamily="34" charset="0"/>
                <a:ea typeface="Arial" pitchFamily="34" charset="-122"/>
                <a:cs typeface="Arial" pitchFamily="34" charset="-120"/>
              </a:rPr>
              <a:t>Mix 60/20/20 erfüllt, A-Dichte bei GU/TU + Industrie</a:t>
            </a:r>
            <a:endParaRPr lang="en-US" sz="2400" dirty="0"/>
          </a:p>
        </p:txBody>
      </p:sp>
      <p:graphicFrame>
        <p:nvGraphicFramePr>
          <p:cNvPr id="4" name="Chart 0" descr=""/>
          <p:cNvGraphicFramePr/>
          <p:nvPr/>
        </p:nvGraphicFramePr>
        <p:xfrm>
          <a:off x="365760" y="1280160"/>
          <a:ext cx="5120640" cy="338328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0" y="1371600"/>
          <a:ext cx="3017520" cy="914400"/>
        </p:xfrm>
        <a:graphic>
          <a:graphicData uri="http://schemas.openxmlformats.org/drawingml/2006/table">
            <a:tbl>
              <a:tblPr/>
              <a:tblGrid>
                <a:gridCol w="1097280"/>
                <a:gridCol w="777240"/>
                <a:gridCol w="502920"/>
                <a:gridCol w="64008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Segment</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1F2328"/>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Gesamt</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1F2328"/>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Kern</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1F2328"/>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Anteil</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1F2328"/>
                    </a:solidFill>
                  </a:tcPr>
                </a:tc>
              </a:tr>
              <a:tr h="274320">
                <a:tc>
                  <a:txBody>
                    <a:bodyPr/>
                    <a:lstStyle/>
                    <a:p>
                      <a:pPr algn="l" indent="0" marL="0">
                        <a:buNone/>
                      </a:pPr>
                      <a:r>
                        <a:rPr lang="en-US" sz="950" dirty="0">
                          <a:solidFill>
                            <a:srgbClr val="3A4048"/>
                          </a:solidFill>
                          <a:latin typeface="Calibri" pitchFamily="34" charset="0"/>
                          <a:ea typeface="Calibri" pitchFamily="34" charset="-122"/>
                          <a:cs typeface="Calibri" pitchFamily="34" charset="-120"/>
                        </a:rPr>
                        <a:t>Installateure</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ctr" indent="0" marL="0">
                        <a:buNone/>
                      </a:pPr>
                      <a:r>
                        <a:rPr lang="en-US" sz="950" dirty="0">
                          <a:solidFill>
                            <a:srgbClr val="3A4048"/>
                          </a:solidFill>
                          <a:latin typeface="Calibri" pitchFamily="34" charset="0"/>
                          <a:ea typeface="Calibri" pitchFamily="34" charset="-122"/>
                          <a:cs typeface="Calibri" pitchFamily="34" charset="-120"/>
                        </a:rPr>
                        <a:t>42</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ctr" indent="0" marL="0">
                        <a:buNone/>
                      </a:pPr>
                      <a:r>
                        <a:rPr lang="en-US" sz="950" dirty="0">
                          <a:solidFill>
                            <a:srgbClr val="3A4048"/>
                          </a:solidFill>
                          <a:latin typeface="Calibri" pitchFamily="34" charset="0"/>
                          <a:ea typeface="Calibri" pitchFamily="34" charset="-122"/>
                          <a:cs typeface="Calibri" pitchFamily="34" charset="-120"/>
                        </a:rPr>
                        <a:t>42</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ctr" indent="0" marL="0">
                        <a:buNone/>
                      </a:pPr>
                      <a:r>
                        <a:rPr lang="en-US" sz="950" dirty="0">
                          <a:solidFill>
                            <a:srgbClr val="3A4048"/>
                          </a:solidFill>
                          <a:latin typeface="Calibri" pitchFamily="34" charset="0"/>
                          <a:ea typeface="Calibri" pitchFamily="34" charset="-122"/>
                          <a:cs typeface="Calibri" pitchFamily="34" charset="-120"/>
                        </a:rPr>
                        <a:t>60 %</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r>
              <a:tr h="274320">
                <a:tc>
                  <a:txBody>
                    <a:bodyPr/>
                    <a:lstStyle/>
                    <a:p>
                      <a:pPr algn="l" indent="0" marL="0">
                        <a:buNone/>
                      </a:pPr>
                      <a:r>
                        <a:rPr lang="en-US" sz="950" dirty="0">
                          <a:solidFill>
                            <a:srgbClr val="3A4048"/>
                          </a:solidFill>
                          <a:latin typeface="Calibri" pitchFamily="34" charset="0"/>
                          <a:ea typeface="Calibri" pitchFamily="34" charset="-122"/>
                          <a:cs typeface="Calibri" pitchFamily="34" charset="-120"/>
                        </a:rPr>
                        <a:t>FM / EVU / Planer</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ctr" indent="0" marL="0">
                        <a:buNone/>
                      </a:pPr>
                      <a:r>
                        <a:rPr lang="en-US" sz="950" dirty="0">
                          <a:solidFill>
                            <a:srgbClr val="3A4048"/>
                          </a:solidFill>
                          <a:latin typeface="Calibri" pitchFamily="34" charset="0"/>
                          <a:ea typeface="Calibri" pitchFamily="34" charset="-122"/>
                          <a:cs typeface="Calibri" pitchFamily="34" charset="-120"/>
                        </a:rPr>
                        <a:t>35</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ctr" indent="0" marL="0">
                        <a:buNone/>
                      </a:pPr>
                      <a:r>
                        <a:rPr lang="en-US" sz="950" dirty="0">
                          <a:solidFill>
                            <a:srgbClr val="3A4048"/>
                          </a:solidFill>
                          <a:latin typeface="Calibri" pitchFamily="34" charset="0"/>
                          <a:ea typeface="Calibri" pitchFamily="34" charset="-122"/>
                          <a:cs typeface="Calibri" pitchFamily="34" charset="-120"/>
                        </a:rPr>
                        <a:t>14</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ctr" indent="0" marL="0">
                        <a:buNone/>
                      </a:pPr>
                      <a:r>
                        <a:rPr lang="en-US" sz="950" dirty="0">
                          <a:solidFill>
                            <a:srgbClr val="3A4048"/>
                          </a:solidFill>
                          <a:latin typeface="Calibri" pitchFamily="34" charset="0"/>
                          <a:ea typeface="Calibri" pitchFamily="34" charset="-122"/>
                          <a:cs typeface="Calibri" pitchFamily="34" charset="-120"/>
                        </a:rPr>
                        <a:t>20 %</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r>
              <a:tr h="274320">
                <a:tc>
                  <a:txBody>
                    <a:bodyPr/>
                    <a:lstStyle/>
                    <a:p>
                      <a:pPr algn="l" indent="0" marL="0">
                        <a:buNone/>
                      </a:pPr>
                      <a:r>
                        <a:rPr lang="en-US" sz="950" dirty="0">
                          <a:solidFill>
                            <a:srgbClr val="3A4048"/>
                          </a:solidFill>
                          <a:latin typeface="Calibri" pitchFamily="34" charset="0"/>
                          <a:ea typeface="Calibri" pitchFamily="34" charset="-122"/>
                          <a:cs typeface="Calibri" pitchFamily="34" charset="-120"/>
                        </a:rPr>
                        <a:t>GU/TU + Industrie</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ctr" indent="0" marL="0">
                        <a:buNone/>
                      </a:pPr>
                      <a:r>
                        <a:rPr lang="en-US" sz="950" dirty="0">
                          <a:solidFill>
                            <a:srgbClr val="3A4048"/>
                          </a:solidFill>
                          <a:latin typeface="Calibri" pitchFamily="34" charset="0"/>
                          <a:ea typeface="Calibri" pitchFamily="34" charset="-122"/>
                          <a:cs typeface="Calibri" pitchFamily="34" charset="-120"/>
                        </a:rPr>
                        <a:t>48</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ctr" indent="0" marL="0">
                        <a:buNone/>
                      </a:pPr>
                      <a:r>
                        <a:rPr lang="en-US" sz="950" dirty="0">
                          <a:solidFill>
                            <a:srgbClr val="3A4048"/>
                          </a:solidFill>
                          <a:latin typeface="Calibri" pitchFamily="34" charset="0"/>
                          <a:ea typeface="Calibri" pitchFamily="34" charset="-122"/>
                          <a:cs typeface="Calibri" pitchFamily="34" charset="-120"/>
                        </a:rPr>
                        <a:t>14</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ctr" indent="0" marL="0">
                        <a:buNone/>
                      </a:pPr>
                      <a:r>
                        <a:rPr lang="en-US" sz="950" dirty="0">
                          <a:solidFill>
                            <a:srgbClr val="3A4048"/>
                          </a:solidFill>
                          <a:latin typeface="Calibri" pitchFamily="34" charset="0"/>
                          <a:ea typeface="Calibri" pitchFamily="34" charset="-122"/>
                          <a:cs typeface="Calibri" pitchFamily="34" charset="-120"/>
                        </a:rPr>
                        <a:t>20 %</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r>
              <a:tr h="274320">
                <a:tc>
                  <a:txBody>
                    <a:bodyPr/>
                    <a:lstStyle/>
                    <a:p>
                      <a:pPr algn="l" indent="0" marL="0">
                        <a:buNone/>
                      </a:pPr>
                      <a:r>
                        <a:rPr lang="en-US" sz="950" b="1" dirty="0">
                          <a:solidFill>
                            <a:srgbClr val="3A4048"/>
                          </a:solidFill>
                          <a:latin typeface="Calibri" pitchFamily="34" charset="0"/>
                          <a:ea typeface="Calibri" pitchFamily="34" charset="-122"/>
                          <a:cs typeface="Calibri" pitchFamily="34" charset="-120"/>
                        </a:rPr>
                        <a:t>Total</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ctr" indent="0" marL="0">
                        <a:buNone/>
                      </a:pPr>
                      <a:r>
                        <a:rPr lang="en-US" sz="950" b="1" dirty="0">
                          <a:solidFill>
                            <a:srgbClr val="3A4048"/>
                          </a:solidFill>
                          <a:latin typeface="Calibri" pitchFamily="34" charset="0"/>
                          <a:ea typeface="Calibri" pitchFamily="34" charset="-122"/>
                          <a:cs typeface="Calibri" pitchFamily="34" charset="-120"/>
                        </a:rPr>
                        <a:t>125</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ctr" indent="0" marL="0">
                        <a:buNone/>
                      </a:pPr>
                      <a:r>
                        <a:rPr lang="en-US" sz="950" b="1" dirty="0">
                          <a:solidFill>
                            <a:srgbClr val="3A4048"/>
                          </a:solidFill>
                          <a:latin typeface="Calibri" pitchFamily="34" charset="0"/>
                          <a:ea typeface="Calibri" pitchFamily="34" charset="-122"/>
                          <a:cs typeface="Calibri" pitchFamily="34" charset="-120"/>
                        </a:rPr>
                        <a:t>70</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ctr" indent="0" marL="0">
                        <a:buNone/>
                      </a:pPr>
                      <a:r>
                        <a:rPr lang="en-US" sz="950" b="1" dirty="0">
                          <a:solidFill>
                            <a:srgbClr val="3A4048"/>
                          </a:solidFill>
                          <a:latin typeface="Calibri" pitchFamily="34" charset="0"/>
                          <a:ea typeface="Calibri" pitchFamily="34" charset="-122"/>
                          <a:cs typeface="Calibri" pitchFamily="34" charset="-120"/>
                        </a:rPr>
                        <a:t>100 %</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r>
            </a:tbl>
          </a:graphicData>
        </a:graphic>
      </p:graphicFrame>
      <p:sp>
        <p:nvSpPr>
          <p:cNvPr id="6" name="Text 2"/>
          <p:cNvSpPr txBox="1"/>
          <p:nvPr/>
        </p:nvSpPr>
        <p:spPr>
          <a:xfrm>
            <a:off x="5669280" y="3246120"/>
            <a:ext cx="3017520" cy="1280160"/>
          </a:xfrm>
          <a:prstGeom prst="rect">
            <a:avLst/>
          </a:prstGeom>
          <a:noFill/>
          <a:ln/>
        </p:spPr>
        <p:txBody>
          <a:bodyPr wrap="square" lIns="0" tIns="0" rIns="0" bIns="0" rtlCol="0" anchor="t"/>
          <a:lstStyle/>
          <a:p>
            <a:pPr indent="0" marL="0">
              <a:buNone/>
            </a:pPr>
            <a:r>
              <a:rPr lang="en-US" sz="1200" dirty="0">
                <a:solidFill>
                  <a:srgbClr val="1F2328"/>
                </a:solidFill>
                <a:latin typeface="Calibri" pitchFamily="34" charset="0"/>
                <a:ea typeface="Calibri" pitchFamily="34" charset="-122"/>
                <a:cs typeface="Calibri" pitchFamily="34" charset="-120"/>
              </a:rPr>
              <a:t>Die Hälfte aller A-Firmen sitzt im kleinsten Kernsegment. Dort liegen die konkreten Anlässe: Rechenzentren, Pharma-Neubauten, Tunnel, Flughäfen.</a:t>
            </a:r>
            <a:endParaRPr lang="en-US" sz="1200" dirty="0"/>
          </a:p>
        </p:txBody>
      </p:sp>
      <p:sp>
        <p:nvSpPr>
          <p:cNvPr id="7" name="Text 3"/>
          <p:cNvSpPr txBox="1"/>
          <p:nvPr/>
        </p:nvSpPr>
        <p:spPr>
          <a:xfrm>
            <a:off x="457200" y="4800600"/>
            <a:ext cx="5486400" cy="228600"/>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Mobil In Time  ·  Zielkunden Schweiz 2026/27  ·  intern</a:t>
            </a:r>
            <a:endParaRPr lang="en-US" sz="800" dirty="0"/>
          </a:p>
        </p:txBody>
      </p:sp>
      <p:sp>
        <p:nvSpPr>
          <p:cNvPr id="8" name="Text 4"/>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28600"/>
          </a:xfrm>
          <a:prstGeom prst="rect">
            <a:avLst/>
          </a:prstGeom>
          <a:noFill/>
          <a:ln/>
        </p:spPr>
        <p:txBody>
          <a:bodyPr wrap="square" lIns="0" tIns="0" rIns="0" bIns="0" rtlCol="0" anchor="ctr"/>
          <a:lstStyle/>
          <a:p>
            <a:pPr indent="0" marL="0">
              <a:buNone/>
            </a:pPr>
            <a:r>
              <a:rPr lang="en-US" sz="900" b="1" spc="300" kern="0" dirty="0">
                <a:solidFill>
                  <a:srgbClr val="B07B00"/>
                </a:solidFill>
                <a:latin typeface="Arial" pitchFamily="34" charset="0"/>
                <a:ea typeface="Arial" pitchFamily="34" charset="-122"/>
                <a:cs typeface="Arial" pitchFamily="34" charset="-120"/>
              </a:rPr>
              <a:t>METHODIK</a:t>
            </a:r>
            <a:endParaRPr lang="en-US" sz="900" dirty="0"/>
          </a:p>
        </p:txBody>
      </p:sp>
      <p:sp>
        <p:nvSpPr>
          <p:cNvPr id="3" name="Text 1"/>
          <p:cNvSpPr txBox="1"/>
          <p:nvPr/>
        </p:nvSpPr>
        <p:spPr>
          <a:xfrm>
            <a:off x="457200" y="548640"/>
            <a:ext cx="8229600" cy="548640"/>
          </a:xfrm>
          <a:prstGeom prst="rect">
            <a:avLst/>
          </a:prstGeom>
          <a:noFill/>
          <a:ln/>
        </p:spPr>
        <p:txBody>
          <a:bodyPr wrap="square" lIns="0" tIns="0" rIns="0" bIns="0" rtlCol="0" anchor="t"/>
          <a:lstStyle/>
          <a:p>
            <a:pPr indent="0" marL="0">
              <a:buNone/>
            </a:pPr>
            <a:r>
              <a:rPr lang="en-US" sz="2400" b="1" dirty="0">
                <a:solidFill>
                  <a:srgbClr val="1F2328"/>
                </a:solidFill>
                <a:latin typeface="Arial" pitchFamily="34" charset="0"/>
                <a:ea typeface="Arial" pitchFamily="34" charset="-122"/>
                <a:cs typeface="Arial" pitchFamily="34" charset="-120"/>
              </a:rPr>
              <a:t>Vier Kriterien entscheiden die Prio</a:t>
            </a:r>
            <a:endParaRPr lang="en-US" sz="2400" dirty="0"/>
          </a:p>
        </p:txBody>
      </p:sp>
      <p:sp>
        <p:nvSpPr>
          <p:cNvPr id="4" name="Shape 2"/>
          <p:cNvSpPr/>
          <p:nvPr/>
        </p:nvSpPr>
        <p:spPr>
          <a:xfrm>
            <a:off x="457200" y="1325880"/>
            <a:ext cx="1920240" cy="2240280"/>
          </a:xfrm>
          <a:prstGeom prst="roundRect">
            <a:avLst>
              <a:gd name="adj" fmla="val 3810"/>
            </a:avLst>
          </a:prstGeom>
          <a:solidFill>
            <a:srgbClr val="F3F4F6"/>
          </a:solidFill>
          <a:ln w="12700">
            <a:solidFill>
              <a:srgbClr val="F3F4F6"/>
            </a:solidFill>
            <a:prstDash val="solid"/>
          </a:ln>
        </p:spPr>
      </p:sp>
      <p:sp>
        <p:nvSpPr>
          <p:cNvPr id="5" name="Shape 3"/>
          <p:cNvSpPr/>
          <p:nvPr/>
        </p:nvSpPr>
        <p:spPr>
          <a:xfrm>
            <a:off x="640080" y="1508760"/>
            <a:ext cx="411480" cy="411480"/>
          </a:xfrm>
          <a:prstGeom prst="ellipse">
            <a:avLst/>
          </a:prstGeom>
          <a:solidFill>
            <a:srgbClr val="F2A900"/>
          </a:solidFill>
          <a:ln w="12700">
            <a:solidFill>
              <a:srgbClr val="F2A900"/>
            </a:solidFill>
            <a:prstDash val="solid"/>
          </a:ln>
        </p:spPr>
      </p:sp>
      <p:pic>
        <p:nvPicPr>
          <p:cNvPr id="6" name="Image 0" descr="preencoded.png">    </p:cNvPr>
          <p:cNvPicPr>
            <a:picLocks noChangeAspect="1"/>
          </p:cNvPicPr>
          <p:nvPr/>
        </p:nvPicPr>
        <p:blipFill>
          <a:blip r:embed="rId1"/>
          <a:stretch>
            <a:fillRect/>
          </a:stretch>
        </p:blipFill>
        <p:spPr>
          <a:xfrm>
            <a:off x="742950" y="1611630"/>
            <a:ext cx="205740" cy="205740"/>
          </a:xfrm>
          <a:prstGeom prst="rect">
            <a:avLst/>
          </a:prstGeom>
        </p:spPr>
      </p:pic>
      <p:sp>
        <p:nvSpPr>
          <p:cNvPr id="7" name="Text 4"/>
          <p:cNvSpPr txBox="1"/>
          <p:nvPr/>
        </p:nvSpPr>
        <p:spPr>
          <a:xfrm>
            <a:off x="1143000" y="1508760"/>
            <a:ext cx="1143000" cy="411480"/>
          </a:xfrm>
          <a:prstGeom prst="rect">
            <a:avLst/>
          </a:prstGeom>
          <a:noFill/>
          <a:ln/>
        </p:spPr>
        <p:txBody>
          <a:bodyPr wrap="square" lIns="0" tIns="0" rIns="0" bIns="0" rtlCol="0" anchor="ctr"/>
          <a:lstStyle/>
          <a:p>
            <a:pPr indent="0" marL="0">
              <a:buNone/>
            </a:pPr>
            <a:r>
              <a:rPr lang="en-US" sz="2200" b="1" dirty="0">
                <a:solidFill>
                  <a:srgbClr val="1F2328"/>
                </a:solidFill>
                <a:latin typeface="Arial" pitchFamily="34" charset="0"/>
                <a:ea typeface="Arial" pitchFamily="34" charset="-122"/>
                <a:cs typeface="Arial" pitchFamily="34" charset="-120"/>
              </a:rPr>
              <a:t>30 %</a:t>
            </a:r>
            <a:endParaRPr lang="en-US" sz="2200" dirty="0"/>
          </a:p>
        </p:txBody>
      </p:sp>
      <p:sp>
        <p:nvSpPr>
          <p:cNvPr id="8" name="Text 5"/>
          <p:cNvSpPr txBox="1"/>
          <p:nvPr/>
        </p:nvSpPr>
        <p:spPr>
          <a:xfrm>
            <a:off x="640080" y="2057400"/>
            <a:ext cx="1645920" cy="320040"/>
          </a:xfrm>
          <a:prstGeom prst="rect">
            <a:avLst/>
          </a:prstGeom>
          <a:noFill/>
          <a:ln/>
        </p:spPr>
        <p:txBody>
          <a:bodyPr wrap="square" lIns="0" tIns="0" rIns="0" bIns="0" rtlCol="0" anchor="t"/>
          <a:lstStyle/>
          <a:p>
            <a:pPr indent="0" marL="0">
              <a:buNone/>
            </a:pPr>
            <a:r>
              <a:rPr lang="en-US" sz="1300" b="1" dirty="0">
                <a:solidFill>
                  <a:srgbClr val="1F2328"/>
                </a:solidFill>
                <a:latin typeface="Arial" pitchFamily="34" charset="0"/>
                <a:ea typeface="Arial" pitchFamily="34" charset="-122"/>
                <a:cs typeface="Arial" pitchFamily="34" charset="-120"/>
              </a:rPr>
              <a:t>Fit</a:t>
            </a:r>
            <a:endParaRPr lang="en-US" sz="1300" dirty="0"/>
          </a:p>
        </p:txBody>
      </p:sp>
      <p:sp>
        <p:nvSpPr>
          <p:cNvPr id="9" name="Text 6"/>
          <p:cNvSpPr txBox="1"/>
          <p:nvPr/>
        </p:nvSpPr>
        <p:spPr>
          <a:xfrm>
            <a:off x="640080" y="2377440"/>
            <a:ext cx="1600200" cy="1097280"/>
          </a:xfrm>
          <a:prstGeom prst="rect">
            <a:avLst/>
          </a:prstGeom>
          <a:noFill/>
          <a:ln/>
        </p:spPr>
        <p:txBody>
          <a:bodyPr wrap="square" lIns="0" tIns="0" rIns="0" bIns="0" rtlCol="0" anchor="t"/>
          <a:lstStyle/>
          <a:p>
            <a:pPr indent="0" marL="0">
              <a:buNone/>
            </a:pPr>
            <a:r>
              <a:rPr lang="en-US" sz="1100" dirty="0">
                <a:solidFill>
                  <a:srgbClr val="3A4048"/>
                </a:solidFill>
                <a:latin typeface="Calibri" pitchFamily="34" charset="0"/>
                <a:ea typeface="Calibri" pitchFamily="34" charset="-122"/>
                <a:cs typeface="Calibri" pitchFamily="34" charset="-120"/>
              </a:rPr>
              <a:t>Passt der Bedarf zum MiT-Portfolio?</a:t>
            </a:r>
            <a:endParaRPr lang="en-US" sz="1100" dirty="0"/>
          </a:p>
        </p:txBody>
      </p:sp>
      <p:sp>
        <p:nvSpPr>
          <p:cNvPr id="10" name="Shape 7"/>
          <p:cNvSpPr/>
          <p:nvPr/>
        </p:nvSpPr>
        <p:spPr>
          <a:xfrm>
            <a:off x="2560320" y="1325880"/>
            <a:ext cx="1920240" cy="2240280"/>
          </a:xfrm>
          <a:prstGeom prst="roundRect">
            <a:avLst>
              <a:gd name="adj" fmla="val 3810"/>
            </a:avLst>
          </a:prstGeom>
          <a:solidFill>
            <a:srgbClr val="F3F4F6"/>
          </a:solidFill>
          <a:ln w="12700">
            <a:solidFill>
              <a:srgbClr val="F3F4F6"/>
            </a:solidFill>
            <a:prstDash val="solid"/>
          </a:ln>
        </p:spPr>
      </p:sp>
      <p:sp>
        <p:nvSpPr>
          <p:cNvPr id="11" name="Shape 8"/>
          <p:cNvSpPr/>
          <p:nvPr/>
        </p:nvSpPr>
        <p:spPr>
          <a:xfrm>
            <a:off x="2743200" y="1508760"/>
            <a:ext cx="411480" cy="411480"/>
          </a:xfrm>
          <a:prstGeom prst="ellipse">
            <a:avLst/>
          </a:prstGeom>
          <a:solidFill>
            <a:srgbClr val="F2A900"/>
          </a:solidFill>
          <a:ln w="12700">
            <a:solidFill>
              <a:srgbClr val="F2A900"/>
            </a:solidFill>
            <a:prstDash val="solid"/>
          </a:ln>
        </p:spPr>
      </p:sp>
      <p:pic>
        <p:nvPicPr>
          <p:cNvPr id="12" name="Image 1" descr="preencoded.png">    </p:cNvPr>
          <p:cNvPicPr>
            <a:picLocks noChangeAspect="1"/>
          </p:cNvPicPr>
          <p:nvPr/>
        </p:nvPicPr>
        <p:blipFill>
          <a:blip r:embed="rId2"/>
          <a:stretch>
            <a:fillRect/>
          </a:stretch>
        </p:blipFill>
        <p:spPr>
          <a:xfrm>
            <a:off x="2846070" y="1611630"/>
            <a:ext cx="205740" cy="205740"/>
          </a:xfrm>
          <a:prstGeom prst="rect">
            <a:avLst/>
          </a:prstGeom>
        </p:spPr>
      </p:pic>
      <p:sp>
        <p:nvSpPr>
          <p:cNvPr id="13" name="Text 9"/>
          <p:cNvSpPr txBox="1"/>
          <p:nvPr/>
        </p:nvSpPr>
        <p:spPr>
          <a:xfrm>
            <a:off x="3246120" y="1508760"/>
            <a:ext cx="1143000" cy="411480"/>
          </a:xfrm>
          <a:prstGeom prst="rect">
            <a:avLst/>
          </a:prstGeom>
          <a:noFill/>
          <a:ln/>
        </p:spPr>
        <p:txBody>
          <a:bodyPr wrap="square" lIns="0" tIns="0" rIns="0" bIns="0" rtlCol="0" anchor="ctr"/>
          <a:lstStyle/>
          <a:p>
            <a:pPr indent="0" marL="0">
              <a:buNone/>
            </a:pPr>
            <a:r>
              <a:rPr lang="en-US" sz="2200" b="1" dirty="0">
                <a:solidFill>
                  <a:srgbClr val="1F2328"/>
                </a:solidFill>
                <a:latin typeface="Arial" pitchFamily="34" charset="0"/>
                <a:ea typeface="Arial" pitchFamily="34" charset="-122"/>
                <a:cs typeface="Arial" pitchFamily="34" charset="-120"/>
              </a:rPr>
              <a:t>30 %</a:t>
            </a:r>
            <a:endParaRPr lang="en-US" sz="2200" dirty="0"/>
          </a:p>
        </p:txBody>
      </p:sp>
      <p:sp>
        <p:nvSpPr>
          <p:cNvPr id="14" name="Text 10"/>
          <p:cNvSpPr txBox="1"/>
          <p:nvPr/>
        </p:nvSpPr>
        <p:spPr>
          <a:xfrm>
            <a:off x="2743200" y="2057400"/>
            <a:ext cx="1645920" cy="320040"/>
          </a:xfrm>
          <a:prstGeom prst="rect">
            <a:avLst/>
          </a:prstGeom>
          <a:noFill/>
          <a:ln/>
        </p:spPr>
        <p:txBody>
          <a:bodyPr wrap="square" lIns="0" tIns="0" rIns="0" bIns="0" rtlCol="0" anchor="t"/>
          <a:lstStyle/>
          <a:p>
            <a:pPr indent="0" marL="0">
              <a:buNone/>
            </a:pPr>
            <a:r>
              <a:rPr lang="en-US" sz="1300" b="1" dirty="0">
                <a:solidFill>
                  <a:srgbClr val="1F2328"/>
                </a:solidFill>
                <a:latin typeface="Arial" pitchFamily="34" charset="0"/>
                <a:ea typeface="Arial" pitchFamily="34" charset="-122"/>
                <a:cs typeface="Arial" pitchFamily="34" charset="-120"/>
              </a:rPr>
              <a:t>Volumen</a:t>
            </a:r>
            <a:endParaRPr lang="en-US" sz="1300" dirty="0"/>
          </a:p>
        </p:txBody>
      </p:sp>
      <p:sp>
        <p:nvSpPr>
          <p:cNvPr id="15" name="Text 11"/>
          <p:cNvSpPr txBox="1"/>
          <p:nvPr/>
        </p:nvSpPr>
        <p:spPr>
          <a:xfrm>
            <a:off x="2743200" y="2377440"/>
            <a:ext cx="1600200" cy="1097280"/>
          </a:xfrm>
          <a:prstGeom prst="rect">
            <a:avLst/>
          </a:prstGeom>
          <a:noFill/>
          <a:ln/>
        </p:spPr>
        <p:txBody>
          <a:bodyPr wrap="square" lIns="0" tIns="0" rIns="0" bIns="0" rtlCol="0" anchor="t"/>
          <a:lstStyle/>
          <a:p>
            <a:pPr indent="0" marL="0">
              <a:buNone/>
            </a:pPr>
            <a:r>
              <a:rPr lang="en-US" sz="1100" dirty="0">
                <a:solidFill>
                  <a:srgbClr val="3A4048"/>
                </a:solidFill>
                <a:latin typeface="Calibri" pitchFamily="34" charset="0"/>
                <a:ea typeface="Calibri" pitchFamily="34" charset="-122"/>
                <a:cs typeface="Calibri" pitchFamily="34" charset="-120"/>
              </a:rPr>
              <a:t>Mietvolumen pro Jahr, Hebel über Töchter und Rahmenverträge</a:t>
            </a:r>
            <a:endParaRPr lang="en-US" sz="1100" dirty="0"/>
          </a:p>
        </p:txBody>
      </p:sp>
      <p:sp>
        <p:nvSpPr>
          <p:cNvPr id="16" name="Shape 12"/>
          <p:cNvSpPr/>
          <p:nvPr/>
        </p:nvSpPr>
        <p:spPr>
          <a:xfrm>
            <a:off x="4663440" y="1325880"/>
            <a:ext cx="1920240" cy="2240280"/>
          </a:xfrm>
          <a:prstGeom prst="roundRect">
            <a:avLst>
              <a:gd name="adj" fmla="val 3810"/>
            </a:avLst>
          </a:prstGeom>
          <a:solidFill>
            <a:srgbClr val="F3F4F6"/>
          </a:solidFill>
          <a:ln w="12700">
            <a:solidFill>
              <a:srgbClr val="F3F4F6"/>
            </a:solidFill>
            <a:prstDash val="solid"/>
          </a:ln>
        </p:spPr>
      </p:sp>
      <p:sp>
        <p:nvSpPr>
          <p:cNvPr id="17" name="Shape 13"/>
          <p:cNvSpPr/>
          <p:nvPr/>
        </p:nvSpPr>
        <p:spPr>
          <a:xfrm>
            <a:off x="4846320" y="1508760"/>
            <a:ext cx="411480" cy="411480"/>
          </a:xfrm>
          <a:prstGeom prst="ellipse">
            <a:avLst/>
          </a:prstGeom>
          <a:solidFill>
            <a:srgbClr val="F2A900"/>
          </a:solidFill>
          <a:ln w="12700">
            <a:solidFill>
              <a:srgbClr val="F2A900"/>
            </a:solidFill>
            <a:prstDash val="solid"/>
          </a:ln>
        </p:spPr>
      </p:sp>
      <p:pic>
        <p:nvPicPr>
          <p:cNvPr id="18" name="Image 2" descr="preencoded.png">    </p:cNvPr>
          <p:cNvPicPr>
            <a:picLocks noChangeAspect="1"/>
          </p:cNvPicPr>
          <p:nvPr/>
        </p:nvPicPr>
        <p:blipFill>
          <a:blip r:embed="rId3"/>
          <a:stretch>
            <a:fillRect/>
          </a:stretch>
        </p:blipFill>
        <p:spPr>
          <a:xfrm>
            <a:off x="4949190" y="1611630"/>
            <a:ext cx="205740" cy="205740"/>
          </a:xfrm>
          <a:prstGeom prst="rect">
            <a:avLst/>
          </a:prstGeom>
        </p:spPr>
      </p:pic>
      <p:sp>
        <p:nvSpPr>
          <p:cNvPr id="19" name="Text 14"/>
          <p:cNvSpPr txBox="1"/>
          <p:nvPr/>
        </p:nvSpPr>
        <p:spPr>
          <a:xfrm>
            <a:off x="5349240" y="1508760"/>
            <a:ext cx="1143000" cy="411480"/>
          </a:xfrm>
          <a:prstGeom prst="rect">
            <a:avLst/>
          </a:prstGeom>
          <a:noFill/>
          <a:ln/>
        </p:spPr>
        <p:txBody>
          <a:bodyPr wrap="square" lIns="0" tIns="0" rIns="0" bIns="0" rtlCol="0" anchor="ctr"/>
          <a:lstStyle/>
          <a:p>
            <a:pPr indent="0" marL="0">
              <a:buNone/>
            </a:pPr>
            <a:r>
              <a:rPr lang="en-US" sz="2200" b="1" dirty="0">
                <a:solidFill>
                  <a:srgbClr val="1F2328"/>
                </a:solidFill>
                <a:latin typeface="Arial" pitchFamily="34" charset="0"/>
                <a:ea typeface="Arial" pitchFamily="34" charset="-122"/>
                <a:cs typeface="Arial" pitchFamily="34" charset="-120"/>
              </a:rPr>
              <a:t>25 %</a:t>
            </a:r>
            <a:endParaRPr lang="en-US" sz="2200" dirty="0"/>
          </a:p>
        </p:txBody>
      </p:sp>
      <p:sp>
        <p:nvSpPr>
          <p:cNvPr id="20" name="Text 15"/>
          <p:cNvSpPr txBox="1"/>
          <p:nvPr/>
        </p:nvSpPr>
        <p:spPr>
          <a:xfrm>
            <a:off x="4846320" y="2057400"/>
            <a:ext cx="1645920" cy="320040"/>
          </a:xfrm>
          <a:prstGeom prst="rect">
            <a:avLst/>
          </a:prstGeom>
          <a:noFill/>
          <a:ln/>
        </p:spPr>
        <p:txBody>
          <a:bodyPr wrap="square" lIns="0" tIns="0" rIns="0" bIns="0" rtlCol="0" anchor="t"/>
          <a:lstStyle/>
          <a:p>
            <a:pPr indent="0" marL="0">
              <a:buNone/>
            </a:pPr>
            <a:r>
              <a:rPr lang="en-US" sz="1300" b="1" dirty="0">
                <a:solidFill>
                  <a:srgbClr val="1F2328"/>
                </a:solidFill>
                <a:latin typeface="Arial" pitchFamily="34" charset="0"/>
                <a:ea typeface="Arial" pitchFamily="34" charset="-122"/>
                <a:cs typeface="Arial" pitchFamily="34" charset="-120"/>
              </a:rPr>
              <a:t>Timing</a:t>
            </a:r>
            <a:endParaRPr lang="en-US" sz="1300" dirty="0"/>
          </a:p>
        </p:txBody>
      </p:sp>
      <p:sp>
        <p:nvSpPr>
          <p:cNvPr id="21" name="Text 16"/>
          <p:cNvSpPr txBox="1"/>
          <p:nvPr/>
        </p:nvSpPr>
        <p:spPr>
          <a:xfrm>
            <a:off x="4846320" y="2377440"/>
            <a:ext cx="1600200" cy="1097280"/>
          </a:xfrm>
          <a:prstGeom prst="rect">
            <a:avLst/>
          </a:prstGeom>
          <a:noFill/>
          <a:ln/>
        </p:spPr>
        <p:txBody>
          <a:bodyPr wrap="square" lIns="0" tIns="0" rIns="0" bIns="0" rtlCol="0" anchor="t"/>
          <a:lstStyle/>
          <a:p>
            <a:pPr indent="0" marL="0">
              <a:buNone/>
            </a:pPr>
            <a:r>
              <a:rPr lang="en-US" sz="1100" dirty="0">
                <a:solidFill>
                  <a:srgbClr val="3A4048"/>
                </a:solidFill>
                <a:latin typeface="Calibri" pitchFamily="34" charset="0"/>
                <a:ea typeface="Calibri" pitchFamily="34" charset="-122"/>
                <a:cs typeface="Calibri" pitchFamily="34" charset="-120"/>
              </a:rPr>
              <a:t>Konkreter Anlass 2025 bis 2027: Bau, UW-Umbau, Commissioning, Event</a:t>
            </a:r>
            <a:endParaRPr lang="en-US" sz="1100" dirty="0"/>
          </a:p>
        </p:txBody>
      </p:sp>
      <p:sp>
        <p:nvSpPr>
          <p:cNvPr id="22" name="Shape 17"/>
          <p:cNvSpPr/>
          <p:nvPr/>
        </p:nvSpPr>
        <p:spPr>
          <a:xfrm>
            <a:off x="6766560" y="1325880"/>
            <a:ext cx="1920240" cy="2240280"/>
          </a:xfrm>
          <a:prstGeom prst="roundRect">
            <a:avLst>
              <a:gd name="adj" fmla="val 3810"/>
            </a:avLst>
          </a:prstGeom>
          <a:solidFill>
            <a:srgbClr val="F3F4F6"/>
          </a:solidFill>
          <a:ln w="12700">
            <a:solidFill>
              <a:srgbClr val="F3F4F6"/>
            </a:solidFill>
            <a:prstDash val="solid"/>
          </a:ln>
        </p:spPr>
      </p:sp>
      <p:sp>
        <p:nvSpPr>
          <p:cNvPr id="23" name="Shape 18"/>
          <p:cNvSpPr/>
          <p:nvPr/>
        </p:nvSpPr>
        <p:spPr>
          <a:xfrm>
            <a:off x="6949440" y="1508760"/>
            <a:ext cx="411480" cy="411480"/>
          </a:xfrm>
          <a:prstGeom prst="ellipse">
            <a:avLst/>
          </a:prstGeom>
          <a:solidFill>
            <a:srgbClr val="F2A900"/>
          </a:solidFill>
          <a:ln w="12700">
            <a:solidFill>
              <a:srgbClr val="F2A900"/>
            </a:solidFill>
            <a:prstDash val="solid"/>
          </a:ln>
        </p:spPr>
      </p:sp>
      <p:pic>
        <p:nvPicPr>
          <p:cNvPr id="24" name="Image 3" descr="preencoded.png">    </p:cNvPr>
          <p:cNvPicPr>
            <a:picLocks noChangeAspect="1"/>
          </p:cNvPicPr>
          <p:nvPr/>
        </p:nvPicPr>
        <p:blipFill>
          <a:blip r:embed="rId4"/>
          <a:stretch>
            <a:fillRect/>
          </a:stretch>
        </p:blipFill>
        <p:spPr>
          <a:xfrm>
            <a:off x="7052310" y="1611630"/>
            <a:ext cx="205740" cy="205740"/>
          </a:xfrm>
          <a:prstGeom prst="rect">
            <a:avLst/>
          </a:prstGeom>
        </p:spPr>
      </p:pic>
      <p:sp>
        <p:nvSpPr>
          <p:cNvPr id="25" name="Text 19"/>
          <p:cNvSpPr txBox="1"/>
          <p:nvPr/>
        </p:nvSpPr>
        <p:spPr>
          <a:xfrm>
            <a:off x="7452360" y="1508760"/>
            <a:ext cx="1143000" cy="411480"/>
          </a:xfrm>
          <a:prstGeom prst="rect">
            <a:avLst/>
          </a:prstGeom>
          <a:noFill/>
          <a:ln/>
        </p:spPr>
        <p:txBody>
          <a:bodyPr wrap="square" lIns="0" tIns="0" rIns="0" bIns="0" rtlCol="0" anchor="ctr"/>
          <a:lstStyle/>
          <a:p>
            <a:pPr indent="0" marL="0">
              <a:buNone/>
            </a:pPr>
            <a:r>
              <a:rPr lang="en-US" sz="2200" b="1" dirty="0">
                <a:solidFill>
                  <a:srgbClr val="1F2328"/>
                </a:solidFill>
                <a:latin typeface="Arial" pitchFamily="34" charset="0"/>
                <a:ea typeface="Arial" pitchFamily="34" charset="-122"/>
                <a:cs typeface="Arial" pitchFamily="34" charset="-120"/>
              </a:rPr>
              <a:t>15 %</a:t>
            </a:r>
            <a:endParaRPr lang="en-US" sz="2200" dirty="0"/>
          </a:p>
        </p:txBody>
      </p:sp>
      <p:sp>
        <p:nvSpPr>
          <p:cNvPr id="26" name="Text 20"/>
          <p:cNvSpPr txBox="1"/>
          <p:nvPr/>
        </p:nvSpPr>
        <p:spPr>
          <a:xfrm>
            <a:off x="6949440" y="2057400"/>
            <a:ext cx="1645920" cy="320040"/>
          </a:xfrm>
          <a:prstGeom prst="rect">
            <a:avLst/>
          </a:prstGeom>
          <a:noFill/>
          <a:ln/>
        </p:spPr>
        <p:txBody>
          <a:bodyPr wrap="square" lIns="0" tIns="0" rIns="0" bIns="0" rtlCol="0" anchor="t"/>
          <a:lstStyle/>
          <a:p>
            <a:pPr indent="0" marL="0">
              <a:buNone/>
            </a:pPr>
            <a:r>
              <a:rPr lang="en-US" sz="1300" b="1" dirty="0">
                <a:solidFill>
                  <a:srgbClr val="1F2328"/>
                </a:solidFill>
                <a:latin typeface="Arial" pitchFamily="34" charset="0"/>
                <a:ea typeface="Arial" pitchFamily="34" charset="-122"/>
                <a:cs typeface="Arial" pitchFamily="34" charset="-120"/>
              </a:rPr>
              <a:t>Zugang</a:t>
            </a:r>
            <a:endParaRPr lang="en-US" sz="1300" dirty="0"/>
          </a:p>
        </p:txBody>
      </p:sp>
      <p:sp>
        <p:nvSpPr>
          <p:cNvPr id="27" name="Text 21"/>
          <p:cNvSpPr txBox="1"/>
          <p:nvPr/>
        </p:nvSpPr>
        <p:spPr>
          <a:xfrm>
            <a:off x="6949440" y="2377440"/>
            <a:ext cx="1600200" cy="1097280"/>
          </a:xfrm>
          <a:prstGeom prst="rect">
            <a:avLst/>
          </a:prstGeom>
          <a:noFill/>
          <a:ln/>
        </p:spPr>
        <p:txBody>
          <a:bodyPr wrap="square" lIns="0" tIns="0" rIns="0" bIns="0" rtlCol="0" anchor="t"/>
          <a:lstStyle/>
          <a:p>
            <a:pPr indent="0" marL="0">
              <a:buNone/>
            </a:pPr>
            <a:r>
              <a:rPr lang="en-US" sz="1100" dirty="0">
                <a:solidFill>
                  <a:srgbClr val="3A4048"/>
                </a:solidFill>
                <a:latin typeface="Calibri" pitchFamily="34" charset="0"/>
                <a:ea typeface="Calibri" pitchFamily="34" charset="-122"/>
                <a:cs typeface="Calibri" pitchFamily="34" charset="-120"/>
              </a:rPr>
              <a:t>Regional erreichbar? Entscheid lokal oder Konzern? Öffentliche Beschaffung?</a:t>
            </a:r>
            <a:endParaRPr lang="en-US" sz="1100" dirty="0"/>
          </a:p>
        </p:txBody>
      </p:sp>
      <p:sp>
        <p:nvSpPr>
          <p:cNvPr id="28" name="Shape 22"/>
          <p:cNvSpPr/>
          <p:nvPr/>
        </p:nvSpPr>
        <p:spPr>
          <a:xfrm>
            <a:off x="457200" y="3840480"/>
            <a:ext cx="457200" cy="457200"/>
          </a:xfrm>
          <a:prstGeom prst="ellipse">
            <a:avLst/>
          </a:prstGeom>
          <a:solidFill>
            <a:srgbClr val="1F7A4D"/>
          </a:solidFill>
          <a:ln w="12700">
            <a:solidFill>
              <a:srgbClr val="1F7A4D"/>
            </a:solidFill>
            <a:prstDash val="solid"/>
          </a:ln>
        </p:spPr>
      </p:sp>
      <p:sp>
        <p:nvSpPr>
          <p:cNvPr id="29" name="Text 23"/>
          <p:cNvSpPr txBox="1"/>
          <p:nvPr/>
        </p:nvSpPr>
        <p:spPr>
          <a:xfrm>
            <a:off x="457200" y="3840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a:t>
            </a:r>
            <a:endParaRPr lang="en-US" sz="1600" dirty="0"/>
          </a:p>
        </p:txBody>
      </p:sp>
      <p:sp>
        <p:nvSpPr>
          <p:cNvPr id="30" name="Text 24"/>
          <p:cNvSpPr txBox="1"/>
          <p:nvPr/>
        </p:nvSpPr>
        <p:spPr>
          <a:xfrm>
            <a:off x="1005840" y="3840480"/>
            <a:ext cx="1371600" cy="457200"/>
          </a:xfrm>
          <a:prstGeom prst="rect">
            <a:avLst/>
          </a:prstGeom>
          <a:noFill/>
          <a:ln/>
        </p:spPr>
        <p:txBody>
          <a:bodyPr wrap="square" lIns="0" tIns="0" rIns="0" bIns="0" rtlCol="0" anchor="ctr"/>
          <a:lstStyle/>
          <a:p>
            <a:pPr indent="0" marL="0">
              <a:buNone/>
            </a:pPr>
            <a:r>
              <a:rPr lang="en-US" sz="1200" b="1" dirty="0">
                <a:solidFill>
                  <a:srgbClr val="1F2328"/>
                </a:solidFill>
                <a:latin typeface="Calibri" pitchFamily="34" charset="0"/>
                <a:ea typeface="Calibri" pitchFamily="34" charset="-122"/>
                <a:cs typeface="Calibri" pitchFamily="34" charset="-120"/>
              </a:rPr>
              <a:t>Score ≥ 4,0</a:t>
            </a:r>
            <a:endParaRPr lang="en-US" sz="1200" dirty="0"/>
          </a:p>
        </p:txBody>
      </p:sp>
      <p:sp>
        <p:nvSpPr>
          <p:cNvPr id="31" name="Shape 25"/>
          <p:cNvSpPr/>
          <p:nvPr/>
        </p:nvSpPr>
        <p:spPr>
          <a:xfrm>
            <a:off x="2560320" y="3840480"/>
            <a:ext cx="457200" cy="457200"/>
          </a:xfrm>
          <a:prstGeom prst="ellipse">
            <a:avLst/>
          </a:prstGeom>
          <a:solidFill>
            <a:srgbClr val="F2A900"/>
          </a:solidFill>
          <a:ln w="12700">
            <a:solidFill>
              <a:srgbClr val="F2A900"/>
            </a:solidFill>
            <a:prstDash val="solid"/>
          </a:ln>
        </p:spPr>
      </p:sp>
      <p:sp>
        <p:nvSpPr>
          <p:cNvPr id="32" name="Text 26"/>
          <p:cNvSpPr txBox="1"/>
          <p:nvPr/>
        </p:nvSpPr>
        <p:spPr>
          <a:xfrm>
            <a:off x="2560320" y="3840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B</a:t>
            </a:r>
            <a:endParaRPr lang="en-US" sz="1600" dirty="0"/>
          </a:p>
        </p:txBody>
      </p:sp>
      <p:sp>
        <p:nvSpPr>
          <p:cNvPr id="33" name="Text 27"/>
          <p:cNvSpPr txBox="1"/>
          <p:nvPr/>
        </p:nvSpPr>
        <p:spPr>
          <a:xfrm>
            <a:off x="3108960" y="3840480"/>
            <a:ext cx="1371600" cy="457200"/>
          </a:xfrm>
          <a:prstGeom prst="rect">
            <a:avLst/>
          </a:prstGeom>
          <a:noFill/>
          <a:ln/>
        </p:spPr>
        <p:txBody>
          <a:bodyPr wrap="square" lIns="0" tIns="0" rIns="0" bIns="0" rtlCol="0" anchor="ctr"/>
          <a:lstStyle/>
          <a:p>
            <a:pPr indent="0" marL="0">
              <a:buNone/>
            </a:pPr>
            <a:r>
              <a:rPr lang="en-US" sz="1200" b="1" dirty="0">
                <a:solidFill>
                  <a:srgbClr val="1F2328"/>
                </a:solidFill>
                <a:latin typeface="Calibri" pitchFamily="34" charset="0"/>
                <a:ea typeface="Calibri" pitchFamily="34" charset="-122"/>
                <a:cs typeface="Calibri" pitchFamily="34" charset="-120"/>
              </a:rPr>
              <a:t>Score ≥ 3,0</a:t>
            </a:r>
            <a:endParaRPr lang="en-US" sz="1200" dirty="0"/>
          </a:p>
        </p:txBody>
      </p:sp>
      <p:sp>
        <p:nvSpPr>
          <p:cNvPr id="34" name="Shape 28"/>
          <p:cNvSpPr/>
          <p:nvPr/>
        </p:nvSpPr>
        <p:spPr>
          <a:xfrm>
            <a:off x="4663440" y="3840480"/>
            <a:ext cx="457200" cy="457200"/>
          </a:xfrm>
          <a:prstGeom prst="ellipse">
            <a:avLst/>
          </a:prstGeom>
          <a:solidFill>
            <a:srgbClr val="9AA0A6"/>
          </a:solidFill>
          <a:ln w="12700">
            <a:solidFill>
              <a:srgbClr val="9AA0A6"/>
            </a:solidFill>
            <a:prstDash val="solid"/>
          </a:ln>
        </p:spPr>
      </p:sp>
      <p:sp>
        <p:nvSpPr>
          <p:cNvPr id="35" name="Text 29"/>
          <p:cNvSpPr txBox="1"/>
          <p:nvPr/>
        </p:nvSpPr>
        <p:spPr>
          <a:xfrm>
            <a:off x="4663440" y="3840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a:t>
            </a:r>
            <a:endParaRPr lang="en-US" sz="1600" dirty="0"/>
          </a:p>
        </p:txBody>
      </p:sp>
      <p:sp>
        <p:nvSpPr>
          <p:cNvPr id="36" name="Text 30"/>
          <p:cNvSpPr txBox="1"/>
          <p:nvPr/>
        </p:nvSpPr>
        <p:spPr>
          <a:xfrm>
            <a:off x="5212080" y="3840480"/>
            <a:ext cx="1371600" cy="457200"/>
          </a:xfrm>
          <a:prstGeom prst="rect">
            <a:avLst/>
          </a:prstGeom>
          <a:noFill/>
          <a:ln/>
        </p:spPr>
        <p:txBody>
          <a:bodyPr wrap="square" lIns="0" tIns="0" rIns="0" bIns="0" rtlCol="0" anchor="ctr"/>
          <a:lstStyle/>
          <a:p>
            <a:pPr indent="0" marL="0">
              <a:buNone/>
            </a:pPr>
            <a:r>
              <a:rPr lang="en-US" sz="1200" b="1" dirty="0">
                <a:solidFill>
                  <a:srgbClr val="1F2328"/>
                </a:solidFill>
                <a:latin typeface="Calibri" pitchFamily="34" charset="0"/>
                <a:ea typeface="Calibri" pitchFamily="34" charset="-122"/>
                <a:cs typeface="Calibri" pitchFamily="34" charset="-120"/>
              </a:rPr>
              <a:t>Score &lt; 3,0</a:t>
            </a:r>
            <a:endParaRPr lang="en-US" sz="1200" dirty="0"/>
          </a:p>
        </p:txBody>
      </p:sp>
      <p:sp>
        <p:nvSpPr>
          <p:cNvPr id="37" name="Text 31"/>
          <p:cNvSpPr txBox="1"/>
          <p:nvPr/>
        </p:nvSpPr>
        <p:spPr>
          <a:xfrm>
            <a:off x="6766560" y="3749040"/>
            <a:ext cx="1920240" cy="868680"/>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Skala je Kriterium 1 bis 5. Gewichte und Schwellen sind in der Excel änderbar, Score und Prio rechnen neu. «Prio final» übersteuert den Vorschlag.</a:t>
            </a:r>
            <a:endParaRPr lang="en-US" sz="900" dirty="0"/>
          </a:p>
        </p:txBody>
      </p:sp>
      <p:sp>
        <p:nvSpPr>
          <p:cNvPr id="38" name="Text 32"/>
          <p:cNvSpPr txBox="1"/>
          <p:nvPr/>
        </p:nvSpPr>
        <p:spPr>
          <a:xfrm>
            <a:off x="457200" y="4800600"/>
            <a:ext cx="5486400" cy="228600"/>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Mobil In Time  ·  Zielkunden Schweiz 2026/27  ·  intern</a:t>
            </a:r>
            <a:endParaRPr lang="en-US" sz="800" dirty="0"/>
          </a:p>
        </p:txBody>
      </p:sp>
      <p:sp>
        <p:nvSpPr>
          <p:cNvPr id="39" name="Text 33"/>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28600"/>
          </a:xfrm>
          <a:prstGeom prst="rect">
            <a:avLst/>
          </a:prstGeom>
          <a:noFill/>
          <a:ln/>
        </p:spPr>
        <p:txBody>
          <a:bodyPr wrap="square" lIns="0" tIns="0" rIns="0" bIns="0" rtlCol="0" anchor="ctr"/>
          <a:lstStyle/>
          <a:p>
            <a:pPr indent="0" marL="0">
              <a:buNone/>
            </a:pPr>
            <a:r>
              <a:rPr lang="en-US" sz="900" b="1" spc="300" kern="0" dirty="0">
                <a:solidFill>
                  <a:srgbClr val="B07B00"/>
                </a:solidFill>
                <a:latin typeface="Arial" pitchFamily="34" charset="0"/>
                <a:ea typeface="Arial" pitchFamily="34" charset="-122"/>
                <a:cs typeface="Arial" pitchFamily="34" charset="-120"/>
              </a:rPr>
              <a:t>REGIONEN</a:t>
            </a:r>
            <a:endParaRPr lang="en-US" sz="900" dirty="0"/>
          </a:p>
        </p:txBody>
      </p:sp>
      <p:sp>
        <p:nvSpPr>
          <p:cNvPr id="3" name="Text 1"/>
          <p:cNvSpPr txBox="1"/>
          <p:nvPr/>
        </p:nvSpPr>
        <p:spPr>
          <a:xfrm>
            <a:off x="457200" y="548640"/>
            <a:ext cx="8229600" cy="548640"/>
          </a:xfrm>
          <a:prstGeom prst="rect">
            <a:avLst/>
          </a:prstGeom>
          <a:noFill/>
          <a:ln/>
        </p:spPr>
        <p:txBody>
          <a:bodyPr wrap="square" lIns="0" tIns="0" rIns="0" bIns="0" rtlCol="0" anchor="t"/>
          <a:lstStyle/>
          <a:p>
            <a:pPr indent="0" marL="0">
              <a:buNone/>
            </a:pPr>
            <a:r>
              <a:rPr lang="en-US" sz="2400" b="1" dirty="0">
                <a:solidFill>
                  <a:srgbClr val="1F2328"/>
                </a:solidFill>
                <a:latin typeface="Arial" pitchFamily="34" charset="0"/>
                <a:ea typeface="Arial" pitchFamily="34" charset="-122"/>
                <a:cs typeface="Arial" pitchFamily="34" charset="-120"/>
              </a:rPr>
              <a:t>Zürich und Nordwestschweiz tragen 22 der 36 A-Firmen</a:t>
            </a:r>
            <a:endParaRPr lang="en-US" sz="2400" dirty="0"/>
          </a:p>
        </p:txBody>
      </p:sp>
      <p:graphicFrame>
        <p:nvGraphicFramePr>
          <p:cNvPr id="4" name="Chart 0" descr=""/>
          <p:cNvGraphicFramePr/>
          <p:nvPr/>
        </p:nvGraphicFramePr>
        <p:xfrm>
          <a:off x="365760" y="1234440"/>
          <a:ext cx="5120640" cy="34747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760720" y="1325880"/>
            <a:ext cx="2926080" cy="960120"/>
          </a:xfrm>
          <a:prstGeom prst="roundRect">
            <a:avLst>
              <a:gd name="adj" fmla="val 7619"/>
            </a:avLst>
          </a:prstGeom>
          <a:solidFill>
            <a:srgbClr val="FFF4D6"/>
          </a:solidFill>
          <a:ln w="12700">
            <a:solidFill>
              <a:srgbClr val="FFF4D6"/>
            </a:solidFill>
            <a:prstDash val="solid"/>
          </a:ln>
        </p:spPr>
      </p:sp>
      <p:sp>
        <p:nvSpPr>
          <p:cNvPr id="6" name="Text 3"/>
          <p:cNvSpPr txBox="1"/>
          <p:nvPr/>
        </p:nvSpPr>
        <p:spPr>
          <a:xfrm>
            <a:off x="5897880" y="1417320"/>
            <a:ext cx="2697480" cy="274320"/>
          </a:xfrm>
          <a:prstGeom prst="rect">
            <a:avLst/>
          </a:prstGeom>
          <a:noFill/>
          <a:ln/>
        </p:spPr>
        <p:txBody>
          <a:bodyPr wrap="square" lIns="0" tIns="0" rIns="0" bIns="0" rtlCol="0" anchor="t"/>
          <a:lstStyle/>
          <a:p>
            <a:pPr indent="0" marL="0">
              <a:buNone/>
            </a:pPr>
            <a:r>
              <a:rPr lang="en-US" sz="1200" b="1" dirty="0">
                <a:solidFill>
                  <a:srgbClr val="1F2328"/>
                </a:solidFill>
                <a:latin typeface="Arial" pitchFamily="34" charset="0"/>
                <a:ea typeface="Arial" pitchFamily="34" charset="-122"/>
                <a:cs typeface="Arial" pitchFamily="34" charset="-120"/>
              </a:rPr>
              <a:t>Zürich 26 / NWCH 22</a:t>
            </a:r>
            <a:endParaRPr lang="en-US" sz="1200" dirty="0"/>
          </a:p>
        </p:txBody>
      </p:sp>
      <p:sp>
        <p:nvSpPr>
          <p:cNvPr id="7" name="Text 4"/>
          <p:cNvSpPr txBox="1"/>
          <p:nvPr/>
        </p:nvSpPr>
        <p:spPr>
          <a:xfrm>
            <a:off x="5897880" y="1709928"/>
            <a:ext cx="2697480" cy="548640"/>
          </a:xfrm>
          <a:prstGeom prst="rect">
            <a:avLst/>
          </a:prstGeom>
          <a:noFill/>
          <a:ln/>
        </p:spPr>
        <p:txBody>
          <a:bodyPr wrap="square" lIns="0" tIns="0" rIns="0" bIns="0" rtlCol="0" anchor="t"/>
          <a:lstStyle/>
          <a:p>
            <a:pPr indent="0" marL="0">
              <a:buNone/>
            </a:pPr>
            <a:r>
              <a:rPr lang="en-US" sz="1050" dirty="0">
                <a:solidFill>
                  <a:srgbClr val="3A4048"/>
                </a:solidFill>
                <a:latin typeface="Calibri" pitchFamily="34" charset="0"/>
                <a:ea typeface="Calibri" pitchFamily="34" charset="-122"/>
                <a:cs typeface="Calibri" pitchFamily="34" charset="-120"/>
              </a:rPr>
              <a:t>RZ-Cluster, Pharma Basel, Konzernzentralen: hier entscheidet sich das Jahr.</a:t>
            </a:r>
            <a:endParaRPr lang="en-US" sz="1050" dirty="0"/>
          </a:p>
        </p:txBody>
      </p:sp>
      <p:sp>
        <p:nvSpPr>
          <p:cNvPr id="8" name="Shape 5"/>
          <p:cNvSpPr/>
          <p:nvPr/>
        </p:nvSpPr>
        <p:spPr>
          <a:xfrm>
            <a:off x="5760720" y="2423160"/>
            <a:ext cx="2926080" cy="960120"/>
          </a:xfrm>
          <a:prstGeom prst="roundRect">
            <a:avLst>
              <a:gd name="adj" fmla="val 7619"/>
            </a:avLst>
          </a:prstGeom>
          <a:solidFill>
            <a:srgbClr val="F3F4F6"/>
          </a:solidFill>
          <a:ln w="12700">
            <a:solidFill>
              <a:srgbClr val="F3F4F6"/>
            </a:solidFill>
            <a:prstDash val="solid"/>
          </a:ln>
        </p:spPr>
      </p:sp>
      <p:sp>
        <p:nvSpPr>
          <p:cNvPr id="9" name="Text 6"/>
          <p:cNvSpPr txBox="1"/>
          <p:nvPr/>
        </p:nvSpPr>
        <p:spPr>
          <a:xfrm>
            <a:off x="5897880" y="2514600"/>
            <a:ext cx="2697480" cy="274320"/>
          </a:xfrm>
          <a:prstGeom prst="rect">
            <a:avLst/>
          </a:prstGeom>
          <a:noFill/>
          <a:ln/>
        </p:spPr>
        <p:txBody>
          <a:bodyPr wrap="square" lIns="0" tIns="0" rIns="0" bIns="0" rtlCol="0" anchor="t"/>
          <a:lstStyle/>
          <a:p>
            <a:pPr indent="0" marL="0">
              <a:buNone/>
            </a:pPr>
            <a:r>
              <a:rPr lang="en-US" sz="1200" b="1" dirty="0">
                <a:solidFill>
                  <a:srgbClr val="1F2328"/>
                </a:solidFill>
                <a:latin typeface="Arial" pitchFamily="34" charset="0"/>
                <a:ea typeface="Arial" pitchFamily="34" charset="-122"/>
                <a:cs typeface="Arial" pitchFamily="34" charset="-120"/>
              </a:rPr>
              <a:t>West 27, aber nur 4 A</a:t>
            </a:r>
            <a:endParaRPr lang="en-US" sz="1200" dirty="0"/>
          </a:p>
        </p:txBody>
      </p:sp>
      <p:sp>
        <p:nvSpPr>
          <p:cNvPr id="10" name="Text 7"/>
          <p:cNvSpPr txBox="1"/>
          <p:nvPr/>
        </p:nvSpPr>
        <p:spPr>
          <a:xfrm>
            <a:off x="5897880" y="2807208"/>
            <a:ext cx="2697480" cy="548640"/>
          </a:xfrm>
          <a:prstGeom prst="rect">
            <a:avLst/>
          </a:prstGeom>
          <a:noFill/>
          <a:ln/>
        </p:spPr>
        <p:txBody>
          <a:bodyPr wrap="square" lIns="0" tIns="0" rIns="0" bIns="0" rtlCol="0" anchor="t"/>
          <a:lstStyle/>
          <a:p>
            <a:pPr indent="0" marL="0">
              <a:buNone/>
            </a:pPr>
            <a:r>
              <a:rPr lang="en-US" sz="1050" dirty="0">
                <a:solidFill>
                  <a:srgbClr val="3A4048"/>
                </a:solidFill>
                <a:latin typeface="Calibri" pitchFamily="34" charset="0"/>
                <a:ea typeface="Calibri" pitchFamily="34" charset="-122"/>
                <a:cs typeface="Calibri" pitchFamily="34" charset="-120"/>
              </a:rPr>
              <a:t>Aufbaugebiet: viele Namen, wenig Anlass-Treffer. Französisch ist Pflicht.</a:t>
            </a:r>
            <a:endParaRPr lang="en-US" sz="1050" dirty="0"/>
          </a:p>
        </p:txBody>
      </p:sp>
      <p:sp>
        <p:nvSpPr>
          <p:cNvPr id="11" name="Shape 8"/>
          <p:cNvSpPr/>
          <p:nvPr/>
        </p:nvSpPr>
        <p:spPr>
          <a:xfrm>
            <a:off x="5760720" y="3520440"/>
            <a:ext cx="2926080" cy="960120"/>
          </a:xfrm>
          <a:prstGeom prst="roundRect">
            <a:avLst>
              <a:gd name="adj" fmla="val 7619"/>
            </a:avLst>
          </a:prstGeom>
          <a:solidFill>
            <a:srgbClr val="F3F4F6"/>
          </a:solidFill>
          <a:ln w="12700">
            <a:solidFill>
              <a:srgbClr val="F3F4F6"/>
            </a:solidFill>
            <a:prstDash val="solid"/>
          </a:ln>
        </p:spPr>
      </p:sp>
      <p:sp>
        <p:nvSpPr>
          <p:cNvPr id="12" name="Text 9"/>
          <p:cNvSpPr txBox="1"/>
          <p:nvPr/>
        </p:nvSpPr>
        <p:spPr>
          <a:xfrm>
            <a:off x="5897880" y="3611880"/>
            <a:ext cx="2697480" cy="274320"/>
          </a:xfrm>
          <a:prstGeom prst="rect">
            <a:avLst/>
          </a:prstGeom>
          <a:noFill/>
          <a:ln/>
        </p:spPr>
        <p:txBody>
          <a:bodyPr wrap="square" lIns="0" tIns="0" rIns="0" bIns="0" rtlCol="0" anchor="t"/>
          <a:lstStyle/>
          <a:p>
            <a:pPr indent="0" marL="0">
              <a:buNone/>
            </a:pPr>
            <a:r>
              <a:rPr lang="en-US" sz="1200" b="1" dirty="0">
                <a:solidFill>
                  <a:srgbClr val="1F2328"/>
                </a:solidFill>
                <a:latin typeface="Arial" pitchFamily="34" charset="0"/>
                <a:ea typeface="Arial" pitchFamily="34" charset="-122"/>
                <a:cs typeface="Arial" pitchFamily="34" charset="-120"/>
              </a:rPr>
              <a:t>Tessin 13, 1 A</a:t>
            </a:r>
            <a:endParaRPr lang="en-US" sz="1200" dirty="0"/>
          </a:p>
        </p:txBody>
      </p:sp>
      <p:sp>
        <p:nvSpPr>
          <p:cNvPr id="13" name="Text 10"/>
          <p:cNvSpPr txBox="1"/>
          <p:nvPr/>
        </p:nvSpPr>
        <p:spPr>
          <a:xfrm>
            <a:off x="5897880" y="3904488"/>
            <a:ext cx="2697480" cy="548640"/>
          </a:xfrm>
          <a:prstGeom prst="rect">
            <a:avLst/>
          </a:prstGeom>
          <a:noFill/>
          <a:ln/>
        </p:spPr>
        <p:txBody>
          <a:bodyPr wrap="square" lIns="0" tIns="0" rIns="0" bIns="0" rtlCol="0" anchor="t"/>
          <a:lstStyle/>
          <a:p>
            <a:pPr indent="0" marL="0">
              <a:buNone/>
            </a:pPr>
            <a:r>
              <a:rPr lang="en-US" sz="1050" dirty="0">
                <a:solidFill>
                  <a:srgbClr val="3A4048"/>
                </a:solidFill>
                <a:latin typeface="Calibri" pitchFamily="34" charset="0"/>
                <a:ea typeface="Calibri" pitchFamily="34" charset="-122"/>
                <a:cs typeface="Calibri" pitchFamily="34" charset="-120"/>
              </a:rPr>
              <a:t>Kleine Installateure, Gotthard und Events. Über Partner und Marti bedienen.</a:t>
            </a:r>
            <a:endParaRPr lang="en-US" sz="1050" dirty="0"/>
          </a:p>
        </p:txBody>
      </p:sp>
      <p:sp>
        <p:nvSpPr>
          <p:cNvPr id="14" name="Text 11"/>
          <p:cNvSpPr txBox="1"/>
          <p:nvPr/>
        </p:nvSpPr>
        <p:spPr>
          <a:xfrm>
            <a:off x="457200" y="4800600"/>
            <a:ext cx="5486400" cy="228600"/>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Mobil In Time  ·  Zielkunden Schweiz 2026/27  ·  intern</a:t>
            </a:r>
            <a:endParaRPr lang="en-US" sz="800" dirty="0"/>
          </a:p>
        </p:txBody>
      </p:sp>
      <p:sp>
        <p:nvSpPr>
          <p:cNvPr id="15" name="Text 12"/>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28600"/>
          </a:xfrm>
          <a:prstGeom prst="rect">
            <a:avLst/>
          </a:prstGeom>
          <a:noFill/>
          <a:ln/>
        </p:spPr>
        <p:txBody>
          <a:bodyPr wrap="square" lIns="0" tIns="0" rIns="0" bIns="0" rtlCol="0" anchor="ctr"/>
          <a:lstStyle/>
          <a:p>
            <a:pPr indent="0" marL="0">
              <a:buNone/>
            </a:pPr>
            <a:r>
              <a:rPr lang="en-US" sz="900" b="1" spc="300" kern="0" dirty="0">
                <a:solidFill>
                  <a:srgbClr val="B07B00"/>
                </a:solidFill>
                <a:latin typeface="Arial" pitchFamily="34" charset="0"/>
                <a:ea typeface="Arial" pitchFamily="34" charset="-122"/>
                <a:cs typeface="Arial" pitchFamily="34" charset="-120"/>
              </a:rPr>
              <a:t>INSTALLATEURE  ·  60 %</a:t>
            </a:r>
            <a:endParaRPr lang="en-US" sz="900" dirty="0"/>
          </a:p>
        </p:txBody>
      </p:sp>
      <p:sp>
        <p:nvSpPr>
          <p:cNvPr id="3" name="Text 1"/>
          <p:cNvSpPr txBox="1"/>
          <p:nvPr/>
        </p:nvSpPr>
        <p:spPr>
          <a:xfrm>
            <a:off x="457200" y="548640"/>
            <a:ext cx="8229600" cy="548640"/>
          </a:xfrm>
          <a:prstGeom prst="rect">
            <a:avLst/>
          </a:prstGeom>
          <a:noFill/>
          <a:ln/>
        </p:spPr>
        <p:txBody>
          <a:bodyPr wrap="square" lIns="0" tIns="0" rIns="0" bIns="0" rtlCol="0" anchor="t"/>
          <a:lstStyle/>
          <a:p>
            <a:pPr indent="0" marL="0">
              <a:buNone/>
            </a:pPr>
            <a:r>
              <a:rPr lang="en-US" sz="2400" b="1" dirty="0">
                <a:solidFill>
                  <a:srgbClr val="1F2328"/>
                </a:solidFill>
                <a:latin typeface="Arial" pitchFamily="34" charset="0"/>
                <a:ea typeface="Arial" pitchFamily="34" charset="-122"/>
                <a:cs typeface="Arial" pitchFamily="34" charset="-120"/>
              </a:rPr>
              <a:t>Rahmenverträge mit Gruppen schlagen Einzelbaustellen</a:t>
            </a:r>
            <a:endParaRPr lang="en-US" sz="2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6035040" cy="914400"/>
        </p:xfrm>
        <a:graphic>
          <a:graphicData uri="http://schemas.openxmlformats.org/drawingml/2006/table">
            <a:tbl>
              <a:tblPr/>
              <a:tblGrid>
                <a:gridCol w="1783080"/>
                <a:gridCol w="731520"/>
                <a:gridCol w="594360"/>
                <a:gridCol w="2926080"/>
              </a:tblGrid>
              <a:tr h="246888">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Prio A</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1F2328"/>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Region</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1F2328"/>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Score</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1F2328"/>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Hebel</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1F2328"/>
                    </a:solidFill>
                  </a:tcPr>
                </a:tc>
              </a:tr>
              <a:tr h="246888">
                <a:tc>
                  <a:txBody>
                    <a:bodyPr/>
                    <a:lstStyle/>
                    <a:p>
                      <a:pPr algn="l" indent="0" marL="0">
                        <a:buNone/>
                      </a:pPr>
                      <a:r>
                        <a:rPr lang="en-US" sz="900" b="1" dirty="0">
                          <a:solidFill>
                            <a:srgbClr val="3A4048"/>
                          </a:solidFill>
                          <a:latin typeface="Calibri" pitchFamily="34" charset="0"/>
                          <a:ea typeface="Calibri" pitchFamily="34" charset="-122"/>
                          <a:cs typeface="Calibri" pitchFamily="34" charset="-120"/>
                        </a:rPr>
                        <a:t>Burkhalter Gruppe</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00" dirty="0">
                          <a:solidFill>
                            <a:srgbClr val="3A4048"/>
                          </a:solidFill>
                          <a:latin typeface="Calibri" pitchFamily="34" charset="0"/>
                          <a:ea typeface="Calibri" pitchFamily="34" charset="-122"/>
                          <a:cs typeface="Calibri" pitchFamily="34" charset="-120"/>
                        </a:rPr>
                        <a:t>Zürich</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ctr" indent="0" marL="0">
                        <a:buNone/>
                      </a:pPr>
                      <a:r>
                        <a:rPr lang="en-US" sz="900" dirty="0">
                          <a:solidFill>
                            <a:srgbClr val="3A4048"/>
                          </a:solidFill>
                          <a:latin typeface="Calibri" pitchFamily="34" charset="0"/>
                          <a:ea typeface="Calibri" pitchFamily="34" charset="-122"/>
                          <a:cs typeface="Calibri" pitchFamily="34" charset="-120"/>
                        </a:rPr>
                        <a:t>4,45</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00" dirty="0">
                          <a:solidFill>
                            <a:srgbClr val="3A4048"/>
                          </a:solidFill>
                          <a:latin typeface="Calibri" pitchFamily="34" charset="0"/>
                          <a:ea typeface="Calibri" pitchFamily="34" charset="-122"/>
                          <a:cs typeface="Calibri" pitchFamily="34" charset="-120"/>
                        </a:rPr>
                        <a:t>83 Gesellschaften, ein Rahmen für Dutzende Töchter</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r>
              <a:tr h="246888">
                <a:tc>
                  <a:txBody>
                    <a:bodyPr/>
                    <a:lstStyle/>
                    <a:p>
                      <a:pPr algn="l" indent="0" marL="0">
                        <a:buNone/>
                      </a:pPr>
                      <a:r>
                        <a:rPr lang="en-US" sz="900" b="1" dirty="0">
                          <a:solidFill>
                            <a:srgbClr val="3A4048"/>
                          </a:solidFill>
                          <a:latin typeface="Calibri" pitchFamily="34" charset="0"/>
                          <a:ea typeface="Calibri" pitchFamily="34" charset="-122"/>
                          <a:cs typeface="Calibri" pitchFamily="34" charset="-120"/>
                        </a:rPr>
                        <a:t>ETAVIS AG (VINCI)</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00" dirty="0">
                          <a:solidFill>
                            <a:srgbClr val="3A4048"/>
                          </a:solidFill>
                          <a:latin typeface="Calibri" pitchFamily="34" charset="0"/>
                          <a:ea typeface="Calibri" pitchFamily="34" charset="-122"/>
                          <a:cs typeface="Calibri" pitchFamily="34" charset="-120"/>
                        </a:rPr>
                        <a:t>Zürich</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ctr" indent="0" marL="0">
                        <a:buNone/>
                      </a:pPr>
                      <a:r>
                        <a:rPr lang="en-US" sz="900" dirty="0">
                          <a:solidFill>
                            <a:srgbClr val="3A4048"/>
                          </a:solidFill>
                          <a:latin typeface="Calibri" pitchFamily="34" charset="0"/>
                          <a:ea typeface="Calibri" pitchFamily="34" charset="-122"/>
                          <a:cs typeface="Calibri" pitchFamily="34" charset="-120"/>
                        </a:rPr>
                        <a:t>4,45</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00" dirty="0">
                          <a:solidFill>
                            <a:srgbClr val="3A4048"/>
                          </a:solidFill>
                          <a:latin typeface="Calibri" pitchFamily="34" charset="0"/>
                          <a:ea typeface="Calibri" pitchFamily="34" charset="-122"/>
                          <a:cs typeface="Calibri" pitchFamily="34" charset="-120"/>
                        </a:rPr>
                        <a:t>Infrastruktur und RZ, Tür zu Actemium, Gfeller</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r>
              <a:tr h="246888">
                <a:tc>
                  <a:txBody>
                    <a:bodyPr/>
                    <a:lstStyle/>
                    <a:p>
                      <a:pPr algn="l" indent="0" marL="0">
                        <a:buNone/>
                      </a:pPr>
                      <a:r>
                        <a:rPr lang="en-US" sz="900" b="1" dirty="0">
                          <a:solidFill>
                            <a:srgbClr val="3A4048"/>
                          </a:solidFill>
                          <a:latin typeface="Calibri" pitchFamily="34" charset="0"/>
                          <a:ea typeface="Calibri" pitchFamily="34" charset="-122"/>
                          <a:cs typeface="Calibri" pitchFamily="34" charset="-120"/>
                        </a:rPr>
                        <a:t>Equans Switzerland</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00" dirty="0">
                          <a:solidFill>
                            <a:srgbClr val="3A4048"/>
                          </a:solidFill>
                          <a:latin typeface="Calibri" pitchFamily="34" charset="0"/>
                          <a:ea typeface="Calibri" pitchFamily="34" charset="-122"/>
                          <a:cs typeface="Calibri" pitchFamily="34" charset="-120"/>
                        </a:rPr>
                        <a:t>Zürich</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ctr" indent="0" marL="0">
                        <a:buNone/>
                      </a:pPr>
                      <a:r>
                        <a:rPr lang="en-US" sz="900" dirty="0">
                          <a:solidFill>
                            <a:srgbClr val="3A4048"/>
                          </a:solidFill>
                          <a:latin typeface="Calibri" pitchFamily="34" charset="0"/>
                          <a:ea typeface="Calibri" pitchFamily="34" charset="-122"/>
                          <a:cs typeface="Calibri" pitchFamily="34" charset="-120"/>
                        </a:rPr>
                        <a:t>4,45</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00" dirty="0">
                          <a:solidFill>
                            <a:srgbClr val="3A4048"/>
                          </a:solidFill>
                          <a:latin typeface="Calibri" pitchFamily="34" charset="0"/>
                          <a:ea typeface="Calibri" pitchFamily="34" charset="-122"/>
                          <a:cs typeface="Calibri" pitchFamily="34" charset="-120"/>
                        </a:rPr>
                        <a:t>Energie, Verkehr, Industrie, FM unter einem Dach</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r>
              <a:tr h="246888">
                <a:tc>
                  <a:txBody>
                    <a:bodyPr/>
                    <a:lstStyle/>
                    <a:p>
                      <a:pPr algn="l" indent="0" marL="0">
                        <a:buNone/>
                      </a:pPr>
                      <a:r>
                        <a:rPr lang="en-US" sz="900" b="1" dirty="0">
                          <a:solidFill>
                            <a:srgbClr val="3A4048"/>
                          </a:solidFill>
                          <a:latin typeface="Calibri" pitchFamily="34" charset="0"/>
                          <a:ea typeface="Calibri" pitchFamily="34" charset="-122"/>
                          <a:cs typeface="Calibri" pitchFamily="34" charset="-120"/>
                        </a:rPr>
                        <a:t>BKW Building Solutions</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00" dirty="0">
                          <a:solidFill>
                            <a:srgbClr val="3A4048"/>
                          </a:solidFill>
                          <a:latin typeface="Calibri" pitchFamily="34" charset="0"/>
                          <a:ea typeface="Calibri" pitchFamily="34" charset="-122"/>
                          <a:cs typeface="Calibri" pitchFamily="34" charset="-120"/>
                        </a:rPr>
                        <a:t>Bern</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ctr" indent="0" marL="0">
                        <a:buNone/>
                      </a:pPr>
                      <a:r>
                        <a:rPr lang="en-US" sz="900" dirty="0">
                          <a:solidFill>
                            <a:srgbClr val="3A4048"/>
                          </a:solidFill>
                          <a:latin typeface="Calibri" pitchFamily="34" charset="0"/>
                          <a:ea typeface="Calibri" pitchFamily="34" charset="-122"/>
                          <a:cs typeface="Calibri" pitchFamily="34" charset="-120"/>
                        </a:rPr>
                        <a:t>4,20</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00" dirty="0">
                          <a:solidFill>
                            <a:srgbClr val="3A4048"/>
                          </a:solidFill>
                          <a:latin typeface="Calibri" pitchFamily="34" charset="0"/>
                          <a:ea typeface="Calibri" pitchFamily="34" charset="-122"/>
                          <a:cs typeface="Calibri" pitchFamily="34" charset="-120"/>
                        </a:rPr>
                        <a:t>Dach von AEK, ISP, swisspro, Arnold, inelectro</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r>
              <a:tr h="246888">
                <a:tc>
                  <a:txBody>
                    <a:bodyPr/>
                    <a:lstStyle/>
                    <a:p>
                      <a:pPr algn="l" indent="0" marL="0">
                        <a:buNone/>
                      </a:pPr>
                      <a:r>
                        <a:rPr lang="en-US" sz="900" b="1" dirty="0">
                          <a:solidFill>
                            <a:srgbClr val="3A4048"/>
                          </a:solidFill>
                          <a:latin typeface="Calibri" pitchFamily="34" charset="0"/>
                          <a:ea typeface="Calibri" pitchFamily="34" charset="-122"/>
                          <a:cs typeface="Calibri" pitchFamily="34" charset="-120"/>
                        </a:rPr>
                        <a:t>Actemium Schweiz</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00" dirty="0">
                          <a:solidFill>
                            <a:srgbClr val="3A4048"/>
                          </a:solidFill>
                          <a:latin typeface="Calibri" pitchFamily="34" charset="0"/>
                          <a:ea typeface="Calibri" pitchFamily="34" charset="-122"/>
                          <a:cs typeface="Calibri" pitchFamily="34" charset="-120"/>
                        </a:rPr>
                        <a:t>Bern</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ctr" indent="0" marL="0">
                        <a:buNone/>
                      </a:pPr>
                      <a:r>
                        <a:rPr lang="en-US" sz="900" dirty="0">
                          <a:solidFill>
                            <a:srgbClr val="3A4048"/>
                          </a:solidFill>
                          <a:latin typeface="Calibri" pitchFamily="34" charset="0"/>
                          <a:ea typeface="Calibri" pitchFamily="34" charset="-122"/>
                          <a:cs typeface="Calibri" pitchFamily="34" charset="-120"/>
                        </a:rPr>
                        <a:t>4,15</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00" dirty="0">
                          <a:solidFill>
                            <a:srgbClr val="3A4048"/>
                          </a:solidFill>
                          <a:latin typeface="Calibri" pitchFamily="34" charset="0"/>
                          <a:ea typeface="Calibri" pitchFamily="34" charset="-122"/>
                          <a:cs typeface="Calibri" pitchFamily="34" charset="-120"/>
                        </a:rPr>
                        <a:t>Shutdowns, Inbetriebnahmen, Lastbanktests</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r>
              <a:tr h="246888">
                <a:tc>
                  <a:txBody>
                    <a:bodyPr/>
                    <a:lstStyle/>
                    <a:p>
                      <a:pPr algn="l" indent="0" marL="0">
                        <a:buNone/>
                      </a:pPr>
                      <a:r>
                        <a:rPr lang="en-US" sz="900" b="1" dirty="0">
                          <a:solidFill>
                            <a:srgbClr val="3A4048"/>
                          </a:solidFill>
                          <a:latin typeface="Calibri" pitchFamily="34" charset="0"/>
                          <a:ea typeface="Calibri" pitchFamily="34" charset="-122"/>
                          <a:cs typeface="Calibri" pitchFamily="34" charset="-120"/>
                        </a:rPr>
                        <a:t>Arnold AG (BKW)</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00" dirty="0">
                          <a:solidFill>
                            <a:srgbClr val="3A4048"/>
                          </a:solidFill>
                          <a:latin typeface="Calibri" pitchFamily="34" charset="0"/>
                          <a:ea typeface="Calibri" pitchFamily="34" charset="-122"/>
                          <a:cs typeface="Calibri" pitchFamily="34" charset="-120"/>
                        </a:rPr>
                        <a:t>Bern</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ctr" indent="0" marL="0">
                        <a:buNone/>
                      </a:pPr>
                      <a:r>
                        <a:rPr lang="en-US" sz="900" dirty="0">
                          <a:solidFill>
                            <a:srgbClr val="3A4048"/>
                          </a:solidFill>
                          <a:latin typeface="Calibri" pitchFamily="34" charset="0"/>
                          <a:ea typeface="Calibri" pitchFamily="34" charset="-122"/>
                          <a:cs typeface="Calibri" pitchFamily="34" charset="-120"/>
                        </a:rPr>
                        <a:t>4,15</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00" dirty="0">
                          <a:solidFill>
                            <a:srgbClr val="3A4048"/>
                          </a:solidFill>
                          <a:latin typeface="Calibri" pitchFamily="34" charset="0"/>
                          <a:ea typeface="Calibri" pitchFamily="34" charset="-122"/>
                          <a:cs typeface="Calibri" pitchFamily="34" charset="-120"/>
                        </a:rPr>
                        <a:t>HS-/Kabelnetzbau: Trafo-Miete, Netzersatz</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r>
              <a:tr h="246888">
                <a:tc>
                  <a:txBody>
                    <a:bodyPr/>
                    <a:lstStyle/>
                    <a:p>
                      <a:pPr algn="l" indent="0" marL="0">
                        <a:buNone/>
                      </a:pPr>
                      <a:r>
                        <a:rPr lang="en-US" sz="900" b="1" dirty="0">
                          <a:solidFill>
                            <a:srgbClr val="3A4048"/>
                          </a:solidFill>
                          <a:latin typeface="Calibri" pitchFamily="34" charset="0"/>
                          <a:ea typeface="Calibri" pitchFamily="34" charset="-122"/>
                          <a:cs typeface="Calibri" pitchFamily="34" charset="-120"/>
                        </a:rPr>
                        <a:t>CKW Gebäudetechnik</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00" dirty="0">
                          <a:solidFill>
                            <a:srgbClr val="3A4048"/>
                          </a:solidFill>
                          <a:latin typeface="Calibri" pitchFamily="34" charset="0"/>
                          <a:ea typeface="Calibri" pitchFamily="34" charset="-122"/>
                          <a:cs typeface="Calibri" pitchFamily="34" charset="-120"/>
                        </a:rPr>
                        <a:t>Zentral-CH</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ctr" indent="0" marL="0">
                        <a:buNone/>
                      </a:pPr>
                      <a:r>
                        <a:rPr lang="en-US" sz="900" dirty="0">
                          <a:solidFill>
                            <a:srgbClr val="3A4048"/>
                          </a:solidFill>
                          <a:latin typeface="Calibri" pitchFamily="34" charset="0"/>
                          <a:ea typeface="Calibri" pitchFamily="34" charset="-122"/>
                          <a:cs typeface="Calibri" pitchFamily="34" charset="-120"/>
                        </a:rPr>
                        <a:t>4,15</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00" dirty="0">
                          <a:solidFill>
                            <a:srgbClr val="3A4048"/>
                          </a:solidFill>
                          <a:latin typeface="Calibri" pitchFamily="34" charset="0"/>
                          <a:ea typeface="Calibri" pitchFamily="34" charset="-122"/>
                          <a:cs typeface="Calibri" pitchFamily="34" charset="-120"/>
                        </a:rPr>
                        <a:t>Grösster Installateur Zentralschweiz</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r>
              <a:tr h="246888">
                <a:tc>
                  <a:txBody>
                    <a:bodyPr/>
                    <a:lstStyle/>
                    <a:p>
                      <a:pPr algn="l" indent="0" marL="0">
                        <a:buNone/>
                      </a:pPr>
                      <a:r>
                        <a:rPr lang="en-US" sz="900" b="1" dirty="0">
                          <a:solidFill>
                            <a:srgbClr val="3A4048"/>
                          </a:solidFill>
                          <a:latin typeface="Calibri" pitchFamily="34" charset="0"/>
                          <a:ea typeface="Calibri" pitchFamily="34" charset="-122"/>
                          <a:cs typeface="Calibri" pitchFamily="34" charset="-120"/>
                        </a:rPr>
                        <a:t>EKZ Eltop</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00" dirty="0">
                          <a:solidFill>
                            <a:srgbClr val="3A4048"/>
                          </a:solidFill>
                          <a:latin typeface="Calibri" pitchFamily="34" charset="0"/>
                          <a:ea typeface="Calibri" pitchFamily="34" charset="-122"/>
                          <a:cs typeface="Calibri" pitchFamily="34" charset="-120"/>
                        </a:rPr>
                        <a:t>Zürich</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ctr" indent="0" marL="0">
                        <a:buNone/>
                      </a:pPr>
                      <a:r>
                        <a:rPr lang="en-US" sz="900" dirty="0">
                          <a:solidFill>
                            <a:srgbClr val="3A4048"/>
                          </a:solidFill>
                          <a:latin typeface="Calibri" pitchFamily="34" charset="0"/>
                          <a:ea typeface="Calibri" pitchFamily="34" charset="-122"/>
                          <a:cs typeface="Calibri" pitchFamily="34" charset="-120"/>
                        </a:rPr>
                        <a:t>4,15</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00" dirty="0">
                          <a:solidFill>
                            <a:srgbClr val="3A4048"/>
                          </a:solidFill>
                          <a:latin typeface="Calibri" pitchFamily="34" charset="0"/>
                          <a:ea typeface="Calibri" pitchFamily="34" charset="-122"/>
                          <a:cs typeface="Calibri" pitchFamily="34" charset="-120"/>
                        </a:rPr>
                        <a:t>Ganzer Kanton ZH, PV und Speicher</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r>
              <a:tr h="246888">
                <a:tc>
                  <a:txBody>
                    <a:bodyPr/>
                    <a:lstStyle/>
                    <a:p>
                      <a:pPr algn="l" indent="0" marL="0">
                        <a:buNone/>
                      </a:pPr>
                      <a:r>
                        <a:rPr lang="en-US" sz="900" b="1" dirty="0">
                          <a:solidFill>
                            <a:srgbClr val="3A4048"/>
                          </a:solidFill>
                          <a:latin typeface="Calibri" pitchFamily="34" charset="0"/>
                          <a:ea typeface="Calibri" pitchFamily="34" charset="-122"/>
                          <a:cs typeface="Calibri" pitchFamily="34" charset="-120"/>
                        </a:rPr>
                        <a:t>ETAVIS Kriegel+Schaffner</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00" dirty="0">
                          <a:solidFill>
                            <a:srgbClr val="3A4048"/>
                          </a:solidFill>
                          <a:latin typeface="Calibri" pitchFamily="34" charset="0"/>
                          <a:ea typeface="Calibri" pitchFamily="34" charset="-122"/>
                          <a:cs typeface="Calibri" pitchFamily="34" charset="-120"/>
                        </a:rPr>
                        <a:t>Basel</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ctr" indent="0" marL="0">
                        <a:buNone/>
                      </a:pPr>
                      <a:r>
                        <a:rPr lang="en-US" sz="900" dirty="0">
                          <a:solidFill>
                            <a:srgbClr val="3A4048"/>
                          </a:solidFill>
                          <a:latin typeface="Calibri" pitchFamily="34" charset="0"/>
                          <a:ea typeface="Calibri" pitchFamily="34" charset="-122"/>
                          <a:cs typeface="Calibri" pitchFamily="34" charset="-120"/>
                        </a:rPr>
                        <a:t>4,15</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00" dirty="0">
                          <a:solidFill>
                            <a:srgbClr val="3A4048"/>
                          </a:solidFill>
                          <a:latin typeface="Calibri" pitchFamily="34" charset="0"/>
                          <a:ea typeface="Calibri" pitchFamily="34" charset="-122"/>
                          <a:cs typeface="Calibri" pitchFamily="34" charset="-120"/>
                        </a:rPr>
                        <a:t>Pharma-Grossprojekte Basel</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r>
              <a:tr h="246888">
                <a:tc>
                  <a:txBody>
                    <a:bodyPr/>
                    <a:lstStyle/>
                    <a:p>
                      <a:pPr algn="l" indent="0" marL="0">
                        <a:buNone/>
                      </a:pPr>
                      <a:r>
                        <a:rPr lang="en-US" sz="900" b="1" dirty="0">
                          <a:solidFill>
                            <a:srgbClr val="3A4048"/>
                          </a:solidFill>
                          <a:latin typeface="Calibri" pitchFamily="34" charset="0"/>
                          <a:ea typeface="Calibri" pitchFamily="34" charset="-122"/>
                          <a:cs typeface="Calibri" pitchFamily="34" charset="-120"/>
                        </a:rPr>
                        <a:t>Selmoni Gruppe</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00" dirty="0">
                          <a:solidFill>
                            <a:srgbClr val="3A4048"/>
                          </a:solidFill>
                          <a:latin typeface="Calibri" pitchFamily="34" charset="0"/>
                          <a:ea typeface="Calibri" pitchFamily="34" charset="-122"/>
                          <a:cs typeface="Calibri" pitchFamily="34" charset="-120"/>
                        </a:rPr>
                        <a:t>Basel</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ctr" indent="0" marL="0">
                        <a:buNone/>
                      </a:pPr>
                      <a:r>
                        <a:rPr lang="en-US" sz="900" dirty="0">
                          <a:solidFill>
                            <a:srgbClr val="3A4048"/>
                          </a:solidFill>
                          <a:latin typeface="Calibri" pitchFamily="34" charset="0"/>
                          <a:ea typeface="Calibri" pitchFamily="34" charset="-122"/>
                          <a:cs typeface="Calibri" pitchFamily="34" charset="-120"/>
                        </a:rPr>
                        <a:t>4,15</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00" dirty="0">
                          <a:solidFill>
                            <a:srgbClr val="3A4048"/>
                          </a:solidFill>
                          <a:latin typeface="Calibri" pitchFamily="34" charset="0"/>
                          <a:ea typeface="Calibri" pitchFamily="34" charset="-122"/>
                          <a:cs typeface="Calibri" pitchFamily="34" charset="-120"/>
                        </a:rPr>
                        <a:t>Life Sciences: USV und NEA bei Shutdowns</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r>
              <a:tr h="246888">
                <a:tc>
                  <a:txBody>
                    <a:bodyPr/>
                    <a:lstStyle/>
                    <a:p>
                      <a:pPr algn="l" indent="0" marL="0">
                        <a:buNone/>
                      </a:pPr>
                      <a:r>
                        <a:rPr lang="en-US" sz="900" b="1" dirty="0">
                          <a:solidFill>
                            <a:srgbClr val="3A4048"/>
                          </a:solidFill>
                          <a:latin typeface="Calibri" pitchFamily="34" charset="0"/>
                          <a:ea typeface="Calibri" pitchFamily="34" charset="-122"/>
                          <a:cs typeface="Calibri" pitchFamily="34" charset="-120"/>
                        </a:rPr>
                        <a:t>Egg-Telsa</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00" dirty="0">
                          <a:solidFill>
                            <a:srgbClr val="3A4048"/>
                          </a:solidFill>
                          <a:latin typeface="Calibri" pitchFamily="34" charset="0"/>
                          <a:ea typeface="Calibri" pitchFamily="34" charset="-122"/>
                          <a:cs typeface="Calibri" pitchFamily="34" charset="-120"/>
                        </a:rPr>
                        <a:t>Genf</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ctr" indent="0" marL="0">
                        <a:buNone/>
                      </a:pPr>
                      <a:r>
                        <a:rPr lang="en-US" sz="900" dirty="0">
                          <a:solidFill>
                            <a:srgbClr val="3A4048"/>
                          </a:solidFill>
                          <a:latin typeface="Calibri" pitchFamily="34" charset="0"/>
                          <a:ea typeface="Calibri" pitchFamily="34" charset="-122"/>
                          <a:cs typeface="Calibri" pitchFamily="34" charset="-120"/>
                        </a:rPr>
                        <a:t>4,15</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00" dirty="0">
                          <a:solidFill>
                            <a:srgbClr val="3A4048"/>
                          </a:solidFill>
                          <a:latin typeface="Calibri" pitchFamily="34" charset="0"/>
                          <a:ea typeface="Calibri" pitchFamily="34" charset="-122"/>
                          <a:cs typeface="Calibri" pitchFamily="34" charset="-120"/>
                        </a:rPr>
                        <a:t>Grösster Unabhängiger Genf, Cap2030 GVA</a:t>
                      </a:r>
                      <a:endParaRPr lang="en-US" sz="90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r>
            </a:tbl>
          </a:graphicData>
        </a:graphic>
      </p:graphicFrame>
      <p:sp>
        <p:nvSpPr>
          <p:cNvPr id="5" name="Shape 2"/>
          <p:cNvSpPr/>
          <p:nvPr/>
        </p:nvSpPr>
        <p:spPr>
          <a:xfrm>
            <a:off x="6720840" y="1188720"/>
            <a:ext cx="1965960" cy="3246120"/>
          </a:xfrm>
          <a:prstGeom prst="roundRect">
            <a:avLst>
              <a:gd name="adj" fmla="val 3721"/>
            </a:avLst>
          </a:prstGeom>
          <a:solidFill>
            <a:srgbClr val="FFF4D6"/>
          </a:solidFill>
          <a:ln w="12700">
            <a:solidFill>
              <a:srgbClr val="FFF4D6"/>
            </a:solidFill>
            <a:prstDash val="solid"/>
          </a:ln>
        </p:spPr>
      </p:sp>
      <p:sp>
        <p:nvSpPr>
          <p:cNvPr id="6" name="Shape 3"/>
          <p:cNvSpPr/>
          <p:nvPr/>
        </p:nvSpPr>
        <p:spPr>
          <a:xfrm>
            <a:off x="6903720" y="1371600"/>
            <a:ext cx="457200" cy="457200"/>
          </a:xfrm>
          <a:prstGeom prst="ellipse">
            <a:avLst/>
          </a:prstGeom>
          <a:solidFill>
            <a:srgbClr val="F2A900"/>
          </a:solidFill>
          <a:ln w="12700">
            <a:solidFill>
              <a:srgbClr val="F2A900"/>
            </a:solidFill>
            <a:prstDash val="solid"/>
          </a:ln>
        </p:spPr>
      </p:sp>
      <p:pic>
        <p:nvPicPr>
          <p:cNvPr id="7" name="Image 0" descr="preencoded.png">    </p:cNvPr>
          <p:cNvPicPr>
            <a:picLocks noChangeAspect="1"/>
          </p:cNvPicPr>
          <p:nvPr/>
        </p:nvPicPr>
        <p:blipFill>
          <a:blip r:embed="rId1"/>
          <a:stretch>
            <a:fillRect/>
          </a:stretch>
        </p:blipFill>
        <p:spPr>
          <a:xfrm>
            <a:off x="7018020" y="1485900"/>
            <a:ext cx="228600" cy="228600"/>
          </a:xfrm>
          <a:prstGeom prst="rect">
            <a:avLst/>
          </a:prstGeom>
        </p:spPr>
      </p:pic>
      <p:sp>
        <p:nvSpPr>
          <p:cNvPr id="8" name="Text 4"/>
          <p:cNvSpPr txBox="1"/>
          <p:nvPr/>
        </p:nvSpPr>
        <p:spPr>
          <a:xfrm>
            <a:off x="6903720" y="2011680"/>
            <a:ext cx="1828800" cy="320040"/>
          </a:xfrm>
          <a:prstGeom prst="rect">
            <a:avLst/>
          </a:prstGeom>
          <a:noFill/>
          <a:ln/>
        </p:spPr>
        <p:txBody>
          <a:bodyPr wrap="square" lIns="0" tIns="0" rIns="0" bIns="0" rtlCol="0" anchor="t"/>
          <a:lstStyle/>
          <a:p>
            <a:pPr indent="0" marL="0">
              <a:buNone/>
            </a:pPr>
            <a:r>
              <a:rPr lang="en-US" sz="1400" b="1" dirty="0">
                <a:solidFill>
                  <a:srgbClr val="1F2328"/>
                </a:solidFill>
                <a:latin typeface="Arial" pitchFamily="34" charset="0"/>
                <a:ea typeface="Arial" pitchFamily="34" charset="-122"/>
                <a:cs typeface="Arial" pitchFamily="34" charset="-120"/>
              </a:rPr>
              <a:t>42 Installateure</a:t>
            </a:r>
            <a:endParaRPr lang="en-US" sz="1400" dirty="0"/>
          </a:p>
        </p:txBody>
      </p:sp>
      <p:sp>
        <p:nvSpPr>
          <p:cNvPr id="9" name="Text 5"/>
          <p:cNvSpPr txBox="1"/>
          <p:nvPr/>
        </p:nvSpPr>
        <p:spPr>
          <a:xfrm>
            <a:off x="6903720" y="2331720"/>
            <a:ext cx="1645920" cy="2011680"/>
          </a:xfrm>
          <a:prstGeom prst="rect">
            <a:avLst/>
          </a:prstGeom>
          <a:noFill/>
          <a:ln/>
        </p:spPr>
        <p:txBody>
          <a:bodyPr wrap="square" lIns="0" tIns="0" rIns="0" bIns="0" rtlCol="0" anchor="t"/>
          <a:lstStyle/>
          <a:p>
            <a:pPr indent="0" marL="0">
              <a:spcAft>
                <a:spcPts val="600"/>
              </a:spcAft>
              <a:buNone/>
            </a:pPr>
            <a:r>
              <a:rPr lang="en-US" sz="1050" b="1" dirty="0">
                <a:solidFill>
                  <a:srgbClr val="3A4048"/>
                </a:solidFill>
                <a:latin typeface="Calibri" pitchFamily="34" charset="0"/>
                <a:ea typeface="Calibri" pitchFamily="34" charset="-122"/>
                <a:cs typeface="Calibri" pitchFamily="34" charset="-120"/>
              </a:rPr>
              <a:t>11 A, 20 B, 11 C</a:t>
            </a:r>
            <a:endParaRPr lang="en-US" sz="1050" dirty="0"/>
          </a:p>
          <a:p>
            <a:pPr indent="0" marL="0">
              <a:spcAft>
                <a:spcPts val="600"/>
              </a:spcAft>
              <a:buNone/>
            </a:pPr>
            <a:r>
              <a:rPr lang="en-US" sz="1050" dirty="0">
                <a:solidFill>
                  <a:srgbClr val="3A4048"/>
                </a:solidFill>
                <a:latin typeface="Calibri" pitchFamily="34" charset="0"/>
                <a:ea typeface="Calibri" pitchFamily="34" charset="-122"/>
                <a:cs typeface="Calibri" pitchFamily="34" charset="-120"/>
              </a:rPr>
              <a:t>Burkhalter, VINCI und BKW decken zusammen über 15 Firmen der Liste ab. Einkauf zentral klären, dann Töchter regional bearbeiten.</a:t>
            </a:r>
            <a:endParaRPr lang="en-US" sz="1050" dirty="0"/>
          </a:p>
        </p:txBody>
      </p:sp>
      <p:sp>
        <p:nvSpPr>
          <p:cNvPr id="10" name="Text 6"/>
          <p:cNvSpPr txBox="1"/>
          <p:nvPr/>
        </p:nvSpPr>
        <p:spPr>
          <a:xfrm>
            <a:off x="457200" y="4800600"/>
            <a:ext cx="5486400" cy="228600"/>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Mobil In Time  ·  Zielkunden Schweiz 2026/27  ·  intern</a:t>
            </a:r>
            <a:endParaRPr lang="en-US" sz="800" dirty="0"/>
          </a:p>
        </p:txBody>
      </p:sp>
      <p:sp>
        <p:nvSpPr>
          <p:cNvPr id="11" name="Text 7"/>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28600"/>
          </a:xfrm>
          <a:prstGeom prst="rect">
            <a:avLst/>
          </a:prstGeom>
          <a:noFill/>
          <a:ln/>
        </p:spPr>
        <p:txBody>
          <a:bodyPr wrap="square" lIns="0" tIns="0" rIns="0" bIns="0" rtlCol="0" anchor="ctr"/>
          <a:lstStyle/>
          <a:p>
            <a:pPr indent="0" marL="0">
              <a:buNone/>
            </a:pPr>
            <a:r>
              <a:rPr lang="en-US" sz="900" b="1" spc="300" kern="0" dirty="0">
                <a:solidFill>
                  <a:srgbClr val="B07B00"/>
                </a:solidFill>
                <a:latin typeface="Arial" pitchFamily="34" charset="0"/>
                <a:ea typeface="Arial" pitchFamily="34" charset="-122"/>
                <a:cs typeface="Arial" pitchFamily="34" charset="-120"/>
              </a:rPr>
              <a:t>FM / STADTWERKE / PLANER  ·  20 %</a:t>
            </a:r>
            <a:endParaRPr lang="en-US" sz="900" dirty="0"/>
          </a:p>
        </p:txBody>
      </p:sp>
      <p:sp>
        <p:nvSpPr>
          <p:cNvPr id="3" name="Text 1"/>
          <p:cNvSpPr txBox="1"/>
          <p:nvPr/>
        </p:nvSpPr>
        <p:spPr>
          <a:xfrm>
            <a:off x="457200" y="548640"/>
            <a:ext cx="8229600" cy="548640"/>
          </a:xfrm>
          <a:prstGeom prst="rect">
            <a:avLst/>
          </a:prstGeom>
          <a:noFill/>
          <a:ln/>
        </p:spPr>
        <p:txBody>
          <a:bodyPr wrap="square" lIns="0" tIns="0" rIns="0" bIns="0" rtlCol="0" anchor="t"/>
          <a:lstStyle/>
          <a:p>
            <a:pPr indent="0" marL="0">
              <a:buNone/>
            </a:pPr>
            <a:r>
              <a:rPr lang="en-US" sz="2400" b="1" dirty="0">
                <a:solidFill>
                  <a:srgbClr val="1F2328"/>
                </a:solidFill>
                <a:latin typeface="Arial" pitchFamily="34" charset="0"/>
                <a:ea typeface="Arial" pitchFamily="34" charset="-122"/>
                <a:cs typeface="Arial" pitchFamily="34" charset="-120"/>
              </a:rPr>
              <a:t>Netzumbau braucht Trafos, Planer schreiben uns aus</a:t>
            </a:r>
            <a:endParaRPr lang="en-US" sz="2400" dirty="0"/>
          </a:p>
        </p:txBody>
      </p:sp>
      <p:sp>
        <p:nvSpPr>
          <p:cNvPr id="4" name="Shape 2"/>
          <p:cNvSpPr/>
          <p:nvPr/>
        </p:nvSpPr>
        <p:spPr>
          <a:xfrm>
            <a:off x="457200" y="1371600"/>
            <a:ext cx="2606040" cy="2743200"/>
          </a:xfrm>
          <a:prstGeom prst="roundRect">
            <a:avLst>
              <a:gd name="adj" fmla="val 2807"/>
            </a:avLst>
          </a:prstGeom>
          <a:solidFill>
            <a:srgbClr val="F3F4F6"/>
          </a:solidFill>
          <a:ln w="12700">
            <a:solidFill>
              <a:srgbClr val="F3F4F6"/>
            </a:solidFill>
            <a:prstDash val="solid"/>
          </a:ln>
        </p:spPr>
      </p:sp>
      <p:sp>
        <p:nvSpPr>
          <p:cNvPr id="5" name="Shape 3"/>
          <p:cNvSpPr/>
          <p:nvPr/>
        </p:nvSpPr>
        <p:spPr>
          <a:xfrm>
            <a:off x="640080" y="1554480"/>
            <a:ext cx="411480" cy="411480"/>
          </a:xfrm>
          <a:prstGeom prst="ellipse">
            <a:avLst/>
          </a:prstGeom>
          <a:solidFill>
            <a:srgbClr val="F2A900"/>
          </a:solidFill>
          <a:ln w="12700">
            <a:solidFill>
              <a:srgbClr val="F2A900"/>
            </a:solidFill>
            <a:prstDash val="solid"/>
          </a:ln>
        </p:spPr>
      </p:sp>
      <p:pic>
        <p:nvPicPr>
          <p:cNvPr id="6" name="Image 0" descr="preencoded.png">    </p:cNvPr>
          <p:cNvPicPr>
            <a:picLocks noChangeAspect="1"/>
          </p:cNvPicPr>
          <p:nvPr/>
        </p:nvPicPr>
        <p:blipFill>
          <a:blip r:embed="rId1"/>
          <a:stretch>
            <a:fillRect/>
          </a:stretch>
        </p:blipFill>
        <p:spPr>
          <a:xfrm>
            <a:off x="742950" y="1657350"/>
            <a:ext cx="205740" cy="205740"/>
          </a:xfrm>
          <a:prstGeom prst="rect">
            <a:avLst/>
          </a:prstGeom>
        </p:spPr>
      </p:pic>
      <p:sp>
        <p:nvSpPr>
          <p:cNvPr id="7" name="Text 4"/>
          <p:cNvSpPr txBox="1"/>
          <p:nvPr/>
        </p:nvSpPr>
        <p:spPr>
          <a:xfrm>
            <a:off x="1188720" y="1581912"/>
            <a:ext cx="1828800" cy="365760"/>
          </a:xfrm>
          <a:prstGeom prst="rect">
            <a:avLst/>
          </a:prstGeom>
          <a:noFill/>
          <a:ln/>
        </p:spPr>
        <p:txBody>
          <a:bodyPr wrap="square" lIns="0" tIns="0" rIns="0" bIns="0" rtlCol="0" anchor="ctr"/>
          <a:lstStyle/>
          <a:p>
            <a:pPr indent="0" marL="0">
              <a:buNone/>
            </a:pPr>
            <a:r>
              <a:rPr lang="en-US" sz="1300" b="1" dirty="0">
                <a:solidFill>
                  <a:srgbClr val="1F2328"/>
                </a:solidFill>
                <a:latin typeface="Arial" pitchFamily="34" charset="0"/>
                <a:ea typeface="Arial" pitchFamily="34" charset="-122"/>
                <a:cs typeface="Arial" pitchFamily="34" charset="-120"/>
              </a:rPr>
              <a:t>Stadtwerke / EVU</a:t>
            </a:r>
            <a:endParaRPr lang="en-US" sz="1300" dirty="0"/>
          </a:p>
        </p:txBody>
      </p:sp>
      <p:sp>
        <p:nvSpPr>
          <p:cNvPr id="8" name="Text 5"/>
          <p:cNvSpPr txBox="1"/>
          <p:nvPr/>
        </p:nvSpPr>
        <p:spPr>
          <a:xfrm>
            <a:off x="640080" y="2148840"/>
            <a:ext cx="2286000" cy="1920240"/>
          </a:xfrm>
          <a:prstGeom prst="rect">
            <a:avLst/>
          </a:prstGeom>
          <a:noFill/>
          <a:ln/>
        </p:spPr>
        <p:txBody>
          <a:bodyPr wrap="square" lIns="0" tIns="0" rIns="0" bIns="0" rtlCol="0" anchor="t"/>
          <a:lstStyle/>
          <a:p>
            <a:pPr indent="0" marL="0">
              <a:spcAft>
                <a:spcPts val="500"/>
              </a:spcAft>
              <a:buNone/>
            </a:pPr>
            <a:r>
              <a:rPr lang="en-US" sz="1050" b="1" dirty="0">
                <a:solidFill>
                  <a:srgbClr val="1F2328"/>
                </a:solidFill>
                <a:latin typeface="Calibri" pitchFamily="34" charset="0"/>
                <a:ea typeface="Calibri" pitchFamily="34" charset="-122"/>
                <a:cs typeface="Calibri" pitchFamily="34" charset="-120"/>
              </a:rPr>
              <a:t>CKW</a:t>
            </a:r>
            <a:endParaRPr lang="en-US" sz="1050" dirty="0"/>
          </a:p>
          <a:p>
            <a:pPr indent="0" marL="0">
              <a:spcAft>
                <a:spcPts val="500"/>
              </a:spcAft>
              <a:buNone/>
            </a:pPr>
            <a:r>
              <a:rPr lang="en-US" sz="1050" dirty="0">
                <a:solidFill>
                  <a:srgbClr val="3A4048"/>
                </a:solidFill>
                <a:latin typeface="Calibri" pitchFamily="34" charset="0"/>
                <a:ea typeface="Calibri" pitchFamily="34" charset="-122"/>
                <a:cs typeface="Calibri" pitchFamily="34" charset="-120"/>
              </a:rPr>
              <a:t>ca. 2'500 Trafostationen</a:t>
            </a:r>
            <a:endParaRPr lang="en-US" sz="1050" dirty="0"/>
          </a:p>
          <a:p>
            <a:pPr indent="0" marL="0">
              <a:spcAft>
                <a:spcPts val="500"/>
              </a:spcAft>
              <a:buNone/>
            </a:pPr>
            <a:r>
              <a:rPr lang="en-US" sz="1050" b="1" dirty="0">
                <a:solidFill>
                  <a:srgbClr val="1F2328"/>
                </a:solidFill>
                <a:latin typeface="Calibri" pitchFamily="34" charset="0"/>
                <a:ea typeface="Calibri" pitchFamily="34" charset="-122"/>
                <a:cs typeface="Calibri" pitchFamily="34" charset="-120"/>
              </a:rPr>
              <a:t>EKZ</a:t>
            </a:r>
            <a:endParaRPr lang="en-US" sz="1050" dirty="0"/>
          </a:p>
          <a:p>
            <a:pPr indent="0" marL="0">
              <a:spcAft>
                <a:spcPts val="500"/>
              </a:spcAft>
              <a:buNone/>
            </a:pPr>
            <a:r>
              <a:rPr lang="en-US" sz="1050" dirty="0">
                <a:solidFill>
                  <a:srgbClr val="3A4048"/>
                </a:solidFill>
                <a:latin typeface="Calibri" pitchFamily="34" charset="0"/>
                <a:ea typeface="Calibri" pitchFamily="34" charset="-122"/>
                <a:cs typeface="Calibri" pitchFamily="34" charset="-120"/>
              </a:rPr>
              <a:t>17'187 km Netz in Erneuerung</a:t>
            </a:r>
            <a:endParaRPr lang="en-US" sz="1050" dirty="0"/>
          </a:p>
          <a:p>
            <a:pPr indent="0" marL="0">
              <a:spcAft>
                <a:spcPts val="500"/>
              </a:spcAft>
              <a:buNone/>
            </a:pPr>
            <a:r>
              <a:rPr lang="en-US" sz="1050" b="1" dirty="0">
                <a:solidFill>
                  <a:srgbClr val="1F2328"/>
                </a:solidFill>
                <a:latin typeface="Calibri" pitchFamily="34" charset="0"/>
                <a:ea typeface="Calibri" pitchFamily="34" charset="-122"/>
                <a:cs typeface="Calibri" pitchFamily="34" charset="-120"/>
              </a:rPr>
              <a:t>ewz</a:t>
            </a:r>
            <a:endParaRPr lang="en-US" sz="1050" dirty="0"/>
          </a:p>
          <a:p>
            <a:pPr indent="0" marL="0">
              <a:spcAft>
                <a:spcPts val="500"/>
              </a:spcAft>
              <a:buNone/>
            </a:pPr>
            <a:r>
              <a:rPr lang="en-US" sz="1050" dirty="0">
                <a:solidFill>
                  <a:srgbClr val="3A4048"/>
                </a:solidFill>
                <a:latin typeface="Calibri" pitchFamily="34" charset="0"/>
                <a:ea typeface="Calibri" pitchFamily="34" charset="-122"/>
                <a:cs typeface="Calibri" pitchFamily="34" charset="-120"/>
              </a:rPr>
              <a:t>Unterwerke, z.B. Oerlikon</a:t>
            </a:r>
            <a:endParaRPr lang="en-US" sz="1050" dirty="0"/>
          </a:p>
          <a:p>
            <a:pPr indent="0" marL="0">
              <a:spcAft>
                <a:spcPts val="500"/>
              </a:spcAft>
              <a:buNone/>
            </a:pPr>
            <a:r>
              <a:rPr lang="en-US" sz="1050" b="1" dirty="0">
                <a:solidFill>
                  <a:srgbClr val="1F2328"/>
                </a:solidFill>
                <a:latin typeface="Calibri" pitchFamily="34" charset="0"/>
                <a:ea typeface="Calibri" pitchFamily="34" charset="-122"/>
                <a:cs typeface="Calibri" pitchFamily="34" charset="-120"/>
              </a:rPr>
              <a:t>IWB</a:t>
            </a:r>
            <a:endParaRPr lang="en-US" sz="1050" dirty="0"/>
          </a:p>
          <a:p>
            <a:pPr indent="0" marL="0">
              <a:spcAft>
                <a:spcPts val="500"/>
              </a:spcAft>
              <a:buNone/>
            </a:pPr>
            <a:r>
              <a:rPr lang="en-US" sz="1050" dirty="0">
                <a:solidFill>
                  <a:srgbClr val="3A4048"/>
                </a:solidFill>
                <a:latin typeface="Calibri" pitchFamily="34" charset="0"/>
                <a:ea typeface="Calibri" pitchFamily="34" charset="-122"/>
                <a:cs typeface="Calibri" pitchFamily="34" charset="-120"/>
              </a:rPr>
              <a:t>Netzknoten Basel verstärkt</a:t>
            </a:r>
            <a:endParaRPr lang="en-US" sz="1050" dirty="0"/>
          </a:p>
        </p:txBody>
      </p:sp>
      <p:sp>
        <p:nvSpPr>
          <p:cNvPr id="9" name="Shape 6"/>
          <p:cNvSpPr/>
          <p:nvPr/>
        </p:nvSpPr>
        <p:spPr>
          <a:xfrm>
            <a:off x="3246120" y="1371600"/>
            <a:ext cx="2606040" cy="2743200"/>
          </a:xfrm>
          <a:prstGeom prst="roundRect">
            <a:avLst>
              <a:gd name="adj" fmla="val 2807"/>
            </a:avLst>
          </a:prstGeom>
          <a:solidFill>
            <a:srgbClr val="F3F4F6"/>
          </a:solidFill>
          <a:ln w="12700">
            <a:solidFill>
              <a:srgbClr val="F3F4F6"/>
            </a:solidFill>
            <a:prstDash val="solid"/>
          </a:ln>
        </p:spPr>
      </p:sp>
      <p:sp>
        <p:nvSpPr>
          <p:cNvPr id="10" name="Shape 7"/>
          <p:cNvSpPr/>
          <p:nvPr/>
        </p:nvSpPr>
        <p:spPr>
          <a:xfrm>
            <a:off x="3429000" y="1554480"/>
            <a:ext cx="411480" cy="411480"/>
          </a:xfrm>
          <a:prstGeom prst="ellipse">
            <a:avLst/>
          </a:prstGeom>
          <a:solidFill>
            <a:srgbClr val="F2A900"/>
          </a:solidFill>
          <a:ln w="12700">
            <a:solidFill>
              <a:srgbClr val="F2A900"/>
            </a:solidFill>
            <a:prstDash val="solid"/>
          </a:ln>
        </p:spPr>
      </p:sp>
      <p:pic>
        <p:nvPicPr>
          <p:cNvPr id="11" name="Image 1" descr="preencoded.png">    </p:cNvPr>
          <p:cNvPicPr>
            <a:picLocks noChangeAspect="1"/>
          </p:cNvPicPr>
          <p:nvPr/>
        </p:nvPicPr>
        <p:blipFill>
          <a:blip r:embed="rId2"/>
          <a:stretch>
            <a:fillRect/>
          </a:stretch>
        </p:blipFill>
        <p:spPr>
          <a:xfrm>
            <a:off x="3531870" y="1657350"/>
            <a:ext cx="205740" cy="205740"/>
          </a:xfrm>
          <a:prstGeom prst="rect">
            <a:avLst/>
          </a:prstGeom>
        </p:spPr>
      </p:pic>
      <p:sp>
        <p:nvSpPr>
          <p:cNvPr id="12" name="Text 8"/>
          <p:cNvSpPr txBox="1"/>
          <p:nvPr/>
        </p:nvSpPr>
        <p:spPr>
          <a:xfrm>
            <a:off x="3977640" y="1581912"/>
            <a:ext cx="1828800" cy="365760"/>
          </a:xfrm>
          <a:prstGeom prst="rect">
            <a:avLst/>
          </a:prstGeom>
          <a:noFill/>
          <a:ln/>
        </p:spPr>
        <p:txBody>
          <a:bodyPr wrap="square" lIns="0" tIns="0" rIns="0" bIns="0" rtlCol="0" anchor="ctr"/>
          <a:lstStyle/>
          <a:p>
            <a:pPr indent="0" marL="0">
              <a:buNone/>
            </a:pPr>
            <a:r>
              <a:rPr lang="en-US" sz="1300" b="1" dirty="0">
                <a:solidFill>
                  <a:srgbClr val="1F2328"/>
                </a:solidFill>
                <a:latin typeface="Arial" pitchFamily="34" charset="0"/>
                <a:ea typeface="Arial" pitchFamily="34" charset="-122"/>
                <a:cs typeface="Arial" pitchFamily="34" charset="-120"/>
              </a:rPr>
              <a:t>Facility Manager</a:t>
            </a:r>
            <a:endParaRPr lang="en-US" sz="1300" dirty="0"/>
          </a:p>
        </p:txBody>
      </p:sp>
      <p:sp>
        <p:nvSpPr>
          <p:cNvPr id="13" name="Text 9"/>
          <p:cNvSpPr txBox="1"/>
          <p:nvPr/>
        </p:nvSpPr>
        <p:spPr>
          <a:xfrm>
            <a:off x="3429000" y="2148840"/>
            <a:ext cx="2286000" cy="1920240"/>
          </a:xfrm>
          <a:prstGeom prst="rect">
            <a:avLst/>
          </a:prstGeom>
          <a:noFill/>
          <a:ln/>
        </p:spPr>
        <p:txBody>
          <a:bodyPr wrap="square" lIns="0" tIns="0" rIns="0" bIns="0" rtlCol="0" anchor="t"/>
          <a:lstStyle/>
          <a:p>
            <a:pPr indent="0" marL="0">
              <a:spcAft>
                <a:spcPts val="500"/>
              </a:spcAft>
              <a:buNone/>
            </a:pPr>
            <a:r>
              <a:rPr lang="en-US" sz="1050" b="1" dirty="0">
                <a:solidFill>
                  <a:srgbClr val="1F2328"/>
                </a:solidFill>
                <a:latin typeface="Calibri" pitchFamily="34" charset="0"/>
                <a:ea typeface="Calibri" pitchFamily="34" charset="-122"/>
                <a:cs typeface="Calibri" pitchFamily="34" charset="-120"/>
              </a:rPr>
              <a:t>CBRE GWS</a:t>
            </a:r>
            <a:endParaRPr lang="en-US" sz="1050" dirty="0"/>
          </a:p>
          <a:p>
            <a:pPr indent="0" marL="0">
              <a:spcAft>
                <a:spcPts val="500"/>
              </a:spcAft>
              <a:buNone/>
            </a:pPr>
            <a:r>
              <a:rPr lang="en-US" sz="1050" dirty="0">
                <a:solidFill>
                  <a:srgbClr val="3A4048"/>
                </a:solidFill>
                <a:latin typeface="Calibri" pitchFamily="34" charset="0"/>
                <a:ea typeface="Calibri" pitchFamily="34" charset="-122"/>
                <a:cs typeface="Calibri" pitchFamily="34" charset="-120"/>
              </a:rPr>
              <a:t>Pharmamandate Basel, NEA-Lasttests</a:t>
            </a:r>
            <a:endParaRPr lang="en-US" sz="1050" dirty="0"/>
          </a:p>
          <a:p>
            <a:pPr indent="0" marL="0">
              <a:spcAft>
                <a:spcPts val="500"/>
              </a:spcAft>
              <a:buNone/>
            </a:pPr>
            <a:r>
              <a:rPr lang="en-US" sz="1050" b="1" dirty="0">
                <a:solidFill>
                  <a:srgbClr val="1F2328"/>
                </a:solidFill>
                <a:latin typeface="Calibri" pitchFamily="34" charset="0"/>
                <a:ea typeface="Calibri" pitchFamily="34" charset="-122"/>
                <a:cs typeface="Calibri" pitchFamily="34" charset="-120"/>
              </a:rPr>
              <a:t>Equans FM</a:t>
            </a:r>
            <a:endParaRPr lang="en-US" sz="1050" dirty="0"/>
          </a:p>
          <a:p>
            <a:pPr indent="0" marL="0">
              <a:spcAft>
                <a:spcPts val="500"/>
              </a:spcAft>
              <a:buNone/>
            </a:pPr>
            <a:r>
              <a:rPr lang="en-US" sz="1050" dirty="0">
                <a:solidFill>
                  <a:srgbClr val="3A4048"/>
                </a:solidFill>
                <a:latin typeface="Calibri" pitchFamily="34" charset="0"/>
                <a:ea typeface="Calibri" pitchFamily="34" charset="-122"/>
                <a:cs typeface="Calibri" pitchFamily="34" charset="-120"/>
              </a:rPr>
              <a:t>Fusion 02/2026: Lieferanten werden neu gewählt</a:t>
            </a:r>
            <a:endParaRPr lang="en-US" sz="1050" dirty="0"/>
          </a:p>
        </p:txBody>
      </p:sp>
      <p:sp>
        <p:nvSpPr>
          <p:cNvPr id="14" name="Shape 10"/>
          <p:cNvSpPr/>
          <p:nvPr/>
        </p:nvSpPr>
        <p:spPr>
          <a:xfrm>
            <a:off x="6035040" y="1371600"/>
            <a:ext cx="2606040" cy="2743200"/>
          </a:xfrm>
          <a:prstGeom prst="roundRect">
            <a:avLst>
              <a:gd name="adj" fmla="val 2807"/>
            </a:avLst>
          </a:prstGeom>
          <a:solidFill>
            <a:srgbClr val="F3F4F6"/>
          </a:solidFill>
          <a:ln w="12700">
            <a:solidFill>
              <a:srgbClr val="F3F4F6"/>
            </a:solidFill>
            <a:prstDash val="solid"/>
          </a:ln>
        </p:spPr>
      </p:sp>
      <p:sp>
        <p:nvSpPr>
          <p:cNvPr id="15" name="Shape 11"/>
          <p:cNvSpPr/>
          <p:nvPr/>
        </p:nvSpPr>
        <p:spPr>
          <a:xfrm>
            <a:off x="6217920" y="1554480"/>
            <a:ext cx="411480" cy="411480"/>
          </a:xfrm>
          <a:prstGeom prst="ellipse">
            <a:avLst/>
          </a:prstGeom>
          <a:solidFill>
            <a:srgbClr val="F2A900"/>
          </a:solidFill>
          <a:ln w="12700">
            <a:solidFill>
              <a:srgbClr val="F2A900"/>
            </a:solidFill>
            <a:prstDash val="solid"/>
          </a:ln>
        </p:spPr>
      </p:sp>
      <p:pic>
        <p:nvPicPr>
          <p:cNvPr id="16" name="Image 2" descr="preencoded.png">    </p:cNvPr>
          <p:cNvPicPr>
            <a:picLocks noChangeAspect="1"/>
          </p:cNvPicPr>
          <p:nvPr/>
        </p:nvPicPr>
        <p:blipFill>
          <a:blip r:embed="rId3"/>
          <a:stretch>
            <a:fillRect/>
          </a:stretch>
        </p:blipFill>
        <p:spPr>
          <a:xfrm>
            <a:off x="6320790" y="1657350"/>
            <a:ext cx="205740" cy="205740"/>
          </a:xfrm>
          <a:prstGeom prst="rect">
            <a:avLst/>
          </a:prstGeom>
        </p:spPr>
      </p:pic>
      <p:sp>
        <p:nvSpPr>
          <p:cNvPr id="17" name="Text 12"/>
          <p:cNvSpPr txBox="1"/>
          <p:nvPr/>
        </p:nvSpPr>
        <p:spPr>
          <a:xfrm>
            <a:off x="6766560" y="1581912"/>
            <a:ext cx="1828800" cy="365760"/>
          </a:xfrm>
          <a:prstGeom prst="rect">
            <a:avLst/>
          </a:prstGeom>
          <a:noFill/>
          <a:ln/>
        </p:spPr>
        <p:txBody>
          <a:bodyPr wrap="square" lIns="0" tIns="0" rIns="0" bIns="0" rtlCol="0" anchor="ctr"/>
          <a:lstStyle/>
          <a:p>
            <a:pPr indent="0" marL="0">
              <a:buNone/>
            </a:pPr>
            <a:r>
              <a:rPr lang="en-US" sz="1300" b="1" dirty="0">
                <a:solidFill>
                  <a:srgbClr val="1F2328"/>
                </a:solidFill>
                <a:latin typeface="Arial" pitchFamily="34" charset="0"/>
                <a:ea typeface="Arial" pitchFamily="34" charset="-122"/>
                <a:cs typeface="Arial" pitchFamily="34" charset="-120"/>
              </a:rPr>
              <a:t>Elektroplaner</a:t>
            </a:r>
            <a:endParaRPr lang="en-US" sz="1300" dirty="0"/>
          </a:p>
        </p:txBody>
      </p:sp>
      <p:sp>
        <p:nvSpPr>
          <p:cNvPr id="18" name="Text 13"/>
          <p:cNvSpPr txBox="1"/>
          <p:nvPr/>
        </p:nvSpPr>
        <p:spPr>
          <a:xfrm>
            <a:off x="6217920" y="2148840"/>
            <a:ext cx="2286000" cy="1920240"/>
          </a:xfrm>
          <a:prstGeom prst="rect">
            <a:avLst/>
          </a:prstGeom>
          <a:noFill/>
          <a:ln/>
        </p:spPr>
        <p:txBody>
          <a:bodyPr wrap="square" lIns="0" tIns="0" rIns="0" bIns="0" rtlCol="0" anchor="t"/>
          <a:lstStyle/>
          <a:p>
            <a:pPr indent="0" marL="0">
              <a:spcAft>
                <a:spcPts val="500"/>
              </a:spcAft>
              <a:buNone/>
            </a:pPr>
            <a:r>
              <a:rPr lang="en-US" sz="1050" b="1" dirty="0">
                <a:solidFill>
                  <a:srgbClr val="1F2328"/>
                </a:solidFill>
                <a:latin typeface="Calibri" pitchFamily="34" charset="0"/>
                <a:ea typeface="Calibri" pitchFamily="34" charset="-122"/>
                <a:cs typeface="Calibri" pitchFamily="34" charset="-120"/>
              </a:rPr>
              <a:t>Amstein + Walthert</a:t>
            </a:r>
            <a:endParaRPr lang="en-US" sz="1050" dirty="0"/>
          </a:p>
          <a:p>
            <a:pPr indent="0" marL="0">
              <a:spcAft>
                <a:spcPts val="500"/>
              </a:spcAft>
              <a:buNone/>
            </a:pPr>
            <a:r>
              <a:rPr lang="en-US" sz="1050" dirty="0">
                <a:solidFill>
                  <a:srgbClr val="3A4048"/>
                </a:solidFill>
                <a:latin typeface="Calibri" pitchFamily="34" charset="0"/>
                <a:ea typeface="Calibri" pitchFamily="34" charset="-122"/>
                <a:cs typeface="Calibri" pitchFamily="34" charset="-120"/>
              </a:rPr>
              <a:t>&gt;1'100 MA, legt NEA/USV für Spitäler und RZ fest</a:t>
            </a:r>
            <a:endParaRPr lang="en-US" sz="1050" dirty="0"/>
          </a:p>
        </p:txBody>
      </p:sp>
      <p:sp>
        <p:nvSpPr>
          <p:cNvPr id="19" name="Text 14"/>
          <p:cNvSpPr txBox="1"/>
          <p:nvPr/>
        </p:nvSpPr>
        <p:spPr>
          <a:xfrm>
            <a:off x="457200" y="4224528"/>
            <a:ext cx="8229600" cy="457200"/>
          </a:xfrm>
          <a:prstGeom prst="rect">
            <a:avLst/>
          </a:prstGeom>
          <a:noFill/>
          <a:ln/>
        </p:spPr>
        <p:txBody>
          <a:bodyPr wrap="square" lIns="0" tIns="0" rIns="0" bIns="0" rtlCol="0" anchor="t"/>
          <a:lstStyle/>
          <a:p>
            <a:pPr indent="0" marL="0">
              <a:buNone/>
            </a:pPr>
            <a:r>
              <a:rPr lang="en-US" sz="1150" i="1" dirty="0">
                <a:solidFill>
                  <a:srgbClr val="1F2328"/>
                </a:solidFill>
                <a:latin typeface="Calibri" pitchFamily="34" charset="0"/>
                <a:ea typeface="Calibri" pitchFamily="34" charset="-122"/>
                <a:cs typeface="Calibri" pitchFamily="34" charset="-120"/>
              </a:rPr>
              <a:t>7 A-Firmen im Segment. Planer kaufen nicht selbst: Ziel ist die Nennung von Mietlösungen in NEA-, USV- und Provisoriums-Ausschreibungen.</a:t>
            </a:r>
            <a:endParaRPr lang="en-US" sz="1150" dirty="0"/>
          </a:p>
        </p:txBody>
      </p:sp>
      <p:sp>
        <p:nvSpPr>
          <p:cNvPr id="20" name="Text 15"/>
          <p:cNvSpPr txBox="1"/>
          <p:nvPr/>
        </p:nvSpPr>
        <p:spPr>
          <a:xfrm>
            <a:off x="457200" y="4800600"/>
            <a:ext cx="5486400" cy="228600"/>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Mobil In Time  ·  Zielkunden Schweiz 2026/27  ·  intern</a:t>
            </a:r>
            <a:endParaRPr lang="en-US" sz="800" dirty="0"/>
          </a:p>
        </p:txBody>
      </p:sp>
      <p:sp>
        <p:nvSpPr>
          <p:cNvPr id="21" name="Text 16"/>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28600"/>
          </a:xfrm>
          <a:prstGeom prst="rect">
            <a:avLst/>
          </a:prstGeom>
          <a:noFill/>
          <a:ln/>
        </p:spPr>
        <p:txBody>
          <a:bodyPr wrap="square" lIns="0" tIns="0" rIns="0" bIns="0" rtlCol="0" anchor="ctr"/>
          <a:lstStyle/>
          <a:p>
            <a:pPr indent="0" marL="0">
              <a:buNone/>
            </a:pPr>
            <a:r>
              <a:rPr lang="en-US" sz="900" b="1" spc="300" kern="0" dirty="0">
                <a:solidFill>
                  <a:srgbClr val="B07B00"/>
                </a:solidFill>
                <a:latin typeface="Arial" pitchFamily="34" charset="0"/>
                <a:ea typeface="Arial" pitchFamily="34" charset="-122"/>
                <a:cs typeface="Arial" pitchFamily="34" charset="-120"/>
              </a:rPr>
              <a:t>RECHENZENTREN UND GROSSPROJEKTE</a:t>
            </a:r>
            <a:endParaRPr lang="en-US" sz="900" dirty="0"/>
          </a:p>
        </p:txBody>
      </p:sp>
      <p:sp>
        <p:nvSpPr>
          <p:cNvPr id="3" name="Text 1"/>
          <p:cNvSpPr txBox="1"/>
          <p:nvPr/>
        </p:nvSpPr>
        <p:spPr>
          <a:xfrm>
            <a:off x="457200" y="548640"/>
            <a:ext cx="8229600" cy="548640"/>
          </a:xfrm>
          <a:prstGeom prst="rect">
            <a:avLst/>
          </a:prstGeom>
          <a:noFill/>
          <a:ln/>
        </p:spPr>
        <p:txBody>
          <a:bodyPr wrap="square" lIns="0" tIns="0" rIns="0" bIns="0" rtlCol="0" anchor="t"/>
          <a:lstStyle/>
          <a:p>
            <a:pPr indent="0" marL="0">
              <a:buNone/>
            </a:pPr>
            <a:r>
              <a:rPr lang="en-US" sz="2400" b="1" dirty="0">
                <a:solidFill>
                  <a:srgbClr val="1F2328"/>
                </a:solidFill>
                <a:latin typeface="Arial" pitchFamily="34" charset="0"/>
                <a:ea typeface="Arial" pitchFamily="34" charset="-122"/>
                <a:cs typeface="Arial" pitchFamily="34" charset="-120"/>
              </a:rPr>
              <a:t>Die Commissioning-Welle 2026 bis 2028 ist planbar</a:t>
            </a:r>
            <a:endParaRPr lang="en-US" sz="2400" dirty="0"/>
          </a:p>
        </p:txBody>
      </p:sp>
      <p:sp>
        <p:nvSpPr>
          <p:cNvPr id="4" name="Shape 2"/>
          <p:cNvSpPr/>
          <p:nvPr/>
        </p:nvSpPr>
        <p:spPr>
          <a:xfrm>
            <a:off x="640080" y="2011680"/>
            <a:ext cx="7863840" cy="0"/>
          </a:xfrm>
          <a:prstGeom prst="line">
            <a:avLst/>
          </a:prstGeom>
          <a:noFill/>
          <a:ln w="25400">
            <a:solidFill>
              <a:srgbClr val="D9DDE2"/>
            </a:solidFill>
            <a:prstDash val="solid"/>
          </a:ln>
        </p:spPr>
      </p:sp>
      <p:sp>
        <p:nvSpPr>
          <p:cNvPr id="5" name="Shape 3"/>
          <p:cNvSpPr/>
          <p:nvPr/>
        </p:nvSpPr>
        <p:spPr>
          <a:xfrm>
            <a:off x="1554480" y="1828800"/>
            <a:ext cx="365760" cy="365760"/>
          </a:xfrm>
          <a:prstGeom prst="ellipse">
            <a:avLst/>
          </a:prstGeom>
          <a:solidFill>
            <a:srgbClr val="F2A900"/>
          </a:solidFill>
          <a:ln w="25400">
            <a:solidFill>
              <a:srgbClr val="FFFFFF"/>
            </a:solidFill>
            <a:prstDash val="solid"/>
          </a:ln>
        </p:spPr>
      </p:sp>
      <p:sp>
        <p:nvSpPr>
          <p:cNvPr id="6" name="Text 4"/>
          <p:cNvSpPr txBox="1"/>
          <p:nvPr/>
        </p:nvSpPr>
        <p:spPr>
          <a:xfrm>
            <a:off x="457200" y="1325880"/>
            <a:ext cx="2560320" cy="411480"/>
          </a:xfrm>
          <a:prstGeom prst="rect">
            <a:avLst/>
          </a:prstGeom>
          <a:noFill/>
          <a:ln/>
        </p:spPr>
        <p:txBody>
          <a:bodyPr wrap="square" lIns="0" tIns="0" rIns="0" bIns="0" rtlCol="0" anchor="t"/>
          <a:lstStyle/>
          <a:p>
            <a:pPr algn="ctr" indent="0" marL="0">
              <a:buNone/>
            </a:pPr>
            <a:r>
              <a:rPr lang="en-US" sz="2000" b="1" dirty="0">
                <a:solidFill>
                  <a:srgbClr val="1F2328"/>
                </a:solidFill>
                <a:latin typeface="Arial" pitchFamily="34" charset="0"/>
                <a:ea typeface="Arial" pitchFamily="34" charset="-122"/>
                <a:cs typeface="Arial" pitchFamily="34" charset="-120"/>
              </a:rPr>
              <a:t>2026</a:t>
            </a:r>
            <a:endParaRPr lang="en-US" sz="2000" dirty="0"/>
          </a:p>
        </p:txBody>
      </p:sp>
      <p:sp>
        <p:nvSpPr>
          <p:cNvPr id="7" name="Shape 5"/>
          <p:cNvSpPr/>
          <p:nvPr/>
        </p:nvSpPr>
        <p:spPr>
          <a:xfrm>
            <a:off x="457200" y="2377440"/>
            <a:ext cx="2560320" cy="2240280"/>
          </a:xfrm>
          <a:prstGeom prst="roundRect">
            <a:avLst>
              <a:gd name="adj" fmla="val 3265"/>
            </a:avLst>
          </a:prstGeom>
          <a:solidFill>
            <a:srgbClr val="F3F4F6"/>
          </a:solidFill>
          <a:ln w="12700">
            <a:solidFill>
              <a:srgbClr val="F3F4F6"/>
            </a:solidFill>
            <a:prstDash val="solid"/>
          </a:ln>
        </p:spPr>
      </p:sp>
      <p:sp>
        <p:nvSpPr>
          <p:cNvPr id="8" name="Text 6"/>
          <p:cNvSpPr txBox="1"/>
          <p:nvPr/>
        </p:nvSpPr>
        <p:spPr>
          <a:xfrm>
            <a:off x="640080" y="2514600"/>
            <a:ext cx="2240280" cy="2011680"/>
          </a:xfrm>
          <a:prstGeom prst="rect">
            <a:avLst/>
          </a:prstGeom>
          <a:noFill/>
          <a:ln/>
        </p:spPr>
        <p:txBody>
          <a:bodyPr wrap="square" lIns="0" tIns="0" rIns="0" bIns="0" rtlCol="0" anchor="t"/>
          <a:lstStyle/>
          <a:p>
            <a:pPr indent="0" marL="0">
              <a:spcAft>
                <a:spcPts val="400"/>
              </a:spcAft>
              <a:buNone/>
            </a:pPr>
            <a:r>
              <a:rPr lang="en-US" sz="1050" b="1" dirty="0">
                <a:solidFill>
                  <a:srgbClr val="1F2328"/>
                </a:solidFill>
                <a:latin typeface="Calibri" pitchFamily="34" charset="0"/>
                <a:ea typeface="Calibri" pitchFamily="34" charset="-122"/>
                <a:cs typeface="Calibri" pitchFamily="34" charset="-120"/>
              </a:rPr>
              <a:t>STACK Beringen</a:t>
            </a:r>
            <a:endParaRPr lang="en-US" sz="1050" dirty="0"/>
          </a:p>
          <a:p>
            <a:pPr indent="0" marL="0">
              <a:spcAft>
                <a:spcPts val="400"/>
              </a:spcAft>
              <a:buNone/>
            </a:pPr>
            <a:r>
              <a:rPr lang="en-US" sz="1050" dirty="0">
                <a:solidFill>
                  <a:srgbClr val="3A4048"/>
                </a:solidFill>
                <a:latin typeface="Calibri" pitchFamily="34" charset="0"/>
                <a:ea typeface="Calibri" pitchFamily="34" charset="-122"/>
                <a:cs typeface="Calibri" pitchFamily="34" charset="-120"/>
              </a:rPr>
              <a:t>36 MW, Eröffnung geplant, eigenes UW</a:t>
            </a:r>
            <a:endParaRPr lang="en-US" sz="1050" dirty="0"/>
          </a:p>
          <a:p>
            <a:pPr indent="0" marL="0">
              <a:spcAft>
                <a:spcPts val="400"/>
              </a:spcAft>
              <a:buNone/>
            </a:pPr>
            <a:r>
              <a:rPr lang="en-US" sz="1050" b="1" dirty="0">
                <a:solidFill>
                  <a:srgbClr val="1F2328"/>
                </a:solidFill>
                <a:latin typeface="Calibri" pitchFamily="34" charset="0"/>
                <a:ea typeface="Calibri" pitchFamily="34" charset="-122"/>
                <a:cs typeface="Calibri" pitchFamily="34" charset="-120"/>
              </a:rPr>
              <a:t>Green Lupfig</a:t>
            </a:r>
            <a:endParaRPr lang="en-US" sz="1050" dirty="0"/>
          </a:p>
          <a:p>
            <a:pPr indent="0" marL="0">
              <a:spcAft>
                <a:spcPts val="400"/>
              </a:spcAft>
              <a:buNone/>
            </a:pPr>
            <a:r>
              <a:rPr lang="en-US" sz="1050" dirty="0">
                <a:solidFill>
                  <a:srgbClr val="3A4048"/>
                </a:solidFill>
                <a:latin typeface="Calibri" pitchFamily="34" charset="0"/>
                <a:ea typeface="Calibri" pitchFamily="34" charset="-122"/>
                <a:cs typeface="Calibri" pitchFamily="34" charset="-120"/>
              </a:rPr>
              <a:t>12 MW, Start 2026</a:t>
            </a:r>
            <a:endParaRPr lang="en-US" sz="1050" dirty="0"/>
          </a:p>
          <a:p>
            <a:pPr indent="0" marL="0">
              <a:spcAft>
                <a:spcPts val="400"/>
              </a:spcAft>
              <a:buNone/>
            </a:pPr>
            <a:r>
              <a:rPr lang="en-US" sz="1050" b="1" dirty="0">
                <a:solidFill>
                  <a:srgbClr val="1F2328"/>
                </a:solidFill>
                <a:latin typeface="Calibri" pitchFamily="34" charset="0"/>
                <a:ea typeface="Calibri" pitchFamily="34" charset="-122"/>
                <a:cs typeface="Calibri" pitchFamily="34" charset="-120"/>
              </a:rPr>
              <a:t>NorthC Genf</a:t>
            </a:r>
            <a:endParaRPr lang="en-US" sz="1050" dirty="0"/>
          </a:p>
          <a:p>
            <a:pPr indent="0" marL="0">
              <a:spcAft>
                <a:spcPts val="400"/>
              </a:spcAft>
              <a:buNone/>
            </a:pPr>
            <a:r>
              <a:rPr lang="en-US" sz="1050" dirty="0">
                <a:solidFill>
                  <a:srgbClr val="3A4048"/>
                </a:solidFill>
                <a:latin typeface="Calibri" pitchFamily="34" charset="0"/>
                <a:ea typeface="Calibri" pitchFamily="34" charset="-122"/>
                <a:cs typeface="Calibri" pitchFamily="34" charset="-120"/>
              </a:rPr>
              <a:t>Baustart Q1 2026</a:t>
            </a:r>
            <a:endParaRPr lang="en-US" sz="1050" dirty="0"/>
          </a:p>
          <a:p>
            <a:pPr indent="0" marL="0">
              <a:spcAft>
                <a:spcPts val="400"/>
              </a:spcAft>
              <a:buNone/>
            </a:pPr>
            <a:r>
              <a:rPr lang="en-US" sz="1050" b="1" dirty="0">
                <a:solidFill>
                  <a:srgbClr val="1F2328"/>
                </a:solidFill>
                <a:latin typeface="Calibri" pitchFamily="34" charset="0"/>
                <a:ea typeface="Calibri" pitchFamily="34" charset="-122"/>
                <a:cs typeface="Calibri" pitchFamily="34" charset="-120"/>
              </a:rPr>
              <a:t>Cap2030 GVA</a:t>
            </a:r>
            <a:endParaRPr lang="en-US" sz="1050" dirty="0"/>
          </a:p>
          <a:p>
            <a:pPr indent="0" marL="0">
              <a:spcAft>
                <a:spcPts val="400"/>
              </a:spcAft>
              <a:buNone/>
            </a:pPr>
            <a:r>
              <a:rPr lang="en-US" sz="1050" dirty="0">
                <a:solidFill>
                  <a:srgbClr val="3A4048"/>
                </a:solidFill>
                <a:latin typeface="Calibri" pitchFamily="34" charset="0"/>
                <a:ea typeface="Calibri" pitchFamily="34" charset="-122"/>
                <a:cs typeface="Calibri" pitchFamily="34" charset="-120"/>
              </a:rPr>
              <a:t>Etappe 1 ab 2026 (LMB)</a:t>
            </a:r>
            <a:endParaRPr lang="en-US" sz="1050" dirty="0"/>
          </a:p>
        </p:txBody>
      </p:sp>
      <p:sp>
        <p:nvSpPr>
          <p:cNvPr id="9" name="Shape 7"/>
          <p:cNvSpPr/>
          <p:nvPr/>
        </p:nvSpPr>
        <p:spPr>
          <a:xfrm>
            <a:off x="4343400" y="1828800"/>
            <a:ext cx="365760" cy="365760"/>
          </a:xfrm>
          <a:prstGeom prst="ellipse">
            <a:avLst/>
          </a:prstGeom>
          <a:solidFill>
            <a:srgbClr val="F2A900"/>
          </a:solidFill>
          <a:ln w="25400">
            <a:solidFill>
              <a:srgbClr val="FFFFFF"/>
            </a:solidFill>
            <a:prstDash val="solid"/>
          </a:ln>
        </p:spPr>
      </p:sp>
      <p:sp>
        <p:nvSpPr>
          <p:cNvPr id="10" name="Text 8"/>
          <p:cNvSpPr txBox="1"/>
          <p:nvPr/>
        </p:nvSpPr>
        <p:spPr>
          <a:xfrm>
            <a:off x="3246120" y="1325880"/>
            <a:ext cx="2560320" cy="411480"/>
          </a:xfrm>
          <a:prstGeom prst="rect">
            <a:avLst/>
          </a:prstGeom>
          <a:noFill/>
          <a:ln/>
        </p:spPr>
        <p:txBody>
          <a:bodyPr wrap="square" lIns="0" tIns="0" rIns="0" bIns="0" rtlCol="0" anchor="t"/>
          <a:lstStyle/>
          <a:p>
            <a:pPr algn="ctr" indent="0" marL="0">
              <a:buNone/>
            </a:pPr>
            <a:r>
              <a:rPr lang="en-US" sz="2000" b="1" dirty="0">
                <a:solidFill>
                  <a:srgbClr val="1F2328"/>
                </a:solidFill>
                <a:latin typeface="Arial" pitchFamily="34" charset="0"/>
                <a:ea typeface="Arial" pitchFamily="34" charset="-122"/>
                <a:cs typeface="Arial" pitchFamily="34" charset="-120"/>
              </a:rPr>
              <a:t>2027</a:t>
            </a:r>
            <a:endParaRPr lang="en-US" sz="2000" dirty="0"/>
          </a:p>
        </p:txBody>
      </p:sp>
      <p:sp>
        <p:nvSpPr>
          <p:cNvPr id="11" name="Shape 9"/>
          <p:cNvSpPr/>
          <p:nvPr/>
        </p:nvSpPr>
        <p:spPr>
          <a:xfrm>
            <a:off x="3246120" y="2377440"/>
            <a:ext cx="2560320" cy="2240280"/>
          </a:xfrm>
          <a:prstGeom prst="roundRect">
            <a:avLst>
              <a:gd name="adj" fmla="val 3265"/>
            </a:avLst>
          </a:prstGeom>
          <a:solidFill>
            <a:srgbClr val="F3F4F6"/>
          </a:solidFill>
          <a:ln w="12700">
            <a:solidFill>
              <a:srgbClr val="F3F4F6"/>
            </a:solidFill>
            <a:prstDash val="solid"/>
          </a:ln>
        </p:spPr>
      </p:sp>
      <p:sp>
        <p:nvSpPr>
          <p:cNvPr id="12" name="Text 10"/>
          <p:cNvSpPr txBox="1"/>
          <p:nvPr/>
        </p:nvSpPr>
        <p:spPr>
          <a:xfrm>
            <a:off x="3429000" y="2514600"/>
            <a:ext cx="2240280" cy="2011680"/>
          </a:xfrm>
          <a:prstGeom prst="rect">
            <a:avLst/>
          </a:prstGeom>
          <a:noFill/>
          <a:ln/>
        </p:spPr>
        <p:txBody>
          <a:bodyPr wrap="square" lIns="0" tIns="0" rIns="0" bIns="0" rtlCol="0" anchor="t"/>
          <a:lstStyle/>
          <a:p>
            <a:pPr indent="0" marL="0">
              <a:spcAft>
                <a:spcPts val="400"/>
              </a:spcAft>
              <a:buNone/>
            </a:pPr>
            <a:r>
              <a:rPr lang="en-US" sz="1050" b="1" dirty="0">
                <a:solidFill>
                  <a:srgbClr val="1F2328"/>
                </a:solidFill>
                <a:latin typeface="Calibri" pitchFamily="34" charset="0"/>
                <a:ea typeface="Calibri" pitchFamily="34" charset="-122"/>
                <a:cs typeface="Calibri" pitchFamily="34" charset="-120"/>
              </a:rPr>
              <a:t>NorthC Arlesheim</a:t>
            </a:r>
            <a:endParaRPr lang="en-US" sz="1050" dirty="0"/>
          </a:p>
          <a:p>
            <a:pPr indent="0" marL="0">
              <a:spcAft>
                <a:spcPts val="400"/>
              </a:spcAft>
              <a:buNone/>
            </a:pPr>
            <a:r>
              <a:rPr lang="en-US" sz="1050" dirty="0">
                <a:solidFill>
                  <a:srgbClr val="3A4048"/>
                </a:solidFill>
                <a:latin typeface="Calibri" pitchFamily="34" charset="0"/>
                <a:ea typeface="Calibri" pitchFamily="34" charset="-122"/>
                <a:cs typeface="Calibri" pitchFamily="34" charset="-120"/>
              </a:rPr>
              <a:t>fertig Mitte 2027</a:t>
            </a:r>
            <a:endParaRPr lang="en-US" sz="1050" dirty="0"/>
          </a:p>
          <a:p>
            <a:pPr indent="0" marL="0">
              <a:spcAft>
                <a:spcPts val="400"/>
              </a:spcAft>
              <a:buNone/>
            </a:pPr>
            <a:r>
              <a:rPr lang="en-US" sz="1050" b="1" dirty="0">
                <a:solidFill>
                  <a:srgbClr val="1F2328"/>
                </a:solidFill>
                <a:latin typeface="Calibri" pitchFamily="34" charset="0"/>
                <a:ea typeface="Calibri" pitchFamily="34" charset="-122"/>
                <a:cs typeface="Calibri" pitchFamily="34" charset="-120"/>
              </a:rPr>
              <a:t>Flughafen Zürich</a:t>
            </a:r>
            <a:endParaRPr lang="en-US" sz="1050" dirty="0"/>
          </a:p>
          <a:p>
            <a:pPr indent="0" marL="0">
              <a:spcAft>
                <a:spcPts val="400"/>
              </a:spcAft>
              <a:buNone/>
            </a:pPr>
            <a:r>
              <a:rPr lang="en-US" sz="1050" dirty="0">
                <a:solidFill>
                  <a:srgbClr val="3A4048"/>
                </a:solidFill>
                <a:latin typeface="Calibri" pitchFamily="34" charset="0"/>
                <a:ea typeface="Calibri" pitchFamily="34" charset="-122"/>
                <a:cs typeface="Calibri" pitchFamily="34" charset="-120"/>
              </a:rPr>
              <a:t>Tower-Bau ab 2027</a:t>
            </a:r>
            <a:endParaRPr lang="en-US" sz="1050" dirty="0"/>
          </a:p>
          <a:p>
            <a:pPr indent="0" marL="0">
              <a:spcAft>
                <a:spcPts val="400"/>
              </a:spcAft>
              <a:buNone/>
            </a:pPr>
            <a:r>
              <a:rPr lang="en-US" sz="1050" b="1" dirty="0">
                <a:solidFill>
                  <a:srgbClr val="1F2328"/>
                </a:solidFill>
                <a:latin typeface="Calibri" pitchFamily="34" charset="0"/>
                <a:ea typeface="Calibri" pitchFamily="34" charset="-122"/>
                <a:cs typeface="Calibri" pitchFamily="34" charset="-120"/>
              </a:rPr>
              <a:t>USZ MITTE1|2</a:t>
            </a:r>
            <a:endParaRPr lang="en-US" sz="1050" dirty="0"/>
          </a:p>
          <a:p>
            <a:pPr indent="0" marL="0">
              <a:spcAft>
                <a:spcPts val="400"/>
              </a:spcAft>
              <a:buNone/>
            </a:pPr>
            <a:r>
              <a:rPr lang="en-US" sz="1050" dirty="0">
                <a:solidFill>
                  <a:srgbClr val="3A4048"/>
                </a:solidFill>
                <a:latin typeface="Calibri" pitchFamily="34" charset="0"/>
                <a:ea typeface="Calibri" pitchFamily="34" charset="-122"/>
                <a:cs typeface="Calibri" pitchFamily="34" charset="-120"/>
              </a:rPr>
              <a:t>Rohbau bis Anfang 2027, Gebäudetechnik bis 2031</a:t>
            </a:r>
            <a:endParaRPr lang="en-US" sz="1050" dirty="0"/>
          </a:p>
        </p:txBody>
      </p:sp>
      <p:sp>
        <p:nvSpPr>
          <p:cNvPr id="13" name="Shape 11"/>
          <p:cNvSpPr/>
          <p:nvPr/>
        </p:nvSpPr>
        <p:spPr>
          <a:xfrm>
            <a:off x="7132320" y="1828800"/>
            <a:ext cx="365760" cy="365760"/>
          </a:xfrm>
          <a:prstGeom prst="ellipse">
            <a:avLst/>
          </a:prstGeom>
          <a:solidFill>
            <a:srgbClr val="F2A900"/>
          </a:solidFill>
          <a:ln w="25400">
            <a:solidFill>
              <a:srgbClr val="FFFFFF"/>
            </a:solidFill>
            <a:prstDash val="solid"/>
          </a:ln>
        </p:spPr>
      </p:sp>
      <p:sp>
        <p:nvSpPr>
          <p:cNvPr id="14" name="Text 12"/>
          <p:cNvSpPr txBox="1"/>
          <p:nvPr/>
        </p:nvSpPr>
        <p:spPr>
          <a:xfrm>
            <a:off x="6035040" y="1325880"/>
            <a:ext cx="2560320" cy="411480"/>
          </a:xfrm>
          <a:prstGeom prst="rect">
            <a:avLst/>
          </a:prstGeom>
          <a:noFill/>
          <a:ln/>
        </p:spPr>
        <p:txBody>
          <a:bodyPr wrap="square" lIns="0" tIns="0" rIns="0" bIns="0" rtlCol="0" anchor="t"/>
          <a:lstStyle/>
          <a:p>
            <a:pPr algn="ctr" indent="0" marL="0">
              <a:buNone/>
            </a:pPr>
            <a:r>
              <a:rPr lang="en-US" sz="2000" b="1" dirty="0">
                <a:solidFill>
                  <a:srgbClr val="1F2328"/>
                </a:solidFill>
                <a:latin typeface="Arial" pitchFamily="34" charset="0"/>
                <a:ea typeface="Arial" pitchFamily="34" charset="-122"/>
                <a:cs typeface="Arial" pitchFamily="34" charset="-120"/>
              </a:rPr>
              <a:t>2028</a:t>
            </a:r>
            <a:endParaRPr lang="en-US" sz="2000" dirty="0"/>
          </a:p>
        </p:txBody>
      </p:sp>
      <p:sp>
        <p:nvSpPr>
          <p:cNvPr id="15" name="Shape 13"/>
          <p:cNvSpPr/>
          <p:nvPr/>
        </p:nvSpPr>
        <p:spPr>
          <a:xfrm>
            <a:off x="6035040" y="2377440"/>
            <a:ext cx="2560320" cy="2240280"/>
          </a:xfrm>
          <a:prstGeom prst="roundRect">
            <a:avLst>
              <a:gd name="adj" fmla="val 3265"/>
            </a:avLst>
          </a:prstGeom>
          <a:solidFill>
            <a:srgbClr val="F3F4F6"/>
          </a:solidFill>
          <a:ln w="12700">
            <a:solidFill>
              <a:srgbClr val="F3F4F6"/>
            </a:solidFill>
            <a:prstDash val="solid"/>
          </a:ln>
        </p:spPr>
      </p:sp>
      <p:sp>
        <p:nvSpPr>
          <p:cNvPr id="16" name="Text 14"/>
          <p:cNvSpPr txBox="1"/>
          <p:nvPr/>
        </p:nvSpPr>
        <p:spPr>
          <a:xfrm>
            <a:off x="6217920" y="2514600"/>
            <a:ext cx="2240280" cy="2011680"/>
          </a:xfrm>
          <a:prstGeom prst="rect">
            <a:avLst/>
          </a:prstGeom>
          <a:noFill/>
          <a:ln/>
        </p:spPr>
        <p:txBody>
          <a:bodyPr wrap="square" lIns="0" tIns="0" rIns="0" bIns="0" rtlCol="0" anchor="t"/>
          <a:lstStyle/>
          <a:p>
            <a:pPr indent="0" marL="0">
              <a:spcAft>
                <a:spcPts val="400"/>
              </a:spcAft>
              <a:buNone/>
            </a:pPr>
            <a:r>
              <a:rPr lang="en-US" sz="1050" b="1" dirty="0">
                <a:solidFill>
                  <a:srgbClr val="1F2328"/>
                </a:solidFill>
                <a:latin typeface="Calibri" pitchFamily="34" charset="0"/>
                <a:ea typeface="Calibri" pitchFamily="34" charset="-122"/>
                <a:cs typeface="Calibri" pitchFamily="34" charset="-120"/>
              </a:rPr>
              <a:t>Digital Realty ZUR4</a:t>
            </a:r>
            <a:endParaRPr lang="en-US" sz="1050" dirty="0"/>
          </a:p>
          <a:p>
            <a:pPr indent="0" marL="0">
              <a:spcAft>
                <a:spcPts val="400"/>
              </a:spcAft>
              <a:buNone/>
            </a:pPr>
            <a:r>
              <a:rPr lang="en-US" sz="1050" dirty="0">
                <a:solidFill>
                  <a:srgbClr val="3A4048"/>
                </a:solidFill>
                <a:latin typeface="Calibri" pitchFamily="34" charset="0"/>
                <a:ea typeface="Calibri" pitchFamily="34" charset="-122"/>
                <a:cs typeface="Calibri" pitchFamily="34" charset="-120"/>
              </a:rPr>
              <a:t>15 MW, Eröffnung 2028</a:t>
            </a:r>
            <a:endParaRPr lang="en-US" sz="1050" dirty="0"/>
          </a:p>
          <a:p>
            <a:pPr indent="0" marL="0">
              <a:spcAft>
                <a:spcPts val="400"/>
              </a:spcAft>
              <a:buNone/>
            </a:pPr>
            <a:r>
              <a:rPr lang="en-US" sz="1050" b="1" dirty="0">
                <a:solidFill>
                  <a:srgbClr val="1F2328"/>
                </a:solidFill>
                <a:latin typeface="Calibri" pitchFamily="34" charset="0"/>
                <a:ea typeface="Calibri" pitchFamily="34" charset="-122"/>
                <a:cs typeface="Calibri" pitchFamily="34" charset="-120"/>
              </a:rPr>
              <a:t>FlexBase Laufenburg</a:t>
            </a:r>
            <a:endParaRPr lang="en-US" sz="1050" dirty="0"/>
          </a:p>
          <a:p>
            <a:pPr indent="0" marL="0">
              <a:spcAft>
                <a:spcPts val="400"/>
              </a:spcAft>
              <a:buNone/>
            </a:pPr>
            <a:r>
              <a:rPr lang="en-US" sz="1050" dirty="0">
                <a:solidFill>
                  <a:srgbClr val="3A4048"/>
                </a:solidFill>
                <a:latin typeface="Calibri" pitchFamily="34" charset="0"/>
                <a:ea typeface="Calibri" pitchFamily="34" charset="-122"/>
                <a:cs typeface="Calibri" pitchFamily="34" charset="-120"/>
              </a:rPr>
              <a:t>IBN Sommer 2028, Zeitplan umstritten</a:t>
            </a:r>
            <a:endParaRPr lang="en-US" sz="1050" dirty="0"/>
          </a:p>
          <a:p>
            <a:pPr indent="0" marL="0">
              <a:spcAft>
                <a:spcPts val="400"/>
              </a:spcAft>
              <a:buNone/>
            </a:pPr>
            <a:r>
              <a:rPr lang="en-US" sz="1050" b="1" dirty="0">
                <a:solidFill>
                  <a:srgbClr val="1F2328"/>
                </a:solidFill>
                <a:latin typeface="Calibri" pitchFamily="34" charset="0"/>
                <a:ea typeface="Calibri" pitchFamily="34" charset="-122"/>
                <a:cs typeface="Calibri" pitchFamily="34" charset="-120"/>
              </a:rPr>
              <a:t>Vantage ZRH2</a:t>
            </a:r>
            <a:endParaRPr lang="en-US" sz="1050" dirty="0"/>
          </a:p>
          <a:p>
            <a:pPr indent="0" marL="0">
              <a:spcAft>
                <a:spcPts val="400"/>
              </a:spcAft>
              <a:buNone/>
            </a:pPr>
            <a:r>
              <a:rPr lang="en-US" sz="1050" dirty="0">
                <a:solidFill>
                  <a:srgbClr val="3A4048"/>
                </a:solidFill>
                <a:latin typeface="Calibri" pitchFamily="34" charset="0"/>
                <a:ea typeface="Calibri" pitchFamily="34" charset="-122"/>
                <a:cs typeface="Calibri" pitchFamily="34" charset="-120"/>
              </a:rPr>
              <a:t>24 MW Glattfelden</a:t>
            </a:r>
            <a:endParaRPr lang="en-US" sz="1050" dirty="0"/>
          </a:p>
        </p:txBody>
      </p:sp>
      <p:sp>
        <p:nvSpPr>
          <p:cNvPr id="17" name="Text 15"/>
          <p:cNvSpPr txBox="1"/>
          <p:nvPr/>
        </p:nvSpPr>
        <p:spPr>
          <a:xfrm>
            <a:off x="457200" y="4800600"/>
            <a:ext cx="5486400" cy="228600"/>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Mobil In Time  ·  Zielkunden Schweiz 2026/27  ·  intern</a:t>
            </a:r>
            <a:endParaRPr lang="en-US" sz="800" dirty="0"/>
          </a:p>
        </p:txBody>
      </p:sp>
      <p:sp>
        <p:nvSpPr>
          <p:cNvPr id="18" name="Text 16"/>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28600"/>
          </a:xfrm>
          <a:prstGeom prst="rect">
            <a:avLst/>
          </a:prstGeom>
          <a:noFill/>
          <a:ln/>
        </p:spPr>
        <p:txBody>
          <a:bodyPr wrap="square" lIns="0" tIns="0" rIns="0" bIns="0" rtlCol="0" anchor="ctr"/>
          <a:lstStyle/>
          <a:p>
            <a:pPr indent="0" marL="0">
              <a:buNone/>
            </a:pPr>
            <a:r>
              <a:rPr lang="en-US" sz="900" b="1" spc="300" kern="0" dirty="0">
                <a:solidFill>
                  <a:srgbClr val="B07B00"/>
                </a:solidFill>
                <a:latin typeface="Arial" pitchFamily="34" charset="0"/>
                <a:ea typeface="Arial" pitchFamily="34" charset="-122"/>
                <a:cs typeface="Arial" pitchFamily="34" charset="-120"/>
              </a:rPr>
              <a:t>GU/TU + INDUSTRIE  ·  20 %</a:t>
            </a:r>
            <a:endParaRPr lang="en-US" sz="900" dirty="0"/>
          </a:p>
        </p:txBody>
      </p:sp>
      <p:sp>
        <p:nvSpPr>
          <p:cNvPr id="3" name="Text 1"/>
          <p:cNvSpPr txBox="1"/>
          <p:nvPr/>
        </p:nvSpPr>
        <p:spPr>
          <a:xfrm>
            <a:off x="457200" y="548640"/>
            <a:ext cx="8229600" cy="548640"/>
          </a:xfrm>
          <a:prstGeom prst="rect">
            <a:avLst/>
          </a:prstGeom>
          <a:noFill/>
          <a:ln/>
        </p:spPr>
        <p:txBody>
          <a:bodyPr wrap="square" lIns="0" tIns="0" rIns="0" bIns="0" rtlCol="0" anchor="t"/>
          <a:lstStyle/>
          <a:p>
            <a:pPr indent="0" marL="0">
              <a:buNone/>
            </a:pPr>
            <a:r>
              <a:rPr lang="en-US" sz="2400" b="1" dirty="0">
                <a:solidFill>
                  <a:srgbClr val="1F2328"/>
                </a:solidFill>
                <a:latin typeface="Arial" pitchFamily="34" charset="0"/>
                <a:ea typeface="Arial" pitchFamily="34" charset="-122"/>
                <a:cs typeface="Arial" pitchFamily="34" charset="-120"/>
              </a:rPr>
              <a:t>18 A-Firmen mit belegtem Anlass</a:t>
            </a:r>
            <a:endParaRPr lang="en-US" sz="2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103120"/>
                <a:gridCol w="777240"/>
                <a:gridCol w="868680"/>
                <a:gridCol w="4480560"/>
              </a:tblGrid>
              <a:tr h="265176">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Firma</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1F2328"/>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Typ</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1F2328"/>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Score</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1F2328"/>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Anlass (Quelle in Excel)</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solidFill>
                      <a:srgbClr val="1F2328"/>
                    </a:solidFill>
                  </a:tcPr>
                </a:tc>
              </a:tr>
              <a:tr h="265176">
                <a:tc>
                  <a:txBody>
                    <a:bodyPr/>
                    <a:lstStyle/>
                    <a:p>
                      <a:pPr algn="l" indent="0" marL="0">
                        <a:buNone/>
                      </a:pPr>
                      <a:r>
                        <a:rPr lang="en-US" sz="950" b="1" dirty="0">
                          <a:solidFill>
                            <a:srgbClr val="3A4048"/>
                          </a:solidFill>
                          <a:latin typeface="Calibri" pitchFamily="34" charset="0"/>
                          <a:ea typeface="Calibri" pitchFamily="34" charset="-122"/>
                          <a:cs typeface="Calibri" pitchFamily="34" charset="-120"/>
                        </a:rPr>
                        <a:t>Implenia</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50" dirty="0">
                          <a:solidFill>
                            <a:srgbClr val="3A4048"/>
                          </a:solidFill>
                          <a:latin typeface="Calibri" pitchFamily="34" charset="0"/>
                          <a:ea typeface="Calibri" pitchFamily="34" charset="-122"/>
                          <a:cs typeface="Calibri" pitchFamily="34" charset="-120"/>
                        </a:rPr>
                        <a:t>GU</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ctr" indent="0" marL="0">
                        <a:buNone/>
                      </a:pPr>
                      <a:r>
                        <a:rPr lang="en-US" sz="950" dirty="0">
                          <a:solidFill>
                            <a:srgbClr val="3A4048"/>
                          </a:solidFill>
                          <a:latin typeface="Calibri" pitchFamily="34" charset="0"/>
                          <a:ea typeface="Calibri" pitchFamily="34" charset="-122"/>
                          <a:cs typeface="Calibri" pitchFamily="34" charset="-120"/>
                        </a:rPr>
                        <a:t>4,70</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50" dirty="0">
                          <a:solidFill>
                            <a:srgbClr val="3A4048"/>
                          </a:solidFill>
                          <a:latin typeface="Calibri" pitchFamily="34" charset="0"/>
                          <a:ea typeface="Calibri" pitchFamily="34" charset="-122"/>
                          <a:cs typeface="Calibri" pitchFamily="34" charset="-120"/>
                        </a:rPr>
                        <a:t>GU Green-RZ Lupfig/Dielsdorf, Sisikoner Tunnel bis 2034</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r>
              <a:tr h="265176">
                <a:tc>
                  <a:txBody>
                    <a:bodyPr/>
                    <a:lstStyle/>
                    <a:p>
                      <a:pPr algn="l" indent="0" marL="0">
                        <a:buNone/>
                      </a:pPr>
                      <a:r>
                        <a:rPr lang="en-US" sz="950" b="1" dirty="0">
                          <a:solidFill>
                            <a:srgbClr val="3A4048"/>
                          </a:solidFill>
                          <a:latin typeface="Calibri" pitchFamily="34" charset="0"/>
                          <a:ea typeface="Calibri" pitchFamily="34" charset="-122"/>
                          <a:cs typeface="Calibri" pitchFamily="34" charset="-120"/>
                        </a:rPr>
                        <a:t>Digital Realty</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50" dirty="0">
                          <a:solidFill>
                            <a:srgbClr val="3A4048"/>
                          </a:solidFill>
                          <a:latin typeface="Calibri" pitchFamily="34" charset="0"/>
                          <a:ea typeface="Calibri" pitchFamily="34" charset="-122"/>
                          <a:cs typeface="Calibri" pitchFamily="34" charset="-120"/>
                        </a:rPr>
                        <a:t>RZ</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ctr" indent="0" marL="0">
                        <a:buNone/>
                      </a:pPr>
                      <a:r>
                        <a:rPr lang="en-US" sz="950" dirty="0">
                          <a:solidFill>
                            <a:srgbClr val="3A4048"/>
                          </a:solidFill>
                          <a:latin typeface="Calibri" pitchFamily="34" charset="0"/>
                          <a:ea typeface="Calibri" pitchFamily="34" charset="-122"/>
                          <a:cs typeface="Calibri" pitchFamily="34" charset="-120"/>
                        </a:rPr>
                        <a:t>4,70</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50" dirty="0">
                          <a:solidFill>
                            <a:srgbClr val="3A4048"/>
                          </a:solidFill>
                          <a:latin typeface="Calibri" pitchFamily="34" charset="0"/>
                          <a:ea typeface="Calibri" pitchFamily="34" charset="-122"/>
                          <a:cs typeface="Calibri" pitchFamily="34" charset="-120"/>
                        </a:rPr>
                        <a:t>Spatenstich ZUR4 am 26.08.2026</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r>
              <a:tr h="265176">
                <a:tc>
                  <a:txBody>
                    <a:bodyPr/>
                    <a:lstStyle/>
                    <a:p>
                      <a:pPr algn="l" indent="0" marL="0">
                        <a:buNone/>
                      </a:pPr>
                      <a:r>
                        <a:rPr lang="en-US" sz="950" b="1" dirty="0">
                          <a:solidFill>
                            <a:srgbClr val="3A4048"/>
                          </a:solidFill>
                          <a:latin typeface="Calibri" pitchFamily="34" charset="0"/>
                          <a:ea typeface="Calibri" pitchFamily="34" charset="-122"/>
                          <a:cs typeface="Calibri" pitchFamily="34" charset="-120"/>
                        </a:rPr>
                        <a:t>Green Datacenter</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50" dirty="0">
                          <a:solidFill>
                            <a:srgbClr val="3A4048"/>
                          </a:solidFill>
                          <a:latin typeface="Calibri" pitchFamily="34" charset="0"/>
                          <a:ea typeface="Calibri" pitchFamily="34" charset="-122"/>
                          <a:cs typeface="Calibri" pitchFamily="34" charset="-120"/>
                        </a:rPr>
                        <a:t>RZ</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ctr" indent="0" marL="0">
                        <a:buNone/>
                      </a:pPr>
                      <a:r>
                        <a:rPr lang="en-US" sz="950" dirty="0">
                          <a:solidFill>
                            <a:srgbClr val="3A4048"/>
                          </a:solidFill>
                          <a:latin typeface="Calibri" pitchFamily="34" charset="0"/>
                          <a:ea typeface="Calibri" pitchFamily="34" charset="-122"/>
                          <a:cs typeface="Calibri" pitchFamily="34" charset="-120"/>
                        </a:rPr>
                        <a:t>4,70</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50" dirty="0">
                          <a:solidFill>
                            <a:srgbClr val="3A4048"/>
                          </a:solidFill>
                          <a:latin typeface="Calibri" pitchFamily="34" charset="0"/>
                          <a:ea typeface="Calibri" pitchFamily="34" charset="-122"/>
                          <a:cs typeface="Calibri" pitchFamily="34" charset="-120"/>
                        </a:rPr>
                        <a:t>Lupfig Start 2026, Dielsdorf RZ 3</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r>
              <a:tr h="265176">
                <a:tc>
                  <a:txBody>
                    <a:bodyPr/>
                    <a:lstStyle/>
                    <a:p>
                      <a:pPr algn="l" indent="0" marL="0">
                        <a:buNone/>
                      </a:pPr>
                      <a:r>
                        <a:rPr lang="en-US" sz="950" b="1" dirty="0">
                          <a:solidFill>
                            <a:srgbClr val="3A4048"/>
                          </a:solidFill>
                          <a:latin typeface="Calibri" pitchFamily="34" charset="0"/>
                          <a:ea typeface="Calibri" pitchFamily="34" charset="-122"/>
                          <a:cs typeface="Calibri" pitchFamily="34" charset="-120"/>
                        </a:rPr>
                        <a:t>STACK Infrastructure</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50" dirty="0">
                          <a:solidFill>
                            <a:srgbClr val="3A4048"/>
                          </a:solidFill>
                          <a:latin typeface="Calibri" pitchFamily="34" charset="0"/>
                          <a:ea typeface="Calibri" pitchFamily="34" charset="-122"/>
                          <a:cs typeface="Calibri" pitchFamily="34" charset="-120"/>
                        </a:rPr>
                        <a:t>RZ</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ctr" indent="0" marL="0">
                        <a:buNone/>
                      </a:pPr>
                      <a:r>
                        <a:rPr lang="en-US" sz="950" dirty="0">
                          <a:solidFill>
                            <a:srgbClr val="3A4048"/>
                          </a:solidFill>
                          <a:latin typeface="Calibri" pitchFamily="34" charset="0"/>
                          <a:ea typeface="Calibri" pitchFamily="34" charset="-122"/>
                          <a:cs typeface="Calibri" pitchFamily="34" charset="-120"/>
                        </a:rPr>
                        <a:t>4,55</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50" dirty="0">
                          <a:solidFill>
                            <a:srgbClr val="3A4048"/>
                          </a:solidFill>
                          <a:latin typeface="Calibri" pitchFamily="34" charset="0"/>
                          <a:ea typeface="Calibri" pitchFamily="34" charset="-122"/>
                          <a:cs typeface="Calibri" pitchFamily="34" charset="-120"/>
                        </a:rPr>
                        <a:t>Beringen SH, 36 MW</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r>
              <a:tr h="265176">
                <a:tc>
                  <a:txBody>
                    <a:bodyPr/>
                    <a:lstStyle/>
                    <a:p>
                      <a:pPr algn="l" indent="0" marL="0">
                        <a:buNone/>
                      </a:pPr>
                      <a:r>
                        <a:rPr lang="en-US" sz="950" b="1" dirty="0">
                          <a:solidFill>
                            <a:srgbClr val="3A4048"/>
                          </a:solidFill>
                          <a:latin typeface="Calibri" pitchFamily="34" charset="0"/>
                          <a:ea typeface="Calibri" pitchFamily="34" charset="-122"/>
                          <a:cs typeface="Calibri" pitchFamily="34" charset="-120"/>
                        </a:rPr>
                        <a:t>Losinger Marazzi</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50" dirty="0">
                          <a:solidFill>
                            <a:srgbClr val="3A4048"/>
                          </a:solidFill>
                          <a:latin typeface="Calibri" pitchFamily="34" charset="0"/>
                          <a:ea typeface="Calibri" pitchFamily="34" charset="-122"/>
                          <a:cs typeface="Calibri" pitchFamily="34" charset="-120"/>
                        </a:rPr>
                        <a:t>GU</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ctr" indent="0" marL="0">
                        <a:buNone/>
                      </a:pPr>
                      <a:r>
                        <a:rPr lang="en-US" sz="950" dirty="0">
                          <a:solidFill>
                            <a:srgbClr val="3A4048"/>
                          </a:solidFill>
                          <a:latin typeface="Calibri" pitchFamily="34" charset="0"/>
                          <a:ea typeface="Calibri" pitchFamily="34" charset="-122"/>
                          <a:cs typeface="Calibri" pitchFamily="34" charset="-120"/>
                        </a:rPr>
                        <a:t>4,45</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50" dirty="0">
                          <a:solidFill>
                            <a:srgbClr val="3A4048"/>
                          </a:solidFill>
                          <a:latin typeface="Calibri" pitchFamily="34" charset="0"/>
                          <a:ea typeface="Calibri" pitchFamily="34" charset="-122"/>
                          <a:cs typeface="Calibri" pitchFamily="34" charset="-120"/>
                        </a:rPr>
                        <a:t>Terminal GVA Cap2030, ca. 600 Mio.</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r>
              <a:tr h="265176">
                <a:tc>
                  <a:txBody>
                    <a:bodyPr/>
                    <a:lstStyle/>
                    <a:p>
                      <a:pPr algn="l" indent="0" marL="0">
                        <a:buNone/>
                      </a:pPr>
                      <a:r>
                        <a:rPr lang="en-US" sz="950" b="1" dirty="0">
                          <a:solidFill>
                            <a:srgbClr val="3A4048"/>
                          </a:solidFill>
                          <a:latin typeface="Calibri" pitchFamily="34" charset="0"/>
                          <a:ea typeface="Calibri" pitchFamily="34" charset="-122"/>
                          <a:cs typeface="Calibri" pitchFamily="34" charset="-120"/>
                        </a:rPr>
                        <a:t>Marti-Gruppe</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50" dirty="0">
                          <a:solidFill>
                            <a:srgbClr val="3A4048"/>
                          </a:solidFill>
                          <a:latin typeface="Calibri" pitchFamily="34" charset="0"/>
                          <a:ea typeface="Calibri" pitchFamily="34" charset="-122"/>
                          <a:cs typeface="Calibri" pitchFamily="34" charset="-120"/>
                        </a:rPr>
                        <a:t>GU</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ctr" indent="0" marL="0">
                        <a:buNone/>
                      </a:pPr>
                      <a:r>
                        <a:rPr lang="en-US" sz="950" dirty="0">
                          <a:solidFill>
                            <a:srgbClr val="3A4048"/>
                          </a:solidFill>
                          <a:latin typeface="Calibri" pitchFamily="34" charset="0"/>
                          <a:ea typeface="Calibri" pitchFamily="34" charset="-122"/>
                          <a:cs typeface="Calibri" pitchFamily="34" charset="-120"/>
                        </a:rPr>
                        <a:t>4,45</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50" dirty="0">
                          <a:solidFill>
                            <a:srgbClr val="3A4048"/>
                          </a:solidFill>
                          <a:latin typeface="Calibri" pitchFamily="34" charset="0"/>
                          <a:ea typeface="Calibri" pitchFamily="34" charset="-122"/>
                          <a:cs typeface="Calibri" pitchFamily="34" charset="-120"/>
                        </a:rPr>
                        <a:t>2. Gotthardröhre, Hauptlos Süd</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r>
              <a:tr h="265176">
                <a:tc>
                  <a:txBody>
                    <a:bodyPr/>
                    <a:lstStyle/>
                    <a:p>
                      <a:pPr algn="l" indent="0" marL="0">
                        <a:buNone/>
                      </a:pPr>
                      <a:r>
                        <a:rPr lang="en-US" sz="950" b="1" dirty="0">
                          <a:solidFill>
                            <a:srgbClr val="3A4048"/>
                          </a:solidFill>
                          <a:latin typeface="Calibri" pitchFamily="34" charset="0"/>
                          <a:ea typeface="Calibri" pitchFamily="34" charset="-122"/>
                          <a:cs typeface="Calibri" pitchFamily="34" charset="-120"/>
                        </a:rPr>
                        <a:t>ERNE / Frutiger</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50" dirty="0">
                          <a:solidFill>
                            <a:srgbClr val="3A4048"/>
                          </a:solidFill>
                          <a:latin typeface="Calibri" pitchFamily="34" charset="0"/>
                          <a:ea typeface="Calibri" pitchFamily="34" charset="-122"/>
                          <a:cs typeface="Calibri" pitchFamily="34" charset="-120"/>
                        </a:rPr>
                        <a:t>GU</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ctr" indent="0" marL="0">
                        <a:buNone/>
                      </a:pPr>
                      <a:r>
                        <a:rPr lang="en-US" sz="950" dirty="0">
                          <a:solidFill>
                            <a:srgbClr val="3A4048"/>
                          </a:solidFill>
                          <a:latin typeface="Calibri" pitchFamily="34" charset="0"/>
                          <a:ea typeface="Calibri" pitchFamily="34" charset="-122"/>
                          <a:cs typeface="Calibri" pitchFamily="34" charset="-120"/>
                        </a:rPr>
                        <a:t>4,40</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50" dirty="0">
                          <a:solidFill>
                            <a:srgbClr val="3A4048"/>
                          </a:solidFill>
                          <a:latin typeface="Calibri" pitchFamily="34" charset="0"/>
                          <a:ea typeface="Calibri" pitchFamily="34" charset="-122"/>
                          <a:cs typeface="Calibri" pitchFamily="34" charset="-120"/>
                        </a:rPr>
                        <a:t>FlexBase Laufenburg / Sisikoner Tunnel</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r>
              <a:tr h="265176">
                <a:tc>
                  <a:txBody>
                    <a:bodyPr/>
                    <a:lstStyle/>
                    <a:p>
                      <a:pPr algn="l" indent="0" marL="0">
                        <a:buNone/>
                      </a:pPr>
                      <a:r>
                        <a:rPr lang="en-US" sz="950" b="1" dirty="0">
                          <a:solidFill>
                            <a:srgbClr val="3A4048"/>
                          </a:solidFill>
                          <a:latin typeface="Calibri" pitchFamily="34" charset="0"/>
                          <a:ea typeface="Calibri" pitchFamily="34" charset="-122"/>
                          <a:cs typeface="Calibri" pitchFamily="34" charset="-120"/>
                        </a:rPr>
                        <a:t>NorthC</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50" dirty="0">
                          <a:solidFill>
                            <a:srgbClr val="3A4048"/>
                          </a:solidFill>
                          <a:latin typeface="Calibri" pitchFamily="34" charset="0"/>
                          <a:ea typeface="Calibri" pitchFamily="34" charset="-122"/>
                          <a:cs typeface="Calibri" pitchFamily="34" charset="-120"/>
                        </a:rPr>
                        <a:t>RZ</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ctr" indent="0" marL="0">
                        <a:buNone/>
                      </a:pPr>
                      <a:r>
                        <a:rPr lang="en-US" sz="950" dirty="0">
                          <a:solidFill>
                            <a:srgbClr val="3A4048"/>
                          </a:solidFill>
                          <a:latin typeface="Calibri" pitchFamily="34" charset="0"/>
                          <a:ea typeface="Calibri" pitchFamily="34" charset="-122"/>
                          <a:cs typeface="Calibri" pitchFamily="34" charset="-120"/>
                        </a:rPr>
                        <a:t>4,40</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50" dirty="0">
                          <a:solidFill>
                            <a:srgbClr val="3A4048"/>
                          </a:solidFill>
                          <a:latin typeface="Calibri" pitchFamily="34" charset="0"/>
                          <a:ea typeface="Calibri" pitchFamily="34" charset="-122"/>
                          <a:cs typeface="Calibri" pitchFamily="34" charset="-120"/>
                        </a:rPr>
                        <a:t>Arlesheim und Genf parallel im Bau</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r>
              <a:tr h="265176">
                <a:tc>
                  <a:txBody>
                    <a:bodyPr/>
                    <a:lstStyle/>
                    <a:p>
                      <a:pPr algn="l" indent="0" marL="0">
                        <a:buNone/>
                      </a:pPr>
                      <a:r>
                        <a:rPr lang="en-US" sz="950" b="1" dirty="0">
                          <a:solidFill>
                            <a:srgbClr val="3A4048"/>
                          </a:solidFill>
                          <a:latin typeface="Calibri" pitchFamily="34" charset="0"/>
                          <a:ea typeface="Calibri" pitchFamily="34" charset="-122"/>
                          <a:cs typeface="Calibri" pitchFamily="34" charset="-120"/>
                        </a:rPr>
                        <a:t>Bachem</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50" dirty="0">
                          <a:solidFill>
                            <a:srgbClr val="3A4048"/>
                          </a:solidFill>
                          <a:latin typeface="Calibri" pitchFamily="34" charset="0"/>
                          <a:ea typeface="Calibri" pitchFamily="34" charset="-122"/>
                          <a:cs typeface="Calibri" pitchFamily="34" charset="-120"/>
                        </a:rPr>
                        <a:t>Industrie</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ctr" indent="0" marL="0">
                        <a:buNone/>
                      </a:pPr>
                      <a:r>
                        <a:rPr lang="en-US" sz="950" dirty="0">
                          <a:solidFill>
                            <a:srgbClr val="3A4048"/>
                          </a:solidFill>
                          <a:latin typeface="Calibri" pitchFamily="34" charset="0"/>
                          <a:ea typeface="Calibri" pitchFamily="34" charset="-122"/>
                          <a:cs typeface="Calibri" pitchFamily="34" charset="-120"/>
                        </a:rPr>
                        <a:t>4,40</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50" dirty="0">
                          <a:solidFill>
                            <a:srgbClr val="3A4048"/>
                          </a:solidFill>
                          <a:latin typeface="Calibri" pitchFamily="34" charset="0"/>
                          <a:ea typeface="Calibri" pitchFamily="34" charset="-122"/>
                          <a:cs typeface="Calibri" pitchFamily="34" charset="-120"/>
                        </a:rPr>
                        <a:t>Bau K Ramp-up, Werk Sisslerfeld 750 Mio.</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r>
              <a:tr h="265176">
                <a:tc>
                  <a:txBody>
                    <a:bodyPr/>
                    <a:lstStyle/>
                    <a:p>
                      <a:pPr algn="l" indent="0" marL="0">
                        <a:buNone/>
                      </a:pPr>
                      <a:r>
                        <a:rPr lang="en-US" sz="950" b="1" dirty="0">
                          <a:solidFill>
                            <a:srgbClr val="3A4048"/>
                          </a:solidFill>
                          <a:latin typeface="Calibri" pitchFamily="34" charset="0"/>
                          <a:ea typeface="Calibri" pitchFamily="34" charset="-122"/>
                          <a:cs typeface="Calibri" pitchFamily="34" charset="-120"/>
                        </a:rPr>
                        <a:t>Roche / Lonza</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50" dirty="0">
                          <a:solidFill>
                            <a:srgbClr val="3A4048"/>
                          </a:solidFill>
                          <a:latin typeface="Calibri" pitchFamily="34" charset="0"/>
                          <a:ea typeface="Calibri" pitchFamily="34" charset="-122"/>
                          <a:cs typeface="Calibri" pitchFamily="34" charset="-120"/>
                        </a:rPr>
                        <a:t>Industrie</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ctr" indent="0" marL="0">
                        <a:buNone/>
                      </a:pPr>
                      <a:r>
                        <a:rPr lang="en-US" sz="950" dirty="0">
                          <a:solidFill>
                            <a:srgbClr val="3A4048"/>
                          </a:solidFill>
                          <a:latin typeface="Calibri" pitchFamily="34" charset="0"/>
                          <a:ea typeface="Calibri" pitchFamily="34" charset="-122"/>
                          <a:cs typeface="Calibri" pitchFamily="34" charset="-120"/>
                        </a:rPr>
                        <a:t>4,30 / 4,00</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50" dirty="0">
                          <a:solidFill>
                            <a:srgbClr val="3A4048"/>
                          </a:solidFill>
                          <a:latin typeface="Calibri" pitchFamily="34" charset="0"/>
                          <a:ea typeface="Calibri" pitchFamily="34" charset="-122"/>
                          <a:cs typeface="Calibri" pitchFamily="34" charset="-120"/>
                        </a:rPr>
                        <a:t>Bau 12 Basel / Ibex Visp Ramp-up 2026</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r>
              <a:tr h="265176">
                <a:tc>
                  <a:txBody>
                    <a:bodyPr/>
                    <a:lstStyle/>
                    <a:p>
                      <a:pPr algn="l" indent="0" marL="0">
                        <a:buNone/>
                      </a:pPr>
                      <a:r>
                        <a:rPr lang="en-US" sz="950" b="1" dirty="0">
                          <a:solidFill>
                            <a:srgbClr val="3A4048"/>
                          </a:solidFill>
                          <a:latin typeface="Calibri" pitchFamily="34" charset="0"/>
                          <a:ea typeface="Calibri" pitchFamily="34" charset="-122"/>
                          <a:cs typeface="Calibri" pitchFamily="34" charset="-120"/>
                        </a:rPr>
                        <a:t>FlexBase / Vantage</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50" dirty="0">
                          <a:solidFill>
                            <a:srgbClr val="3A4048"/>
                          </a:solidFill>
                          <a:latin typeface="Calibri" pitchFamily="34" charset="0"/>
                          <a:ea typeface="Calibri" pitchFamily="34" charset="-122"/>
                          <a:cs typeface="Calibri" pitchFamily="34" charset="-120"/>
                        </a:rPr>
                        <a:t>RZ</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ctr" indent="0" marL="0">
                        <a:buNone/>
                      </a:pPr>
                      <a:r>
                        <a:rPr lang="en-US" sz="950" dirty="0">
                          <a:solidFill>
                            <a:srgbClr val="3A4048"/>
                          </a:solidFill>
                          <a:latin typeface="Calibri" pitchFamily="34" charset="0"/>
                          <a:ea typeface="Calibri" pitchFamily="34" charset="-122"/>
                          <a:cs typeface="Calibri" pitchFamily="34" charset="-120"/>
                        </a:rPr>
                        <a:t>4,30</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50" dirty="0">
                          <a:solidFill>
                            <a:srgbClr val="3A4048"/>
                          </a:solidFill>
                          <a:latin typeface="Calibri" pitchFamily="34" charset="0"/>
                          <a:ea typeface="Calibri" pitchFamily="34" charset="-122"/>
                          <a:cs typeface="Calibri" pitchFamily="34" charset="-120"/>
                        </a:rPr>
                        <a:t>BESS 1,6 GWh + KI-RZ / ZRH2 24 MW</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r>
              <a:tr h="265176">
                <a:tc>
                  <a:txBody>
                    <a:bodyPr/>
                    <a:lstStyle/>
                    <a:p>
                      <a:pPr algn="l" indent="0" marL="0">
                        <a:buNone/>
                      </a:pPr>
                      <a:r>
                        <a:rPr lang="en-US" sz="950" b="1" dirty="0">
                          <a:solidFill>
                            <a:srgbClr val="3A4048"/>
                          </a:solidFill>
                          <a:latin typeface="Calibri" pitchFamily="34" charset="0"/>
                          <a:ea typeface="Calibri" pitchFamily="34" charset="-122"/>
                          <a:cs typeface="Calibri" pitchFamily="34" charset="-120"/>
                        </a:rPr>
                        <a:t>USZ, GVA, SBB Energie, OASG</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50" dirty="0">
                          <a:solidFill>
                            <a:srgbClr val="3A4048"/>
                          </a:solidFill>
                          <a:latin typeface="Calibri" pitchFamily="34" charset="0"/>
                          <a:ea typeface="Calibri" pitchFamily="34" charset="-122"/>
                          <a:cs typeface="Calibri" pitchFamily="34" charset="-120"/>
                        </a:rPr>
                        <a:t>div.</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ctr" indent="0" marL="0">
                        <a:buNone/>
                      </a:pPr>
                      <a:r>
                        <a:rPr lang="en-US" sz="950" dirty="0">
                          <a:solidFill>
                            <a:srgbClr val="3A4048"/>
                          </a:solidFill>
                          <a:latin typeface="Calibri" pitchFamily="34" charset="0"/>
                          <a:ea typeface="Calibri" pitchFamily="34" charset="-122"/>
                          <a:cs typeface="Calibri" pitchFamily="34" charset="-120"/>
                        </a:rPr>
                        <a:t>4,00-4,15</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c>
                  <a:txBody>
                    <a:bodyPr/>
                    <a:lstStyle/>
                    <a:p>
                      <a:pPr algn="l" indent="0" marL="0">
                        <a:buNone/>
                      </a:pPr>
                      <a:r>
                        <a:rPr lang="en-US" sz="950" dirty="0">
                          <a:solidFill>
                            <a:srgbClr val="3A4048"/>
                          </a:solidFill>
                          <a:latin typeface="Calibri" pitchFamily="34" charset="0"/>
                          <a:ea typeface="Calibri" pitchFamily="34" charset="-122"/>
                          <a:cs typeface="Calibri" pitchFamily="34" charset="-120"/>
                        </a:rPr>
                        <a:t>Spital-Umbau, Flughafen, Umformer, Openair</a:t>
                      </a:r>
                      <a:endParaRPr lang="en-US" sz="950" dirty="0">
                        <a:latin typeface="Calibri" charset="0"/>
                        <a:ea typeface="Calibri" charset="0"/>
                        <a:cs typeface="Calibri" charset="0"/>
                      </a:endParaRPr>
                    </a:p>
                  </a:txBody>
                  <a:tcPr marL="91440" marR="91440" marT="45720" marB="45720">
                    <a:lnL w="6350" cap="flat" cmpd="sng" algn="ctr">
                      <a:solidFill>
                        <a:srgbClr val="D9DDE2"/>
                      </a:solidFill>
                      <a:prstDash val="solid"/>
                      <a:round/>
                      <a:headEnd type="none" w="med" len="med"/>
                      <a:tailEnd type="none" w="med" len="med"/>
                    </a:lnL>
                    <a:lnR w="6350" cap="flat" cmpd="sng" algn="ctr">
                      <a:solidFill>
                        <a:srgbClr val="D9DDE2"/>
                      </a:solidFill>
                      <a:prstDash val="solid"/>
                      <a:round/>
                      <a:headEnd type="none" w="med" len="med"/>
                      <a:tailEnd type="none" w="med" len="med"/>
                    </a:lnR>
                    <a:lnT w="6350" cap="flat" cmpd="sng" algn="ctr">
                      <a:solidFill>
                        <a:srgbClr val="D9DDE2"/>
                      </a:solidFill>
                      <a:prstDash val="solid"/>
                      <a:round/>
                      <a:headEnd type="none" w="med" len="med"/>
                      <a:tailEnd type="none" w="med" len="med"/>
                    </a:lnT>
                    <a:lnB w="6350" cap="flat" cmpd="sng" algn="ctr">
                      <a:solidFill>
                        <a:srgbClr val="D9DDE2"/>
                      </a:solidFill>
                      <a:prstDash val="solid"/>
                      <a:round/>
                      <a:headEnd type="none" w="med" len="med"/>
                      <a:tailEnd type="none" w="med" len="med"/>
                    </a:lnB>
                  </a:tcPr>
                </a:tc>
              </a:tr>
            </a:tbl>
          </a:graphicData>
        </a:graphic>
      </p:graphicFrame>
      <p:sp>
        <p:nvSpPr>
          <p:cNvPr id="5" name="Text 2"/>
          <p:cNvSpPr txBox="1"/>
          <p:nvPr/>
        </p:nvSpPr>
        <p:spPr>
          <a:xfrm>
            <a:off x="457200" y="4800600"/>
            <a:ext cx="5486400" cy="228600"/>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Mobil In Time  ·  Zielkunden Schweiz 2026/27  ·  intern</a:t>
            </a:r>
            <a:endParaRPr lang="en-US" sz="800" dirty="0"/>
          </a:p>
        </p:txBody>
      </p:sp>
      <p:sp>
        <p:nvSpPr>
          <p:cNvPr id="6" name="Text 3"/>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28600"/>
          </a:xfrm>
          <a:prstGeom prst="rect">
            <a:avLst/>
          </a:prstGeom>
          <a:noFill/>
          <a:ln/>
        </p:spPr>
        <p:txBody>
          <a:bodyPr wrap="square" lIns="0" tIns="0" rIns="0" bIns="0" rtlCol="0" anchor="ctr"/>
          <a:lstStyle/>
          <a:p>
            <a:pPr indent="0" marL="0">
              <a:buNone/>
            </a:pPr>
            <a:r>
              <a:rPr lang="en-US" sz="900" b="1" spc="300" kern="0" dirty="0">
                <a:solidFill>
                  <a:srgbClr val="B07B00"/>
                </a:solidFill>
                <a:latin typeface="Arial" pitchFamily="34" charset="0"/>
                <a:ea typeface="Arial" pitchFamily="34" charset="-122"/>
                <a:cs typeface="Arial" pitchFamily="34" charset="-120"/>
              </a:rPr>
              <a:t>WAS DIE RECHERCHE KORRIGIERT</a:t>
            </a:r>
            <a:endParaRPr lang="en-US" sz="900" dirty="0"/>
          </a:p>
        </p:txBody>
      </p:sp>
      <p:sp>
        <p:nvSpPr>
          <p:cNvPr id="3" name="Text 1"/>
          <p:cNvSpPr txBox="1"/>
          <p:nvPr/>
        </p:nvSpPr>
        <p:spPr>
          <a:xfrm>
            <a:off x="457200" y="548640"/>
            <a:ext cx="8229600" cy="548640"/>
          </a:xfrm>
          <a:prstGeom prst="rect">
            <a:avLst/>
          </a:prstGeom>
          <a:noFill/>
          <a:ln/>
        </p:spPr>
        <p:txBody>
          <a:bodyPr wrap="square" lIns="0" tIns="0" rIns="0" bIns="0" rtlCol="0" anchor="t"/>
          <a:lstStyle/>
          <a:p>
            <a:pPr indent="0" marL="0">
              <a:buNone/>
            </a:pPr>
            <a:r>
              <a:rPr lang="en-US" sz="2400" b="1" dirty="0">
                <a:solidFill>
                  <a:srgbClr val="1F2328"/>
                </a:solidFill>
                <a:latin typeface="Arial" pitchFamily="34" charset="0"/>
                <a:ea typeface="Arial" pitchFamily="34" charset="-122"/>
                <a:cs typeface="Arial" pitchFamily="34" charset="-120"/>
              </a:rPr>
              <a:t>Sechs Punkte, bevor wir anrufen</a:t>
            </a:r>
            <a:endParaRPr lang="en-US" sz="2400" dirty="0"/>
          </a:p>
        </p:txBody>
      </p:sp>
      <p:sp>
        <p:nvSpPr>
          <p:cNvPr id="4" name="Shape 2"/>
          <p:cNvSpPr/>
          <p:nvPr/>
        </p:nvSpPr>
        <p:spPr>
          <a:xfrm>
            <a:off x="457200" y="1280160"/>
            <a:ext cx="2606040" cy="1508760"/>
          </a:xfrm>
          <a:prstGeom prst="roundRect">
            <a:avLst>
              <a:gd name="adj" fmla="val 4848"/>
            </a:avLst>
          </a:prstGeom>
          <a:solidFill>
            <a:srgbClr val="F3F4F6"/>
          </a:solidFill>
          <a:ln w="12700">
            <a:solidFill>
              <a:srgbClr val="F3F4F6"/>
            </a:solidFill>
            <a:prstDash val="solid"/>
          </a:ln>
        </p:spPr>
      </p:sp>
      <p:sp>
        <p:nvSpPr>
          <p:cNvPr id="5" name="Shape 3"/>
          <p:cNvSpPr/>
          <p:nvPr/>
        </p:nvSpPr>
        <p:spPr>
          <a:xfrm>
            <a:off x="640080" y="1463040"/>
            <a:ext cx="411480" cy="411480"/>
          </a:xfrm>
          <a:prstGeom prst="ellipse">
            <a:avLst/>
          </a:prstGeom>
          <a:solidFill>
            <a:srgbClr val="F2A900"/>
          </a:solidFill>
          <a:ln w="12700">
            <a:solidFill>
              <a:srgbClr val="F2A900"/>
            </a:solidFill>
            <a:prstDash val="solid"/>
          </a:ln>
        </p:spPr>
      </p:sp>
      <p:pic>
        <p:nvPicPr>
          <p:cNvPr id="6" name="Image 0" descr="preencoded.png">    </p:cNvPr>
          <p:cNvPicPr>
            <a:picLocks noChangeAspect="1"/>
          </p:cNvPicPr>
          <p:nvPr/>
        </p:nvPicPr>
        <p:blipFill>
          <a:blip r:embed="rId1"/>
          <a:stretch>
            <a:fillRect/>
          </a:stretch>
        </p:blipFill>
        <p:spPr>
          <a:xfrm>
            <a:off x="742950" y="1565910"/>
            <a:ext cx="205740" cy="205740"/>
          </a:xfrm>
          <a:prstGeom prst="rect">
            <a:avLst/>
          </a:prstGeom>
        </p:spPr>
      </p:pic>
      <p:sp>
        <p:nvSpPr>
          <p:cNvPr id="7" name="Text 4"/>
          <p:cNvSpPr txBox="1"/>
          <p:nvPr/>
        </p:nvSpPr>
        <p:spPr>
          <a:xfrm>
            <a:off x="1188720" y="1481328"/>
            <a:ext cx="1783080" cy="411480"/>
          </a:xfrm>
          <a:prstGeom prst="rect">
            <a:avLst/>
          </a:prstGeom>
          <a:noFill/>
          <a:ln/>
        </p:spPr>
        <p:txBody>
          <a:bodyPr wrap="square" lIns="0" tIns="0" rIns="0" bIns="0" rtlCol="0" anchor="ctr"/>
          <a:lstStyle/>
          <a:p>
            <a:pPr indent="0" marL="0">
              <a:buNone/>
            </a:pPr>
            <a:r>
              <a:rPr lang="en-US" sz="1200" b="1" dirty="0">
                <a:solidFill>
                  <a:srgbClr val="1F2328"/>
                </a:solidFill>
                <a:latin typeface="Arial" pitchFamily="34" charset="0"/>
                <a:ea typeface="Arial" pitchFamily="34" charset="-122"/>
                <a:cs typeface="Arial" pitchFamily="34" charset="-120"/>
              </a:rPr>
              <a:t>Steiner AG raus</a:t>
            </a:r>
            <a:endParaRPr lang="en-US" sz="1200" dirty="0"/>
          </a:p>
        </p:txBody>
      </p:sp>
      <p:sp>
        <p:nvSpPr>
          <p:cNvPr id="8" name="Text 5"/>
          <p:cNvSpPr txBox="1"/>
          <p:nvPr/>
        </p:nvSpPr>
        <p:spPr>
          <a:xfrm>
            <a:off x="640080" y="2011680"/>
            <a:ext cx="2286000" cy="731520"/>
          </a:xfrm>
          <a:prstGeom prst="rect">
            <a:avLst/>
          </a:prstGeom>
          <a:noFill/>
          <a:ln/>
        </p:spPr>
        <p:txBody>
          <a:bodyPr wrap="square" lIns="0" tIns="0" rIns="0" bIns="0" rtlCol="0" anchor="t"/>
          <a:lstStyle/>
          <a:p>
            <a:pPr indent="0" marL="0">
              <a:buNone/>
            </a:pPr>
            <a:r>
              <a:rPr lang="en-US" sz="1050" dirty="0">
                <a:solidFill>
                  <a:srgbClr val="3A4048"/>
                </a:solidFill>
                <a:latin typeface="Calibri" pitchFamily="34" charset="0"/>
                <a:ea typeface="Calibri" pitchFamily="34" charset="-122"/>
                <a:cs typeface="Calibri" pitchFamily="34" charset="-120"/>
              </a:rPr>
              <a:t>Nachlassstundung, kein TU-Neugeschäft in der Deutschschweiz seit 2023.</a:t>
            </a:r>
            <a:endParaRPr lang="en-US" sz="1050" dirty="0"/>
          </a:p>
        </p:txBody>
      </p:sp>
      <p:sp>
        <p:nvSpPr>
          <p:cNvPr id="9" name="Shape 6"/>
          <p:cNvSpPr/>
          <p:nvPr/>
        </p:nvSpPr>
        <p:spPr>
          <a:xfrm>
            <a:off x="3246120" y="1280160"/>
            <a:ext cx="2606040" cy="1508760"/>
          </a:xfrm>
          <a:prstGeom prst="roundRect">
            <a:avLst>
              <a:gd name="adj" fmla="val 4848"/>
            </a:avLst>
          </a:prstGeom>
          <a:solidFill>
            <a:srgbClr val="F3F4F6"/>
          </a:solidFill>
          <a:ln w="12700">
            <a:solidFill>
              <a:srgbClr val="F3F4F6"/>
            </a:solidFill>
            <a:prstDash val="solid"/>
          </a:ln>
        </p:spPr>
      </p:sp>
      <p:sp>
        <p:nvSpPr>
          <p:cNvPr id="10" name="Shape 7"/>
          <p:cNvSpPr/>
          <p:nvPr/>
        </p:nvSpPr>
        <p:spPr>
          <a:xfrm>
            <a:off x="3429000" y="1463040"/>
            <a:ext cx="411480" cy="411480"/>
          </a:xfrm>
          <a:prstGeom prst="ellipse">
            <a:avLst/>
          </a:prstGeom>
          <a:solidFill>
            <a:srgbClr val="F2A900"/>
          </a:solidFill>
          <a:ln w="12700">
            <a:solidFill>
              <a:srgbClr val="F2A900"/>
            </a:solidFill>
            <a:prstDash val="solid"/>
          </a:ln>
        </p:spPr>
      </p:sp>
      <p:pic>
        <p:nvPicPr>
          <p:cNvPr id="11" name="Image 1" descr="preencoded.png">    </p:cNvPr>
          <p:cNvPicPr>
            <a:picLocks noChangeAspect="1"/>
          </p:cNvPicPr>
          <p:nvPr/>
        </p:nvPicPr>
        <p:blipFill>
          <a:blip r:embed="rId2"/>
          <a:stretch>
            <a:fillRect/>
          </a:stretch>
        </p:blipFill>
        <p:spPr>
          <a:xfrm>
            <a:off x="3531870" y="1565910"/>
            <a:ext cx="205740" cy="205740"/>
          </a:xfrm>
          <a:prstGeom prst="rect">
            <a:avLst/>
          </a:prstGeom>
        </p:spPr>
      </p:pic>
      <p:sp>
        <p:nvSpPr>
          <p:cNvPr id="12" name="Text 8"/>
          <p:cNvSpPr txBox="1"/>
          <p:nvPr/>
        </p:nvSpPr>
        <p:spPr>
          <a:xfrm>
            <a:off x="3977640" y="1481328"/>
            <a:ext cx="1783080" cy="411480"/>
          </a:xfrm>
          <a:prstGeom prst="rect">
            <a:avLst/>
          </a:prstGeom>
          <a:noFill/>
          <a:ln/>
        </p:spPr>
        <p:txBody>
          <a:bodyPr wrap="square" lIns="0" tIns="0" rIns="0" bIns="0" rtlCol="0" anchor="ctr"/>
          <a:lstStyle/>
          <a:p>
            <a:pPr indent="0" marL="0">
              <a:buNone/>
            </a:pPr>
            <a:r>
              <a:rPr lang="en-US" sz="1200" b="1" dirty="0">
                <a:solidFill>
                  <a:srgbClr val="1F2328"/>
                </a:solidFill>
                <a:latin typeface="Arial" pitchFamily="34" charset="0"/>
                <a:ea typeface="Arial" pitchFamily="34" charset="-122"/>
                <a:cs typeface="Arial" pitchFamily="34" charset="-120"/>
              </a:rPr>
              <a:t>Compagnoni unabhängig</a:t>
            </a:r>
            <a:endParaRPr lang="en-US" sz="1200" dirty="0"/>
          </a:p>
        </p:txBody>
      </p:sp>
      <p:sp>
        <p:nvSpPr>
          <p:cNvPr id="13" name="Text 9"/>
          <p:cNvSpPr txBox="1"/>
          <p:nvPr/>
        </p:nvSpPr>
        <p:spPr>
          <a:xfrm>
            <a:off x="3429000" y="2011680"/>
            <a:ext cx="2286000" cy="731520"/>
          </a:xfrm>
          <a:prstGeom prst="rect">
            <a:avLst/>
          </a:prstGeom>
          <a:noFill/>
          <a:ln/>
        </p:spPr>
        <p:txBody>
          <a:bodyPr wrap="square" lIns="0" tIns="0" rIns="0" bIns="0" rtlCol="0" anchor="t"/>
          <a:lstStyle/>
          <a:p>
            <a:pPr indent="0" marL="0">
              <a:buNone/>
            </a:pPr>
            <a:r>
              <a:rPr lang="en-US" sz="1050" dirty="0">
                <a:solidFill>
                  <a:srgbClr val="3A4048"/>
                </a:solidFill>
                <a:latin typeface="Calibri" pitchFamily="34" charset="0"/>
                <a:ea typeface="Calibri" pitchFamily="34" charset="-122"/>
                <a:cs typeface="Calibri" pitchFamily="34" charset="-120"/>
              </a:rPr>
              <a:t>Elektro Compagnoni ist keine Burkhalter-Tochter, sondern Familienfirma.</a:t>
            </a:r>
            <a:endParaRPr lang="en-US" sz="1050" dirty="0"/>
          </a:p>
        </p:txBody>
      </p:sp>
      <p:sp>
        <p:nvSpPr>
          <p:cNvPr id="14" name="Shape 10"/>
          <p:cNvSpPr/>
          <p:nvPr/>
        </p:nvSpPr>
        <p:spPr>
          <a:xfrm>
            <a:off x="6035040" y="1280160"/>
            <a:ext cx="2606040" cy="1508760"/>
          </a:xfrm>
          <a:prstGeom prst="roundRect">
            <a:avLst>
              <a:gd name="adj" fmla="val 4848"/>
            </a:avLst>
          </a:prstGeom>
          <a:solidFill>
            <a:srgbClr val="F3F4F6"/>
          </a:solidFill>
          <a:ln w="12700">
            <a:solidFill>
              <a:srgbClr val="F3F4F6"/>
            </a:solidFill>
            <a:prstDash val="solid"/>
          </a:ln>
        </p:spPr>
      </p:sp>
      <p:sp>
        <p:nvSpPr>
          <p:cNvPr id="15" name="Shape 11"/>
          <p:cNvSpPr/>
          <p:nvPr/>
        </p:nvSpPr>
        <p:spPr>
          <a:xfrm>
            <a:off x="6217920" y="1463040"/>
            <a:ext cx="411480" cy="411480"/>
          </a:xfrm>
          <a:prstGeom prst="ellipse">
            <a:avLst/>
          </a:prstGeom>
          <a:solidFill>
            <a:srgbClr val="F2A900"/>
          </a:solidFill>
          <a:ln w="12700">
            <a:solidFill>
              <a:srgbClr val="F2A900"/>
            </a:solidFill>
            <a:prstDash val="solid"/>
          </a:ln>
        </p:spPr>
      </p:sp>
      <p:pic>
        <p:nvPicPr>
          <p:cNvPr id="16" name="Image 2" descr="preencoded.png">    </p:cNvPr>
          <p:cNvPicPr>
            <a:picLocks noChangeAspect="1"/>
          </p:cNvPicPr>
          <p:nvPr/>
        </p:nvPicPr>
        <p:blipFill>
          <a:blip r:embed="rId3"/>
          <a:stretch>
            <a:fillRect/>
          </a:stretch>
        </p:blipFill>
        <p:spPr>
          <a:xfrm>
            <a:off x="6320790" y="1565910"/>
            <a:ext cx="205740" cy="205740"/>
          </a:xfrm>
          <a:prstGeom prst="rect">
            <a:avLst/>
          </a:prstGeom>
        </p:spPr>
      </p:pic>
      <p:sp>
        <p:nvSpPr>
          <p:cNvPr id="17" name="Text 12"/>
          <p:cNvSpPr txBox="1"/>
          <p:nvPr/>
        </p:nvSpPr>
        <p:spPr>
          <a:xfrm>
            <a:off x="6766560" y="1481328"/>
            <a:ext cx="1783080" cy="411480"/>
          </a:xfrm>
          <a:prstGeom prst="rect">
            <a:avLst/>
          </a:prstGeom>
          <a:noFill/>
          <a:ln/>
        </p:spPr>
        <p:txBody>
          <a:bodyPr wrap="square" lIns="0" tIns="0" rIns="0" bIns="0" rtlCol="0" anchor="ctr"/>
          <a:lstStyle/>
          <a:p>
            <a:pPr indent="0" marL="0">
              <a:buNone/>
            </a:pPr>
            <a:r>
              <a:rPr lang="en-US" sz="1200" b="1" dirty="0">
                <a:solidFill>
                  <a:srgbClr val="1F2328"/>
                </a:solidFill>
                <a:latin typeface="Arial" pitchFamily="34" charset="0"/>
                <a:ea typeface="Arial" pitchFamily="34" charset="-122"/>
                <a:cs typeface="Arial" pitchFamily="34" charset="-120"/>
              </a:rPr>
              <a:t>Kummler+Matter</a:t>
            </a:r>
            <a:endParaRPr lang="en-US" sz="1200" dirty="0"/>
          </a:p>
        </p:txBody>
      </p:sp>
      <p:sp>
        <p:nvSpPr>
          <p:cNvPr id="18" name="Text 13"/>
          <p:cNvSpPr txBox="1"/>
          <p:nvPr/>
        </p:nvSpPr>
        <p:spPr>
          <a:xfrm>
            <a:off x="6217920" y="2011680"/>
            <a:ext cx="2286000" cy="731520"/>
          </a:xfrm>
          <a:prstGeom prst="rect">
            <a:avLst/>
          </a:prstGeom>
          <a:noFill/>
          <a:ln/>
        </p:spPr>
        <p:txBody>
          <a:bodyPr wrap="square" lIns="0" tIns="0" rIns="0" bIns="0" rtlCol="0" anchor="t"/>
          <a:lstStyle/>
          <a:p>
            <a:pPr indent="0" marL="0">
              <a:buNone/>
            </a:pPr>
            <a:r>
              <a:rPr lang="en-US" sz="1050" dirty="0">
                <a:solidFill>
                  <a:srgbClr val="3A4048"/>
                </a:solidFill>
                <a:latin typeface="Calibri" pitchFamily="34" charset="0"/>
                <a:ea typeface="Calibri" pitchFamily="34" charset="-122"/>
                <a:cs typeface="Calibri" pitchFamily="34" charset="-120"/>
              </a:rPr>
              <a:t>Vermietet eigene mobile Trafostationen: Partner und Wettbewerber zugleich.</a:t>
            </a:r>
            <a:endParaRPr lang="en-US" sz="1050" dirty="0"/>
          </a:p>
        </p:txBody>
      </p:sp>
      <p:sp>
        <p:nvSpPr>
          <p:cNvPr id="19" name="Shape 14"/>
          <p:cNvSpPr/>
          <p:nvPr/>
        </p:nvSpPr>
        <p:spPr>
          <a:xfrm>
            <a:off x="457200" y="2971800"/>
            <a:ext cx="2606040" cy="1508760"/>
          </a:xfrm>
          <a:prstGeom prst="roundRect">
            <a:avLst>
              <a:gd name="adj" fmla="val 4848"/>
            </a:avLst>
          </a:prstGeom>
          <a:solidFill>
            <a:srgbClr val="F3F4F6"/>
          </a:solidFill>
          <a:ln w="12700">
            <a:solidFill>
              <a:srgbClr val="F3F4F6"/>
            </a:solidFill>
            <a:prstDash val="solid"/>
          </a:ln>
        </p:spPr>
      </p:sp>
      <p:sp>
        <p:nvSpPr>
          <p:cNvPr id="20" name="Shape 15"/>
          <p:cNvSpPr/>
          <p:nvPr/>
        </p:nvSpPr>
        <p:spPr>
          <a:xfrm>
            <a:off x="640080" y="3154680"/>
            <a:ext cx="411480" cy="411480"/>
          </a:xfrm>
          <a:prstGeom prst="ellipse">
            <a:avLst/>
          </a:prstGeom>
          <a:solidFill>
            <a:srgbClr val="F2A900"/>
          </a:solidFill>
          <a:ln w="12700">
            <a:solidFill>
              <a:srgbClr val="F2A900"/>
            </a:solidFill>
            <a:prstDash val="solid"/>
          </a:ln>
        </p:spPr>
      </p:sp>
      <p:pic>
        <p:nvPicPr>
          <p:cNvPr id="21" name="Image 3" descr="preencoded.png">    </p:cNvPr>
          <p:cNvPicPr>
            <a:picLocks noChangeAspect="1"/>
          </p:cNvPicPr>
          <p:nvPr/>
        </p:nvPicPr>
        <p:blipFill>
          <a:blip r:embed="rId4"/>
          <a:stretch>
            <a:fillRect/>
          </a:stretch>
        </p:blipFill>
        <p:spPr>
          <a:xfrm>
            <a:off x="742950" y="3257550"/>
            <a:ext cx="205740" cy="205740"/>
          </a:xfrm>
          <a:prstGeom prst="rect">
            <a:avLst/>
          </a:prstGeom>
        </p:spPr>
      </p:pic>
      <p:sp>
        <p:nvSpPr>
          <p:cNvPr id="22" name="Text 16"/>
          <p:cNvSpPr txBox="1"/>
          <p:nvPr/>
        </p:nvSpPr>
        <p:spPr>
          <a:xfrm>
            <a:off x="1188720" y="3172968"/>
            <a:ext cx="1783080" cy="411480"/>
          </a:xfrm>
          <a:prstGeom prst="rect">
            <a:avLst/>
          </a:prstGeom>
          <a:noFill/>
          <a:ln/>
        </p:spPr>
        <p:txBody>
          <a:bodyPr wrap="square" lIns="0" tIns="0" rIns="0" bIns="0" rtlCol="0" anchor="ctr"/>
          <a:lstStyle/>
          <a:p>
            <a:pPr indent="0" marL="0">
              <a:buNone/>
            </a:pPr>
            <a:r>
              <a:rPr lang="en-US" sz="1200" b="1" dirty="0">
                <a:solidFill>
                  <a:srgbClr val="1F2328"/>
                </a:solidFill>
                <a:latin typeface="Arial" pitchFamily="34" charset="0"/>
                <a:ea typeface="Arial" pitchFamily="34" charset="-122"/>
                <a:cs typeface="Arial" pitchFamily="34" charset="-120"/>
              </a:rPr>
              <a:t>Stahl bewusst C</a:t>
            </a:r>
            <a:endParaRPr lang="en-US" sz="1200" dirty="0"/>
          </a:p>
        </p:txBody>
      </p:sp>
      <p:sp>
        <p:nvSpPr>
          <p:cNvPr id="23" name="Text 17"/>
          <p:cNvSpPr txBox="1"/>
          <p:nvPr/>
        </p:nvSpPr>
        <p:spPr>
          <a:xfrm>
            <a:off x="640080" y="3703320"/>
            <a:ext cx="2286000" cy="731520"/>
          </a:xfrm>
          <a:prstGeom prst="rect">
            <a:avLst/>
          </a:prstGeom>
          <a:noFill/>
          <a:ln/>
        </p:spPr>
        <p:txBody>
          <a:bodyPr wrap="square" lIns="0" tIns="0" rIns="0" bIns="0" rtlCol="0" anchor="t"/>
          <a:lstStyle/>
          <a:p>
            <a:pPr indent="0" marL="0">
              <a:buNone/>
            </a:pPr>
            <a:r>
              <a:rPr lang="en-US" sz="1050" dirty="0">
                <a:solidFill>
                  <a:srgbClr val="3A4048"/>
                </a:solidFill>
                <a:latin typeface="Calibri" pitchFamily="34" charset="0"/>
                <a:ea typeface="Calibri" pitchFamily="34" charset="-122"/>
                <a:cs typeface="Calibri" pitchFamily="34" charset="-120"/>
              </a:rPr>
              <a:t>Gerlafingen und Swiss Steel laufen mit Staatshilfe: Bonität prüfen.</a:t>
            </a:r>
            <a:endParaRPr lang="en-US" sz="1050" dirty="0"/>
          </a:p>
        </p:txBody>
      </p:sp>
      <p:sp>
        <p:nvSpPr>
          <p:cNvPr id="24" name="Shape 18"/>
          <p:cNvSpPr/>
          <p:nvPr/>
        </p:nvSpPr>
        <p:spPr>
          <a:xfrm>
            <a:off x="3246120" y="2971800"/>
            <a:ext cx="2606040" cy="1508760"/>
          </a:xfrm>
          <a:prstGeom prst="roundRect">
            <a:avLst>
              <a:gd name="adj" fmla="val 4848"/>
            </a:avLst>
          </a:prstGeom>
          <a:solidFill>
            <a:srgbClr val="F3F4F6"/>
          </a:solidFill>
          <a:ln w="12700">
            <a:solidFill>
              <a:srgbClr val="F3F4F6"/>
            </a:solidFill>
            <a:prstDash val="solid"/>
          </a:ln>
        </p:spPr>
      </p:sp>
      <p:sp>
        <p:nvSpPr>
          <p:cNvPr id="25" name="Shape 19"/>
          <p:cNvSpPr/>
          <p:nvPr/>
        </p:nvSpPr>
        <p:spPr>
          <a:xfrm>
            <a:off x="3429000" y="3154680"/>
            <a:ext cx="411480" cy="411480"/>
          </a:xfrm>
          <a:prstGeom prst="ellipse">
            <a:avLst/>
          </a:prstGeom>
          <a:solidFill>
            <a:srgbClr val="F2A900"/>
          </a:solidFill>
          <a:ln w="12700">
            <a:solidFill>
              <a:srgbClr val="F2A900"/>
            </a:solidFill>
            <a:prstDash val="solid"/>
          </a:ln>
        </p:spPr>
      </p:sp>
      <p:pic>
        <p:nvPicPr>
          <p:cNvPr id="26" name="Image 4" descr="preencoded.png">    </p:cNvPr>
          <p:cNvPicPr>
            <a:picLocks noChangeAspect="1"/>
          </p:cNvPicPr>
          <p:nvPr/>
        </p:nvPicPr>
        <p:blipFill>
          <a:blip r:embed="rId5"/>
          <a:stretch>
            <a:fillRect/>
          </a:stretch>
        </p:blipFill>
        <p:spPr>
          <a:xfrm>
            <a:off x="3531870" y="3257550"/>
            <a:ext cx="205740" cy="205740"/>
          </a:xfrm>
          <a:prstGeom prst="rect">
            <a:avLst/>
          </a:prstGeom>
        </p:spPr>
      </p:pic>
      <p:sp>
        <p:nvSpPr>
          <p:cNvPr id="27" name="Text 20"/>
          <p:cNvSpPr txBox="1"/>
          <p:nvPr/>
        </p:nvSpPr>
        <p:spPr>
          <a:xfrm>
            <a:off x="3977640" y="3172968"/>
            <a:ext cx="1783080" cy="411480"/>
          </a:xfrm>
          <a:prstGeom prst="rect">
            <a:avLst/>
          </a:prstGeom>
          <a:noFill/>
          <a:ln/>
        </p:spPr>
        <p:txBody>
          <a:bodyPr wrap="square" lIns="0" tIns="0" rIns="0" bIns="0" rtlCol="0" anchor="ctr"/>
          <a:lstStyle/>
          <a:p>
            <a:pPr indent="0" marL="0">
              <a:buNone/>
            </a:pPr>
            <a:r>
              <a:rPr lang="en-US" sz="1200" b="1" dirty="0">
                <a:solidFill>
                  <a:srgbClr val="1F2328"/>
                </a:solidFill>
                <a:latin typeface="Arial" pitchFamily="34" charset="0"/>
                <a:ea typeface="Arial" pitchFamily="34" charset="-122"/>
                <a:cs typeface="Arial" pitchFamily="34" charset="-120"/>
              </a:rPr>
              <a:t>Öffentliche Beschaffung</a:t>
            </a:r>
            <a:endParaRPr lang="en-US" sz="1200" dirty="0"/>
          </a:p>
        </p:txBody>
      </p:sp>
      <p:sp>
        <p:nvSpPr>
          <p:cNvPr id="28" name="Text 21"/>
          <p:cNvSpPr txBox="1"/>
          <p:nvPr/>
        </p:nvSpPr>
        <p:spPr>
          <a:xfrm>
            <a:off x="3429000" y="3703320"/>
            <a:ext cx="2286000" cy="731520"/>
          </a:xfrm>
          <a:prstGeom prst="rect">
            <a:avLst/>
          </a:prstGeom>
          <a:noFill/>
          <a:ln/>
        </p:spPr>
        <p:txBody>
          <a:bodyPr wrap="square" lIns="0" tIns="0" rIns="0" bIns="0" rtlCol="0" anchor="t"/>
          <a:lstStyle/>
          <a:p>
            <a:pPr indent="0" marL="0">
              <a:buNone/>
            </a:pPr>
            <a:r>
              <a:rPr lang="en-US" sz="1050" dirty="0">
                <a:solidFill>
                  <a:srgbClr val="3A4048"/>
                </a:solidFill>
                <a:latin typeface="Calibri" pitchFamily="34" charset="0"/>
                <a:ea typeface="Calibri" pitchFamily="34" charset="-122"/>
                <a:cs typeface="Calibri" pitchFamily="34" charset="-120"/>
              </a:rPr>
              <a:t>ewz, USZ, SBB, CSCS: IVöB-Verfahren und Fristen einplanen.</a:t>
            </a:r>
            <a:endParaRPr lang="en-US" sz="1050" dirty="0"/>
          </a:p>
        </p:txBody>
      </p:sp>
      <p:sp>
        <p:nvSpPr>
          <p:cNvPr id="29" name="Shape 22"/>
          <p:cNvSpPr/>
          <p:nvPr/>
        </p:nvSpPr>
        <p:spPr>
          <a:xfrm>
            <a:off x="6035040" y="2971800"/>
            <a:ext cx="2606040" cy="1508760"/>
          </a:xfrm>
          <a:prstGeom prst="roundRect">
            <a:avLst>
              <a:gd name="adj" fmla="val 4848"/>
            </a:avLst>
          </a:prstGeom>
          <a:solidFill>
            <a:srgbClr val="F3F4F6"/>
          </a:solidFill>
          <a:ln w="12700">
            <a:solidFill>
              <a:srgbClr val="F3F4F6"/>
            </a:solidFill>
            <a:prstDash val="solid"/>
          </a:ln>
        </p:spPr>
      </p:sp>
      <p:sp>
        <p:nvSpPr>
          <p:cNvPr id="30" name="Shape 23"/>
          <p:cNvSpPr/>
          <p:nvPr/>
        </p:nvSpPr>
        <p:spPr>
          <a:xfrm>
            <a:off x="6217920" y="3154680"/>
            <a:ext cx="411480" cy="411480"/>
          </a:xfrm>
          <a:prstGeom prst="ellipse">
            <a:avLst/>
          </a:prstGeom>
          <a:solidFill>
            <a:srgbClr val="F2A900"/>
          </a:solidFill>
          <a:ln w="12700">
            <a:solidFill>
              <a:srgbClr val="F2A900"/>
            </a:solidFill>
            <a:prstDash val="solid"/>
          </a:ln>
        </p:spPr>
      </p:sp>
      <p:pic>
        <p:nvPicPr>
          <p:cNvPr id="31" name="Image 5" descr="preencoded.png">    </p:cNvPr>
          <p:cNvPicPr>
            <a:picLocks noChangeAspect="1"/>
          </p:cNvPicPr>
          <p:nvPr/>
        </p:nvPicPr>
        <p:blipFill>
          <a:blip r:embed="rId6"/>
          <a:stretch>
            <a:fillRect/>
          </a:stretch>
        </p:blipFill>
        <p:spPr>
          <a:xfrm>
            <a:off x="6320790" y="3257550"/>
            <a:ext cx="205740" cy="205740"/>
          </a:xfrm>
          <a:prstGeom prst="rect">
            <a:avLst/>
          </a:prstGeom>
        </p:spPr>
      </p:pic>
      <p:sp>
        <p:nvSpPr>
          <p:cNvPr id="32" name="Text 24"/>
          <p:cNvSpPr txBox="1"/>
          <p:nvPr/>
        </p:nvSpPr>
        <p:spPr>
          <a:xfrm>
            <a:off x="6766560" y="3172968"/>
            <a:ext cx="1783080" cy="411480"/>
          </a:xfrm>
          <a:prstGeom prst="rect">
            <a:avLst/>
          </a:prstGeom>
          <a:noFill/>
          <a:ln/>
        </p:spPr>
        <p:txBody>
          <a:bodyPr wrap="square" lIns="0" tIns="0" rIns="0" bIns="0" rtlCol="0" anchor="ctr"/>
          <a:lstStyle/>
          <a:p>
            <a:pPr indent="0" marL="0">
              <a:buNone/>
            </a:pPr>
            <a:r>
              <a:rPr lang="en-US" sz="1200" b="1" dirty="0">
                <a:solidFill>
                  <a:srgbClr val="1F2328"/>
                </a:solidFill>
                <a:latin typeface="Arial" pitchFamily="34" charset="0"/>
                <a:ea typeface="Arial" pitchFamily="34" charset="-122"/>
                <a:cs typeface="Arial" pitchFamily="34" charset="-120"/>
              </a:rPr>
              <a:t>BKW am Lauberhorn</a:t>
            </a:r>
            <a:endParaRPr lang="en-US" sz="1200" dirty="0"/>
          </a:p>
        </p:txBody>
      </p:sp>
      <p:sp>
        <p:nvSpPr>
          <p:cNvPr id="33" name="Text 25"/>
          <p:cNvSpPr txBox="1"/>
          <p:nvPr/>
        </p:nvSpPr>
        <p:spPr>
          <a:xfrm>
            <a:off x="6217920" y="3703320"/>
            <a:ext cx="2286000" cy="731520"/>
          </a:xfrm>
          <a:prstGeom prst="rect">
            <a:avLst/>
          </a:prstGeom>
          <a:noFill/>
          <a:ln/>
        </p:spPr>
        <p:txBody>
          <a:bodyPr wrap="square" lIns="0" tIns="0" rIns="0" bIns="0" rtlCol="0" anchor="t"/>
          <a:lstStyle/>
          <a:p>
            <a:pPr indent="0" marL="0">
              <a:buNone/>
            </a:pPr>
            <a:r>
              <a:rPr lang="en-US" sz="1050" dirty="0">
                <a:solidFill>
                  <a:srgbClr val="3A4048"/>
                </a:solidFill>
                <a:latin typeface="Calibri" pitchFamily="34" charset="0"/>
                <a:ea typeface="Calibri" pitchFamily="34" charset="-122"/>
                <a:cs typeface="Calibri" pitchFamily="34" charset="-120"/>
              </a:rPr>
              <a:t>BKW ist Sponsor: Konkurrenzlage vor der Ansprache klären.</a:t>
            </a:r>
            <a:endParaRPr lang="en-US" sz="1050" dirty="0"/>
          </a:p>
        </p:txBody>
      </p:sp>
      <p:sp>
        <p:nvSpPr>
          <p:cNvPr id="34" name="Text 26"/>
          <p:cNvSpPr txBox="1"/>
          <p:nvPr/>
        </p:nvSpPr>
        <p:spPr>
          <a:xfrm>
            <a:off x="457200" y="4800600"/>
            <a:ext cx="5486400" cy="228600"/>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Mobil In Time  ·  Zielkunden Schweiz 2026/27  ·  intern</a:t>
            </a:r>
            <a:endParaRPr lang="en-US" sz="800" dirty="0"/>
          </a:p>
        </p:txBody>
      </p:sp>
      <p:sp>
        <p:nvSpPr>
          <p:cNvPr id="35" name="Text 27"/>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2328"/>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28600"/>
          </a:xfrm>
          <a:prstGeom prst="rect">
            <a:avLst/>
          </a:prstGeom>
          <a:noFill/>
          <a:ln/>
        </p:spPr>
        <p:txBody>
          <a:bodyPr wrap="square" lIns="0" tIns="0" rIns="0" bIns="0" rtlCol="0" anchor="ctr"/>
          <a:lstStyle/>
          <a:p>
            <a:pPr indent="0" marL="0">
              <a:buNone/>
            </a:pPr>
            <a:r>
              <a:rPr lang="en-US" sz="900" b="1" spc="300" kern="0" dirty="0">
                <a:solidFill>
                  <a:srgbClr val="F2A900"/>
                </a:solidFill>
                <a:latin typeface="Arial" pitchFamily="34" charset="0"/>
                <a:ea typeface="Arial" pitchFamily="34" charset="-122"/>
                <a:cs typeface="Arial" pitchFamily="34" charset="-120"/>
              </a:rPr>
              <a:t>NÄCHSTE SCHRITTE (VORSCHLAG)</a:t>
            </a:r>
            <a:endParaRPr lang="en-US" sz="900" dirty="0"/>
          </a:p>
        </p:txBody>
      </p:sp>
      <p:sp>
        <p:nvSpPr>
          <p:cNvPr id="3" name="Text 1"/>
          <p:cNvSpPr txBox="1"/>
          <p:nvPr/>
        </p:nvSpPr>
        <p:spPr>
          <a:xfrm>
            <a:off x="457200" y="548640"/>
            <a:ext cx="8229600" cy="54864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Vom Ranking zur Telefonliste in sechs Wochen</a:t>
            </a:r>
            <a:endParaRPr lang="en-US" sz="2400" dirty="0"/>
          </a:p>
        </p:txBody>
      </p:sp>
      <p:sp>
        <p:nvSpPr>
          <p:cNvPr id="4" name="Shape 2"/>
          <p:cNvSpPr/>
          <p:nvPr/>
        </p:nvSpPr>
        <p:spPr>
          <a:xfrm>
            <a:off x="457200" y="1325880"/>
            <a:ext cx="1920240" cy="2331720"/>
          </a:xfrm>
          <a:prstGeom prst="roundRect">
            <a:avLst>
              <a:gd name="adj" fmla="val 3810"/>
            </a:avLst>
          </a:prstGeom>
          <a:solidFill>
            <a:srgbClr val="2E343B"/>
          </a:solidFill>
          <a:ln w="12700">
            <a:solidFill>
              <a:srgbClr val="2E343B"/>
            </a:solidFill>
            <a:prstDash val="solid"/>
          </a:ln>
        </p:spPr>
      </p:sp>
      <p:sp>
        <p:nvSpPr>
          <p:cNvPr id="5" name="Shape 3"/>
          <p:cNvSpPr/>
          <p:nvPr/>
        </p:nvSpPr>
        <p:spPr>
          <a:xfrm>
            <a:off x="640080" y="1508760"/>
            <a:ext cx="411480" cy="411480"/>
          </a:xfrm>
          <a:prstGeom prst="ellipse">
            <a:avLst/>
          </a:prstGeom>
          <a:solidFill>
            <a:srgbClr val="F2A900"/>
          </a:solidFill>
          <a:ln w="12700">
            <a:solidFill>
              <a:srgbClr val="F2A900"/>
            </a:solidFill>
            <a:prstDash val="solid"/>
          </a:ln>
        </p:spPr>
      </p:sp>
      <p:pic>
        <p:nvPicPr>
          <p:cNvPr id="6" name="Image 0" descr="preencoded.png">    </p:cNvPr>
          <p:cNvPicPr>
            <a:picLocks noChangeAspect="1"/>
          </p:cNvPicPr>
          <p:nvPr/>
        </p:nvPicPr>
        <p:blipFill>
          <a:blip r:embed="rId1"/>
          <a:stretch>
            <a:fillRect/>
          </a:stretch>
        </p:blipFill>
        <p:spPr>
          <a:xfrm>
            <a:off x="742950" y="1611630"/>
            <a:ext cx="205740" cy="205740"/>
          </a:xfrm>
          <a:prstGeom prst="rect">
            <a:avLst/>
          </a:prstGeom>
        </p:spPr>
      </p:pic>
      <p:sp>
        <p:nvSpPr>
          <p:cNvPr id="7" name="Text 4"/>
          <p:cNvSpPr txBox="1"/>
          <p:nvPr/>
        </p:nvSpPr>
        <p:spPr>
          <a:xfrm>
            <a:off x="1143000" y="1481328"/>
            <a:ext cx="1188720" cy="256032"/>
          </a:xfrm>
          <a:prstGeom prst="rect">
            <a:avLst/>
          </a:prstGeom>
          <a:noFill/>
          <a:ln/>
        </p:spPr>
        <p:txBody>
          <a:bodyPr wrap="square" lIns="0" tIns="0" rIns="0" bIns="0" rtlCol="0" anchor="t"/>
          <a:lstStyle/>
          <a:p>
            <a:pPr indent="0" marL="0">
              <a:buNone/>
            </a:pPr>
            <a:r>
              <a:rPr lang="en-US" sz="1200" b="1" dirty="0">
                <a:solidFill>
                  <a:srgbClr val="F2A900"/>
                </a:solidFill>
                <a:latin typeface="Arial" pitchFamily="34" charset="0"/>
                <a:ea typeface="Arial" pitchFamily="34" charset="-122"/>
                <a:cs typeface="Arial" pitchFamily="34" charset="-120"/>
              </a:rPr>
              <a:t>KW 40-41</a:t>
            </a:r>
            <a:endParaRPr lang="en-US" sz="1200" dirty="0"/>
          </a:p>
        </p:txBody>
      </p:sp>
      <p:sp>
        <p:nvSpPr>
          <p:cNvPr id="8" name="Text 5"/>
          <p:cNvSpPr txBox="1"/>
          <p:nvPr/>
        </p:nvSpPr>
        <p:spPr>
          <a:xfrm>
            <a:off x="1143000" y="1737360"/>
            <a:ext cx="1188720" cy="228600"/>
          </a:xfrm>
          <a:prstGeom prst="rect">
            <a:avLst/>
          </a:prstGeom>
          <a:noFill/>
          <a:ln/>
        </p:spPr>
        <p:txBody>
          <a:bodyPr wrap="square" lIns="0" tIns="0" rIns="0" bIns="0" rtlCol="0" anchor="t"/>
          <a:lstStyle/>
          <a:p>
            <a:pPr indent="0" marL="0">
              <a:buNone/>
            </a:pPr>
            <a:r>
              <a:rPr lang="en-US" sz="900" dirty="0">
                <a:solidFill>
                  <a:srgbClr val="9AA0A6"/>
                </a:solidFill>
                <a:latin typeface="Calibri" pitchFamily="34" charset="0"/>
                <a:ea typeface="Calibri" pitchFamily="34" charset="-122"/>
                <a:cs typeface="Calibri" pitchFamily="34" charset="-120"/>
              </a:rPr>
              <a:t>28.09.-09.10.</a:t>
            </a:r>
            <a:endParaRPr lang="en-US" sz="900" dirty="0"/>
          </a:p>
        </p:txBody>
      </p:sp>
      <p:sp>
        <p:nvSpPr>
          <p:cNvPr id="9" name="Text 6"/>
          <p:cNvSpPr txBox="1"/>
          <p:nvPr/>
        </p:nvSpPr>
        <p:spPr>
          <a:xfrm>
            <a:off x="640080" y="2148840"/>
            <a:ext cx="1645920" cy="320040"/>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CRM-Abgleich</a:t>
            </a:r>
            <a:endParaRPr lang="en-US" sz="1300" dirty="0"/>
          </a:p>
        </p:txBody>
      </p:sp>
      <p:sp>
        <p:nvSpPr>
          <p:cNvPr id="10" name="Text 7"/>
          <p:cNvSpPr txBox="1"/>
          <p:nvPr/>
        </p:nvSpPr>
        <p:spPr>
          <a:xfrm>
            <a:off x="640080" y="2487168"/>
            <a:ext cx="1600200" cy="1097280"/>
          </a:xfrm>
          <a:prstGeom prst="rect">
            <a:avLst/>
          </a:prstGeom>
          <a:noFill/>
          <a:ln/>
        </p:spPr>
        <p:txBody>
          <a:bodyPr wrap="square" lIns="0" tIns="0" rIns="0" bIns="0" rtlCol="0" anchor="t"/>
          <a:lstStyle/>
          <a:p>
            <a:pPr indent="0" marL="0">
              <a:buNone/>
            </a:pPr>
            <a:r>
              <a:rPr lang="en-US" sz="1050" dirty="0">
                <a:solidFill>
                  <a:srgbClr val="D1D5DB"/>
                </a:solidFill>
                <a:latin typeface="Calibri" pitchFamily="34" charset="0"/>
                <a:ea typeface="Calibri" pitchFamily="34" charset="-122"/>
                <a:cs typeface="Calibri" pitchFamily="34" charset="-120"/>
              </a:rPr>
              <a:t>Kundenstatus eintragen: A-Kunde, Bestand, verloren (mit Datum), Aufbau.</a:t>
            </a:r>
            <a:endParaRPr lang="en-US" sz="1050" dirty="0"/>
          </a:p>
        </p:txBody>
      </p:sp>
      <p:sp>
        <p:nvSpPr>
          <p:cNvPr id="11" name="Shape 8"/>
          <p:cNvSpPr/>
          <p:nvPr/>
        </p:nvSpPr>
        <p:spPr>
          <a:xfrm>
            <a:off x="2560320" y="1325880"/>
            <a:ext cx="1920240" cy="2331720"/>
          </a:xfrm>
          <a:prstGeom prst="roundRect">
            <a:avLst>
              <a:gd name="adj" fmla="val 3810"/>
            </a:avLst>
          </a:prstGeom>
          <a:solidFill>
            <a:srgbClr val="2E343B"/>
          </a:solidFill>
          <a:ln w="12700">
            <a:solidFill>
              <a:srgbClr val="2E343B"/>
            </a:solidFill>
            <a:prstDash val="solid"/>
          </a:ln>
        </p:spPr>
      </p:sp>
      <p:sp>
        <p:nvSpPr>
          <p:cNvPr id="12" name="Shape 9"/>
          <p:cNvSpPr/>
          <p:nvPr/>
        </p:nvSpPr>
        <p:spPr>
          <a:xfrm>
            <a:off x="2743200" y="1508760"/>
            <a:ext cx="411480" cy="411480"/>
          </a:xfrm>
          <a:prstGeom prst="ellipse">
            <a:avLst/>
          </a:prstGeom>
          <a:solidFill>
            <a:srgbClr val="F2A900"/>
          </a:solidFill>
          <a:ln w="12700">
            <a:solidFill>
              <a:srgbClr val="F2A900"/>
            </a:solidFill>
            <a:prstDash val="solid"/>
          </a:ln>
        </p:spPr>
      </p:sp>
      <p:pic>
        <p:nvPicPr>
          <p:cNvPr id="13" name="Image 1" descr="preencoded.png">    </p:cNvPr>
          <p:cNvPicPr>
            <a:picLocks noChangeAspect="1"/>
          </p:cNvPicPr>
          <p:nvPr/>
        </p:nvPicPr>
        <p:blipFill>
          <a:blip r:embed="rId2"/>
          <a:stretch>
            <a:fillRect/>
          </a:stretch>
        </p:blipFill>
        <p:spPr>
          <a:xfrm>
            <a:off x="2846070" y="1611630"/>
            <a:ext cx="205740" cy="205740"/>
          </a:xfrm>
          <a:prstGeom prst="rect">
            <a:avLst/>
          </a:prstGeom>
        </p:spPr>
      </p:pic>
      <p:sp>
        <p:nvSpPr>
          <p:cNvPr id="14" name="Text 10"/>
          <p:cNvSpPr txBox="1"/>
          <p:nvPr/>
        </p:nvSpPr>
        <p:spPr>
          <a:xfrm>
            <a:off x="3246120" y="1481328"/>
            <a:ext cx="1188720" cy="256032"/>
          </a:xfrm>
          <a:prstGeom prst="rect">
            <a:avLst/>
          </a:prstGeom>
          <a:noFill/>
          <a:ln/>
        </p:spPr>
        <p:txBody>
          <a:bodyPr wrap="square" lIns="0" tIns="0" rIns="0" bIns="0" rtlCol="0" anchor="t"/>
          <a:lstStyle/>
          <a:p>
            <a:pPr indent="0" marL="0">
              <a:buNone/>
            </a:pPr>
            <a:r>
              <a:rPr lang="en-US" sz="1200" b="1" dirty="0">
                <a:solidFill>
                  <a:srgbClr val="F2A900"/>
                </a:solidFill>
                <a:latin typeface="Arial" pitchFamily="34" charset="0"/>
                <a:ea typeface="Arial" pitchFamily="34" charset="-122"/>
                <a:cs typeface="Arial" pitchFamily="34" charset="-120"/>
              </a:rPr>
              <a:t>KW 41</a:t>
            </a:r>
            <a:endParaRPr lang="en-US" sz="1200" dirty="0"/>
          </a:p>
        </p:txBody>
      </p:sp>
      <p:sp>
        <p:nvSpPr>
          <p:cNvPr id="15" name="Text 11"/>
          <p:cNvSpPr txBox="1"/>
          <p:nvPr/>
        </p:nvSpPr>
        <p:spPr>
          <a:xfrm>
            <a:off x="3246120" y="1737360"/>
            <a:ext cx="1188720" cy="228600"/>
          </a:xfrm>
          <a:prstGeom prst="rect">
            <a:avLst/>
          </a:prstGeom>
          <a:noFill/>
          <a:ln/>
        </p:spPr>
        <p:txBody>
          <a:bodyPr wrap="square" lIns="0" tIns="0" rIns="0" bIns="0" rtlCol="0" anchor="t"/>
          <a:lstStyle/>
          <a:p>
            <a:pPr indent="0" marL="0">
              <a:buNone/>
            </a:pPr>
            <a:r>
              <a:rPr lang="en-US" sz="900" dirty="0">
                <a:solidFill>
                  <a:srgbClr val="9AA0A6"/>
                </a:solidFill>
                <a:latin typeface="Calibri" pitchFamily="34" charset="0"/>
                <a:ea typeface="Calibri" pitchFamily="34" charset="-122"/>
                <a:cs typeface="Calibri" pitchFamily="34" charset="-120"/>
              </a:rPr>
              <a:t>bis 09.10.</a:t>
            </a:r>
            <a:endParaRPr lang="en-US" sz="900" dirty="0"/>
          </a:p>
        </p:txBody>
      </p:sp>
      <p:sp>
        <p:nvSpPr>
          <p:cNvPr id="16" name="Text 12"/>
          <p:cNvSpPr txBox="1"/>
          <p:nvPr/>
        </p:nvSpPr>
        <p:spPr>
          <a:xfrm>
            <a:off x="2743200" y="2148840"/>
            <a:ext cx="1645920" cy="320040"/>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Zuteilung</a:t>
            </a:r>
            <a:endParaRPr lang="en-US" sz="1300" dirty="0"/>
          </a:p>
        </p:txBody>
      </p:sp>
      <p:sp>
        <p:nvSpPr>
          <p:cNvPr id="17" name="Text 13"/>
          <p:cNvSpPr txBox="1"/>
          <p:nvPr/>
        </p:nvSpPr>
        <p:spPr>
          <a:xfrm>
            <a:off x="2743200" y="2487168"/>
            <a:ext cx="1600200" cy="1097280"/>
          </a:xfrm>
          <a:prstGeom prst="rect">
            <a:avLst/>
          </a:prstGeom>
          <a:noFill/>
          <a:ln/>
        </p:spPr>
        <p:txBody>
          <a:bodyPr wrap="square" lIns="0" tIns="0" rIns="0" bIns="0" rtlCol="0" anchor="t"/>
          <a:lstStyle/>
          <a:p>
            <a:pPr indent="0" marL="0">
              <a:buNone/>
            </a:pPr>
            <a:r>
              <a:rPr lang="en-US" sz="1050" dirty="0">
                <a:solidFill>
                  <a:srgbClr val="D1D5DB"/>
                </a:solidFill>
                <a:latin typeface="Calibri" pitchFamily="34" charset="0"/>
                <a:ea typeface="Calibri" pitchFamily="34" charset="-122"/>
                <a:cs typeface="Calibri" pitchFamily="34" charset="-120"/>
              </a:rPr>
              <a:t>Verantwortliche und Prio final je Firma setzen.</a:t>
            </a:r>
            <a:endParaRPr lang="en-US" sz="1050" dirty="0"/>
          </a:p>
        </p:txBody>
      </p:sp>
      <p:sp>
        <p:nvSpPr>
          <p:cNvPr id="18" name="Shape 14"/>
          <p:cNvSpPr/>
          <p:nvPr/>
        </p:nvSpPr>
        <p:spPr>
          <a:xfrm>
            <a:off x="4663440" y="1325880"/>
            <a:ext cx="1920240" cy="2331720"/>
          </a:xfrm>
          <a:prstGeom prst="roundRect">
            <a:avLst>
              <a:gd name="adj" fmla="val 3810"/>
            </a:avLst>
          </a:prstGeom>
          <a:solidFill>
            <a:srgbClr val="2E343B"/>
          </a:solidFill>
          <a:ln w="12700">
            <a:solidFill>
              <a:srgbClr val="2E343B"/>
            </a:solidFill>
            <a:prstDash val="solid"/>
          </a:ln>
        </p:spPr>
      </p:sp>
      <p:sp>
        <p:nvSpPr>
          <p:cNvPr id="19" name="Shape 15"/>
          <p:cNvSpPr/>
          <p:nvPr/>
        </p:nvSpPr>
        <p:spPr>
          <a:xfrm>
            <a:off x="4846320" y="1508760"/>
            <a:ext cx="411480" cy="411480"/>
          </a:xfrm>
          <a:prstGeom prst="ellipse">
            <a:avLst/>
          </a:prstGeom>
          <a:solidFill>
            <a:srgbClr val="F2A900"/>
          </a:solidFill>
          <a:ln w="12700">
            <a:solidFill>
              <a:srgbClr val="F2A900"/>
            </a:solidFill>
            <a:prstDash val="solid"/>
          </a:ln>
        </p:spPr>
      </p:sp>
      <p:pic>
        <p:nvPicPr>
          <p:cNvPr id="20" name="Image 2" descr="preencoded.png">    </p:cNvPr>
          <p:cNvPicPr>
            <a:picLocks noChangeAspect="1"/>
          </p:cNvPicPr>
          <p:nvPr/>
        </p:nvPicPr>
        <p:blipFill>
          <a:blip r:embed="rId3"/>
          <a:stretch>
            <a:fillRect/>
          </a:stretch>
        </p:blipFill>
        <p:spPr>
          <a:xfrm>
            <a:off x="4949190" y="1611630"/>
            <a:ext cx="205740" cy="205740"/>
          </a:xfrm>
          <a:prstGeom prst="rect">
            <a:avLst/>
          </a:prstGeom>
        </p:spPr>
      </p:pic>
      <p:sp>
        <p:nvSpPr>
          <p:cNvPr id="21" name="Text 16"/>
          <p:cNvSpPr txBox="1"/>
          <p:nvPr/>
        </p:nvSpPr>
        <p:spPr>
          <a:xfrm>
            <a:off x="5349240" y="1481328"/>
            <a:ext cx="1188720" cy="256032"/>
          </a:xfrm>
          <a:prstGeom prst="rect">
            <a:avLst/>
          </a:prstGeom>
          <a:noFill/>
          <a:ln/>
        </p:spPr>
        <p:txBody>
          <a:bodyPr wrap="square" lIns="0" tIns="0" rIns="0" bIns="0" rtlCol="0" anchor="t"/>
          <a:lstStyle/>
          <a:p>
            <a:pPr indent="0" marL="0">
              <a:buNone/>
            </a:pPr>
            <a:r>
              <a:rPr lang="en-US" sz="1200" b="1" dirty="0">
                <a:solidFill>
                  <a:srgbClr val="F2A900"/>
                </a:solidFill>
                <a:latin typeface="Arial" pitchFamily="34" charset="0"/>
                <a:ea typeface="Arial" pitchFamily="34" charset="-122"/>
                <a:cs typeface="Arial" pitchFamily="34" charset="-120"/>
              </a:rPr>
              <a:t>KW 42-45</a:t>
            </a:r>
            <a:endParaRPr lang="en-US" sz="1200" dirty="0"/>
          </a:p>
        </p:txBody>
      </p:sp>
      <p:sp>
        <p:nvSpPr>
          <p:cNvPr id="22" name="Text 17"/>
          <p:cNvSpPr txBox="1"/>
          <p:nvPr/>
        </p:nvSpPr>
        <p:spPr>
          <a:xfrm>
            <a:off x="5349240" y="1737360"/>
            <a:ext cx="1188720" cy="228600"/>
          </a:xfrm>
          <a:prstGeom prst="rect">
            <a:avLst/>
          </a:prstGeom>
          <a:noFill/>
          <a:ln/>
        </p:spPr>
        <p:txBody>
          <a:bodyPr wrap="square" lIns="0" tIns="0" rIns="0" bIns="0" rtlCol="0" anchor="t"/>
          <a:lstStyle/>
          <a:p>
            <a:pPr indent="0" marL="0">
              <a:buNone/>
            </a:pPr>
            <a:r>
              <a:rPr lang="en-US" sz="900" dirty="0">
                <a:solidFill>
                  <a:srgbClr val="9AA0A6"/>
                </a:solidFill>
                <a:latin typeface="Calibri" pitchFamily="34" charset="0"/>
                <a:ea typeface="Calibri" pitchFamily="34" charset="-122"/>
                <a:cs typeface="Calibri" pitchFamily="34" charset="-120"/>
              </a:rPr>
              <a:t>12.10.-06.11.</a:t>
            </a:r>
            <a:endParaRPr lang="en-US" sz="900" dirty="0"/>
          </a:p>
        </p:txBody>
      </p:sp>
      <p:sp>
        <p:nvSpPr>
          <p:cNvPr id="23" name="Text 18"/>
          <p:cNvSpPr txBox="1"/>
          <p:nvPr/>
        </p:nvSpPr>
        <p:spPr>
          <a:xfrm>
            <a:off x="4846320" y="2148840"/>
            <a:ext cx="1645920" cy="320040"/>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Erstkontakt A</a:t>
            </a:r>
            <a:endParaRPr lang="en-US" sz="1300" dirty="0"/>
          </a:p>
        </p:txBody>
      </p:sp>
      <p:sp>
        <p:nvSpPr>
          <p:cNvPr id="24" name="Text 19"/>
          <p:cNvSpPr txBox="1"/>
          <p:nvPr/>
        </p:nvSpPr>
        <p:spPr>
          <a:xfrm>
            <a:off x="4846320" y="2487168"/>
            <a:ext cx="1600200" cy="1097280"/>
          </a:xfrm>
          <a:prstGeom prst="rect">
            <a:avLst/>
          </a:prstGeom>
          <a:noFill/>
          <a:ln/>
        </p:spPr>
        <p:txBody>
          <a:bodyPr wrap="square" lIns="0" tIns="0" rIns="0" bIns="0" rtlCol="0" anchor="t"/>
          <a:lstStyle/>
          <a:p>
            <a:pPr indent="0" marL="0">
              <a:buNone/>
            </a:pPr>
            <a:r>
              <a:rPr lang="en-US" sz="1050" dirty="0">
                <a:solidFill>
                  <a:srgbClr val="D1D5DB"/>
                </a:solidFill>
                <a:latin typeface="Calibri" pitchFamily="34" charset="0"/>
                <a:ea typeface="Calibri" pitchFamily="34" charset="-122"/>
                <a:cs typeface="Calibri" pitchFamily="34" charset="-120"/>
              </a:rPr>
              <a:t>Alle 36 A-Firmen: Ansprechperson verifizieren, Termin anfragen.</a:t>
            </a:r>
            <a:endParaRPr lang="en-US" sz="1050" dirty="0"/>
          </a:p>
        </p:txBody>
      </p:sp>
      <p:sp>
        <p:nvSpPr>
          <p:cNvPr id="25" name="Shape 20"/>
          <p:cNvSpPr/>
          <p:nvPr/>
        </p:nvSpPr>
        <p:spPr>
          <a:xfrm>
            <a:off x="6766560" y="1325880"/>
            <a:ext cx="1920240" cy="2331720"/>
          </a:xfrm>
          <a:prstGeom prst="roundRect">
            <a:avLst>
              <a:gd name="adj" fmla="val 3810"/>
            </a:avLst>
          </a:prstGeom>
          <a:solidFill>
            <a:srgbClr val="2E343B"/>
          </a:solidFill>
          <a:ln w="12700">
            <a:solidFill>
              <a:srgbClr val="2E343B"/>
            </a:solidFill>
            <a:prstDash val="solid"/>
          </a:ln>
        </p:spPr>
      </p:sp>
      <p:sp>
        <p:nvSpPr>
          <p:cNvPr id="26" name="Shape 21"/>
          <p:cNvSpPr/>
          <p:nvPr/>
        </p:nvSpPr>
        <p:spPr>
          <a:xfrm>
            <a:off x="6949440" y="1508760"/>
            <a:ext cx="411480" cy="411480"/>
          </a:xfrm>
          <a:prstGeom prst="ellipse">
            <a:avLst/>
          </a:prstGeom>
          <a:solidFill>
            <a:srgbClr val="F2A900"/>
          </a:solidFill>
          <a:ln w="12700">
            <a:solidFill>
              <a:srgbClr val="F2A900"/>
            </a:solidFill>
            <a:prstDash val="solid"/>
          </a:ln>
        </p:spPr>
      </p:sp>
      <p:pic>
        <p:nvPicPr>
          <p:cNvPr id="27" name="Image 3" descr="preencoded.png">    </p:cNvPr>
          <p:cNvPicPr>
            <a:picLocks noChangeAspect="1"/>
          </p:cNvPicPr>
          <p:nvPr/>
        </p:nvPicPr>
        <p:blipFill>
          <a:blip r:embed="rId4"/>
          <a:stretch>
            <a:fillRect/>
          </a:stretch>
        </p:blipFill>
        <p:spPr>
          <a:xfrm>
            <a:off x="7052310" y="1611630"/>
            <a:ext cx="205740" cy="205740"/>
          </a:xfrm>
          <a:prstGeom prst="rect">
            <a:avLst/>
          </a:prstGeom>
        </p:spPr>
      </p:pic>
      <p:sp>
        <p:nvSpPr>
          <p:cNvPr id="28" name="Text 22"/>
          <p:cNvSpPr txBox="1"/>
          <p:nvPr/>
        </p:nvSpPr>
        <p:spPr>
          <a:xfrm>
            <a:off x="7452360" y="1481328"/>
            <a:ext cx="1188720" cy="256032"/>
          </a:xfrm>
          <a:prstGeom prst="rect">
            <a:avLst/>
          </a:prstGeom>
          <a:noFill/>
          <a:ln/>
        </p:spPr>
        <p:txBody>
          <a:bodyPr wrap="square" lIns="0" tIns="0" rIns="0" bIns="0" rtlCol="0" anchor="t"/>
          <a:lstStyle/>
          <a:p>
            <a:pPr indent="0" marL="0">
              <a:buNone/>
            </a:pPr>
            <a:r>
              <a:rPr lang="en-US" sz="1200" b="1" dirty="0">
                <a:solidFill>
                  <a:srgbClr val="F2A900"/>
                </a:solidFill>
                <a:latin typeface="Arial" pitchFamily="34" charset="0"/>
                <a:ea typeface="Arial" pitchFamily="34" charset="-122"/>
                <a:cs typeface="Arial" pitchFamily="34" charset="-120"/>
              </a:rPr>
              <a:t>KW 46</a:t>
            </a:r>
            <a:endParaRPr lang="en-US" sz="1200" dirty="0"/>
          </a:p>
        </p:txBody>
      </p:sp>
      <p:sp>
        <p:nvSpPr>
          <p:cNvPr id="29" name="Text 23"/>
          <p:cNvSpPr txBox="1"/>
          <p:nvPr/>
        </p:nvSpPr>
        <p:spPr>
          <a:xfrm>
            <a:off x="7452360" y="1737360"/>
            <a:ext cx="1188720" cy="228600"/>
          </a:xfrm>
          <a:prstGeom prst="rect">
            <a:avLst/>
          </a:prstGeom>
          <a:noFill/>
          <a:ln/>
        </p:spPr>
        <p:txBody>
          <a:bodyPr wrap="square" lIns="0" tIns="0" rIns="0" bIns="0" rtlCol="0" anchor="t"/>
          <a:lstStyle/>
          <a:p>
            <a:pPr indent="0" marL="0">
              <a:buNone/>
            </a:pPr>
            <a:r>
              <a:rPr lang="en-US" sz="900" dirty="0">
                <a:solidFill>
                  <a:srgbClr val="9AA0A6"/>
                </a:solidFill>
                <a:latin typeface="Calibri" pitchFamily="34" charset="0"/>
                <a:ea typeface="Calibri" pitchFamily="34" charset="-122"/>
                <a:cs typeface="Calibri" pitchFamily="34" charset="-120"/>
              </a:rPr>
              <a:t>ab 09.11.</a:t>
            </a:r>
            <a:endParaRPr lang="en-US" sz="900" dirty="0"/>
          </a:p>
        </p:txBody>
      </p:sp>
      <p:sp>
        <p:nvSpPr>
          <p:cNvPr id="30" name="Text 24"/>
          <p:cNvSpPr txBox="1"/>
          <p:nvPr/>
        </p:nvSpPr>
        <p:spPr>
          <a:xfrm>
            <a:off x="6949440" y="2148840"/>
            <a:ext cx="1645920" cy="320040"/>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Review</a:t>
            </a:r>
            <a:endParaRPr lang="en-US" sz="1300" dirty="0"/>
          </a:p>
        </p:txBody>
      </p:sp>
      <p:sp>
        <p:nvSpPr>
          <p:cNvPr id="31" name="Text 25"/>
          <p:cNvSpPr txBox="1"/>
          <p:nvPr/>
        </p:nvSpPr>
        <p:spPr>
          <a:xfrm>
            <a:off x="6949440" y="2487168"/>
            <a:ext cx="1600200" cy="1097280"/>
          </a:xfrm>
          <a:prstGeom prst="rect">
            <a:avLst/>
          </a:prstGeom>
          <a:noFill/>
          <a:ln/>
        </p:spPr>
        <p:txBody>
          <a:bodyPr wrap="square" lIns="0" tIns="0" rIns="0" bIns="0" rtlCol="0" anchor="t"/>
          <a:lstStyle/>
          <a:p>
            <a:pPr indent="0" marL="0">
              <a:buNone/>
            </a:pPr>
            <a:r>
              <a:rPr lang="en-US" sz="1050" dirty="0">
                <a:solidFill>
                  <a:srgbClr val="D1D5DB"/>
                </a:solidFill>
                <a:latin typeface="Calibri" pitchFamily="34" charset="0"/>
                <a:ea typeface="Calibri" pitchFamily="34" charset="-122"/>
                <a:cs typeface="Calibri" pitchFamily="34" charset="-120"/>
              </a:rPr>
              <a:t>Pipeline-Stand, B-Firmen mit neuem Anlass hochstufen.</a:t>
            </a:r>
            <a:endParaRPr lang="en-US" sz="1050" dirty="0"/>
          </a:p>
        </p:txBody>
      </p:sp>
      <p:sp>
        <p:nvSpPr>
          <p:cNvPr id="32" name="Shape 26"/>
          <p:cNvSpPr/>
          <p:nvPr/>
        </p:nvSpPr>
        <p:spPr>
          <a:xfrm>
            <a:off x="457200" y="3840480"/>
            <a:ext cx="8229600" cy="731520"/>
          </a:xfrm>
          <a:prstGeom prst="roundRect">
            <a:avLst>
              <a:gd name="adj" fmla="val 10000"/>
            </a:avLst>
          </a:prstGeom>
          <a:solidFill>
            <a:srgbClr val="F2A900"/>
          </a:solidFill>
          <a:ln w="12700">
            <a:solidFill>
              <a:srgbClr val="F2A900"/>
            </a:solidFill>
            <a:prstDash val="solid"/>
          </a:ln>
        </p:spPr>
      </p:sp>
      <p:sp>
        <p:nvSpPr>
          <p:cNvPr id="33" name="Text 27"/>
          <p:cNvSpPr txBox="1"/>
          <p:nvPr/>
        </p:nvSpPr>
        <p:spPr>
          <a:xfrm>
            <a:off x="685800" y="3840480"/>
            <a:ext cx="7772400" cy="731520"/>
          </a:xfrm>
          <a:prstGeom prst="rect">
            <a:avLst/>
          </a:prstGeom>
          <a:noFill/>
          <a:ln/>
        </p:spPr>
        <p:txBody>
          <a:bodyPr wrap="square" lIns="0" tIns="0" rIns="0" bIns="0" rtlCol="0" anchor="ctr"/>
          <a:lstStyle/>
          <a:p>
            <a:pPr indent="0" marL="0">
              <a:buNone/>
            </a:pPr>
            <a:r>
              <a:rPr lang="en-US" sz="1300" b="1" dirty="0">
                <a:solidFill>
                  <a:srgbClr val="1F2328"/>
                </a:solidFill>
                <a:latin typeface="Calibri" pitchFamily="34" charset="0"/>
                <a:ea typeface="Calibri" pitchFamily="34" charset="-122"/>
                <a:cs typeface="Calibri" pitchFamily="34" charset="-120"/>
              </a:rPr>
              <a:t>Der eine Hebel: </a:t>
            </a:r>
            <a:pPr indent="0" marL="0">
              <a:buNone/>
            </a:pPr>
            <a:r>
              <a:rPr lang="en-US" sz="1300" dirty="0">
                <a:solidFill>
                  <a:srgbClr val="1F2328"/>
                </a:solidFill>
                <a:latin typeface="Calibri" pitchFamily="34" charset="0"/>
                <a:ea typeface="Calibri" pitchFamily="34" charset="-122"/>
                <a:cs typeface="Calibri" pitchFamily="34" charset="-120"/>
              </a:rPr>
              <a:t>der CRM-Abgleich. Erst mit dem echten Kundenstatus wird aus A/B/C eine Reihenfolge, nach der wir telefonieren.</a:t>
            </a:r>
            <a:endParaRPr lang="en-US" sz="1300" dirty="0"/>
          </a:p>
        </p:txBody>
      </p:sp>
      <p:sp>
        <p:nvSpPr>
          <p:cNvPr id="34" name="Text 28"/>
          <p:cNvSpPr txBox="1"/>
          <p:nvPr/>
        </p:nvSpPr>
        <p:spPr>
          <a:xfrm>
            <a:off x="457200" y="4800600"/>
            <a:ext cx="5486400" cy="228600"/>
          </a:xfrm>
          <a:prstGeom prst="rect">
            <a:avLst/>
          </a:prstGeom>
          <a:noFill/>
          <a:ln/>
        </p:spPr>
        <p:txBody>
          <a:bodyPr wrap="square" lIns="0" tIns="0" rIns="0" bIns="0" rtlCol="0" anchor="ctr"/>
          <a:lstStyle/>
          <a:p>
            <a:pPr indent="0" marL="0">
              <a:buNone/>
            </a:pPr>
            <a:r>
              <a:rPr lang="en-US" sz="800" dirty="0">
                <a:solidFill>
                  <a:srgbClr val="9AA0A6"/>
                </a:solidFill>
                <a:latin typeface="Calibri" pitchFamily="34" charset="0"/>
                <a:ea typeface="Calibri" pitchFamily="34" charset="-122"/>
                <a:cs typeface="Calibri" pitchFamily="34" charset="-120"/>
              </a:rPr>
              <a:t>Mobil In Time  ·  Zielkunden Schweiz 2026/27  ·  intern</a:t>
            </a:r>
            <a:endParaRPr lang="en-US" sz="800" dirty="0"/>
          </a:p>
        </p:txBody>
      </p:sp>
      <p:sp>
        <p:nvSpPr>
          <p:cNvPr id="35" name="Text 29"/>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9AA0A6"/>
                </a:solidFill>
                <a:latin typeface="Calibri" pitchFamily="34" charset="0"/>
                <a:ea typeface="Calibri" pitchFamily="34" charset="-122"/>
                <a:cs typeface="Calibri" pitchFamily="34" charset="-120"/>
              </a:rPr>
              <a:t>12</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Zielkunden Schweiz 2026/27</dc:title>
  <dc:subject>PptxGenJS Presentation</dc:subject>
  <dc:creator>Burak Ücöz</dc:creator>
  <cp:lastModifiedBy>Burak Ücöz</cp:lastModifiedBy>
  <cp:revision>1</cp:revision>
  <dcterms:created xsi:type="dcterms:W3CDTF">2026-09-27T15:44:05Z</dcterms:created>
  <dcterms:modified xsi:type="dcterms:W3CDTF">2026-09-27T15:44:05Z</dcterms:modified>
</cp:coreProperties>
</file>