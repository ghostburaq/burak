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10.svg" ContentType="image/svg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0"/>
  </p:notes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12"/>
    <p:sldId id="264" r:id="rId11"/>
    <p:sldId id="265" r:id="rId10"/>
    <p:sldId id="266" r:id="rId9"/>
    <p:sldId id="267" r:id="rId8"/>
    <p:sldId id="268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schnitt ohne Titel" id="{C6D4BE38-8B3C-402D-BB49-1E5FC4A05F0C}">
          <p14:sldIdLst>
            <p14:sldId id="256"/>
            <p14:sldId id="260"/>
            <p14:sldId id="262"/>
            <p14:sldId id="350"/>
            <p14:sldId id="258"/>
            <p14:sldId id="266"/>
            <p14:sldId id="336"/>
            <p14:sldId id="345"/>
            <p14:sldId id="338"/>
            <p14:sldId id="339"/>
            <p14:sldId id="341"/>
            <p14:sldId id="349"/>
            <p14:sldId id="347"/>
            <p14:sldId id="267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2A092AD-01A1-75B1-12F5-27835F26D3D8}" name="Ann-Kathrin Schmidt" initials="AKS" userId="S::Schmidt@mobilintime.com::eed76019-7097-4b67-b5ca-4538df3ddc9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595B"/>
    <a:srgbClr val="E00036"/>
    <a:srgbClr val="E5032E"/>
    <a:srgbClr val="66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93B28D-4185-4A60-8DA6-FB67E9D3690E}" v="10" dt="2026-07-13T09:07:07.3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>
        <p:scale>
          <a:sx n="112" d="100"/>
          <a:sy n="112" d="100"/>
        </p:scale>
        <p:origin x="438" y="4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9.xml"/><Relationship Id="rId12" Type="http://schemas.openxmlformats.org/officeDocument/2006/relationships/slide" Target="slides/slide8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Relationship Id="rId26" Type="http://schemas.microsoft.com/office/2015/10/relationships/revisionInfo" Target="revisionInfo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scha Promberger" userId="de38bd02-217f-4d7d-a2d9-3812f9b77dec" providerId="ADAL" clId="{348B077B-6069-4F27-9ADF-AB26C724BB46}"/>
    <pc:docChg chg="undo custSel addSld delSld modSld modSection">
      <pc:chgData name="Sascha Promberger" userId="de38bd02-217f-4d7d-a2d9-3812f9b77dec" providerId="ADAL" clId="{348B077B-6069-4F27-9ADF-AB26C724BB46}" dt="2026-07-13T13:39:20.474" v="952" actId="2696"/>
      <pc:docMkLst>
        <pc:docMk/>
      </pc:docMkLst>
      <pc:sldChg chg="modSp del mod">
        <pc:chgData name="Sascha Promberger" userId="de38bd02-217f-4d7d-a2d9-3812f9b77dec" providerId="ADAL" clId="{348B077B-6069-4F27-9ADF-AB26C724BB46}" dt="2026-07-13T13:39:20.474" v="952" actId="2696"/>
        <pc:sldMkLst>
          <pc:docMk/>
          <pc:sldMk cId="703779366" sldId="264"/>
        </pc:sldMkLst>
        <pc:spChg chg="mod">
          <ac:chgData name="Sascha Promberger" userId="de38bd02-217f-4d7d-a2d9-3812f9b77dec" providerId="ADAL" clId="{348B077B-6069-4F27-9ADF-AB26C724BB46}" dt="2026-07-13T07:13:05.878" v="20" actId="1076"/>
          <ac:spMkLst>
            <pc:docMk/>
            <pc:sldMk cId="703779366" sldId="264"/>
            <ac:spMk id="4" creationId="{ED55C8CF-7D07-69A7-3FB2-F421149D4F29}"/>
          </ac:spMkLst>
        </pc:spChg>
        <pc:spChg chg="mod">
          <ac:chgData name="Sascha Promberger" userId="de38bd02-217f-4d7d-a2d9-3812f9b77dec" providerId="ADAL" clId="{348B077B-6069-4F27-9ADF-AB26C724BB46}" dt="2026-07-13T07:13:05.082" v="17" actId="1076"/>
          <ac:spMkLst>
            <pc:docMk/>
            <pc:sldMk cId="703779366" sldId="264"/>
            <ac:spMk id="19" creationId="{AD62A131-C7E6-489E-91FA-CE468889BCE6}"/>
          </ac:spMkLst>
        </pc:spChg>
        <pc:spChg chg="mod">
          <ac:chgData name="Sascha Promberger" userId="de38bd02-217f-4d7d-a2d9-3812f9b77dec" providerId="ADAL" clId="{348B077B-6069-4F27-9ADF-AB26C724BB46}" dt="2026-07-13T07:13:05.082" v="17" actId="1076"/>
          <ac:spMkLst>
            <pc:docMk/>
            <pc:sldMk cId="703779366" sldId="264"/>
            <ac:spMk id="20" creationId="{33DF6977-EC1F-1360-6DFC-53EEDC12F314}"/>
          </ac:spMkLst>
        </pc:spChg>
        <pc:spChg chg="mod">
          <ac:chgData name="Sascha Promberger" userId="de38bd02-217f-4d7d-a2d9-3812f9b77dec" providerId="ADAL" clId="{348B077B-6069-4F27-9ADF-AB26C724BB46}" dt="2026-07-13T07:13:06.363" v="23" actId="1076"/>
          <ac:spMkLst>
            <pc:docMk/>
            <pc:sldMk cId="703779366" sldId="264"/>
            <ac:spMk id="21" creationId="{3D5A0F1F-5DA2-DB2B-FCE0-B4C0097D46DF}"/>
          </ac:spMkLst>
        </pc:spChg>
        <pc:spChg chg="mod">
          <ac:chgData name="Sascha Promberger" userId="de38bd02-217f-4d7d-a2d9-3812f9b77dec" providerId="ADAL" clId="{348B077B-6069-4F27-9ADF-AB26C724BB46}" dt="2026-07-13T07:13:06.363" v="23" actId="1076"/>
          <ac:spMkLst>
            <pc:docMk/>
            <pc:sldMk cId="703779366" sldId="264"/>
            <ac:spMk id="23" creationId="{B543A7C8-C6A7-014A-CF76-62C5CFF0B171}"/>
          </ac:spMkLst>
        </pc:spChg>
        <pc:spChg chg="mod">
          <ac:chgData name="Sascha Promberger" userId="de38bd02-217f-4d7d-a2d9-3812f9b77dec" providerId="ADAL" clId="{348B077B-6069-4F27-9ADF-AB26C724BB46}" dt="2026-07-13T07:13:05.878" v="20" actId="1076"/>
          <ac:spMkLst>
            <pc:docMk/>
            <pc:sldMk cId="703779366" sldId="264"/>
            <ac:spMk id="24" creationId="{44D8D2FC-985C-0739-FAAC-F2C4B27DD4EE}"/>
          </ac:spMkLst>
        </pc:spChg>
        <pc:spChg chg="mod">
          <ac:chgData name="Sascha Promberger" userId="de38bd02-217f-4d7d-a2d9-3812f9b77dec" providerId="ADAL" clId="{348B077B-6069-4F27-9ADF-AB26C724BB46}" dt="2026-07-13T07:13:05.082" v="17" actId="1076"/>
          <ac:spMkLst>
            <pc:docMk/>
            <pc:sldMk cId="703779366" sldId="264"/>
            <ac:spMk id="25" creationId="{4286E746-0461-761B-9E2E-52AFF33AF458}"/>
          </ac:spMkLst>
        </pc:spChg>
        <pc:spChg chg="mod">
          <ac:chgData name="Sascha Promberger" userId="de38bd02-217f-4d7d-a2d9-3812f9b77dec" providerId="ADAL" clId="{348B077B-6069-4F27-9ADF-AB26C724BB46}" dt="2026-07-13T07:13:05.082" v="17" actId="1076"/>
          <ac:spMkLst>
            <pc:docMk/>
            <pc:sldMk cId="703779366" sldId="264"/>
            <ac:spMk id="26" creationId="{EFDAA436-BEED-E16F-69E9-FDD9AE30A5FD}"/>
          </ac:spMkLst>
        </pc:spChg>
        <pc:picChg chg="mod">
          <ac:chgData name="Sascha Promberger" userId="de38bd02-217f-4d7d-a2d9-3812f9b77dec" providerId="ADAL" clId="{348B077B-6069-4F27-9ADF-AB26C724BB46}" dt="2026-07-13T07:00:53.772" v="11" actId="1076"/>
          <ac:picMkLst>
            <pc:docMk/>
            <pc:sldMk cId="703779366" sldId="264"/>
            <ac:picMk id="2" creationId="{BEC7F240-D7C6-3BED-3BCC-32C4BEE98102}"/>
          </ac:picMkLst>
        </pc:picChg>
      </pc:sldChg>
      <pc:sldChg chg="addSp delSp modSp add mod">
        <pc:chgData name="Sascha Promberger" userId="de38bd02-217f-4d7d-a2d9-3812f9b77dec" providerId="ADAL" clId="{348B077B-6069-4F27-9ADF-AB26C724BB46}" dt="2026-07-13T10:40:17.114" v="951" actId="1036"/>
        <pc:sldMkLst>
          <pc:docMk/>
          <pc:sldMk cId="229551692" sldId="350"/>
        </pc:sldMkLst>
        <pc:spChg chg="mod">
          <ac:chgData name="Sascha Promberger" userId="de38bd02-217f-4d7d-a2d9-3812f9b77dec" providerId="ADAL" clId="{348B077B-6069-4F27-9ADF-AB26C724BB46}" dt="2026-07-13T10:00:10.854" v="844" actId="1037"/>
          <ac:spMkLst>
            <pc:docMk/>
            <pc:sldMk cId="229551692" sldId="350"/>
            <ac:spMk id="3" creationId="{7051C94B-0AC7-BF7C-71D3-D0B1FD235A71}"/>
          </ac:spMkLst>
        </pc:spChg>
        <pc:spChg chg="del">
          <ac:chgData name="Sascha Promberger" userId="de38bd02-217f-4d7d-a2d9-3812f9b77dec" providerId="ADAL" clId="{348B077B-6069-4F27-9ADF-AB26C724BB46}" dt="2026-07-13T07:13:35.052" v="28" actId="478"/>
          <ac:spMkLst>
            <pc:docMk/>
            <pc:sldMk cId="229551692" sldId="350"/>
            <ac:spMk id="4" creationId="{B627D7F5-966D-7496-70CE-6D8B420955CE}"/>
          </ac:spMkLst>
        </pc:spChg>
        <pc:spChg chg="add del mod">
          <ac:chgData name="Sascha Promberger" userId="de38bd02-217f-4d7d-a2d9-3812f9b77dec" providerId="ADAL" clId="{348B077B-6069-4F27-9ADF-AB26C724BB46}" dt="2026-07-13T09:08:42.451" v="702" actId="478"/>
          <ac:spMkLst>
            <pc:docMk/>
            <pc:sldMk cId="229551692" sldId="350"/>
            <ac:spMk id="7" creationId="{052EE29D-AED6-86ED-6082-4369E1B441AE}"/>
          </ac:spMkLst>
        </pc:spChg>
        <pc:spChg chg="del">
          <ac:chgData name="Sascha Promberger" userId="de38bd02-217f-4d7d-a2d9-3812f9b77dec" providerId="ADAL" clId="{348B077B-6069-4F27-9ADF-AB26C724BB46}" dt="2026-07-13T07:13:43.046" v="30" actId="478"/>
          <ac:spMkLst>
            <pc:docMk/>
            <pc:sldMk cId="229551692" sldId="350"/>
            <ac:spMk id="19" creationId="{BD20C31F-4953-2CEF-4BEC-7ABE1F286FF9}"/>
          </ac:spMkLst>
        </pc:spChg>
        <pc:spChg chg="add del">
          <ac:chgData name="Sascha Promberger" userId="de38bd02-217f-4d7d-a2d9-3812f9b77dec" providerId="ADAL" clId="{348B077B-6069-4F27-9ADF-AB26C724BB46}" dt="2026-07-13T07:14:48.913" v="41" actId="478"/>
          <ac:spMkLst>
            <pc:docMk/>
            <pc:sldMk cId="229551692" sldId="350"/>
            <ac:spMk id="20" creationId="{9C54C3C4-C954-8CEE-2356-4F8D42B7104F}"/>
          </ac:spMkLst>
        </pc:spChg>
        <pc:spChg chg="del mod">
          <ac:chgData name="Sascha Promberger" userId="de38bd02-217f-4d7d-a2d9-3812f9b77dec" providerId="ADAL" clId="{348B077B-6069-4F27-9ADF-AB26C724BB46}" dt="2026-07-13T07:13:33.067" v="27" actId="478"/>
          <ac:spMkLst>
            <pc:docMk/>
            <pc:sldMk cId="229551692" sldId="350"/>
            <ac:spMk id="21" creationId="{6436FD6F-ED0F-BEFC-92F2-95574927F7AF}"/>
          </ac:spMkLst>
        </pc:spChg>
        <pc:spChg chg="mod">
          <ac:chgData name="Sascha Promberger" userId="de38bd02-217f-4d7d-a2d9-3812f9b77dec" providerId="ADAL" clId="{348B077B-6069-4F27-9ADF-AB26C724BB46}" dt="2026-07-13T07:17:00.946" v="106" actId="1037"/>
          <ac:spMkLst>
            <pc:docMk/>
            <pc:sldMk cId="229551692" sldId="350"/>
            <ac:spMk id="22" creationId="{23A9F2DC-5808-2639-5D7E-308BFA45FF34}"/>
          </ac:spMkLst>
        </pc:spChg>
        <pc:spChg chg="mod">
          <ac:chgData name="Sascha Promberger" userId="de38bd02-217f-4d7d-a2d9-3812f9b77dec" providerId="ADAL" clId="{348B077B-6069-4F27-9ADF-AB26C724BB46}" dt="2026-07-13T10:40:02.643" v="946" actId="1036"/>
          <ac:spMkLst>
            <pc:docMk/>
            <pc:sldMk cId="229551692" sldId="350"/>
            <ac:spMk id="23" creationId="{05FFD232-F8DB-CF14-308A-9BE4E5BD5EF0}"/>
          </ac:spMkLst>
        </pc:spChg>
        <pc:spChg chg="mod">
          <ac:chgData name="Sascha Promberger" userId="de38bd02-217f-4d7d-a2d9-3812f9b77dec" providerId="ADAL" clId="{348B077B-6069-4F27-9ADF-AB26C724BB46}" dt="2026-07-13T10:40:02.643" v="946" actId="1036"/>
          <ac:spMkLst>
            <pc:docMk/>
            <pc:sldMk cId="229551692" sldId="350"/>
            <ac:spMk id="24" creationId="{E23281ED-4E04-BC55-64F3-EF172B64C549}"/>
          </ac:spMkLst>
        </pc:spChg>
        <pc:spChg chg="mod">
          <ac:chgData name="Sascha Promberger" userId="de38bd02-217f-4d7d-a2d9-3812f9b77dec" providerId="ADAL" clId="{348B077B-6069-4F27-9ADF-AB26C724BB46}" dt="2026-07-13T10:40:02.643" v="946" actId="1036"/>
          <ac:spMkLst>
            <pc:docMk/>
            <pc:sldMk cId="229551692" sldId="350"/>
            <ac:spMk id="25" creationId="{AC200083-D45F-5147-68B1-C2A97698C881}"/>
          </ac:spMkLst>
        </pc:spChg>
        <pc:spChg chg="mod">
          <ac:chgData name="Sascha Promberger" userId="de38bd02-217f-4d7d-a2d9-3812f9b77dec" providerId="ADAL" clId="{348B077B-6069-4F27-9ADF-AB26C724BB46}" dt="2026-07-13T10:40:02.643" v="946" actId="1036"/>
          <ac:spMkLst>
            <pc:docMk/>
            <pc:sldMk cId="229551692" sldId="350"/>
            <ac:spMk id="26" creationId="{22408EF3-766E-ABB4-5028-B9D9AFCE07E8}"/>
          </ac:spMkLst>
        </pc:spChg>
        <pc:picChg chg="del mod">
          <ac:chgData name="Sascha Promberger" userId="de38bd02-217f-4d7d-a2d9-3812f9b77dec" providerId="ADAL" clId="{348B077B-6069-4F27-9ADF-AB26C724BB46}" dt="2026-07-13T08:57:42.021" v="487" actId="478"/>
          <ac:picMkLst>
            <pc:docMk/>
            <pc:sldMk cId="229551692" sldId="350"/>
            <ac:picMk id="2" creationId="{8A5527D2-8B82-2927-091F-60106643F4BE}"/>
          </ac:picMkLst>
        </pc:picChg>
        <pc:picChg chg="add del mod ord">
          <ac:chgData name="Sascha Promberger" userId="de38bd02-217f-4d7d-a2d9-3812f9b77dec" providerId="ADAL" clId="{348B077B-6069-4F27-9ADF-AB26C724BB46}" dt="2026-07-13T09:18:15.833" v="732" actId="478"/>
          <ac:picMkLst>
            <pc:docMk/>
            <pc:sldMk cId="229551692" sldId="350"/>
            <ac:picMk id="5" creationId="{0FAEAA3F-C855-1286-DD8F-BD01CB737FCA}"/>
          </ac:picMkLst>
        </pc:picChg>
        <pc:picChg chg="mod">
          <ac:chgData name="Sascha Promberger" userId="de38bd02-217f-4d7d-a2d9-3812f9b77dec" providerId="ADAL" clId="{348B077B-6069-4F27-9ADF-AB26C724BB46}" dt="2026-07-13T10:00:10.854" v="844" actId="1037"/>
          <ac:picMkLst>
            <pc:docMk/>
            <pc:sldMk cId="229551692" sldId="350"/>
            <ac:picMk id="6" creationId="{F509A259-8B6F-574C-E365-03EBE1B56BBD}"/>
          </ac:picMkLst>
        </pc:picChg>
        <pc:picChg chg="add mod ord modCrop">
          <ac:chgData name="Sascha Promberger" userId="de38bd02-217f-4d7d-a2d9-3812f9b77dec" providerId="ADAL" clId="{348B077B-6069-4F27-9ADF-AB26C724BB46}" dt="2026-07-13T10:40:17.114" v="951" actId="1036"/>
          <ac:picMkLst>
            <pc:docMk/>
            <pc:sldMk cId="229551692" sldId="350"/>
            <ac:picMk id="9" creationId="{6863DA6D-AE26-05C1-7868-38A6878A00DA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Prio A</c:v>
                </c:pt>
              </c:strCache>
            </c:strRef>
          </c:tx>
          <c:spPr>
            <a:solidFill>
              <a:srgbClr val="E00036"/>
            </a:solidFill>
          </c:spPr>
          <c:dLbls>
            <c:numFmt formatCode="0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IBM Plex Sa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Installateure</c:v>
                </c:pt>
                <c:pt idx="1">
                  <c:v>FM / EVU / Planer</c:v>
                </c:pt>
                <c:pt idx="2">
                  <c:v>GU/TU + Industrie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7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 B</c:v>
                </c:pt>
              </c:strCache>
            </c:strRef>
          </c:tx>
          <c:spPr>
            <a:solidFill>
              <a:srgbClr val="58595B"/>
            </a:solidFill>
          </c:spPr>
          <c:dLbls>
            <c:numFmt formatCode="0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IBM Plex Sa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Installateure</c:v>
                </c:pt>
                <c:pt idx="1">
                  <c:v>FM / EVU / Planer</c:v>
                </c:pt>
                <c:pt idx="2">
                  <c:v>GU/TU + Industrie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25</c:v>
                </c:pt>
                <c:pt idx="2">
                  <c:v>24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 C</c:v>
                </c:pt>
              </c:strCache>
            </c:strRef>
          </c:tx>
          <c:spPr>
            <a:solidFill>
              <a:srgbClr val="BDBDBD"/>
            </a:solidFill>
          </c:spPr>
          <c:dLbls>
            <c:numFmt formatCode="0;;;" sourceLinked="0"/>
            <c:txPr>
              <a:bodyPr/>
              <a:lstStyle/>
              <a:p>
                <a:pPr>
                  <a:defRPr sz="1000" b="1">
                    <a:solidFill>
                      <a:srgbClr val="58595B"/>
                    </a:solidFill>
                    <a:latin typeface="IBM Plex Sa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Installateure</c:v>
                </c:pt>
                <c:pt idx="1">
                  <c:v>FM / EVU / Planer</c:v>
                </c:pt>
                <c:pt idx="2">
                  <c:v>GU/TU + Industrie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11</c:v>
                </c:pt>
                <c:pt idx="1">
                  <c:v>3</c:v>
                </c:pt>
                <c:pt idx="2">
                  <c:v>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6D6D6"/>
            </a:solidFill>
          </a:ln>
        </c:spPr>
        <c:txPr>
          <a:bodyPr/>
          <a:lstStyle/>
          <a:p>
            <a:pPr>
              <a:defRPr sz="1100">
                <a:solidFill>
                  <a:srgbClr val="58595B"/>
                </a:solidFill>
                <a:latin typeface="IBM Plex Sa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IBM Plex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Prio A</c:v>
                </c:pt>
              </c:strCache>
            </c:strRef>
          </c:tx>
          <c:spPr>
            <a:solidFill>
              <a:srgbClr val="E00036"/>
            </a:solidFill>
          </c:spPr>
          <c:dLbls>
            <c:numFmt formatCode="0;;;" sourceLinked="0"/>
            <c:txPr>
              <a:bodyPr/>
              <a:lstStyle/>
              <a:p>
                <a:pPr>
                  <a:defRPr sz="950" b="1">
                    <a:solidFill>
                      <a:srgbClr val="FFFFFF"/>
                    </a:solidFill>
                    <a:latin typeface="IBM Plex Sa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Tessin</c:v>
                </c:pt>
                <c:pt idx="1">
                  <c:v>Zentralschweiz</c:v>
                </c:pt>
                <c:pt idx="2">
                  <c:v>Ostschweiz</c:v>
                </c:pt>
                <c:pt idx="3">
                  <c:v>Mittelland/Bern</c:v>
                </c:pt>
                <c:pt idx="4">
                  <c:v>West (Romandie)</c:v>
                </c:pt>
                <c:pt idx="5">
                  <c:v>Nordwestschweiz</c:v>
                </c:pt>
                <c:pt idx="6">
                  <c:v>Zürich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3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11</c:v>
                </c:pt>
                <c:pt idx="6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 B</c:v>
                </c:pt>
              </c:strCache>
            </c:strRef>
          </c:tx>
          <c:spPr>
            <a:solidFill>
              <a:srgbClr val="58595B"/>
            </a:solidFill>
          </c:spPr>
          <c:dLbls>
            <c:numFmt formatCode="0;;;" sourceLinked="0"/>
            <c:txPr>
              <a:bodyPr/>
              <a:lstStyle/>
              <a:p>
                <a:pPr>
                  <a:defRPr sz="950" b="1">
                    <a:solidFill>
                      <a:srgbClr val="FFFFFF"/>
                    </a:solidFill>
                    <a:latin typeface="IBM Plex Sa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Tessin</c:v>
                </c:pt>
                <c:pt idx="1">
                  <c:v>Zentralschweiz</c:v>
                </c:pt>
                <c:pt idx="2">
                  <c:v>Ostschweiz</c:v>
                </c:pt>
                <c:pt idx="3">
                  <c:v>Mittelland/Bern</c:v>
                </c:pt>
                <c:pt idx="4">
                  <c:v>West (Romandie)</c:v>
                </c:pt>
                <c:pt idx="5">
                  <c:v>Nordwestschweiz</c:v>
                </c:pt>
                <c:pt idx="6">
                  <c:v>Zürich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</c:v>
                </c:pt>
                <c:pt idx="1">
                  <c:v>4</c:v>
                </c:pt>
                <c:pt idx="2">
                  <c:v>8</c:v>
                </c:pt>
                <c:pt idx="3">
                  <c:v>9</c:v>
                </c:pt>
                <c:pt idx="4">
                  <c:v>17</c:v>
                </c:pt>
                <c:pt idx="5">
                  <c:v>10</c:v>
                </c:pt>
                <c:pt idx="6">
                  <c:v>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 C</c:v>
                </c:pt>
              </c:strCache>
            </c:strRef>
          </c:tx>
          <c:spPr>
            <a:solidFill>
              <a:srgbClr val="BDBDBD"/>
            </a:solidFill>
          </c:spPr>
          <c:dLbls>
            <c:numFmt formatCode="0;;;" sourceLinked="0"/>
            <c:txPr>
              <a:bodyPr/>
              <a:lstStyle/>
              <a:p>
                <a:pPr>
                  <a:defRPr sz="950" b="1">
                    <a:solidFill>
                      <a:srgbClr val="58595B"/>
                    </a:solidFill>
                    <a:latin typeface="IBM Plex Sa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Tessin</c:v>
                </c:pt>
                <c:pt idx="1">
                  <c:v>Zentralschweiz</c:v>
                </c:pt>
                <c:pt idx="2">
                  <c:v>Ostschweiz</c:v>
                </c:pt>
                <c:pt idx="3">
                  <c:v>Mittelland/Bern</c:v>
                </c:pt>
                <c:pt idx="4">
                  <c:v>West (Romandie)</c:v>
                </c:pt>
                <c:pt idx="5">
                  <c:v>Nordwestschweiz</c:v>
                </c:pt>
                <c:pt idx="6">
                  <c:v>Zürich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</c:v>
                </c:pt>
                <c:pt idx="1">
                  <c:v>3</c:v>
                </c:pt>
                <c:pt idx="2">
                  <c:v>1</c:v>
                </c:pt>
                <c:pt idx="3">
                  <c:v>3</c:v>
                </c:pt>
                <c:pt idx="4">
                  <c:v>6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6D6D6"/>
            </a:solidFill>
          </a:ln>
        </c:spPr>
        <c:txPr>
          <a:bodyPr/>
          <a:lstStyle/>
          <a:p>
            <a:pPr>
              <a:defRPr sz="1050">
                <a:solidFill>
                  <a:srgbClr val="58595B"/>
                </a:solidFill>
                <a:latin typeface="IBM Plex Sa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50">
              <a:solidFill>
                <a:srgbClr val="58595B"/>
              </a:solidFill>
              <a:latin typeface="IBM Plex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C3F216-10B7-4AF9-B20D-22D47690FF11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6C0DF8-A47B-4B8D-A8E9-43D73CFC88C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4955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Roberto und ich haben die Vorgabe gemacht, hier ist die Umsetzung für die ganze Schweiz. 125 Firmen recherchiert, 70 als Kernliste im Verhältnis 60/20/20. Die Details stehen in der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 MiT-Kundenstatus liefert keine Webrecherche. Alle Firmen stehen auf 'Offen: CRM prüfen'. Das ist der Teil, den wir gemeinsam machen müssen.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A: jetzt angehen, Termin in sechs Wochen. B: im Quartal angehen, Anlass beobachten. C: beobachten, über Partner oder Töchter abdecken.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Kernliste exakt 42/14/14. Die Reserve von 55 Firmen liegt vor allem bei EVU/Planern und GU/Industrie.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Scoring ist transparent und diskutierbar. Wer eine Firma anders sieht, setzt Prio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Region nach Hauptsitz bzw. relevanter Baustelle. Lonza Visp zählt zu West, ist aber Oberwallis und deutschsprachig.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Burkhalter-Töchter in der Liste: Sedelec, Mérinat, Grichting &amp; Valterio, EAGB, Hufschmid, Celio. VINCI: ETAVIS mit Töchtern, Gfeller, Actemium. BKW: AEK, ISP, swisspro, Arnold, inelectro.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EVU-Beschaffung ist teils öffentlich (IVöB), das braucht Vorlauf. Bei Planern zählt Präsenz in der Projektierung.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 über den GU (Implenia bei Green, ERNE bei FlexBase) oder direkt beim Betreiber. Hyperscaler sprechen oft Englisch, Beschaffung teils über EMEA.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Fakten mit Quelle belegt, siehe Spalten Anlass und Quelle in der Excel. Industrie-Einkauf läuft oft zentral: Zugang über Installateur oder FM vor Ort (ETAVIS K+S, Selmoni, CBRE).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Zusätzlich: Mitarbeiterzahlen teils aus Sekundärquellen, in der Excel mit 'prüfen' markiert. Ansprechpersonen bewusst nicht erfunden, die LinkedIn-Spalten öffnen nur die Suche.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 brauche ich von Mauro und Jörg bis 09.10.2026 den Status je Firma aus dem CRM, bei verlorenen Kunden das Datum und den Grund, falls bekannt.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10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C8C4AD08-CCEA-4339-A7F6-F3BEBF3710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1"/>
            <a:ext cx="12191998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542309C-2688-4A5B-A18C-61F955C29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19450" y="1099854"/>
            <a:ext cx="5750179" cy="2387600"/>
          </a:xfrm>
        </p:spPr>
        <p:txBody>
          <a:bodyPr anchor="b"/>
          <a:lstStyle>
            <a:lvl1pPr algn="ctr">
              <a:defRPr sz="4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418234B-2462-444A-903A-3DE578CD5F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B13E9AF-71AD-4E87-8C31-837E61A60AD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95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090C346-FC05-4F09-8304-9007A0A807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2"/>
            <a:ext cx="12191998" cy="6857998"/>
          </a:xfrm>
          <a:prstGeom prst="rect">
            <a:avLst/>
          </a:prstGeom>
        </p:spPr>
      </p:pic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FFAD7E4-B14A-4D52-AEBF-E8548A1E0DE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2066925" y="2727762"/>
            <a:ext cx="1814513" cy="1812820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4C9D3802-4200-4EC8-9ED7-08F3172FF47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138613" y="2727762"/>
            <a:ext cx="1816894" cy="181168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14" name="Bildplatzhalter 2">
            <a:extLst>
              <a:ext uri="{FF2B5EF4-FFF2-40B4-BE49-F238E27FC236}">
                <a16:creationId xmlns:a16="http://schemas.microsoft.com/office/drawing/2014/main" id="{0815642B-5485-458F-BBCD-C442AFA77EF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215063" y="2727762"/>
            <a:ext cx="1814513" cy="181168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72941E1B-08BA-4234-9C9F-2CD06FB30A3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8289131" y="2727762"/>
            <a:ext cx="1814513" cy="181168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3EB270E-1C97-44F5-8800-B65A4C266F4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2167238" y="4736414"/>
            <a:ext cx="1611312" cy="1466850"/>
          </a:xfrm>
        </p:spPr>
        <p:txBody>
          <a:bodyPr/>
          <a:lstStyle>
            <a:lvl1pPr marL="0" indent="0" algn="just">
              <a:buFontTx/>
              <a:buNone/>
              <a:defRPr sz="12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85288D32-DC35-408B-AC76-EE60EB6776C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240040" y="4736414"/>
            <a:ext cx="1611312" cy="1466850"/>
          </a:xfrm>
        </p:spPr>
        <p:txBody>
          <a:bodyPr/>
          <a:lstStyle>
            <a:lvl1pPr marL="0" indent="0" algn="just">
              <a:buFontTx/>
              <a:buNone/>
              <a:defRPr sz="12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9EC48F9A-EC4F-41E8-A934-AA816590D44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307508" y="4736414"/>
            <a:ext cx="1611312" cy="1466850"/>
          </a:xfrm>
        </p:spPr>
        <p:txBody>
          <a:bodyPr/>
          <a:lstStyle>
            <a:lvl1pPr marL="0" indent="0" algn="just">
              <a:buFontTx/>
              <a:buNone/>
              <a:defRPr sz="12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D09970B5-13FA-41F5-B55F-17BE62E9733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374976" y="4736414"/>
            <a:ext cx="1611312" cy="1466850"/>
          </a:xfrm>
        </p:spPr>
        <p:txBody>
          <a:bodyPr/>
          <a:lstStyle>
            <a:lvl1pPr marL="0" indent="0" algn="just">
              <a:buFontTx/>
              <a:buNone/>
              <a:defRPr sz="12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3" name="Titel 1">
            <a:extLst>
              <a:ext uri="{FF2B5EF4-FFF2-40B4-BE49-F238E27FC236}">
                <a16:creationId xmlns:a16="http://schemas.microsoft.com/office/drawing/2014/main" id="{42637617-4607-4F52-8C45-9D8CBE7D4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68" y="365125"/>
            <a:ext cx="8186058" cy="1325563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EA1E6C2-741A-4E88-B1E7-6002B973D20B}"/>
              </a:ext>
            </a:extLst>
          </p:cNvPr>
          <p:cNvSpPr/>
          <p:nvPr userDrawn="1"/>
        </p:nvSpPr>
        <p:spPr>
          <a:xfrm>
            <a:off x="2626614" y="4542438"/>
            <a:ext cx="688941" cy="64293"/>
          </a:xfrm>
          <a:prstGeom prst="rect">
            <a:avLst/>
          </a:prstGeom>
          <a:solidFill>
            <a:srgbClr val="E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C7DC9-4494-4976-86D0-E6B845AF0934}"/>
              </a:ext>
            </a:extLst>
          </p:cNvPr>
          <p:cNvSpPr/>
          <p:nvPr userDrawn="1"/>
        </p:nvSpPr>
        <p:spPr>
          <a:xfrm>
            <a:off x="4701225" y="4542437"/>
            <a:ext cx="688941" cy="64293"/>
          </a:xfrm>
          <a:prstGeom prst="rect">
            <a:avLst/>
          </a:prstGeom>
          <a:solidFill>
            <a:srgbClr val="E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2962D92-BA8F-4C32-AD4D-FC85CCB1E393}"/>
              </a:ext>
            </a:extLst>
          </p:cNvPr>
          <p:cNvSpPr/>
          <p:nvPr userDrawn="1"/>
        </p:nvSpPr>
        <p:spPr>
          <a:xfrm>
            <a:off x="6777848" y="4541657"/>
            <a:ext cx="688941" cy="64293"/>
          </a:xfrm>
          <a:prstGeom prst="rect">
            <a:avLst/>
          </a:prstGeom>
          <a:solidFill>
            <a:srgbClr val="E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F43D4DD-A1AA-4193-AC54-7FC4131B1143}"/>
              </a:ext>
            </a:extLst>
          </p:cNvPr>
          <p:cNvSpPr/>
          <p:nvPr userDrawn="1"/>
        </p:nvSpPr>
        <p:spPr>
          <a:xfrm>
            <a:off x="8851917" y="4539443"/>
            <a:ext cx="688941" cy="64293"/>
          </a:xfrm>
          <a:prstGeom prst="rect">
            <a:avLst/>
          </a:prstGeom>
          <a:solidFill>
            <a:srgbClr val="E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EB4373D-90C6-EFE5-ADB6-72DD6C228EF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532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8A2C2AB9-2E16-4CFD-A87C-E007944142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2191998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470F61A-BFF1-470C-9364-F5D19D5B1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68" y="365125"/>
            <a:ext cx="8186058" cy="1325563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C0F973-F24C-4BC9-AA70-5EE18837E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3668" y="1825625"/>
            <a:ext cx="8186058" cy="4351338"/>
          </a:xfrm>
        </p:spPr>
        <p:txBody>
          <a:bodyPr>
            <a:normAutofit/>
          </a:bodyPr>
          <a:lstStyle>
            <a:lvl1pPr marL="228600" indent="-228600" algn="l">
              <a:buSzPct val="65000"/>
              <a:buFontTx/>
              <a:buBlip>
                <a:blip r:embed="rId3"/>
              </a:buBlip>
              <a:defRPr sz="1600"/>
            </a:lvl1pPr>
            <a:lvl2pPr marL="685800" indent="-228600">
              <a:buSzPct val="65000"/>
              <a:buFontTx/>
              <a:buBlip>
                <a:blip r:embed="rId3"/>
              </a:buBlip>
              <a:defRPr sz="1200"/>
            </a:lvl2pPr>
            <a:lvl3pPr marL="1143000" indent="-228600">
              <a:buSzPct val="65000"/>
              <a:buFontTx/>
              <a:buBlip>
                <a:blip r:embed="rId3"/>
              </a:buBlip>
              <a:defRPr sz="1200"/>
            </a:lvl3pPr>
            <a:lvl4pPr marL="1600200" indent="-228600">
              <a:buSzPct val="65000"/>
              <a:buFontTx/>
              <a:buBlip>
                <a:blip r:embed="rId3"/>
              </a:buBlip>
              <a:defRPr sz="1200"/>
            </a:lvl4pPr>
            <a:lvl5pPr marL="2057400" indent="-228600">
              <a:buSzPct val="65000"/>
              <a:buFontTx/>
              <a:buBlip>
                <a:blip r:embed="rId3"/>
              </a:buBlip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ACB7EF9-81A9-DD61-A9E2-8C0CA92E66C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265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paltiger Tex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A1393E8F-3111-4C45-B8A4-C56E361ECA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2"/>
            <a:ext cx="12191998" cy="6857998"/>
          </a:xfrm>
          <a:prstGeom prst="rect">
            <a:avLst/>
          </a:prstGeom>
        </p:spPr>
      </p:pic>
      <p:sp>
        <p:nvSpPr>
          <p:cNvPr id="9" name="Titel 1">
            <a:extLst>
              <a:ext uri="{FF2B5EF4-FFF2-40B4-BE49-F238E27FC236}">
                <a16:creationId xmlns:a16="http://schemas.microsoft.com/office/drawing/2014/main" id="{59BB3122-9142-4D1B-A6E2-35DBC9CE5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68" y="365125"/>
            <a:ext cx="8186058" cy="1325563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4" name="Textplatzhalter 10">
            <a:extLst>
              <a:ext uri="{FF2B5EF4-FFF2-40B4-BE49-F238E27FC236}">
                <a16:creationId xmlns:a16="http://schemas.microsoft.com/office/drawing/2014/main" id="{0F4CC725-F445-4506-BEFA-34A4C0E55F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3668" y="3237829"/>
            <a:ext cx="2208258" cy="2282416"/>
          </a:xfrm>
        </p:spPr>
        <p:txBody>
          <a:bodyPr>
            <a:normAutofit/>
          </a:bodyPr>
          <a:lstStyle>
            <a:lvl1pPr marL="171450" indent="-171450" algn="l">
              <a:buSzPct val="65000"/>
              <a:buFontTx/>
              <a:buBlip>
                <a:blip r:embed="rId3"/>
              </a:buBlip>
              <a:defRPr sz="1600"/>
            </a:lvl1pPr>
            <a:lvl2pPr marL="457200" indent="0" algn="l">
              <a:buFontTx/>
              <a:buNone/>
              <a:defRPr sz="1200"/>
            </a:lvl2pPr>
            <a:lvl3pPr marL="914400" indent="0" algn="l">
              <a:buFontTx/>
              <a:buNone/>
              <a:defRPr sz="1200"/>
            </a:lvl3pPr>
            <a:lvl4pPr marL="1371600" indent="0" algn="l">
              <a:buFontTx/>
              <a:buNone/>
              <a:defRPr sz="1200"/>
            </a:lvl4pPr>
            <a:lvl5pPr marL="1828800" indent="0" algn="l">
              <a:buFontTx/>
              <a:buNone/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5FDD260C-84D6-4544-872E-959C029D05C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93668" y="1827802"/>
            <a:ext cx="2208258" cy="118427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21" name="Textplatzhalter 10">
            <a:extLst>
              <a:ext uri="{FF2B5EF4-FFF2-40B4-BE49-F238E27FC236}">
                <a16:creationId xmlns:a16="http://schemas.microsoft.com/office/drawing/2014/main" id="{CD3E9369-187D-4372-AA9A-8FDC9466D6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56887" y="3237829"/>
            <a:ext cx="2208258" cy="2282416"/>
          </a:xfrm>
        </p:spPr>
        <p:txBody>
          <a:bodyPr>
            <a:normAutofit/>
          </a:bodyPr>
          <a:lstStyle>
            <a:lvl1pPr marL="171450" indent="-171450" algn="l">
              <a:buSzPct val="65000"/>
              <a:buFontTx/>
              <a:buBlip>
                <a:blip r:embed="rId3"/>
              </a:buBlip>
              <a:defRPr sz="1600"/>
            </a:lvl1pPr>
            <a:lvl2pPr marL="457200" indent="0" algn="l">
              <a:buFontTx/>
              <a:buNone/>
              <a:defRPr sz="1200"/>
            </a:lvl2pPr>
            <a:lvl3pPr marL="914400" indent="0" algn="l">
              <a:buFontTx/>
              <a:buNone/>
              <a:defRPr sz="1200"/>
            </a:lvl3pPr>
            <a:lvl4pPr marL="1371600" indent="0" algn="l">
              <a:buFontTx/>
              <a:buNone/>
              <a:defRPr sz="1200"/>
            </a:lvl4pPr>
            <a:lvl5pPr marL="1828800" indent="0" algn="l">
              <a:buFontTx/>
              <a:buNone/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Bildplatzhalter 15">
            <a:extLst>
              <a:ext uri="{FF2B5EF4-FFF2-40B4-BE49-F238E27FC236}">
                <a16:creationId xmlns:a16="http://schemas.microsoft.com/office/drawing/2014/main" id="{6AC3D96C-E376-4496-8396-14AFE566833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56887" y="1827802"/>
            <a:ext cx="2208258" cy="118427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23" name="Bildplatzhalter 15">
            <a:extLst>
              <a:ext uri="{FF2B5EF4-FFF2-40B4-BE49-F238E27FC236}">
                <a16:creationId xmlns:a16="http://schemas.microsoft.com/office/drawing/2014/main" id="{FAB112F8-C380-4BE3-9FFE-14099544691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920107" y="1827802"/>
            <a:ext cx="2208258" cy="118427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de-CH" dirty="0"/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FECCD7BD-2FC8-45A2-834F-738044E5123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920107" y="3254193"/>
            <a:ext cx="2208258" cy="2282416"/>
          </a:xfrm>
        </p:spPr>
        <p:txBody>
          <a:bodyPr>
            <a:normAutofit/>
          </a:bodyPr>
          <a:lstStyle>
            <a:lvl1pPr marL="171450" indent="-171450" algn="l">
              <a:buSzPct val="65000"/>
              <a:buFontTx/>
              <a:buBlip>
                <a:blip r:embed="rId3"/>
              </a:buBlip>
              <a:defRPr sz="1600"/>
            </a:lvl1pPr>
            <a:lvl2pPr marL="457200" indent="0" algn="l">
              <a:buFontTx/>
              <a:buNone/>
              <a:defRPr sz="1200"/>
            </a:lvl2pPr>
            <a:lvl3pPr marL="914400" indent="0" algn="l">
              <a:buFontTx/>
              <a:buNone/>
              <a:defRPr sz="1200"/>
            </a:lvl3pPr>
            <a:lvl4pPr marL="1371600" indent="0" algn="l">
              <a:buFontTx/>
              <a:buNone/>
              <a:defRPr sz="1200"/>
            </a:lvl4pPr>
            <a:lvl5pPr marL="1828800" indent="0" algn="l">
              <a:buFontTx/>
              <a:buNone/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A469433A-9482-0D5E-48F9-5B8820860A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685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D958B27-C4C0-4DC2-89B3-195793E4D8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4A9A3E7-3527-4371-9524-4F379DDF2BB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096000" y="1820425"/>
            <a:ext cx="3683726" cy="3573100"/>
          </a:xfrm>
        </p:spPr>
        <p:txBody>
          <a:bodyPr>
            <a:normAutofit/>
          </a:bodyPr>
          <a:lstStyle>
            <a:lvl1pPr marL="228600" indent="-228600">
              <a:buSzPct val="65000"/>
              <a:buFontTx/>
              <a:buBlip>
                <a:blip r:embed="rId3"/>
              </a:buBlip>
              <a:defRPr sz="1600"/>
            </a:lvl1pPr>
            <a:lvl2pPr marL="685800" indent="-228600">
              <a:buSzPct val="65000"/>
              <a:buFontTx/>
              <a:buBlip>
                <a:blip r:embed="rId3"/>
              </a:buBlip>
              <a:defRPr/>
            </a:lvl2pPr>
            <a:lvl3pPr marL="1143000" indent="-228600">
              <a:buSzPct val="65000"/>
              <a:buFontTx/>
              <a:buBlip>
                <a:blip r:embed="rId3"/>
              </a:buBlip>
              <a:defRPr/>
            </a:lvl3pPr>
            <a:lvl4pPr marL="1600200" indent="-228600">
              <a:buSzPct val="65000"/>
              <a:buFontTx/>
              <a:buBlip>
                <a:blip r:embed="rId3"/>
              </a:buBlip>
              <a:defRPr/>
            </a:lvl4pPr>
            <a:lvl5pPr marL="2057400" indent="-228600">
              <a:buSzPct val="65000"/>
              <a:buFontTx/>
              <a:buBlip>
                <a:blip r:embed="rId3"/>
              </a:buBlip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72982F4-5269-4AB4-9EB3-AC41E69B7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68" y="365125"/>
            <a:ext cx="8186058" cy="1325563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4" name="Inhaltsplatzhalter 2">
            <a:extLst>
              <a:ext uri="{FF2B5EF4-FFF2-40B4-BE49-F238E27FC236}">
                <a16:creationId xmlns:a16="http://schemas.microsoft.com/office/drawing/2014/main" id="{53ADC18A-80C4-4D43-8CA5-75B11F97F05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1593668" y="1820425"/>
            <a:ext cx="3683726" cy="3573100"/>
          </a:xfrm>
        </p:spPr>
        <p:txBody>
          <a:bodyPr>
            <a:normAutofit/>
          </a:bodyPr>
          <a:lstStyle>
            <a:lvl1pPr marL="228600" indent="-228600">
              <a:buSzPct val="65000"/>
              <a:buFontTx/>
              <a:buBlip>
                <a:blip r:embed="rId3"/>
              </a:buBlip>
              <a:defRPr sz="1600"/>
            </a:lvl1pPr>
            <a:lvl2pPr marL="685800" indent="-228600">
              <a:buSzPct val="65000"/>
              <a:buFontTx/>
              <a:buBlip>
                <a:blip r:embed="rId3"/>
              </a:buBlip>
              <a:defRPr sz="1200"/>
            </a:lvl2pPr>
            <a:lvl3pPr marL="1143000" indent="-228600">
              <a:buSzPct val="65000"/>
              <a:buFontTx/>
              <a:buBlip>
                <a:blip r:embed="rId3"/>
              </a:buBlip>
              <a:defRPr sz="1200"/>
            </a:lvl3pPr>
            <a:lvl4pPr marL="1600200" indent="-228600">
              <a:buSzPct val="65000"/>
              <a:buFontTx/>
              <a:buBlip>
                <a:blip r:embed="rId3"/>
              </a:buBlip>
              <a:defRPr sz="1200"/>
            </a:lvl4pPr>
            <a:lvl5pPr marL="2057400" indent="-228600">
              <a:buSzPct val="65000"/>
              <a:buFontTx/>
              <a:buBlip>
                <a:blip r:embed="rId3"/>
              </a:buBlip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A63A9A8A-A1D3-5382-E4C3-0BD51353C2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55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 descr="Ein Bild, das Text enthält.&#10;&#10;Automatisch generierte Beschreibung">
            <a:extLst>
              <a:ext uri="{FF2B5EF4-FFF2-40B4-BE49-F238E27FC236}">
                <a16:creationId xmlns:a16="http://schemas.microsoft.com/office/drawing/2014/main" id="{CFBCAEAA-4DDA-4F17-9400-0295ADD07A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0071" y="498545"/>
            <a:ext cx="1775233" cy="60196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94692BF-4805-4E05-8202-13FDEC24DBE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1336"/>
            <a:ext cx="12191998" cy="6857999"/>
          </a:xfrm>
          <a:prstGeom prst="rect">
            <a:avLst/>
          </a:prstGeo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C0F973-F24C-4BC9-AA70-5EE18837E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3668" y="1825625"/>
            <a:ext cx="6287590" cy="4351338"/>
          </a:xfrm>
        </p:spPr>
        <p:txBody>
          <a:bodyPr>
            <a:normAutofit/>
          </a:bodyPr>
          <a:lstStyle>
            <a:lvl1pPr marL="228600" indent="-228600">
              <a:buSzPct val="65000"/>
              <a:buFontTx/>
              <a:buBlip>
                <a:blip r:embed="rId4"/>
              </a:buBlip>
              <a:defRPr sz="1600"/>
            </a:lvl1pPr>
            <a:lvl2pPr marL="685800" indent="-228600">
              <a:buSzPct val="65000"/>
              <a:buFontTx/>
              <a:buBlip>
                <a:blip r:embed="rId4"/>
              </a:buBlip>
              <a:defRPr sz="1200"/>
            </a:lvl2pPr>
            <a:lvl3pPr marL="1143000" indent="-228600">
              <a:buSzPct val="65000"/>
              <a:buFontTx/>
              <a:buBlip>
                <a:blip r:embed="rId4"/>
              </a:buBlip>
              <a:defRPr sz="1200"/>
            </a:lvl3pPr>
            <a:lvl4pPr marL="1600200" indent="-228600">
              <a:buSzPct val="65000"/>
              <a:buFontTx/>
              <a:buBlip>
                <a:blip r:embed="rId4"/>
              </a:buBlip>
              <a:defRPr sz="1200"/>
            </a:lvl4pPr>
            <a:lvl5pPr marL="2057400" indent="-228600">
              <a:buSzPct val="65000"/>
              <a:buFontTx/>
              <a:buBlip>
                <a:blip r:embed="rId4"/>
              </a:buBlip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81E9DD8-297E-4B1E-8FF7-69BF02BB0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69" y="365125"/>
            <a:ext cx="6287590" cy="1325563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0E30DD3-E948-4E77-B79C-698D69BDD68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53550" y="495765"/>
            <a:ext cx="1768278" cy="598856"/>
          </a:xfrm>
          <a:prstGeom prst="rect">
            <a:avLst/>
          </a:prstGeom>
        </p:spPr>
      </p:pic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8E5A6AA4-02DA-41D7-89FE-61B87DBA549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850055" y="2329092"/>
            <a:ext cx="1775191" cy="773025"/>
          </a:xfrm>
        </p:spPr>
        <p:txBody>
          <a:bodyPr>
            <a:normAutofit/>
          </a:bodyPr>
          <a:lstStyle>
            <a:lvl1pPr marL="0" indent="0">
              <a:buSzPct val="65000"/>
              <a:buFontTx/>
              <a:buNone/>
              <a:defRPr sz="1200">
                <a:solidFill>
                  <a:schemeClr val="bg1"/>
                </a:solidFill>
              </a:defRPr>
            </a:lvl1pPr>
            <a:lvl2pPr marL="685800" indent="-228600">
              <a:buSzPct val="65000"/>
              <a:buFontTx/>
              <a:buBlip>
                <a:blip r:embed="rId4"/>
              </a:buBlip>
              <a:defRPr sz="1200"/>
            </a:lvl2pPr>
            <a:lvl3pPr marL="1143000" indent="-228600">
              <a:buSzPct val="65000"/>
              <a:buFontTx/>
              <a:buBlip>
                <a:blip r:embed="rId4"/>
              </a:buBlip>
              <a:defRPr sz="1200"/>
            </a:lvl3pPr>
            <a:lvl4pPr marL="1600200" indent="-228600">
              <a:buSzPct val="65000"/>
              <a:buFontTx/>
              <a:buBlip>
                <a:blip r:embed="rId4"/>
              </a:buBlip>
              <a:defRPr sz="1200"/>
            </a:lvl4pPr>
            <a:lvl5pPr marL="2057400" indent="-228600">
              <a:buSzPct val="65000"/>
              <a:buFontTx/>
              <a:buBlip>
                <a:blip r:embed="rId4"/>
              </a:buBlip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4" name="Inhaltsplatzhalter 2">
            <a:extLst>
              <a:ext uri="{FF2B5EF4-FFF2-40B4-BE49-F238E27FC236}">
                <a16:creationId xmlns:a16="http://schemas.microsoft.com/office/drawing/2014/main" id="{36F7FF0E-E7A3-4D90-8786-0C4D443440A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850025" y="3858536"/>
            <a:ext cx="1775221" cy="773025"/>
          </a:xfrm>
        </p:spPr>
        <p:txBody>
          <a:bodyPr>
            <a:normAutofit/>
          </a:bodyPr>
          <a:lstStyle>
            <a:lvl1pPr marL="0" indent="0">
              <a:buSzPct val="65000"/>
              <a:buFontTx/>
              <a:buNone/>
              <a:defRPr sz="1200">
                <a:solidFill>
                  <a:schemeClr val="bg1"/>
                </a:solidFill>
              </a:defRPr>
            </a:lvl1pPr>
            <a:lvl2pPr marL="685800" indent="-228600">
              <a:buSzPct val="65000"/>
              <a:buFontTx/>
              <a:buBlip>
                <a:blip r:embed="rId4"/>
              </a:buBlip>
              <a:defRPr sz="1200"/>
            </a:lvl2pPr>
            <a:lvl3pPr marL="1143000" indent="-228600">
              <a:buSzPct val="65000"/>
              <a:buFontTx/>
              <a:buBlip>
                <a:blip r:embed="rId4"/>
              </a:buBlip>
              <a:defRPr sz="1200"/>
            </a:lvl3pPr>
            <a:lvl4pPr marL="1600200" indent="-228600">
              <a:buSzPct val="65000"/>
              <a:buFontTx/>
              <a:buBlip>
                <a:blip r:embed="rId4"/>
              </a:buBlip>
              <a:defRPr sz="1200"/>
            </a:lvl4pPr>
            <a:lvl5pPr marL="2057400" indent="-228600">
              <a:buSzPct val="65000"/>
              <a:buFontTx/>
              <a:buBlip>
                <a:blip r:embed="rId4"/>
              </a:buBlip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2B14CB79-F3BC-4DAE-8715-8B6A446A00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850012" y="1825625"/>
            <a:ext cx="1775233" cy="348608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lt"/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Textplatzhalter 11">
            <a:extLst>
              <a:ext uri="{FF2B5EF4-FFF2-40B4-BE49-F238E27FC236}">
                <a16:creationId xmlns:a16="http://schemas.microsoft.com/office/drawing/2014/main" id="{3E4DD723-49AF-4F18-AE0F-C841C6E15B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850010" y="3351445"/>
            <a:ext cx="1775233" cy="348608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lt"/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Textplatzhalter 11">
            <a:extLst>
              <a:ext uri="{FF2B5EF4-FFF2-40B4-BE49-F238E27FC236}">
                <a16:creationId xmlns:a16="http://schemas.microsoft.com/office/drawing/2014/main" id="{F661758D-77AB-4668-BFEE-EEF1E36D7A4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850011" y="4880889"/>
            <a:ext cx="1775233" cy="348608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lt"/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Inhaltsplatzhalter 2">
            <a:extLst>
              <a:ext uri="{FF2B5EF4-FFF2-40B4-BE49-F238E27FC236}">
                <a16:creationId xmlns:a16="http://schemas.microsoft.com/office/drawing/2014/main" id="{5427F5A2-E8C9-4161-95E6-981C27F4C38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850026" y="5387980"/>
            <a:ext cx="1775221" cy="773025"/>
          </a:xfrm>
        </p:spPr>
        <p:txBody>
          <a:bodyPr>
            <a:normAutofit/>
          </a:bodyPr>
          <a:lstStyle>
            <a:lvl1pPr marL="0" indent="0">
              <a:buSzPct val="65000"/>
              <a:buFontTx/>
              <a:buNone/>
              <a:defRPr sz="1200">
                <a:solidFill>
                  <a:schemeClr val="bg1"/>
                </a:solidFill>
              </a:defRPr>
            </a:lvl1pPr>
            <a:lvl2pPr marL="685800" indent="-228600">
              <a:buSzPct val="65000"/>
              <a:buFontTx/>
              <a:buBlip>
                <a:blip r:embed="rId4"/>
              </a:buBlip>
              <a:defRPr sz="1200"/>
            </a:lvl2pPr>
            <a:lvl3pPr marL="1143000" indent="-228600">
              <a:buSzPct val="65000"/>
              <a:buFontTx/>
              <a:buBlip>
                <a:blip r:embed="rId4"/>
              </a:buBlip>
              <a:defRPr sz="1200"/>
            </a:lvl3pPr>
            <a:lvl4pPr marL="1600200" indent="-228600">
              <a:buSzPct val="65000"/>
              <a:buFontTx/>
              <a:buBlip>
                <a:blip r:embed="rId4"/>
              </a:buBlip>
              <a:defRPr sz="1200"/>
            </a:lvl4pPr>
            <a:lvl5pPr marL="2057400" indent="-228600">
              <a:buSzPct val="65000"/>
              <a:buFontTx/>
              <a:buBlip>
                <a:blip r:embed="rId4"/>
              </a:buBlip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76625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spaltiger Text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0CEA1C9C-B676-4818-A35E-2881BED83B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12" name="Titel 1">
            <a:extLst>
              <a:ext uri="{FF2B5EF4-FFF2-40B4-BE49-F238E27FC236}">
                <a16:creationId xmlns:a16="http://schemas.microsoft.com/office/drawing/2014/main" id="{429ABAAF-597E-48AA-ACAA-E26798319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68" y="365125"/>
            <a:ext cx="8186058" cy="1325563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3" name="Textplatzhalter 10">
            <a:extLst>
              <a:ext uri="{FF2B5EF4-FFF2-40B4-BE49-F238E27FC236}">
                <a16:creationId xmlns:a16="http://schemas.microsoft.com/office/drawing/2014/main" id="{E2F1621E-A11E-413E-BF60-AB8DBFF575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3668" y="1819864"/>
            <a:ext cx="3927407" cy="3826828"/>
          </a:xfrm>
        </p:spPr>
        <p:txBody>
          <a:bodyPr>
            <a:normAutofit/>
          </a:bodyPr>
          <a:lstStyle>
            <a:lvl1pPr marL="171450" indent="-171450" algn="l">
              <a:buSzPct val="65000"/>
              <a:buFontTx/>
              <a:buBlip>
                <a:blip r:embed="rId3"/>
              </a:buBlip>
              <a:defRPr sz="1600"/>
            </a:lvl1pPr>
            <a:lvl2pPr marL="457200" indent="0" algn="l">
              <a:buFontTx/>
              <a:buNone/>
              <a:defRPr sz="1200"/>
            </a:lvl2pPr>
            <a:lvl3pPr marL="914400" indent="0" algn="l">
              <a:buFontTx/>
              <a:buNone/>
              <a:defRPr sz="1200"/>
            </a:lvl3pPr>
            <a:lvl4pPr marL="1371600" indent="0" algn="l">
              <a:buFontTx/>
              <a:buNone/>
              <a:defRPr sz="1200"/>
            </a:lvl4pPr>
            <a:lvl5pPr marL="1828800" indent="0" algn="l">
              <a:buFontTx/>
              <a:buNone/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platzhalter 10">
            <a:extLst>
              <a:ext uri="{FF2B5EF4-FFF2-40B4-BE49-F238E27FC236}">
                <a16:creationId xmlns:a16="http://schemas.microsoft.com/office/drawing/2014/main" id="{D5186E57-7B82-4B4E-918D-AED972A7AA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0842" y="1819864"/>
            <a:ext cx="3927407" cy="3826828"/>
          </a:xfrm>
        </p:spPr>
        <p:txBody>
          <a:bodyPr>
            <a:normAutofit/>
          </a:bodyPr>
          <a:lstStyle>
            <a:lvl1pPr marL="171450" indent="-171450" algn="l">
              <a:buSzPct val="65000"/>
              <a:buFontTx/>
              <a:buBlip>
                <a:blip r:embed="rId3"/>
              </a:buBlip>
              <a:defRPr sz="1600"/>
            </a:lvl1pPr>
            <a:lvl2pPr marL="457200" indent="0" algn="l">
              <a:buFontTx/>
              <a:buNone/>
              <a:defRPr sz="1200"/>
            </a:lvl2pPr>
            <a:lvl3pPr marL="914400" indent="0" algn="l">
              <a:buFontTx/>
              <a:buNone/>
              <a:defRPr sz="1200"/>
            </a:lvl3pPr>
            <a:lvl4pPr marL="1371600" indent="0" algn="l">
              <a:buFontTx/>
              <a:buNone/>
              <a:defRPr sz="1200"/>
            </a:lvl4pPr>
            <a:lvl5pPr marL="1828800" indent="0" algn="l">
              <a:buFontTx/>
              <a:buNone/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7F81D870-9057-FD6C-EA3A-90D25E24DA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764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A8427B2E-9ECE-406F-B5FF-464168F28D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9D967CA-5E45-4978-9547-543947093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8550" y="2211784"/>
            <a:ext cx="4914900" cy="2434432"/>
          </a:xfrm>
        </p:spPr>
        <p:txBody>
          <a:bodyPr/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B8315E9-0451-4C76-6A4B-2B156C11EC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853548" y="501576"/>
            <a:ext cx="1768278" cy="5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42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156DAC-B155-4CC8-A2B9-C3CE8EDDE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A293962-EC99-4E80-B203-63B4EC528C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73804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2E0FE4-44FA-4B24-BDB1-789C0DB3B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FE34322-460C-4E7B-8EC8-C053E49439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FE0A0F-E3E0-4FD3-AA72-B7269B3BC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10578-6AC6-4AE0-AD56-C7CD516BFC12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44EE2E2-64DE-48A4-AAA5-4C97C3AD2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D16CB7-CF9C-4E02-A683-6760AE24F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C67F-460F-47BA-B035-954D3BC4A75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0377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290AF-3F32-4B4C-8419-5EE630196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A7DDF56-3A91-4095-9D8D-38B89CF7D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16A4A1C-9D90-4FC7-80DF-06DECB1F4D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1CB67CF-1CEF-42A9-B9CB-518AEC677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54D6EEF-FD7D-4A3B-A0F2-FFE63B3FE0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DCE5932-43C8-42E1-A3CD-06739118B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10578-6AC6-4AE0-AD56-C7CD516BFC12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F8501A-D877-48C2-A9E2-8E5A226AD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7F0CB81-31D2-4463-9A5B-64849CE8B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C67F-460F-47BA-B035-954D3BC4A75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94646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281219A-09CB-4761-BA5C-EB929FBCB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10578-6AC6-4AE0-AD56-C7CD516BFC12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E488CC2-309C-485A-A166-EE27F5BAC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9A6487-0A3C-441C-B5CD-7FA803064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C67F-460F-47BA-B035-954D3BC4A75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700742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9374E2-254C-48C9-B1D3-1BB5FEF6B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69AA159-5C4E-4960-9296-F79DF7110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8302388-B7DB-4205-9B76-97760E8A0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10578-6AC6-4AE0-AD56-C7CD516BFC12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0B132E-570A-40B1-A9E1-7A15B1D66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98FBCF-DFF1-44D3-9192-330237074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C67F-460F-47BA-B035-954D3BC4A75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494596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908B97F-2E0C-4EFF-B0D5-EC908B9162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A2AC456-57A1-46E9-8F18-85A41CF688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9DBED2-AB2C-49EA-AD16-0041F1657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10578-6AC6-4AE0-AD56-C7CD516BFC12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FFE4F-05A8-4716-A7EC-122ACCC38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3DD00E-14A7-4781-AB15-70A456DD7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C67F-460F-47BA-B035-954D3BC4A75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043805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E0E6A73-61E1-4804-855F-B987EA4C1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735F25A-7B5B-4C07-AFD7-73D88541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E89411-2BDA-41F5-9C09-FE32A94DB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A10578-6AC6-4AE0-AD56-C7CD516BFC12}" type="datetimeFigureOut">
              <a:rPr lang="de-CH" smtClean="0"/>
              <a:t>13.07.2026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C86E8A-62B6-473B-A2E3-C1C1D489AE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31B0EF-9DDB-4F87-9204-401158E669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81C67F-460F-47BA-B035-954D3BC4A75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8465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0" r:id="rId3"/>
    <p:sldLayoutId id="2147483660" r:id="rId4"/>
    <p:sldLayoutId id="2147483652" r:id="rId5"/>
    <p:sldLayoutId id="2147483662" r:id="rId6"/>
    <p:sldLayoutId id="2147483657" r:id="rId7"/>
    <p:sldLayoutId id="2147483654" r:id="rId8"/>
    <p:sldLayoutId id="2147483656" r:id="rId9"/>
    <p:sldLayoutId id="2147483651" r:id="rId10"/>
    <p:sldLayoutId id="2147483653" r:id="rId11"/>
    <p:sldLayoutId id="2147483655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60520" y="14173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58595B"/>
                </a:solidFill>
                <a:latin typeface="IBM Plex Sans"/>
              </a:rPr>
              <a:t>Mobil in Time AG · An Aggreko Company · Strom Schweiz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60520" y="1874519"/>
            <a:ext cx="7132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00000"/>
                </a:solidFill>
                <a:latin typeface="Alata"/>
              </a:rPr>
              <a:t>Zielkunden Schweiz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00000"/>
                </a:solidFill>
                <a:latin typeface="Alata"/>
              </a:rPr>
              <a:t>2026/27</a:t>
            </a:r>
          </a:p>
        </p:txBody>
      </p:sp>
      <p:sp>
        <p:nvSpPr>
          <p:cNvPr id="4" name="Rectangle 3"/>
          <p:cNvSpPr/>
          <p:nvPr/>
        </p:nvSpPr>
        <p:spPr>
          <a:xfrm>
            <a:off x="4160520" y="3767328"/>
            <a:ext cx="1280160" cy="45720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60520" y="4041648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8595B"/>
                </a:solidFill>
                <a:latin typeface="IBM Plex Sans"/>
              </a:rPr>
              <a:t>Mobile Energie: Kundenliste nach Vorgabe 60/20/20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5760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8595B"/>
                </a:solidFill>
                <a:latin typeface="IBM Plex Sans"/>
              </a:rPr>
              <a:t>Burak Ücöz · Area Sales Engineer · 27.09.2026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06040"/>
            <a:ext cx="2011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Alata"/>
              </a:rPr>
              <a:t>125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BM Plex Sans"/>
              </a:rPr>
              <a:t>Firmen recherchiert</a:t>
            </a:r>
          </a:p>
          <a:p>
            <a: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Alata"/>
              </a:rPr>
              <a:t>70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BM Plex Sans"/>
              </a:rPr>
              <a:t>in der Kernliste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01 · Auftrag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800" b="0">
                <a:solidFill>
                  <a:srgbClr val="000000"/>
                </a:solidFill>
                <a:latin typeface="Alata"/>
              </a:rPr>
              <a:t>Vorgabe umgesetzt, und etwas mehr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Zielkunden Schweiz 2026/27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" y="1965960"/>
            <a:ext cx="5353812" cy="301752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258568"/>
            <a:ext cx="47685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  <a:latin typeface="IBM Plex Sans"/>
              </a:rPr>
              <a:t>Vorgabe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788920"/>
            <a:ext cx="4768596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6E6E6"/>
                </a:solidFill>
                <a:latin typeface="IBM Plex Sans"/>
              </a:rPr>
              <a:t>50 bis 70 Kunden mit Namen.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E6E6E6"/>
                </a:solidFill>
                <a:latin typeface="IBM Plex Sans"/>
              </a:rPr>
              <a:t>Mix: Installateure 60 %, FM / Stadtwerke / Planer 20 %, GU/TU + Industrie 20 %.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E6E6E6"/>
                </a:solidFill>
                <a:latin typeface="IBM Plex Sans"/>
              </a:rPr>
              <a:t>Status: Bestandskunde, verlorener Kunde, Potenzial / Aufbau.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E6E6E6"/>
                </a:solidFill>
                <a:latin typeface="IBM Plex Sans"/>
              </a:rPr>
              <a:t>Lieber mehr als weniger, damit wir priorisieren können.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4747" y="1965960"/>
            <a:ext cx="5353812" cy="3017520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7355" y="2258568"/>
            <a:ext cx="47685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  <a:latin typeface="IBM Plex Sans"/>
              </a:rPr>
              <a:t>Umgesetzt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7355" y="2788920"/>
            <a:ext cx="4768596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BM Plex Sans"/>
              </a:rPr>
              <a:t>125 Firmen recherchiert, jede mit Quelle.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BM Plex Sans"/>
              </a:rPr>
              <a:t>Kernliste 70: exakt 42 / 14 / 14.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BM Plex Sans"/>
              </a:rPr>
              <a:t>Score aus vier Kriterien, Prio A/B/C mit Begründung.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BM Plex Sans"/>
              </a:rPr>
              <a:t>Status-Spalte vorbereitet, der CRM-Abgleich ist offen.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" y="5212080"/>
            <a:ext cx="10908792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5458968"/>
            <a:ext cx="10085832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58595B"/>
                </a:solidFill>
                <a:latin typeface="IBM Plex Sans"/>
              </a:rPr>
              <a:t>Offen: </a:t>
            </a:r>
            <a:r>
              <a:rPr sz="1350" b="0">
                <a:solidFill>
                  <a:srgbClr val="58595B"/>
                </a:solidFill>
                <a:latin typeface="IBM Plex Sans"/>
              </a:rPr>
              <a:t>Der MiT-Kundenstatus (A-Kunde, Bestand, verloren, Aufbau) steht nicht im Netz. Er kommt aus dem CRM.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02 · Auf einen 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36 Firmen sind reif für den Erstkontakt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Zielkunden Schweiz 2026/27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" y="1965960"/>
            <a:ext cx="64008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2194560"/>
            <a:ext cx="202082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>
                <a:solidFill>
                  <a:srgbClr val="000000"/>
                </a:solidFill>
                <a:latin typeface="Alata"/>
              </a:rPr>
              <a:t>125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315468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8595B"/>
                </a:solidFill>
                <a:latin typeface="IBM Plex Sans"/>
              </a:rPr>
              <a:t>Firmen gesamt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965960"/>
            <a:ext cx="64008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2194560"/>
            <a:ext cx="202082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>
                <a:solidFill>
                  <a:srgbClr val="000000"/>
                </a:solidFill>
                <a:latin typeface="Alata"/>
              </a:rPr>
              <a:t>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15468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8595B"/>
                </a:solidFill>
                <a:latin typeface="IBM Plex Sans"/>
              </a:rPr>
              <a:t>Kernliste 60/20/20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3752" y="1965960"/>
            <a:ext cx="64008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2194560"/>
            <a:ext cx="202082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>
                <a:solidFill>
                  <a:srgbClr val="000000"/>
                </a:solidFill>
                <a:latin typeface="Alata"/>
              </a:rPr>
              <a:t>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3752" y="315468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8595B"/>
                </a:solidFill>
                <a:latin typeface="IBM Plex Sans"/>
              </a:rPr>
              <a:t>Prio A: Score ab 4,0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95744" y="1965960"/>
            <a:ext cx="64008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95744" y="2194560"/>
            <a:ext cx="202082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>
                <a:solidFill>
                  <a:srgbClr val="000000"/>
                </a:solidFill>
                <a:latin typeface="Alata"/>
              </a:rPr>
              <a:t>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315468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8595B"/>
                </a:solidFill>
                <a:latin typeface="IBM Plex Sans"/>
              </a:rPr>
              <a:t>Prio B: Score ab 3,0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17736" y="1965960"/>
            <a:ext cx="64008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2194560"/>
            <a:ext cx="202082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>
                <a:solidFill>
                  <a:srgbClr val="000000"/>
                </a:solidFill>
                <a:latin typeface="Alata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15468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8595B"/>
                </a:solidFill>
                <a:latin typeface="IBM Plex Sans"/>
              </a:rPr>
              <a:t>Prio C: beobachten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" y="4160520"/>
            <a:ext cx="10908792" cy="128016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407408"/>
            <a:ext cx="10085832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FFFFF"/>
                </a:solidFill>
                <a:latin typeface="IBM Plex Sans"/>
              </a:rPr>
              <a:t>Kernaussage: </a:t>
            </a:r>
            <a:r>
              <a:rPr sz="1500" b="0">
                <a:solidFill>
                  <a:srgbClr val="E6E6E6"/>
                </a:solidFill>
                <a:latin typeface="IBM Plex Sans"/>
              </a:rPr>
              <a:t>A-Firmen haben einen belegten Anlass 2026/27 oder sind Gruppen mit Rahmenvertrags-Hebel. Sie gehören in den nächsten sechs Wochen an den Tisch.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03 · Segmentmix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Mix 60/20/20 erfüllt, A-Dichte bei GU/TU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Zielkunden Schweiz 2026/27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9768" y="1828800"/>
          <a:ext cx="60350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920240"/>
          <a:ext cx="4617718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82501"/>
                <a:gridCol w="905435"/>
                <a:gridCol w="814891"/>
                <a:gridCol w="814891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IBM Plex Sans"/>
                        </a:rPr>
                        <a:t>Segment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IBM Plex Sans"/>
                        </a:rPr>
                        <a:t>Gesamt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IBM Plex Sans"/>
                        </a:rPr>
                        <a:t>Kern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IBM Plex Sans"/>
                        </a:rPr>
                        <a:t>Soll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Installateure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42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42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60 %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FM / EVU / Planer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35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14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20 %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GU/TU + Industrie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48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14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20 %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58595B"/>
                          </a:solidFill>
                          <a:latin typeface="IBM Plex Sans"/>
                        </a:rPr>
                        <a:t>Total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125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70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58595B"/>
                          </a:solidFill>
                          <a:latin typeface="IBM Plex Sans"/>
                        </a:rPr>
                        <a:t>100 %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720840" y="4206240"/>
            <a:ext cx="4617720" cy="1783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4389120"/>
            <a:ext cx="4160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IBM Plex Sans"/>
              </a:rPr>
              <a:t>Die Hälfte aller A-Firmen sitzt im kleinsten Kernsegment. Dort liegen die Anlässe: Rechenzentren, Pharma-Neubauten, Tunnel, Flughäfen.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04 · Methodik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Vier Kriterien entscheiden die Prio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Zielkunden Schweiz 2026/27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" y="1965960"/>
            <a:ext cx="2576322" cy="260604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258568"/>
            <a:ext cx="19911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IBM Plex Sans"/>
              </a:rPr>
              <a:t>Fit · 30 %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788920"/>
            <a:ext cx="199110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Passt der Bedarf zum MiT-Portfolio: Generator, BESS, USV, Trafo, NEA-Test, PQ, Baustrom, Event?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7258" y="1965960"/>
            <a:ext cx="2576322" cy="260604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9866" y="2258568"/>
            <a:ext cx="19911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IBM Plex Sans"/>
              </a:rPr>
              <a:t>Volumen · 30 %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9866" y="2788920"/>
            <a:ext cx="199110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Mietvolumen pro Jahr und Hebel über Töchter und Rahmenverträge.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4748" y="1965960"/>
            <a:ext cx="2576322" cy="260604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7356" y="2258568"/>
            <a:ext cx="19911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IBM Plex Sans"/>
              </a:rPr>
              <a:t>Timing · 25 %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7356" y="2788920"/>
            <a:ext cx="199110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Konkreter Anlass 2025 bis 2027: Bau, UW-Umbau, Commissioning, Event-Saison.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62238" y="1965960"/>
            <a:ext cx="2576322" cy="260604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4846" y="2258568"/>
            <a:ext cx="19911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IBM Plex Sans"/>
              </a:rPr>
              <a:t>Zugang · 15 %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4846" y="2788920"/>
            <a:ext cx="199110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Regional erreichbar? Entscheid lokal oder im Konzern? Öffentliche Beschaffung?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" y="4800600"/>
            <a:ext cx="10908792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047488"/>
            <a:ext cx="100858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8595B"/>
                </a:solidFill>
                <a:latin typeface="IBM Plex Sans"/>
              </a:rPr>
              <a:t>Schwellen: </a:t>
            </a:r>
            <a:r>
              <a:rPr sz="1300" b="0">
                <a:solidFill>
                  <a:srgbClr val="58595B"/>
                </a:solidFill>
                <a:latin typeface="IBM Plex Sans"/>
              </a:rPr>
              <a:t>A ab Score 4,0 · B ab 3,0 · C darunter. Skala je Kriterium 1 bis 5. Gewichte und Schwellen sind in der Excel änderbar, «Prio final» übersteuert den Vorschlag.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05 · Regionen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Zürich und Nordwestschweiz: 22 von 36 A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Zielkunden Schweiz 2026/27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9768" y="1783080"/>
          <a:ext cx="640080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0" y="1874519"/>
            <a:ext cx="4206240" cy="1280160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8352" y="2075688"/>
            <a:ext cx="36941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IBM Plex Sans"/>
              </a:rPr>
              <a:t>Zürich 26 · NWCH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2" y="2441448"/>
            <a:ext cx="3694175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BM Plex Sans"/>
              </a:rPr>
              <a:t>RZ-Cluster, Pharma Basel, Konzernzentralen: hier entscheidet sich das Jahr.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3291839"/>
            <a:ext cx="4206240" cy="128016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88352" y="3493008"/>
            <a:ext cx="36941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IBM Plex Sans"/>
              </a:rPr>
              <a:t>West 27, davon 4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88352" y="3858768"/>
            <a:ext cx="3694175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6E6"/>
                </a:solidFill>
                <a:latin typeface="IBM Plex Sans"/>
              </a:rPr>
              <a:t>Aufbaugebiet mit vielen Namen und wenig Anlass-Treffern. Französisch ist Pflicht.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09160"/>
            <a:ext cx="4206240" cy="128016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88352" y="4910328"/>
            <a:ext cx="36941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IBM Plex Sans"/>
              </a:rPr>
              <a:t>Tessin 13, davon 1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8352" y="5276088"/>
            <a:ext cx="3694175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6E6"/>
                </a:solidFill>
                <a:latin typeface="IBM Plex Sans"/>
              </a:rPr>
              <a:t>Kleine Installateure, Gotthard, Events. Über Partner und Marti bedienen.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06 · Installateure · 60 %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Rahmenverträge schlagen Einzelbaustellen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Zielkunden Schweiz 2026/27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9768" y="1874519"/>
          <a:ext cx="7863840" cy="41559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86000"/>
                <a:gridCol w="914400"/>
                <a:gridCol w="685800"/>
                <a:gridCol w="397764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BM Plex Sans"/>
                        </a:rPr>
                        <a:t>Prio A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BM Plex Sans"/>
                        </a:rPr>
                        <a:t>Region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BM Plex Sans"/>
                        </a:rPr>
                        <a:t>Hebel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Burkhalter Gruppe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Zürich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4,45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83 Gesellschaften, ein Rahmen für Dutzende Töchter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ETAVIS AG (VINCI)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Zürich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4,45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Infrastruktur und RZ, Tür zu Actemium und Gfeller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Equans Switzerland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Zürich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4,45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Energie, Verkehr, Industrie, FM unter einem Dach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BKW Building Solutions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Bern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4,20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Dach von AEK, ISP, swisspro, Arnold, inelectro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Actemium Schweiz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Bern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4,15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Shutdowns, Inbetriebnahmen, Lastbanktests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Arnold AG (BKW)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Bern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4,15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HS- und Kabelnetzbau: Trafo-Miete, Netzersatz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CKW Gebäudetechnik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Luzern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4,15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Grösster Installateur der Zentralschweiz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EKZ Eltop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Zürich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4,15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Ganzer Kanton Zürich, PV und Speicher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ETAVIS Kriegel+Schaffner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Basel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4,15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Pharma-Grossprojekte Basel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Selmoni Gruppe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Basel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4,15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Life Sciences: USV und NEA bei Shutdowns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Egg-Telsa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Genf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4,15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Grösster Unabhängiger in Genf, Cap2030 GVA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503920" y="1874519"/>
            <a:ext cx="2834640" cy="4160520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075688"/>
            <a:ext cx="23225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BM Plex Sans"/>
              </a:rPr>
              <a:t>42 Installateure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441448"/>
            <a:ext cx="2322576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>11 A · 20 B · 11 C</a:t>
            </a:r>
          </a:p>
          <a:p>
            <a:pPr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/>
            </a:r>
          </a:p>
          <a:p>
            <a:pPr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>Burkhalter, VINCI und BKW decken zusammen 19 Firmen der Liste ab.</a:t>
            </a:r>
          </a:p>
          <a:p>
            <a:pPr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/>
            </a:r>
          </a:p>
          <a:p>
            <a:pPr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>Einkauf zentral klären, dann Töchter regional bearbeiten.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07 · FM, Stadtwerke, Planer · 20 %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Netzumbau braucht Trafos, Planer schreiben aus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Zielkunden Schweiz 2026/27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" y="1965960"/>
            <a:ext cx="3502152" cy="2743200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258568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  <a:latin typeface="IBM Plex Sans"/>
              </a:rPr>
              <a:t>Stadtwerke / EVU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788920"/>
            <a:ext cx="291693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>CKW: ca. 2'500 Trafostationen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>EKZ: 17'187 km Netz in Erneuerung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>ewz: Unterwerke, z.B. Oerlikon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>IWB: Netzknoten Basel verstärkt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33087" y="1965960"/>
            <a:ext cx="3502152" cy="274320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2258568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  <a:latin typeface="IBM Plex Sans"/>
              </a:rPr>
              <a:t>Facility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788920"/>
            <a:ext cx="291693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CBRE GWS: Pharmamandate Basel, NEA-Lasttests</a:t>
            </a:r>
          </a:p>
          <a:p>
            <a:pPr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Equans FM: Fusion 02/2026, Lieferanten werden neu gewählt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36408" y="1965960"/>
            <a:ext cx="3502152" cy="274320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9016" y="2258568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  <a:latin typeface="IBM Plex Sans"/>
              </a:rPr>
              <a:t>Elektroplaner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6" y="2788920"/>
            <a:ext cx="291693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Amstein + Walthert: &gt;1'100 MA, legt NEA und USV für Spitäler und RZ fest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" y="4937760"/>
            <a:ext cx="10908792" cy="1051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5184648"/>
            <a:ext cx="10085832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8595B"/>
                </a:solidFill>
                <a:latin typeface="IBM Plex Sans"/>
              </a:rPr>
              <a:t>7 A-Firmen im Segment. </a:t>
            </a:r>
            <a:r>
              <a:rPr sz="1300" b="0">
                <a:solidFill>
                  <a:srgbClr val="58595B"/>
                </a:solidFill>
                <a:latin typeface="IBM Plex Sans"/>
              </a:rPr>
              <a:t>Planer kaufen nicht selbst. Ziel ist, dass Mietlösungen in NEA-, USV- und Provisoriums-Ausschreibungen genannt werden.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08 · Rechenzentren und Grossprojekte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Die Commissioning-Welle 2026 bis 2028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Zielkunden Schweiz 2026/27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5" y="2359152"/>
            <a:ext cx="7424927" cy="18288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" y="2011680"/>
            <a:ext cx="768096" cy="768096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3081528"/>
            <a:ext cx="32278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IBM Plex Sans"/>
              </a:rP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3630168"/>
            <a:ext cx="322783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STACK Beringen, 36 MW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Green Lupfig, 12 MW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NorthC Genf, Baustart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Cap2030 GVA, Etappe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33087" y="2011680"/>
            <a:ext cx="768096" cy="768096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7" y="3081528"/>
            <a:ext cx="32278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IBM Plex Sans"/>
              </a:rPr>
              <a:t>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7" y="3630168"/>
            <a:ext cx="322783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NorthC Arlesheim, Mitte 2027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Flughafen ZH, Tower ab 2027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USZ Campus MITTE1|2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36408" y="2011680"/>
            <a:ext cx="768096" cy="768096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3081528"/>
            <a:ext cx="32278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IBM Plex Sans"/>
              </a:rPr>
              <a:t>2028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3630168"/>
            <a:ext cx="322783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Digital Realty ZUR4, 15 MW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FlexBase Laufenburg (Zeitplan umstritten)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Vantage ZRH2, 24 MW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" y="5029200"/>
            <a:ext cx="10908792" cy="100584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276088"/>
            <a:ext cx="100858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IBM Plex Sans"/>
              </a:rPr>
              <a:t>Kernaussage: </a:t>
            </a:r>
            <a:r>
              <a:rPr sz="1400" b="0">
                <a:solidFill>
                  <a:srgbClr val="E6E6E6"/>
                </a:solidFill>
                <a:latin typeface="IBM Plex Sans"/>
              </a:rPr>
              <a:t>Wer im Bau den Baustrom liefert, sitzt beim Commissioning mit Lastbank und NEA-Test am Tisch.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09 · GU/TU und Industrie · 20 %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800" b="0">
                <a:solidFill>
                  <a:srgbClr val="000000"/>
                </a:solidFill>
                <a:latin typeface="Alata"/>
              </a:rPr>
              <a:t>18 A-Firmen mit belegtem Anlass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Zielkunden Schweiz 2026/27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9768" y="1874519"/>
          <a:ext cx="10908790" cy="42245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115"/>
                <a:gridCol w="1100046"/>
                <a:gridCol w="1283387"/>
                <a:gridCol w="5775242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BM Plex Sans"/>
                        </a:rPr>
                        <a:t>Firma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BM Plex Sans"/>
                        </a:rPr>
                        <a:t>Typ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BM Plex Sans"/>
                        </a:rPr>
                        <a:t>Anlass (Quelle in der Excel)</a:t>
                      </a:r>
                    </a:p>
                  </a:txBody>
                  <a:tcPr marL="109728" marR="91440" marT="45720" marB="45720" anchor="ctr">
                    <a:solidFill>
                      <a:srgbClr val="E00036"/>
                    </a:solidFill>
                  </a:tcPr>
                </a:tc>
              </a:tr>
              <a:tr h="320039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Implenia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GU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4,70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GU Green-RZ Lupfig/Dielsdorf, Sisikoner Tunnel bis 2034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Digital Realty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RZ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4,70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Spatenstich ZUR4 am 26.08.2026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20039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Green Datacenter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RZ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4,70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Lupfig Start 2026, Dielsdorf RZ 3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STACK Infrastructure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RZ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4,55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Beringen SH, 36 MW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20039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Losinger Marazzi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GU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4,45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Terminal GVA Cap2030, ca. 600 Mio. CHF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Marti-Gruppe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GU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4,45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2. Gotthardröhre, Hauptlos Süd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20039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ERNE / Frutiger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GU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4,40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FlexBase Laufenburg / Sisikoner Tunnel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NorthC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RZ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4,40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Arlesheim und Genf parallel im Bau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20039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Bachem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Industrie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4,40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Bau K Ramp-up, Werk Sisslerfeld 750 Mio. CHF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Roche / Lonza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Industrie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4,30 / 4,00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Bau 12 Basel / Ibex Visp Ramp-up 2026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  <a:tr h="320039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FlexBase / Vantage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RZ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4,30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BESS 1,6 GWh plus KI-RZ / ZRH2 24 MW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58595B"/>
                          </a:solidFill>
                          <a:latin typeface="IBM Plex Sans"/>
                        </a:rPr>
                        <a:t>USZ, GVA, SBB Energie, OASG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div.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4,00 bis 4,15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58595B"/>
                          </a:solidFill>
                          <a:latin typeface="IBM Plex Sans"/>
                        </a:rPr>
                        <a:t>Spital-Umbau, Flughafen, Umformer, Openair</a:t>
                      </a:r>
                    </a:p>
                  </a:txBody>
                  <a:tcPr marL="109728" marR="91440" marT="45720" marB="45720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10 · Was die Recherche korrigiert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800" b="0">
                <a:solidFill>
                  <a:srgbClr val="000000"/>
                </a:solidFill>
                <a:latin typeface="Alata"/>
              </a:rPr>
              <a:t>Sechs Punkte, bevor wir anrufen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Zielkunden Schweiz 2026/27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" y="1965960"/>
            <a:ext cx="3502152" cy="192024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258568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IBM Plex Sans"/>
              </a:rPr>
              <a:t>Steiner AG raus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788920"/>
            <a:ext cx="291693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Nachlassstundung, kein TU-Neugeschäft in der Deutschschweiz seit 2023.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33087" y="1965960"/>
            <a:ext cx="3502152" cy="192024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2258568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IBM Plex Sans"/>
              </a:rPr>
              <a:t>Compagnoni unabhängig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788920"/>
            <a:ext cx="291693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Elektro Compagnoni ist keine Burkhalter-Tochter, sondern Familienfirma.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36408" y="1965960"/>
            <a:ext cx="3502152" cy="1920240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9016" y="2258568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IBM Plex Sans"/>
              </a:rPr>
              <a:t>Kummler+Matter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6" y="2788920"/>
            <a:ext cx="291693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IBM Plex Sans"/>
              </a:rPr>
              <a:t>Vermietet eigene mobile Trafostationen: Partner und Wettbewerber zugleich.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" y="4087368"/>
            <a:ext cx="3502152" cy="192024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379976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IBM Plex Sans"/>
              </a:rPr>
              <a:t>Stahl bewusst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4910328"/>
            <a:ext cx="2916936" cy="868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Gerlafingen und Swiss Steel laufen mit Staatshilfe: Bonität prüfen.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7" y="4087368"/>
            <a:ext cx="3502152" cy="192024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5696" y="4379976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IBM Plex Sans"/>
              </a:rPr>
              <a:t>Öffentliche Beschaffung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4910328"/>
            <a:ext cx="2916936" cy="868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ewz, USZ, SBB, CSCS: IVöB-Verfahren und Fristen einplanen.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36408" y="4087368"/>
            <a:ext cx="3502152" cy="1920240"/>
          </a:xfrm>
          <a:prstGeom prst="rect">
            <a:avLst/>
          </a:prstGeom>
          <a:solidFill>
            <a:srgbClr val="585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4379976"/>
            <a:ext cx="29169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IBM Plex Sans"/>
              </a:rPr>
              <a:t>BKW am Lauberhorn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4910328"/>
            <a:ext cx="2916936" cy="868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6E6"/>
                </a:solidFill>
                <a:latin typeface="IBM Plex Sans"/>
              </a:rPr>
              <a:t>BKW ist Sponsor: Konkurrenzlage vor der Ansprache klären.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91056" y="365760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 cap="all">
                <a:solidFill>
                  <a:srgbClr val="E00036"/>
                </a:solidFill>
                <a:latin typeface="IBM Plex Sans"/>
              </a:rPr>
              <a:t>11 · Nächste Schritte (Vorschlag)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8183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600" b="0">
                <a:solidFill>
                  <a:srgbClr val="000000"/>
                </a:solidFill>
                <a:latin typeface="Alata"/>
              </a:rPr>
              <a:t>Vom Ranking zur Telefonliste in sechs Wochen</a:t>
            </a:r>
          </a:p>
        </p:txBody>
      </p:sp>
      <p:sp>
        <p:nvSpPr>
          <p:cNvPr id="4" name="Rectangle 3"/>
          <p:cNvSpPr/>
          <p:nvPr/>
        </p:nvSpPr>
        <p:spPr>
          <a:xfrm>
            <a:off x="1591056" y="1572768"/>
            <a:ext cx="1005840" cy="41148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91056" y="635508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8595B"/>
                </a:solidFill>
                <a:latin typeface="IBM Plex Sans"/>
              </a:rPr>
              <a:t>MiT Strom CH · Zielkunden Schweiz 2026/27 · intern · 27.09.2026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63550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8595B"/>
                </a:solidFill>
                <a:latin typeface="IBM Plex Sans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5" y="2450591"/>
            <a:ext cx="8350758" cy="18288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" y="2103120"/>
            <a:ext cx="768096" cy="768096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3172968"/>
            <a:ext cx="23020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IBM Plex Sans"/>
              </a:rPr>
              <a:t>CRM-Abgleich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3721608"/>
            <a:ext cx="230200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KW 40-41 · bis 09.10.2026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Status je Firma: A-Kunde, Bestand, verloren mit Datum, Aufbau.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7258" y="2103120"/>
            <a:ext cx="768096" cy="768096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7258" y="3172968"/>
            <a:ext cx="23020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IBM Plex Sans"/>
              </a:rPr>
              <a:t>Zuteilung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7258" y="3721608"/>
            <a:ext cx="230200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KW 41 · bis 09.10.2026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Verantwortliche und Prio final je Firma setzen.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4748" y="2103120"/>
            <a:ext cx="768096" cy="768096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4748" y="3172968"/>
            <a:ext cx="23020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IBM Plex Sans"/>
              </a:rPr>
              <a:t>Erstkontakt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4748" y="3721608"/>
            <a:ext cx="230200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KW 42-45 · 12.10.-06.11.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Alle 36 A-Firmen: Kontakt verifizieren, Termin anfragen.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2238" y="2103120"/>
            <a:ext cx="768096" cy="768096"/>
          </a:xfrm>
          <a:prstGeom prst="rect">
            <a:avLst/>
          </a:prstGeom>
          <a:solidFill>
            <a:srgbClr val="E00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FFFFFF"/>
                </a:solidFill>
                <a:latin typeface="Alat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2238" y="3172968"/>
            <a:ext cx="23020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IBM Plex Sans"/>
              </a:rPr>
              <a:t>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2238" y="3721608"/>
            <a:ext cx="230200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KW 46 · ab 09.11.2026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58595B"/>
                </a:solidFill>
                <a:latin typeface="IBM Plex Sans"/>
              </a:rPr>
              <a:t>Pipeline prüfen, B-Firmen mit neuem Anlass hochstufen.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" y="5120640"/>
            <a:ext cx="10908792" cy="822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5367527"/>
            <a:ext cx="100858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8595B"/>
                </a:solidFill>
                <a:latin typeface="IBM Plex Sans"/>
              </a:rPr>
              <a:t>Termine sind ein Vorschlag, bitte mit Mauro und Jörg bestätigen.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173736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80" cap="all">
                <a:solidFill>
                  <a:srgbClr val="FFFFFF"/>
                </a:solidFill>
                <a:latin typeface="IBM Plex Sans"/>
              </a:rPr>
              <a:t>Der eine Hebel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0" y="2212848"/>
            <a:ext cx="49834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Alata"/>
              </a:rPr>
              <a:t>Der CRM-Abgleich</a:t>
            </a: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Alata"/>
              </a:rPr>
              <a:t>macht aus A/B/C</a:t>
            </a: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Alata"/>
              </a:rPr>
              <a:t>eine Telefonliste.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0" y="4434840"/>
            <a:ext cx="109728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47091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BM Plex Sans"/>
              </a:rPr>
              <a:t>Burak Ücöz · Area Sales Engineer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BM Plex Sans"/>
              </a:rPr>
              <a:t>Mobil in Time AG · An Aggreko Company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chriftarten MiT_ab_2021">
      <a:majorFont>
        <a:latin typeface="Alata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CF6CAFF9-42BB-4E45-AAD0-138463FC66B6}" vid="{4080DF66-D807-473F-B2D8-B94D420065BE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81AC30EB9537A49AF48C735E80D08C6" ma:contentTypeVersion="15" ma:contentTypeDescription="Ein neues Dokument erstellen." ma:contentTypeScope="" ma:versionID="eebee769a3460c40acc337d4501e840b">
  <xsd:schema xmlns:xsd="http://www.w3.org/2001/XMLSchema" xmlns:xs="http://www.w3.org/2001/XMLSchema" xmlns:p="http://schemas.microsoft.com/office/2006/metadata/properties" xmlns:ns2="c3bc38b3-6449-4a1c-a380-47d6575fb472" xmlns:ns3="50b5a504-641a-4807-83f9-f08ddca33ab4" targetNamespace="http://schemas.microsoft.com/office/2006/metadata/properties" ma:root="true" ma:fieldsID="cb83f664cfc6bf2969c499e089e8de19" ns2:_="" ns3:_="">
    <xsd:import namespace="c3bc38b3-6449-4a1c-a380-47d6575fb472"/>
    <xsd:import namespace="50b5a504-641a-4807-83f9-f08ddca33ab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3bc38b3-6449-4a1c-a380-47d6575fb47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ildmarkierungen" ma:readOnly="false" ma:fieldId="{5cf76f15-5ced-4ddc-b409-7134ff3c332f}" ma:taxonomyMulti="true" ma:sspId="6583c19e-58ea-46dc-918b-99ad88035b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b5a504-641a-4807-83f9-f08ddca33ab4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f15867dd-cfca-4df0-9cb6-6d4e724f97fb}" ma:internalName="TaxCatchAll" ma:showField="CatchAllData" ma:web="50b5a504-641a-4807-83f9-f08ddca33ab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0b5a504-641a-4807-83f9-f08ddca33ab4" xsi:nil="true"/>
    <lcf76f155ced4ddcb4097134ff3c332f xmlns="c3bc38b3-6449-4a1c-a380-47d6575fb472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DF648FF-40EE-4ECD-94D7-CDB8253A132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3bc38b3-6449-4a1c-a380-47d6575fb472"/>
    <ds:schemaRef ds:uri="50b5a504-641a-4807-83f9-f08ddca33ab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A0E9496-5E67-4C84-A139-32CD2A62BEF6}">
  <ds:schemaRefs>
    <ds:schemaRef ds:uri="http://purl.org/dc/elements/1.1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c3bc38b3-6449-4a1c-a380-47d6575fb472"/>
    <ds:schemaRef ds:uri="http://schemas.microsoft.com/office/infopath/2007/PartnerControls"/>
    <ds:schemaRef ds:uri="50b5a504-641a-4807-83f9-f08ddca33ab4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EC261B7D-0959-49C5-8C92-09BACBA42A8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743</Words>
  <Application>Microsoft Office PowerPoint</Application>
  <PresentationFormat>Breitbild</PresentationFormat>
  <Paragraphs>194</Paragraphs>
  <Slides>15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1" baseType="lpstr">
      <vt:lpstr>Alata</vt:lpstr>
      <vt:lpstr>Aptos</vt:lpstr>
      <vt:lpstr>Arial</vt:lpstr>
      <vt:lpstr>Calibri</vt:lpstr>
      <vt:lpstr>IBM Plex Sans</vt:lpstr>
      <vt:lpstr>Office</vt:lpstr>
      <vt:lpstr>Mobil in Time AG</vt:lpstr>
      <vt:lpstr>PowerPoint-Präsentation</vt:lpstr>
      <vt:lpstr>PowerPoint-Präsentation</vt:lpstr>
      <vt:lpstr>PowerPoint-Präsentation</vt:lpstr>
      <vt:lpstr>Unser Portfolio</vt:lpstr>
      <vt:lpstr>Mehr Power durch Zusammenarbeit.</vt:lpstr>
      <vt:lpstr>PowerPoint-Präsentation</vt:lpstr>
      <vt:lpstr>Mobile Generatoren</vt:lpstr>
      <vt:lpstr>Mobile Batteriespeicher</vt:lpstr>
      <vt:lpstr>Mobile Batteriespeicher</vt:lpstr>
      <vt:lpstr>Einsatzgebiete</vt:lpstr>
      <vt:lpstr>Aggreko Portfolio</vt:lpstr>
      <vt:lpstr>Power-Quality-Messung</vt:lpstr>
      <vt:lpstr>PowerPoint-Präsentation</vt:lpstr>
      <vt:lpstr>Vielen Dank.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Zielkunden Schweiz 2026/27</dc:title>
  <dc:creator>Burak Ücöz</dc:creator>
  <cp:lastModifiedBy>Sascha Promberger</cp:lastModifiedBy>
  <cp:revision>74</cp:revision>
  <dcterms:created xsi:type="dcterms:W3CDTF">2026-05-28T08:15:02Z</dcterms:created>
  <dcterms:modified xsi:type="dcterms:W3CDTF">2026-07-13T13:39:22Z</dcterms:modified>
  <dc:subject>Leeres Master-Template (Layouts, Hintergruende, Logo)</dc:subject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0x010100A81AC30EB9537A49AF48C735E80D08C6</vt:lpwstr>
  </property>
  <property fmtid="{D5CDD505-2E9C-101B-9397-08002B2CF9AE}" pid="3" name="MediaServiceImageTags">
    <vt:lpwstr/>
  </property>
</Properties>
</file>