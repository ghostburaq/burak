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Selbstbewusst öffnen. Nach 'Ich verkaufe sie.' eine kurze Pause — das ist die Kernbotschaft: Technik UND Abschluss. Namen frei nennen, nicht ablesen. Ziel der ersten 15 Sekunden: klarmachen, dass ich beides verbinde. Ruhig und nicht zu schnell.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Zeigen, dass ich die Stelle verstanden habe. Die vier Felder kurz antippen, NICHT vorlesen. Kernsatz betonen: 'Infrastruktur verkauft niemand, der sie nur erklären kann.' Danach Brücke zu Slide 3 — warum genau ich diese Kombination mitbringe.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Mein roter Faden: Technik – Vertrieb – Energie. Bei '200+ Kundenstamm' kurz innehalten, das ist der Abschluss-Beweis. Tempo: ein Punkt = ein Atemzug. Nicht alle Details vorlesen, die Überschriften führen.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Beweis-Slide. Links Anforderung, rechts mein Beleg. NICHT alle vorlesen — 2 bis 3 stärkste herausgreifen: DC-/EMV-Tiefe, Batteriespeicher, Standort 30 Minuten. Jedes Häkchen heisst: erfüllt. Souverän durchgehen, das Format spricht für sich.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Zahlen wirken lassen — nach jeder eine kurze Pause. 899 Key Accounts ist der Wow-Wert, hier kurz stehen bleiben. Schlusszeile betonen: ein Ansprechpartner vom Erstkontakt bis zur Inbetriebnahme. Nichts relativieren, die Substanz spricht.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Mein Alleinstellungsmerkmal: ich spreche die Netz-Sprache. Die Normen (EN 50160 / IEC 61000-4-30) nur EINMAL nennen — Kompetenz zeigen, nicht dozieren. Pointe ist die dritte Karte: Technik wird zu ROI. Das ist die Sprache, die der Entscheider unterschreibt.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Beweisen, dass ich AVIA VOLT recherchiert habe: 50 Mio. bis 2035, 360–600 kW, die Übernahme von Plug'n Roll / ABB / Etrel. Signal an die Runde: ich denke schon wie ein Mitarbeiter, nicht wie ein Bewerber. Konkrete Zahlen ruhig nennen, sie zeigen Vorbereitung.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Fünf konkrete Jagdgründe — zeigt, dass ich am Tag 1 weiss, wo ich anrufe. Bei 'Industrie &amp; KMU' betonen: das ist meine Bestandskunden-Welt. Mit Energie vortragen, das ist die Macher-Slide. Reihenfolge = Priorität.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Struktur signalisiert Verlässlichkeit. Drei Phasen sauber benennen: Eintauchen – Pipeline – Liefern. Klar machen: an Tag 90 stehen erste Abschlüsse UND ein Forecast. Konkret bleiben, nicht vage. Das ist mein Versprechen an den Vorgesetzten.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Abschluss = klarer Call to Action. Den letzten Satz langsam sprechen: 'Gebt mir das Gebiet — ich gebe der Energiewende ein Geschäftsmodell.' Danach kurz Stille wirken lassen. Kontaktkarten stehen lassen, freundlich und selbstsicher abschliessen. Lächeln, Augenkontakt.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731520"/>
            <a:ext cx="310896" cy="6858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63550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E2001A"/>
                </a:solidFill>
                <a:latin typeface="Trebuchet MS"/>
                <a:cs typeface="Trebuchet MS"/>
              </a:rPr>
              <a:t>BEWERBUNG · VERTRIEBSMANAGER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024128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 spc="100">
                <a:solidFill>
                  <a:srgbClr val="93A0AE"/>
                </a:solidFill>
                <a:latin typeface="Calibri"/>
                <a:cs typeface="Calibri"/>
              </a:rPr>
              <a:t>AVIA VOLT Suisse — Frauenfeld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48840"/>
            <a:ext cx="7406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500" b="1" i="0" spc="0">
                <a:solidFill>
                  <a:srgbClr val="FFFFFF"/>
                </a:solidFill>
                <a:latin typeface="Trebuchet MS"/>
                <a:cs typeface="Trebuchet MS"/>
              </a:rPr>
              <a:t>Ich erkläre Ladeinfrastruktur nicht.
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907792"/>
            <a:ext cx="7406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500" b="1" i="0" spc="0">
                <a:solidFill>
                  <a:srgbClr val="FFFFFF"/>
                </a:solidFill>
                <a:latin typeface="Trebuchet MS"/>
                <a:cs typeface="Trebuchet MS"/>
              </a:rPr>
              <a:t>Ich </a:t>
            </a:r>
            <a:r>
              <a:rPr sz="3500" b="1" i="0" spc="0">
                <a:solidFill>
                  <a:srgbClr val="E2001A"/>
                </a:solidFill>
                <a:latin typeface="Trebuchet MS"/>
                <a:cs typeface="Trebuchet MS"/>
              </a:rPr>
              <a:t>verkaufe</a:t>
            </a:r>
            <a:r>
              <a:rPr sz="3500" b="1" i="0" spc="0">
                <a:solidFill>
                  <a:srgbClr val="FFFFFF"/>
                </a:solidFill>
                <a:latin typeface="Trebuchet MS"/>
                <a:cs typeface="Trebuchet MS"/>
              </a:rPr>
              <a:t> sie.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3858768"/>
            <a:ext cx="1463040" cy="3657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16052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 spc="50">
                <a:solidFill>
                  <a:srgbClr val="FFFFFF"/>
                </a:solidFill>
                <a:latin typeface="Trebuchet MS"/>
                <a:cs typeface="Trebuchet MS"/>
              </a:rPr>
              <a:t>Burak Ücöz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26864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 spc="0">
                <a:solidFill>
                  <a:srgbClr val="93A0AE"/>
                </a:solidFill>
                <a:latin typeface="Calibri"/>
                <a:cs typeface="Calibri"/>
              </a:rPr>
              <a:t>Vertriebsingenieur · EMV &amp; Power Quality · 10+ Jahre technischer B2B-Vertrieb in der Schweiz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623559"/>
            <a:ext cx="365760" cy="365760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15000"/>
            <a:ext cx="182880" cy="18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" y="5660136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 spc="0">
                <a:solidFill>
                  <a:srgbClr val="FFFFFF"/>
                </a:solidFill>
                <a:latin typeface="Calibri"/>
                <a:cs typeface="Calibri"/>
              </a:rPr>
              <a:t>+41 79 512 98 07</a:t>
            </a:r>
          </a:p>
        </p:txBody>
      </p:sp>
      <p:sp>
        <p:nvSpPr>
          <p:cNvPr id="14" name="Oval 13"/>
          <p:cNvSpPr/>
          <p:nvPr/>
        </p:nvSpPr>
        <p:spPr>
          <a:xfrm>
            <a:off x="3127248" y="5623559"/>
            <a:ext cx="365760" cy="365760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5715000"/>
            <a:ext cx="182880" cy="182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84448" y="5660136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 spc="0">
                <a:solidFill>
                  <a:srgbClr val="FFFFFF"/>
                </a:solidFill>
                <a:latin typeface="Calibri"/>
                <a:cs typeface="Calibri"/>
              </a:rPr>
              <a:t>b.s.uecoez@gmail.com</a:t>
            </a:r>
          </a:p>
        </p:txBody>
      </p:sp>
      <p:sp>
        <p:nvSpPr>
          <p:cNvPr id="17" name="Oval 16"/>
          <p:cNvSpPr/>
          <p:nvPr/>
        </p:nvSpPr>
        <p:spPr>
          <a:xfrm>
            <a:off x="5596128" y="5623559"/>
            <a:ext cx="365760" cy="365760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568" y="5715000"/>
            <a:ext cx="182880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53328" y="5660136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 spc="0">
                <a:solidFill>
                  <a:srgbClr val="FFFFFF"/>
                </a:solidFill>
                <a:latin typeface="Calibri"/>
                <a:cs typeface="Calibri"/>
              </a:rPr>
              <a:t>8240 Thayngen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9407" y="2112264"/>
            <a:ext cx="2514600" cy="2514600"/>
          </a:xfrm>
          <a:prstGeom prst="roundRect">
            <a:avLst>
              <a:gd name="adj" fmla="val 10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ortrait_cle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0" y="1965960"/>
            <a:ext cx="2514600" cy="2514600"/>
          </a:xfrm>
          <a:prstGeom prst="rect">
            <a:avLst/>
          </a:prstGeom>
          <a:effectLst>
            <a:outerShdw blurRad="128016" dist="64008" dir="5400000" rotWithShape="0">
              <a:srgbClr val="1B2430">
                <a:alpha val="6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676656"/>
            <a:ext cx="310896" cy="6858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80644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E2001A"/>
                </a:solidFill>
                <a:latin typeface="Trebuchet MS"/>
                <a:cs typeface="Trebuchet MS"/>
              </a:rPr>
              <a:t>EUER AUFTRAG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9264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 spc="0">
                <a:solidFill>
                  <a:srgbClr val="1B2430"/>
                </a:solidFill>
                <a:latin typeface="Trebuchet MS"/>
                <a:cs typeface="Trebuchet MS"/>
              </a:rPr>
              <a:t>Das ist kein Nischenprodukt mehr. </a:t>
            </a:r>
            <a:r>
              <a:rPr sz="2700" b="1" i="0" spc="0">
                <a:solidFill>
                  <a:srgbClr val="E2001A"/>
                </a:solidFill>
                <a:latin typeface="Trebuchet MS"/>
                <a:cs typeface="Trebuchet MS"/>
              </a:rPr>
              <a:t>Das ist Infrastruktur.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91056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 spc="0">
                <a:solidFill>
                  <a:srgbClr val="5A6573"/>
                </a:solidFill>
                <a:latin typeface="Calibri"/>
                <a:cs typeface="Calibri"/>
              </a:rPr>
              <a:t>Infrastruktur verkauft niemand, der sie nur erklären kann. Ihr sucht jemanden, der die Technik versteht und trotzdem abschliesst — genau diese seltene Kombination bringe ich mit.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61488"/>
            <a:ext cx="2551176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761488"/>
            <a:ext cx="2551176" cy="82296"/>
          </a:xfrm>
          <a:prstGeom prst="roundRect">
            <a:avLst>
              <a:gd name="adj" fmla="val 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2103" y="3081527"/>
            <a:ext cx="786384" cy="786384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699" y="3278124"/>
            <a:ext cx="393192" cy="3931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6112" y="4005072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 spc="0">
                <a:solidFill>
                  <a:srgbClr val="1B2430"/>
                </a:solidFill>
                <a:latin typeface="Trebuchet MS"/>
                <a:cs typeface="Trebuchet MS"/>
              </a:rPr>
              <a:t>DC-Schnelllader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462272"/>
            <a:ext cx="209397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 spc="0">
                <a:solidFill>
                  <a:srgbClr val="5A6573"/>
                </a:solidFill>
                <a:latin typeface="Calibri"/>
                <a:cs typeface="Calibri"/>
              </a:rPr>
              <a:t>Technisch anspruchsvolle Anlagen — Netzanschluss, Leistung, Power Quality.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3" y="2761488"/>
            <a:ext cx="2551176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83863" y="2761488"/>
            <a:ext cx="2551176" cy="82296"/>
          </a:xfrm>
          <a:prstGeom prst="roundRect">
            <a:avLst>
              <a:gd name="adj" fmla="val 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599" y="3081527"/>
            <a:ext cx="786384" cy="786384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4196" y="3278124"/>
            <a:ext cx="393192" cy="3931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721607" y="4005072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 spc="0">
                <a:solidFill>
                  <a:srgbClr val="1B2430"/>
                </a:solidFill>
                <a:latin typeface="Trebuchet MS"/>
                <a:cs typeface="Trebuchet MS"/>
              </a:rPr>
              <a:t>CPO-Betrieb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7" y="4462272"/>
            <a:ext cx="209397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 spc="0">
                <a:solidFill>
                  <a:srgbClr val="5A6573"/>
                </a:solidFill>
                <a:latin typeface="Calibri"/>
                <a:cs typeface="Calibri"/>
              </a:rPr>
              <a:t>Aus Ladepunkten ein tragfähiges Geschäftsmodell machen.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2761488"/>
            <a:ext cx="2551176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59" y="2761488"/>
            <a:ext cx="2551176" cy="82296"/>
          </a:xfrm>
          <a:prstGeom prst="roundRect">
            <a:avLst>
              <a:gd name="adj" fmla="val 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83096" y="3081527"/>
            <a:ext cx="786384" cy="786384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atte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692" y="3278124"/>
            <a:ext cx="393192" cy="3931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47103" y="4005072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 spc="0">
                <a:solidFill>
                  <a:srgbClr val="1B2430"/>
                </a:solidFill>
                <a:latin typeface="Trebuchet MS"/>
                <a:cs typeface="Trebuchet MS"/>
              </a:rPr>
              <a:t>Batteriespeicher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3" y="4462272"/>
            <a:ext cx="209397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 spc="0">
                <a:solidFill>
                  <a:srgbClr val="5A6573"/>
                </a:solidFill>
                <a:latin typeface="Calibri"/>
                <a:cs typeface="Calibri"/>
              </a:rPr>
              <a:t>Lastspitzen kappen, Netzanschluss entlasten, Wirtschaftlichkeit sichern.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34856" y="2761488"/>
            <a:ext cx="2551176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34856" y="2761488"/>
            <a:ext cx="2551176" cy="82296"/>
          </a:xfrm>
          <a:prstGeom prst="roundRect">
            <a:avLst>
              <a:gd name="adj" fmla="val 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08592" y="3081527"/>
            <a:ext cx="786384" cy="786384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5188" y="3278124"/>
            <a:ext cx="393192" cy="39319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372600" y="4005072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 spc="0">
                <a:solidFill>
                  <a:srgbClr val="1B2430"/>
                </a:solidFill>
                <a:latin typeface="Trebuchet MS"/>
                <a:cs typeface="Trebuchet MS"/>
              </a:rPr>
              <a:t>Lastmanagement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4462272"/>
            <a:ext cx="209397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 spc="0">
                <a:solidFill>
                  <a:srgbClr val="5A6573"/>
                </a:solidFill>
                <a:latin typeface="Calibri"/>
                <a:cs typeface="Calibri"/>
              </a:rPr>
              <a:t>Keine Kür, sondern die Voraussetzung für skalierbare Standorte.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6419088"/>
            <a:ext cx="10844784" cy="12801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60">
                <a:solidFill>
                  <a:srgbClr val="5A6573"/>
                </a:solidFill>
                <a:latin typeface="Trebuchet MS"/>
                <a:cs typeface="Trebuchet MS"/>
              </a:rPr>
              <a:t>Burak Ücöz</a:t>
            </a:r>
            <a:r>
              <a:rPr sz="950" b="0" i="0" spc="60">
                <a:solidFill>
                  <a:srgbClr val="5A6573"/>
                </a:solidFill>
                <a:latin typeface="Calibri"/>
                <a:cs typeface="Calibri"/>
              </a:rPr>
              <a:t>   ·   Bewerbung AVIA VOLT Suisse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027664" y="6547104"/>
            <a:ext cx="91440" cy="9144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3739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 spc="0">
                <a:solidFill>
                  <a:srgbClr val="5A6573"/>
                </a:solidFill>
                <a:latin typeface="Trebuchet MS"/>
                <a:cs typeface="Trebuchet M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676656"/>
            <a:ext cx="310896" cy="6858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80644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E2001A"/>
                </a:solidFill>
                <a:latin typeface="Trebuchet MS"/>
                <a:cs typeface="Trebuchet MS"/>
              </a:rPr>
              <a:t>WARUM 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9264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 spc="0">
                <a:solidFill>
                  <a:srgbClr val="1B2430"/>
                </a:solidFill>
                <a:latin typeface="Trebuchet MS"/>
                <a:cs typeface="Trebuchet MS"/>
              </a:rPr>
              <a:t>Drei Dinge, die </a:t>
            </a:r>
            <a:r>
              <a:rPr sz="2700" b="1" i="0" spc="0">
                <a:solidFill>
                  <a:srgbClr val="E2001A"/>
                </a:solidFill>
                <a:latin typeface="Trebuchet MS"/>
                <a:cs typeface="Trebuchet MS"/>
              </a:rPr>
              <a:t>selten zusammenkommen.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12848"/>
            <a:ext cx="3456432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450591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 spc="0">
                <a:solidFill>
                  <a:srgbClr val="E3E8ED"/>
                </a:solidFill>
                <a:latin typeface="Trebuchet MS"/>
                <a:cs typeface="Trebuchet MS"/>
              </a:rPr>
              <a:t>01</a:t>
            </a:r>
          </a:p>
        </p:txBody>
      </p:sp>
      <p:sp>
        <p:nvSpPr>
          <p:cNvPr id="8" name="Oval 7"/>
          <p:cNvSpPr/>
          <p:nvPr/>
        </p:nvSpPr>
        <p:spPr>
          <a:xfrm>
            <a:off x="3035808" y="2450592"/>
            <a:ext cx="731520" cy="731520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7" y="2633472"/>
            <a:ext cx="365760" cy="365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69264" y="3401568"/>
            <a:ext cx="640080" cy="41148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566160"/>
            <a:ext cx="28529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0">
                <a:solidFill>
                  <a:srgbClr val="1B2430"/>
                </a:solidFill>
                <a:latin typeface="Trebuchet MS"/>
                <a:cs typeface="Trebuchet MS"/>
              </a:rPr>
              <a:t>Technische Tiefe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4078224"/>
            <a:ext cx="28529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0">
                <a:solidFill>
                  <a:srgbClr val="5A6573"/>
                </a:solidFill>
                <a:latin typeface="Calibri"/>
                <a:cs typeface="Calibri"/>
              </a:rPr>
              <a:t>Dipl.-Ingenieur Elektrotechnik (B.Eng.), EMV- und Power-Quality-Experte. Ich verstehe, was an einem 360-kW-Lader wirklich passiert — und erkläre es einem Entscheider in einem Satz.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1" y="2212848"/>
            <a:ext cx="3456432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450591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 spc="0">
                <a:solidFill>
                  <a:srgbClr val="E3E8ED"/>
                </a:solidFill>
                <a:latin typeface="Trebuchet MS"/>
                <a:cs typeface="Trebuchet MS"/>
              </a:rPr>
              <a:t>02</a:t>
            </a:r>
          </a:p>
        </p:txBody>
      </p:sp>
      <p:sp>
        <p:nvSpPr>
          <p:cNvPr id="15" name="Oval 14"/>
          <p:cNvSpPr/>
          <p:nvPr/>
        </p:nvSpPr>
        <p:spPr>
          <a:xfrm>
            <a:off x="6793991" y="2450592"/>
            <a:ext cx="731520" cy="731520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1" y="2633472"/>
            <a:ext cx="365760" cy="3657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727447" y="3401568"/>
            <a:ext cx="640080" cy="41148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7447" y="3566160"/>
            <a:ext cx="28529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0">
                <a:solidFill>
                  <a:srgbClr val="1B2430"/>
                </a:solidFill>
                <a:latin typeface="Trebuchet MS"/>
                <a:cs typeface="Trebuchet MS"/>
              </a:rPr>
              <a:t>Verkaufs-Biss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7" y="4078224"/>
            <a:ext cx="28529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0">
                <a:solidFill>
                  <a:srgbClr val="5A6573"/>
                </a:solidFill>
                <a:latin typeface="Calibri"/>
                <a:cs typeface="Calibri"/>
              </a:rPr>
              <a:t>Über 10 Jahre Investitionsgüter-Vertrieb im Aussendienst: Neukundengewinnung, Key Accounts, Angebot, Verhandlung, Abschluss. Als Unternehmer selbst Kundenstämme von 200+ aufgebaut.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4736" y="2212848"/>
            <a:ext cx="3456432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7344" y="2450591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 spc="0">
                <a:solidFill>
                  <a:srgbClr val="E3E8ED"/>
                </a:solidFill>
                <a:latin typeface="Trebuchet MS"/>
                <a:cs typeface="Trebuchet MS"/>
              </a:rPr>
              <a:t>03</a:t>
            </a:r>
          </a:p>
        </p:txBody>
      </p:sp>
      <p:sp>
        <p:nvSpPr>
          <p:cNvPr id="22" name="Oval 21"/>
          <p:cNvSpPr/>
          <p:nvPr/>
        </p:nvSpPr>
        <p:spPr>
          <a:xfrm>
            <a:off x="10552176" y="2450592"/>
            <a:ext cx="731520" cy="731520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5056" y="2633472"/>
            <a:ext cx="365760" cy="36576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485632" y="3401568"/>
            <a:ext cx="640080" cy="41148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5632" y="3566160"/>
            <a:ext cx="28529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0">
                <a:solidFill>
                  <a:srgbClr val="1B2430"/>
                </a:solidFill>
                <a:latin typeface="Trebuchet MS"/>
                <a:cs typeface="Trebuchet MS"/>
              </a:rPr>
              <a:t>Energie &amp; Speicher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4078224"/>
            <a:ext cx="28529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0">
                <a:solidFill>
                  <a:srgbClr val="5A6573"/>
                </a:solidFill>
                <a:latin typeface="Calibri"/>
                <a:cs typeface="Calibri"/>
              </a:rPr>
              <a:t>Batteriespeicher, Lastmanagement, Smart Grid und E-Mobility sind mein Tagesgeschäft, nicht meine Lernkurve. Ich bin am Tag eins einsatzbereit.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6419088"/>
            <a:ext cx="10844784" cy="12801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60">
                <a:solidFill>
                  <a:srgbClr val="5A6573"/>
                </a:solidFill>
                <a:latin typeface="Trebuchet MS"/>
                <a:cs typeface="Trebuchet MS"/>
              </a:rPr>
              <a:t>Burak Ücöz</a:t>
            </a:r>
            <a:r>
              <a:rPr sz="950" b="0" i="0" spc="60">
                <a:solidFill>
                  <a:srgbClr val="5A6573"/>
                </a:solidFill>
                <a:latin typeface="Calibri"/>
                <a:cs typeface="Calibri"/>
              </a:rPr>
              <a:t>   ·   Bewerbung AVIA VOLT Suisse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027664" y="6547104"/>
            <a:ext cx="91440" cy="9144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3739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 spc="0">
                <a:solidFill>
                  <a:srgbClr val="5A6573"/>
                </a:solidFill>
                <a:latin typeface="Trebuchet MS"/>
                <a:cs typeface="Trebuchet M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621792"/>
            <a:ext cx="310896" cy="6858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2578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E2001A"/>
                </a:solidFill>
                <a:latin typeface="Trebuchet MS"/>
                <a:cs typeface="Trebuchet MS"/>
              </a:rPr>
              <a:t>ANFORDERUNG TRIFFT BEWEIS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 i="0" spc="0">
                <a:solidFill>
                  <a:srgbClr val="1B2430"/>
                </a:solidFill>
                <a:latin typeface="Trebuchet MS"/>
                <a:cs typeface="Trebuchet MS"/>
              </a:rPr>
              <a:t>Was ihr sucht — </a:t>
            </a:r>
            <a:r>
              <a:rPr sz="2600" b="1" i="0" spc="0">
                <a:solidFill>
                  <a:srgbClr val="E2001A"/>
                </a:solidFill>
                <a:latin typeface="Trebuchet MS"/>
                <a:cs typeface="Trebuchet MS"/>
              </a:rPr>
              <a:t>und womit ich es belege.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0844784" cy="420624"/>
          </a:xfrm>
          <a:prstGeom prst="roundRect">
            <a:avLst>
              <a:gd name="adj" fmla="val 4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1796795"/>
            <a:ext cx="4480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93A0AE"/>
                </a:solidFill>
                <a:latin typeface="Trebuchet MS"/>
                <a:cs typeface="Trebuchet MS"/>
              </a:rPr>
              <a:t>AVIA VOLT sucht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41848" y="1796795"/>
            <a:ext cx="56327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FFFFFF"/>
                </a:solidFill>
                <a:latin typeface="Trebuchet MS"/>
                <a:cs typeface="Trebuchet MS"/>
              </a:rPr>
              <a:t>BURAK ÜCÖZ BRINGT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347722"/>
            <a:ext cx="310896" cy="310896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55" y="2422337"/>
            <a:ext cx="161665" cy="16166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88719" y="2176272"/>
            <a:ext cx="4297680" cy="65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0">
                <a:solidFill>
                  <a:srgbClr val="1B2430"/>
                </a:solidFill>
                <a:latin typeface="Trebuchet MS"/>
                <a:cs typeface="Trebuchet MS"/>
              </a:rPr>
              <a:t>DC-Ladeinfrastruktur, technisch anspruchsvoll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31536" y="2286000"/>
            <a:ext cx="12801" cy="434340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41848" y="2176272"/>
            <a:ext cx="5650992" cy="65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 spc="0">
                <a:solidFill>
                  <a:srgbClr val="5A6573"/>
                </a:solidFill>
                <a:latin typeface="Calibri"/>
                <a:cs typeface="Calibri"/>
              </a:rPr>
              <a:t>Elektrotechnik-Ingenieur mit EMV/PQ-Tiefe — Netzanschluss, Oberschwingungen, Leistung.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830068"/>
            <a:ext cx="10844784" cy="65379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3001518"/>
            <a:ext cx="310896" cy="310896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55" y="3076133"/>
            <a:ext cx="161665" cy="1616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88719" y="2830068"/>
            <a:ext cx="4297680" cy="65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0">
                <a:solidFill>
                  <a:srgbClr val="1B2430"/>
                </a:solidFill>
                <a:latin typeface="Trebuchet MS"/>
                <a:cs typeface="Trebuchet MS"/>
              </a:rPr>
              <a:t>CPO-Betrieb als Geschäftsmodell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31536" y="2939796"/>
            <a:ext cx="12801" cy="434340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2830068"/>
            <a:ext cx="5650992" cy="65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 spc="0">
                <a:solidFill>
                  <a:srgbClr val="5A6573"/>
                </a:solidFill>
                <a:latin typeface="Calibri"/>
                <a:cs typeface="Calibri"/>
              </a:rPr>
              <a:t>10+ Jahre Investitionsgüter-Vertrieb: Pipeline, Forecast, Marge, Abschluss.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655313"/>
            <a:ext cx="310896" cy="310896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55" y="3729929"/>
            <a:ext cx="161665" cy="16166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88719" y="3483863"/>
            <a:ext cx="4297680" cy="65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0">
                <a:solidFill>
                  <a:srgbClr val="1B2430"/>
                </a:solidFill>
                <a:latin typeface="Trebuchet MS"/>
                <a:cs typeface="Trebuchet MS"/>
              </a:rPr>
              <a:t>Batteriespeicher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31536" y="3593591"/>
            <a:ext cx="12801" cy="434340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41848" y="3483863"/>
            <a:ext cx="5650992" cy="65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 spc="0">
                <a:solidFill>
                  <a:srgbClr val="5A6573"/>
                </a:solidFill>
                <a:latin typeface="Calibri"/>
                <a:cs typeface="Calibri"/>
              </a:rPr>
              <a:t>Aktiv im Verkauf von Speicher- und Hybridlösungen, inkl. Pufferbatterien an HPC-Standorten.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137659"/>
            <a:ext cx="10844784" cy="65379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4309109"/>
            <a:ext cx="310896" cy="310896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55" y="4383725"/>
            <a:ext cx="161665" cy="16166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88719" y="4137659"/>
            <a:ext cx="4297680" cy="65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0">
                <a:solidFill>
                  <a:srgbClr val="1B2430"/>
                </a:solidFill>
                <a:latin typeface="Trebuchet MS"/>
                <a:cs typeface="Trebuchet MS"/>
              </a:rPr>
              <a:t>Energie- und Lastmanagement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31536" y="4247388"/>
            <a:ext cx="12801" cy="434340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41848" y="4137659"/>
            <a:ext cx="5650992" cy="65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 spc="0">
                <a:solidFill>
                  <a:srgbClr val="5A6573"/>
                </a:solidFill>
                <a:latin typeface="Calibri"/>
                <a:cs typeface="Calibri"/>
              </a:rPr>
              <a:t>Tagesgeschäft: Lastspitzen, Lastmanagement, Energiemonitoring.</a:t>
            </a:r>
          </a:p>
        </p:txBody>
      </p:sp>
      <p:sp>
        <p:nvSpPr>
          <p:cNvPr id="31" name="Oval 30"/>
          <p:cNvSpPr/>
          <p:nvPr/>
        </p:nvSpPr>
        <p:spPr>
          <a:xfrm>
            <a:off x="777240" y="4962905"/>
            <a:ext cx="310896" cy="310896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55" y="5037521"/>
            <a:ext cx="161665" cy="16166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88719" y="4791455"/>
            <a:ext cx="4297680" cy="65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0">
                <a:solidFill>
                  <a:srgbClr val="1B2430"/>
                </a:solidFill>
                <a:latin typeface="Trebuchet MS"/>
                <a:cs typeface="Trebuchet MS"/>
              </a:rPr>
              <a:t>Technischer Verkauf, Freude am Kundenkontakt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31536" y="4901183"/>
            <a:ext cx="12801" cy="434340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41848" y="4791455"/>
            <a:ext cx="5650992" cy="65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 spc="0">
                <a:solidFill>
                  <a:srgbClr val="5A6573"/>
                </a:solidFill>
                <a:latin typeface="Calibri"/>
                <a:cs typeface="Calibri"/>
              </a:rPr>
              <a:t>Aussendienst pur — Neukundengewinnung, Beratung von Planung bis Inbetriebnahme.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445251"/>
            <a:ext cx="10844784" cy="65379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77240" y="5616701"/>
            <a:ext cx="310896" cy="310896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55" y="5691317"/>
            <a:ext cx="161665" cy="16166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88719" y="5445251"/>
            <a:ext cx="4297680" cy="65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0">
                <a:solidFill>
                  <a:srgbClr val="1B2430"/>
                </a:solidFill>
                <a:latin typeface="Trebuchet MS"/>
                <a:cs typeface="Trebuchet MS"/>
              </a:rPr>
              <a:t>Standort Frauenfeld, 100 %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31536" y="5554979"/>
            <a:ext cx="12801" cy="434340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41848" y="5445251"/>
            <a:ext cx="5650992" cy="65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 spc="0">
                <a:solidFill>
                  <a:srgbClr val="5A6573"/>
                </a:solidFill>
                <a:latin typeface="Calibri"/>
                <a:cs typeface="Calibri"/>
              </a:rPr>
              <a:t>Wohnhaft in Thayngen, rund 30 Minuten entfernt. Lokal verankert in der Ostschweiz.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1755648"/>
            <a:ext cx="10844784" cy="434340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E3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6419088"/>
            <a:ext cx="10844784" cy="12801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60">
                <a:solidFill>
                  <a:srgbClr val="5A6573"/>
                </a:solidFill>
                <a:latin typeface="Trebuchet MS"/>
                <a:cs typeface="Trebuchet MS"/>
              </a:rPr>
              <a:t>Burak Ücöz</a:t>
            </a:r>
            <a:r>
              <a:rPr sz="950" b="0" i="0" spc="60">
                <a:solidFill>
                  <a:srgbClr val="5A6573"/>
                </a:solidFill>
                <a:latin typeface="Calibri"/>
                <a:cs typeface="Calibri"/>
              </a:rPr>
              <a:t>   ·   Bewerbung AVIA VOLT Suisse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027664" y="6547104"/>
            <a:ext cx="91440" cy="9144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3739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 spc="0">
                <a:solidFill>
                  <a:srgbClr val="5A6573"/>
                </a:solidFill>
                <a:latin typeface="Trebuchet MS"/>
                <a:cs typeface="Trebuchet M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795528"/>
            <a:ext cx="310896" cy="6858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699516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E2001A"/>
                </a:solidFill>
                <a:latin typeface="Trebuchet MS"/>
                <a:cs typeface="Trebuchet MS"/>
              </a:rPr>
              <a:t>TRACK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15568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 spc="0">
                <a:solidFill>
                  <a:srgbClr val="FFFFFF"/>
                </a:solidFill>
                <a:latin typeface="Trebuchet MS"/>
                <a:cs typeface="Trebuchet MS"/>
              </a:rPr>
              <a:t>Substanz, </a:t>
            </a:r>
            <a:r>
              <a:rPr sz="3000" b="1" i="0" spc="0">
                <a:solidFill>
                  <a:srgbClr val="E2001A"/>
                </a:solidFill>
                <a:latin typeface="Trebuchet MS"/>
                <a:cs typeface="Trebuchet MS"/>
              </a:rPr>
              <a:t>keine Versprechen.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31720"/>
            <a:ext cx="2551176" cy="2240280"/>
          </a:xfrm>
          <a:prstGeom prst="roundRect">
            <a:avLst>
              <a:gd name="adj" fmla="val 6000"/>
            </a:avLst>
          </a:prstGeom>
          <a:solidFill>
            <a:srgbClr val="222E3C"/>
          </a:solidFill>
          <a:ln w="9525">
            <a:solidFill>
              <a:srgbClr val="3A4654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0976" y="2642615"/>
            <a:ext cx="502920" cy="4572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52344"/>
            <a:ext cx="20939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 i="0" spc="0">
                <a:solidFill>
                  <a:srgbClr val="FFFFFF"/>
                </a:solidFill>
                <a:latin typeface="Trebuchet MS"/>
                <a:cs typeface="Trebuchet MS"/>
              </a:rPr>
              <a:t>10+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21608"/>
            <a:ext cx="20391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 spc="0">
                <a:solidFill>
                  <a:srgbClr val="93A0AE"/>
                </a:solidFill>
                <a:latin typeface="Calibri"/>
                <a:cs typeface="Calibri"/>
              </a:rPr>
              <a:t>Jahre B2B-Vertrieb technischer Investitionsgüter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3863" y="2331720"/>
            <a:ext cx="2551176" cy="2240280"/>
          </a:xfrm>
          <a:prstGeom prst="roundRect">
            <a:avLst>
              <a:gd name="adj" fmla="val 6000"/>
            </a:avLst>
          </a:prstGeom>
          <a:solidFill>
            <a:srgbClr val="222E3C"/>
          </a:solidFill>
          <a:ln w="9525">
            <a:solidFill>
              <a:srgbClr val="3A4654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76472" y="2642615"/>
            <a:ext cx="502920" cy="4572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9896" y="2752344"/>
            <a:ext cx="20939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 i="0" spc="0">
                <a:solidFill>
                  <a:srgbClr val="FFFFFF"/>
                </a:solidFill>
                <a:latin typeface="Trebuchet MS"/>
                <a:cs typeface="Trebuchet MS"/>
              </a:rPr>
              <a:t>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8183" y="3721608"/>
            <a:ext cx="20391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 spc="0">
                <a:solidFill>
                  <a:srgbClr val="93A0AE"/>
                </a:solidFill>
                <a:latin typeface="Calibri"/>
                <a:cs typeface="Calibri"/>
              </a:rPr>
              <a:t>Kantone Marktüberblick — die Schweiz als Ganzes gedacht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331720"/>
            <a:ext cx="2551176" cy="2240280"/>
          </a:xfrm>
          <a:prstGeom prst="roundRect">
            <a:avLst>
              <a:gd name="adj" fmla="val 6000"/>
            </a:avLst>
          </a:prstGeom>
          <a:solidFill>
            <a:srgbClr val="222E3C"/>
          </a:solidFill>
          <a:ln w="9525">
            <a:solidFill>
              <a:srgbClr val="3A4654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01968" y="2642615"/>
            <a:ext cx="502920" cy="4572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752344"/>
            <a:ext cx="20939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 i="0" spc="0">
                <a:solidFill>
                  <a:srgbClr val="FFFFFF"/>
                </a:solidFill>
                <a:latin typeface="Trebuchet MS"/>
                <a:cs typeface="Trebuchet MS"/>
              </a:rPr>
              <a:t>899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3721608"/>
            <a:ext cx="20391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 spc="0">
                <a:solidFill>
                  <a:srgbClr val="93A0AE"/>
                </a:solidFill>
                <a:latin typeface="Calibri"/>
                <a:cs typeface="Calibri"/>
              </a:rPr>
              <a:t>Key Accounts in eigener CRM-Datenbank aufgebaut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34856" y="2331720"/>
            <a:ext cx="2551176" cy="2240280"/>
          </a:xfrm>
          <a:prstGeom prst="roundRect">
            <a:avLst>
              <a:gd name="adj" fmla="val 6000"/>
            </a:avLst>
          </a:prstGeom>
          <a:solidFill>
            <a:srgbClr val="222E3C"/>
          </a:solidFill>
          <a:ln w="9525">
            <a:solidFill>
              <a:srgbClr val="3A4654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27464" y="2642615"/>
            <a:ext cx="502920" cy="4572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2752344"/>
            <a:ext cx="20939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 i="0" spc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3721608"/>
            <a:ext cx="20391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 spc="0">
                <a:solidFill>
                  <a:srgbClr val="93A0AE"/>
                </a:solidFill>
                <a:latin typeface="Calibri"/>
                <a:cs typeface="Calibri"/>
              </a:rPr>
              <a:t>Sprachen: Deutsch, Französisch, Englisch, Türkisch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983480"/>
            <a:ext cx="108447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 spc="0">
                <a:solidFill>
                  <a:srgbClr val="93A0AE"/>
                </a:solidFill>
                <a:latin typeface="Calibri"/>
                <a:cs typeface="Calibri"/>
              </a:rPr>
              <a:t>Vom Erstkontakt bis zur Inbetriebnahme — </a:t>
            </a:r>
            <a:r>
              <a:rPr sz="1500" b="1" i="0" spc="0">
                <a:solidFill>
                  <a:srgbClr val="FFFFFF"/>
                </a:solidFill>
                <a:latin typeface="Trebuchet MS"/>
                <a:cs typeface="Trebuchet MS"/>
              </a:rPr>
              <a:t>ein Ansprechpartner, durchgehend.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19088"/>
            <a:ext cx="10844784" cy="12801"/>
          </a:xfrm>
          <a:prstGeom prst="rect">
            <a:avLst/>
          </a:prstGeom>
          <a:solidFill>
            <a:srgbClr val="3A4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60">
                <a:solidFill>
                  <a:srgbClr val="93A0AE"/>
                </a:solidFill>
                <a:latin typeface="Trebuchet MS"/>
                <a:cs typeface="Trebuchet MS"/>
              </a:rPr>
              <a:t>Burak Ücöz</a:t>
            </a:r>
            <a:r>
              <a:rPr sz="950" b="0" i="0" spc="60">
                <a:solidFill>
                  <a:srgbClr val="93A0AE"/>
                </a:solidFill>
                <a:latin typeface="Calibri"/>
                <a:cs typeface="Calibri"/>
              </a:rPr>
              <a:t>   ·   Bewerbung AVIA VOLT Suisse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027664" y="6547104"/>
            <a:ext cx="91440" cy="9144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3739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 spc="0">
                <a:solidFill>
                  <a:srgbClr val="93A0AE"/>
                </a:solidFill>
                <a:latin typeface="Trebuchet MS"/>
                <a:cs typeface="Trebuchet M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676656"/>
            <a:ext cx="310896" cy="6858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80644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E2001A"/>
                </a:solidFill>
                <a:latin typeface="Trebuchet MS"/>
                <a:cs typeface="Trebuchet MS"/>
              </a:rPr>
              <a:t>MEIN UNFAIRER VORTEIL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9264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 i="0" spc="0">
                <a:solidFill>
                  <a:srgbClr val="1B2430"/>
                </a:solidFill>
                <a:latin typeface="Trebuchet MS"/>
                <a:cs typeface="Trebuchet MS"/>
              </a:rPr>
              <a:t>Schnelllader belasten das Netz. </a:t>
            </a:r>
            <a:r>
              <a:rPr sz="2600" b="1" i="0" spc="0">
                <a:solidFill>
                  <a:srgbClr val="E2001A"/>
                </a:solidFill>
                <a:latin typeface="Trebuchet MS"/>
                <a:cs typeface="Trebuchet MS"/>
              </a:rPr>
              <a:t>Ich spreche ihre Sprache.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91056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 spc="0">
                <a:solidFill>
                  <a:srgbClr val="5A6573"/>
                </a:solidFill>
                <a:latin typeface="Calibri"/>
                <a:cs typeface="Calibri"/>
              </a:rPr>
              <a:t>Jeder HPC-Lader zieht hohe Leistung, erzeugt Oberschwingungen und belastet den Netzanschluss. Wer das versteht, verkauft nicht nur ein Gerät — er löst das Problem dahinter. Genau das unterscheidet mich von einem reinen Verkäufer.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852928"/>
            <a:ext cx="3456432" cy="2907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5" y="3127248"/>
            <a:ext cx="731520" cy="731520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" y="3302812"/>
            <a:ext cx="380390" cy="3803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9264" y="4023360"/>
            <a:ext cx="2852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 spc="0">
                <a:solidFill>
                  <a:srgbClr val="1B2430"/>
                </a:solidFill>
                <a:latin typeface="Trebuchet MS"/>
                <a:cs typeface="Trebuchet MS"/>
              </a:rPr>
              <a:t>Power Quality nach Norm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4608576"/>
            <a:ext cx="28529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 i="0" spc="0">
                <a:solidFill>
                  <a:srgbClr val="5A6573"/>
                </a:solidFill>
                <a:latin typeface="Calibri"/>
                <a:cs typeface="Calibri"/>
              </a:rPr>
              <a:t>EN 50160 und IEC 61000-4-30 Klasse A sind für mich Alltag, nicht Theorie. Ich erkenne Netzprobleme, bevor sie zu Reklamationen werden.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1" y="2852928"/>
            <a:ext cx="3456432" cy="2907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19" y="3127248"/>
            <a:ext cx="731520" cy="731520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tte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284" y="3302812"/>
            <a:ext cx="380390" cy="38039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27447" y="4023360"/>
            <a:ext cx="2852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 spc="0">
                <a:solidFill>
                  <a:srgbClr val="1B2430"/>
                </a:solidFill>
                <a:latin typeface="Trebuchet MS"/>
                <a:cs typeface="Trebuchet MS"/>
              </a:rPr>
              <a:t>Speicher als Argument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4608576"/>
            <a:ext cx="28529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 i="0" spc="0">
                <a:solidFill>
                  <a:srgbClr val="5A6573"/>
                </a:solidFill>
                <a:latin typeface="Calibri"/>
                <a:cs typeface="Calibri"/>
              </a:rPr>
              <a:t>Pufferbatterien machen 600-kW-Standorte am schwachen Netz erst möglich. Ich rechne dem Kunden vor, warum sich das lohnt.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2852928"/>
            <a:ext cx="3456432" cy="2907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75903" y="3127248"/>
            <a:ext cx="731520" cy="731520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1468" y="3302812"/>
            <a:ext cx="380390" cy="38039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85632" y="4023360"/>
            <a:ext cx="2852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 spc="0">
                <a:solidFill>
                  <a:srgbClr val="1B2430"/>
                </a:solidFill>
                <a:latin typeface="Trebuchet MS"/>
                <a:cs typeface="Trebuchet MS"/>
              </a:rPr>
              <a:t>Technik wird zu ROI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4608576"/>
            <a:ext cx="28529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 i="0" spc="0">
                <a:solidFill>
                  <a:srgbClr val="5A6573"/>
                </a:solidFill>
                <a:latin typeface="Calibri"/>
                <a:cs typeface="Calibri"/>
              </a:rPr>
              <a:t>Ich übersetze Kilowatt und Oberschwingungen in Wirtschaftlichkeit — die Sprache, die der Entscheider unterschreibt.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419088"/>
            <a:ext cx="10844784" cy="12801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60">
                <a:solidFill>
                  <a:srgbClr val="5A6573"/>
                </a:solidFill>
                <a:latin typeface="Trebuchet MS"/>
                <a:cs typeface="Trebuchet MS"/>
              </a:rPr>
              <a:t>Burak Ücöz</a:t>
            </a:r>
            <a:r>
              <a:rPr sz="950" b="0" i="0" spc="60">
                <a:solidFill>
                  <a:srgbClr val="5A6573"/>
                </a:solidFill>
                <a:latin typeface="Calibri"/>
                <a:cs typeface="Calibri"/>
              </a:rPr>
              <a:t>   ·   Bewerbung AVIA VOLT Suisse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027664" y="6547104"/>
            <a:ext cx="91440" cy="9144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3739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 spc="0">
                <a:solidFill>
                  <a:srgbClr val="5A6573"/>
                </a:solidFill>
                <a:latin typeface="Trebuchet MS"/>
                <a:cs typeface="Trebuchet M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676656"/>
            <a:ext cx="310896" cy="6858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80644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E2001A"/>
                </a:solidFill>
                <a:latin typeface="Trebuchet MS"/>
                <a:cs typeface="Trebuchet MS"/>
              </a:rPr>
              <a:t>ICH HABE MEINE HAUSAUFGABEN GEMACHT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9264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 i="0" spc="0">
                <a:solidFill>
                  <a:srgbClr val="1B2430"/>
                </a:solidFill>
                <a:latin typeface="Trebuchet MS"/>
                <a:cs typeface="Trebuchet MS"/>
              </a:rPr>
              <a:t>Ich kenne euer Geschäft — </a:t>
            </a:r>
            <a:r>
              <a:rPr sz="2600" b="1" i="0" spc="0">
                <a:solidFill>
                  <a:srgbClr val="E2001A"/>
                </a:solidFill>
                <a:latin typeface="Trebuchet MS"/>
                <a:cs typeface="Trebuchet MS"/>
              </a:rPr>
              <a:t>und sehe die Verkaufschancen.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5285232" cy="17190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82296" cy="1719072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2359152"/>
            <a:ext cx="841248" cy="841248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569464"/>
            <a:ext cx="420624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56815" y="2176272"/>
            <a:ext cx="3730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0">
                <a:solidFill>
                  <a:srgbClr val="E2001A"/>
                </a:solidFill>
                <a:latin typeface="Trebuchet MS"/>
                <a:cs typeface="Trebuchet MS"/>
              </a:rPr>
              <a:t>50 Mio. CHF bis 2035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5" y="2633472"/>
            <a:ext cx="3730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 i="0" spc="0">
                <a:solidFill>
                  <a:srgbClr val="5A6573"/>
                </a:solidFill>
                <a:latin typeface="Calibri"/>
                <a:cs typeface="Calibri"/>
              </a:rPr>
              <a:t>Ihr baut ein flächendeckendes Schnelllader-Netz auf. Wachstum braucht jemanden, der Standorte verkauft, nicht nur plant.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920240"/>
            <a:ext cx="5285232" cy="17190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4496" y="1920240"/>
            <a:ext cx="82296" cy="1719072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47104" y="2359152"/>
            <a:ext cx="841248" cy="841248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har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2569464"/>
            <a:ext cx="420624" cy="4206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52944" y="2176272"/>
            <a:ext cx="3730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0">
                <a:solidFill>
                  <a:srgbClr val="E2001A"/>
                </a:solidFill>
                <a:latin typeface="Trebuchet MS"/>
                <a:cs typeface="Trebuchet MS"/>
              </a:rPr>
              <a:t>360 bis 600 kW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2944" y="2633472"/>
            <a:ext cx="3730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 i="0" spc="0">
                <a:solidFill>
                  <a:srgbClr val="5A6573"/>
                </a:solidFill>
                <a:latin typeface="Calibri"/>
                <a:cs typeface="Calibri"/>
              </a:rPr>
              <a:t>Vom Netz bis zum Truck-Hypercharger mit Stützbatterie. Je höher die Leistung, desto wichtiger Speicher und Lastmanagement — mein Feld.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895344"/>
            <a:ext cx="5285232" cy="17190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895344"/>
            <a:ext cx="82296" cy="1719072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0976" y="4334255"/>
            <a:ext cx="841248" cy="841248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8" y="4544567"/>
            <a:ext cx="420624" cy="4206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956815" y="4151376"/>
            <a:ext cx="3730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0">
                <a:solidFill>
                  <a:srgbClr val="E2001A"/>
                </a:solidFill>
                <a:latin typeface="Trebuchet MS"/>
                <a:cs typeface="Trebuchet MS"/>
              </a:rPr>
              <a:t>Plug'n Roll, ABB, Etrel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6815" y="4608576"/>
            <a:ext cx="3730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 i="0" spc="0">
                <a:solidFill>
                  <a:srgbClr val="5A6573"/>
                </a:solidFill>
                <a:latin typeface="Calibri"/>
                <a:cs typeface="Calibri"/>
              </a:rPr>
              <a:t>Mit der Übernahme habt ihr Portfolio und Ladepunkte stark erweitert. Mehr Hardware heisst mehr Beratungsbedarf beim Kunden.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3895344"/>
            <a:ext cx="5285232" cy="17190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4496" y="3895344"/>
            <a:ext cx="82296" cy="1719072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47104" y="4334255"/>
            <a:ext cx="841248" cy="841248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4544567"/>
            <a:ext cx="420624" cy="42062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552944" y="4151376"/>
            <a:ext cx="3730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0">
                <a:solidFill>
                  <a:srgbClr val="E2001A"/>
                </a:solidFill>
                <a:latin typeface="Trebuchet MS"/>
                <a:cs typeface="Trebuchet MS"/>
              </a:rPr>
              <a:t>Full Service, alles aus einer Hand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608576"/>
            <a:ext cx="3730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 i="0" spc="0">
                <a:solidFill>
                  <a:srgbClr val="5A6573"/>
                </a:solidFill>
                <a:latin typeface="Calibri"/>
                <a:cs typeface="Calibri"/>
              </a:rPr>
              <a:t>Ladestation, Lastmanagement, Abrechnung. Genau dieses Bündel verkaufe ich gerne — ein Ansprechpartner, eine Lösung.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419088"/>
            <a:ext cx="10844784" cy="12801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60">
                <a:solidFill>
                  <a:srgbClr val="5A6573"/>
                </a:solidFill>
                <a:latin typeface="Trebuchet MS"/>
                <a:cs typeface="Trebuchet MS"/>
              </a:rPr>
              <a:t>Burak Ücöz</a:t>
            </a:r>
            <a:r>
              <a:rPr sz="950" b="0" i="0" spc="60">
                <a:solidFill>
                  <a:srgbClr val="5A6573"/>
                </a:solidFill>
                <a:latin typeface="Calibri"/>
                <a:cs typeface="Calibri"/>
              </a:rPr>
              <a:t>   ·   Bewerbung AVIA VOLT Suisse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027664" y="6547104"/>
            <a:ext cx="91440" cy="9144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739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 spc="0">
                <a:solidFill>
                  <a:srgbClr val="5A6573"/>
                </a:solidFill>
                <a:latin typeface="Trebuchet MS"/>
                <a:cs typeface="Trebuchet M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676656"/>
            <a:ext cx="310896" cy="6858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80644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E2001A"/>
                </a:solidFill>
                <a:latin typeface="Trebuchet MS"/>
                <a:cs typeface="Trebuchet MS"/>
              </a:rPr>
              <a:t>WO ICH UMSATZ HOLE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9264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 spc="0">
                <a:solidFill>
                  <a:srgbClr val="1B2430"/>
                </a:solidFill>
                <a:latin typeface="Trebuchet MS"/>
                <a:cs typeface="Trebuchet MS"/>
              </a:rPr>
              <a:t>Fünf Jagdgründe, </a:t>
            </a:r>
            <a:r>
              <a:rPr sz="2700" b="1" i="0" spc="0">
                <a:solidFill>
                  <a:srgbClr val="E2001A"/>
                </a:solidFill>
                <a:latin typeface="Trebuchet MS"/>
                <a:cs typeface="Trebuchet MS"/>
              </a:rPr>
              <a:t>vom ersten Tag 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03120"/>
            <a:ext cx="2002536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103120"/>
            <a:ext cx="2002536" cy="8229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0724" y="2450591"/>
            <a:ext cx="877824" cy="877824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180" y="2670048"/>
            <a:ext cx="438912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7" y="3493008"/>
            <a:ext cx="16367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 spc="0">
                <a:solidFill>
                  <a:srgbClr val="1B2430"/>
                </a:solidFill>
                <a:latin typeface="Trebuchet MS"/>
                <a:cs typeface="Trebuchet MS"/>
              </a:rPr>
              <a:t>Logistik &amp; Flotten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242816"/>
            <a:ext cx="163677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050" b="0" i="0" spc="0">
                <a:solidFill>
                  <a:srgbClr val="5A6573"/>
                </a:solidFill>
                <a:latin typeface="Calibri"/>
                <a:cs typeface="Calibri"/>
              </a:rPr>
              <a:t>Depot-Laden und Truck-Hypercharger. Hohe Leistung, klarer Business Case, wiederkehrender Bedarf.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6644" y="2103120"/>
            <a:ext cx="2002536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66644" y="2103120"/>
            <a:ext cx="2002536" cy="8229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28999" y="2450591"/>
            <a:ext cx="877824" cy="877824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5" y="2670048"/>
            <a:ext cx="438912" cy="4389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49524" y="3493008"/>
            <a:ext cx="16367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 spc="0">
                <a:solidFill>
                  <a:srgbClr val="1B2430"/>
                </a:solidFill>
                <a:latin typeface="Trebuchet MS"/>
                <a:cs typeface="Trebuchet MS"/>
              </a:rPr>
              <a:t>Gewerbe &amp; Retail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9524" y="4242816"/>
            <a:ext cx="163677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050" b="0" i="0" spc="0">
                <a:solidFill>
                  <a:srgbClr val="5A6573"/>
                </a:solidFill>
                <a:latin typeface="Calibri"/>
                <a:cs typeface="Calibri"/>
              </a:rPr>
              <a:t>Tankstellen, Detailhandel, Park-and-Charge. Standorte, die Frequenz in Strom umwandeln.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103120"/>
            <a:ext cx="2002536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4920" y="2103120"/>
            <a:ext cx="2002536" cy="8229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7275" y="2450591"/>
            <a:ext cx="877824" cy="877824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ndus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731" y="2670048"/>
            <a:ext cx="438912" cy="43891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57800" y="3493008"/>
            <a:ext cx="16367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 spc="0">
                <a:solidFill>
                  <a:srgbClr val="1B2430"/>
                </a:solidFill>
                <a:latin typeface="Trebuchet MS"/>
                <a:cs typeface="Trebuchet MS"/>
              </a:rPr>
              <a:t>Industrie &amp; KMU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4242816"/>
            <a:ext cx="163677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050" b="0" i="0" spc="0">
                <a:solidFill>
                  <a:srgbClr val="5A6573"/>
                </a:solidFill>
                <a:latin typeface="Calibri"/>
                <a:cs typeface="Calibri"/>
              </a:rPr>
              <a:t>Firmenflotten plus Speicher zur Lastspitzenkappung. Genau meine Bestandskunden-Welt.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83196" y="2103120"/>
            <a:ext cx="2002536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83196" y="2103120"/>
            <a:ext cx="2002536" cy="8229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45552" y="2450591"/>
            <a:ext cx="877824" cy="877824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o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5008" y="2670048"/>
            <a:ext cx="438912" cy="4389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466075" y="3493008"/>
            <a:ext cx="16367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 spc="0">
                <a:solidFill>
                  <a:srgbClr val="1B2430"/>
                </a:solidFill>
                <a:latin typeface="Trebuchet MS"/>
                <a:cs typeface="Trebuchet MS"/>
              </a:rPr>
              <a:t>Gemeinden &amp; Städte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6075" y="4242816"/>
            <a:ext cx="163677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050" b="0" i="0" spc="0">
                <a:solidFill>
                  <a:srgbClr val="5A6573"/>
                </a:solidFill>
                <a:latin typeface="Calibri"/>
                <a:cs typeface="Calibri"/>
              </a:rPr>
              <a:t>Öffentliche Ladeinfrastruktur, Ausschreibungen, Versorgungsauftrag. Vertrauensgeschäft.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91472" y="2103120"/>
            <a:ext cx="2002536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91472" y="2103120"/>
            <a:ext cx="2002536" cy="8229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53828" y="2450591"/>
            <a:ext cx="877824" cy="877824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build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3284" y="2670048"/>
            <a:ext cx="438912" cy="43891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674352" y="3493008"/>
            <a:ext cx="16367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 spc="0">
                <a:solidFill>
                  <a:srgbClr val="1B2430"/>
                </a:solidFill>
                <a:latin typeface="Trebuchet MS"/>
                <a:cs typeface="Trebuchet MS"/>
              </a:rPr>
              <a:t>Immobilien &amp; Verwaltungen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4352" y="4242816"/>
            <a:ext cx="163677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050" b="0" i="0" spc="0">
                <a:solidFill>
                  <a:srgbClr val="5A6573"/>
                </a:solidFill>
                <a:latin typeface="Calibri"/>
                <a:cs typeface="Calibri"/>
              </a:rPr>
              <a:t>Mehrfamilienhäuser und Geschäftsgebäude mit Lastmanagement vom Keller bis zur Tiefgarage.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419088"/>
            <a:ext cx="10844784" cy="12801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60">
                <a:solidFill>
                  <a:srgbClr val="5A6573"/>
                </a:solidFill>
                <a:latin typeface="Trebuchet MS"/>
                <a:cs typeface="Trebuchet MS"/>
              </a:rPr>
              <a:t>Burak Ücöz</a:t>
            </a:r>
            <a:r>
              <a:rPr sz="950" b="0" i="0" spc="60">
                <a:solidFill>
                  <a:srgbClr val="5A6573"/>
                </a:solidFill>
                <a:latin typeface="Calibri"/>
                <a:cs typeface="Calibri"/>
              </a:rPr>
              <a:t>   ·   Bewerbung AVIA VOLT Suisse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027664" y="6547104"/>
            <a:ext cx="91440" cy="9144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3739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 spc="0">
                <a:solidFill>
                  <a:srgbClr val="5A6573"/>
                </a:solidFill>
                <a:latin typeface="Trebuchet MS"/>
                <a:cs typeface="Trebuchet M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676656"/>
            <a:ext cx="310896" cy="6858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80644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E2001A"/>
                </a:solidFill>
                <a:latin typeface="Trebuchet MS"/>
                <a:cs typeface="Trebuchet MS"/>
              </a:rPr>
              <a:t>MEIN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9264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 spc="0">
                <a:solidFill>
                  <a:srgbClr val="1B2430"/>
                </a:solidFill>
                <a:latin typeface="Trebuchet MS"/>
                <a:cs typeface="Trebuchet MS"/>
              </a:rPr>
              <a:t>Was ich in den ersten </a:t>
            </a:r>
            <a:r>
              <a:rPr sz="2700" b="1" i="0" spc="0">
                <a:solidFill>
                  <a:srgbClr val="E2001A"/>
                </a:solidFill>
                <a:latin typeface="Trebuchet MS"/>
                <a:cs typeface="Trebuchet MS"/>
              </a:rPr>
              <a:t>90 Tagen liefere.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2313432"/>
            <a:ext cx="7516367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965960"/>
            <a:ext cx="713232" cy="71323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65960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 spc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98648"/>
            <a:ext cx="3456432" cy="2816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3172968"/>
            <a:ext cx="2852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E2001A"/>
                </a:solidFill>
                <a:latin typeface="Trebuchet MS"/>
                <a:cs typeface="Trebuchet MS"/>
              </a:rPr>
              <a:t>Tag 1–30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557015"/>
            <a:ext cx="2852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 spc="0">
                <a:solidFill>
                  <a:srgbClr val="1B2430"/>
                </a:solidFill>
                <a:latin typeface="Trebuchet MS"/>
                <a:cs typeface="Trebuchet MS"/>
              </a:rPr>
              <a:t>Eintauchen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" y="4087368"/>
            <a:ext cx="640080" cy="41148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4270248"/>
            <a:ext cx="28529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0">
                <a:solidFill>
                  <a:srgbClr val="5A6573"/>
                </a:solidFill>
                <a:latin typeface="Calibri"/>
                <a:cs typeface="Calibri"/>
              </a:rPr>
              <a:t>Portfolio, Technik und Preise intern durchdringen. Mitfahrten im Aussendienst, Gebiet und Pipeline aufnehmen, Wunschkundenprofil schärfen.</a:t>
            </a:r>
          </a:p>
        </p:txBody>
      </p:sp>
      <p:sp>
        <p:nvSpPr>
          <p:cNvPr id="14" name="Oval 13"/>
          <p:cNvSpPr/>
          <p:nvPr/>
        </p:nvSpPr>
        <p:spPr>
          <a:xfrm>
            <a:off x="4507991" y="1965960"/>
            <a:ext cx="713232" cy="71323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1" y="1965960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 spc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6551" y="2898648"/>
            <a:ext cx="3456432" cy="2816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7447" y="3172968"/>
            <a:ext cx="2852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E2001A"/>
                </a:solidFill>
                <a:latin typeface="Trebuchet MS"/>
                <a:cs typeface="Trebuchet MS"/>
              </a:rPr>
              <a:t>Tag 31–60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7" y="3557015"/>
            <a:ext cx="2852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 spc="0">
                <a:solidFill>
                  <a:srgbClr val="1B2430"/>
                </a:solidFill>
                <a:latin typeface="Trebuchet MS"/>
                <a:cs typeface="Trebuchet MS"/>
              </a:rPr>
              <a:t>Pipeline aufbauen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5736" y="4087368"/>
            <a:ext cx="640080" cy="41148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27447" y="4270248"/>
            <a:ext cx="28529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0">
                <a:solidFill>
                  <a:srgbClr val="5A6573"/>
                </a:solidFill>
                <a:latin typeface="Calibri"/>
                <a:cs typeface="Calibri"/>
              </a:rPr>
              <a:t>Konkrete Zielkundenliste für CPO, Gewerbe und Logistik. Erste Termine, erste Angebote, klare Abschlusslogik.</a:t>
            </a:r>
          </a:p>
        </p:txBody>
      </p:sp>
      <p:sp>
        <p:nvSpPr>
          <p:cNvPr id="21" name="Oval 20"/>
          <p:cNvSpPr/>
          <p:nvPr/>
        </p:nvSpPr>
        <p:spPr>
          <a:xfrm>
            <a:off x="8266175" y="1965960"/>
            <a:ext cx="713232" cy="71323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5" y="1965960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 spc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74736" y="2898648"/>
            <a:ext cx="3456432" cy="2816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D"/>
            </a:solidFill>
          </a:ln>
          <a:effectLst>
            <a:outerShdw blurRad="82296" dist="45720" dir="5400000" rotWithShape="0">
              <a:srgbClr val="1B243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3172968"/>
            <a:ext cx="2852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E2001A"/>
                </a:solidFill>
                <a:latin typeface="Trebuchet MS"/>
                <a:cs typeface="Trebuchet MS"/>
              </a:rPr>
              <a:t>Tag 61–90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3557015"/>
            <a:ext cx="2852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 spc="0">
                <a:solidFill>
                  <a:srgbClr val="1B2430"/>
                </a:solidFill>
                <a:latin typeface="Trebuchet MS"/>
                <a:cs typeface="Trebuchet MS"/>
              </a:rPr>
              <a:t>Liefern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19" y="4087368"/>
            <a:ext cx="640080" cy="41148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85632" y="4270248"/>
            <a:ext cx="28529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0">
                <a:solidFill>
                  <a:srgbClr val="5A6573"/>
                </a:solidFill>
                <a:latin typeface="Calibri"/>
                <a:cs typeface="Calibri"/>
              </a:rPr>
              <a:t>Erste unterschriebene Abschlüsse und Rahmengespräche. Forecast steht. Erste Referenz-Story für den Markt.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419088"/>
            <a:ext cx="10844784" cy="12801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60">
                <a:solidFill>
                  <a:srgbClr val="5A6573"/>
                </a:solidFill>
                <a:latin typeface="Trebuchet MS"/>
                <a:cs typeface="Trebuchet MS"/>
              </a:rPr>
              <a:t>Burak Ücöz</a:t>
            </a:r>
            <a:r>
              <a:rPr sz="950" b="0" i="0" spc="60">
                <a:solidFill>
                  <a:srgbClr val="5A6573"/>
                </a:solidFill>
                <a:latin typeface="Calibri"/>
                <a:cs typeface="Calibri"/>
              </a:rPr>
              <a:t>   ·   Bewerbung AVIA VOLT Suisse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027664" y="6547104"/>
            <a:ext cx="91440" cy="9144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3739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 spc="0">
                <a:solidFill>
                  <a:srgbClr val="5A6573"/>
                </a:solidFill>
                <a:latin typeface="Trebuchet MS"/>
                <a:cs typeface="Trebuchet M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886968"/>
            <a:ext cx="310896" cy="6858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790956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E2001A"/>
                </a:solidFill>
                <a:latin typeface="Trebuchet MS"/>
                <a:cs typeface="Trebuchet MS"/>
              </a:rPr>
              <a:t>LASS UNS REDEN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 spc="0">
                <a:solidFill>
                  <a:srgbClr val="FFFFFF"/>
                </a:solidFill>
                <a:latin typeface="Trebuchet MS"/>
                <a:cs typeface="Trebuchet MS"/>
              </a:rPr>
              <a:t>Ihr sucht jemanden mit technischem Verständnis, Freude am Kundenkontakt und </a:t>
            </a:r>
            <a:r>
              <a:rPr sz="3000" b="1" i="0" spc="0">
                <a:solidFill>
                  <a:srgbClr val="E2001A"/>
                </a:solidFill>
                <a:latin typeface="Trebuchet MS"/>
                <a:cs typeface="Trebuchet MS"/>
              </a:rPr>
              <a:t>Biss</a:t>
            </a:r>
            <a:r>
              <a:rPr sz="3000" b="1" i="0" spc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1546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 spc="0">
                <a:solidFill>
                  <a:srgbClr val="93A0AE"/>
                </a:solidFill>
                <a:latin typeface="Calibri"/>
                <a:cs typeface="Calibri"/>
              </a:rPr>
              <a:t>Genau das bringe ich mit. Seit über zehn Jahren, auf dem Schweizer Markt, mit der Technik im Rücken. Gebt mir das Gebiet — </a:t>
            </a:r>
            <a:r>
              <a:rPr sz="1400" b="1" i="0" spc="0">
                <a:solidFill>
                  <a:srgbClr val="FFFFFF"/>
                </a:solidFill>
                <a:latin typeface="Trebuchet MS"/>
                <a:cs typeface="Trebuchet MS"/>
              </a:rPr>
              <a:t>ich gebe der Energiewende ein Geschäftsmodell.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4434840"/>
            <a:ext cx="1463040" cy="3657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4800600"/>
            <a:ext cx="3456432" cy="1143000"/>
          </a:xfrm>
          <a:prstGeom prst="roundRect">
            <a:avLst>
              <a:gd name="adj" fmla="val 10000"/>
            </a:avLst>
          </a:prstGeom>
          <a:solidFill>
            <a:srgbClr val="222E3C"/>
          </a:solidFill>
          <a:ln w="9525">
            <a:solidFill>
              <a:srgbClr val="3A4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3" y="5070348"/>
            <a:ext cx="603504" cy="603504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19" y="5221224"/>
            <a:ext cx="301752" cy="301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27632" y="5047488"/>
            <a:ext cx="22677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93A0AE"/>
                </a:solidFill>
                <a:latin typeface="Trebuchet MS"/>
                <a:cs typeface="Trebuchet MS"/>
              </a:rPr>
              <a:t>TELEFON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5330952"/>
            <a:ext cx="22677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spc="0">
                <a:solidFill>
                  <a:srgbClr val="FFFFFF"/>
                </a:solidFill>
                <a:latin typeface="Trebuchet MS"/>
                <a:cs typeface="Trebuchet MS"/>
              </a:rPr>
              <a:t>+41 79 512 98 07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1" y="4800600"/>
            <a:ext cx="3456432" cy="1143000"/>
          </a:xfrm>
          <a:prstGeom prst="roundRect">
            <a:avLst>
              <a:gd name="adj" fmla="val 10000"/>
            </a:avLst>
          </a:prstGeom>
          <a:solidFill>
            <a:srgbClr val="222E3C"/>
          </a:solidFill>
          <a:ln w="9525">
            <a:solidFill>
              <a:srgbClr val="3A4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81727" y="5070348"/>
            <a:ext cx="603504" cy="603504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603" y="5221224"/>
            <a:ext cx="301752" cy="301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85815" y="5047488"/>
            <a:ext cx="22677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93A0AE"/>
                </a:solidFill>
                <a:latin typeface="Trebuchet MS"/>
                <a:cs typeface="Trebuchet MS"/>
              </a:rPr>
              <a:t>E-MAIL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5815" y="5330952"/>
            <a:ext cx="22677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spc="0">
                <a:solidFill>
                  <a:srgbClr val="FFFFFF"/>
                </a:solidFill>
                <a:latin typeface="Trebuchet MS"/>
                <a:cs typeface="Trebuchet MS"/>
              </a:rPr>
              <a:t>b.s.uecoez@gmail.com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74736" y="4800600"/>
            <a:ext cx="3456432" cy="1143000"/>
          </a:xfrm>
          <a:prstGeom prst="roundRect">
            <a:avLst>
              <a:gd name="adj" fmla="val 10000"/>
            </a:avLst>
          </a:prstGeom>
          <a:solidFill>
            <a:srgbClr val="222E3C"/>
          </a:solidFill>
          <a:ln w="9525">
            <a:solidFill>
              <a:srgbClr val="3A4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39911" y="5070348"/>
            <a:ext cx="603504" cy="603504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0788" y="5221224"/>
            <a:ext cx="301752" cy="3017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44000" y="5047488"/>
            <a:ext cx="22677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93A0AE"/>
                </a:solidFill>
                <a:latin typeface="Trebuchet MS"/>
                <a:cs typeface="Trebuchet MS"/>
              </a:rPr>
              <a:t>STANDORT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5330952"/>
            <a:ext cx="22677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spc="0">
                <a:solidFill>
                  <a:srgbClr val="FFFFFF"/>
                </a:solidFill>
                <a:latin typeface="Trebuchet MS"/>
                <a:cs typeface="Trebuchet MS"/>
              </a:rPr>
              <a:t>8240 Thayngen, Schweiz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55080"/>
            <a:ext cx="108447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spc="80">
                <a:solidFill>
                  <a:srgbClr val="93A0AE"/>
                </a:solidFill>
                <a:latin typeface="Calibri"/>
                <a:cs typeface="Calibri"/>
              </a:rPr>
              <a:t>Burak Ücöz · Vertriebsingenieur · EMV &amp; Power Quality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Bewerbung Vertriebsmanager — AVIA VOLT Suisse</dc:title>
  <dc:subject>Pitch-Deck · Vertriebsmanager DC-Ladeinfrastruktur</dc:subject>
  <dc:creator>Burak Ücöz</dc:creator>
  <cp:keywords>AVIA VOLT, Vertrieb, Ladeinfrastruktur, EMV, Power Quality</cp:keywords>
  <dc:description>Speaker-Notes pro Slide nur für den Vortragenden.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Bewerbung</cp:category>
</cp:coreProperties>
</file>