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2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image" Target="../media/image-10-2.png"/><Relationship Id="rId7" Type="http://schemas.openxmlformats.org/officeDocument/2006/relationships/image" Target="../media/image-10-2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ENERGIE · SCHWEIZ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6916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Strom, genau dann,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Sie ihn brauchen.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Generatoren, Batteriespeicher und Hybridlösungen –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 betreut von Mobil in Time, angetrieben von Aggreko.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806440"/>
            <a:ext cx="384048" cy="384048"/>
          </a:xfrm>
          <a:prstGeom prst="ellipse">
            <a:avLst/>
          </a:prstGeom>
          <a:solidFill>
            <a:srgbClr val="E3022E"/>
          </a:solidFill>
          <a:ln/>
        </p:spPr>
      </p:sp>
      <p:pic>
        <p:nvPicPr>
          <p:cNvPr id="6" name="Image 0" descr="/tmp/claude-0/-home-user-Burak/26500360-9123-5efa-8d7a-f35c2706888c/scratchpad/assets/ic/bo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89788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578815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</a:t>
            </a:r>
            <a:pPr indent="0" marL="0">
              <a:buNone/>
            </a:pPr>
            <a:r>
              <a:rPr lang="en-US" sz="140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An Aggreko Company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WIR SIND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0972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 verwurzelt.</a:t>
            </a:r>
            <a:endParaRPr lang="en-US" sz="4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0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vernetzt.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ist Ihr Ansprechpartner vor Ort. Im Rücken haben wir die Mobil in Time Gruppe und mit Aggreko einen der weltweit führenden Anbieter für mobile Energie.</a:t>
            </a:r>
            <a:endParaRPr lang="en-US" sz="1550" dirty="0"/>
          </a:p>
          <a:p>
            <a:pPr algn="l" indent="0" marL="0">
              <a:lnSpc>
                <a:spcPct val="128000"/>
              </a:lnSpc>
              <a:buNone/>
            </a:pPr>
            <a:endParaRPr lang="en-US" sz="15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Sie heisst das: kurze Wege und ein persönlicher Kontakt – mit Zugriff auf eine globale Flotte.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des Verbunds:  Bilfit · nassag · Trobag · Zigerlig · acr chiller rent · MiT Deutschland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37960" y="1143000"/>
            <a:ext cx="4892040" cy="1298448"/>
          </a:xfrm>
          <a:prstGeom prst="roundRect">
            <a:avLst>
              <a:gd name="adj" fmla="val 9859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03720" y="1463040"/>
            <a:ext cx="658368" cy="658368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0" descr="/tmp/claude-0/-home-user-Burak/26500360-9123-5efa-8d7a-f35c2706888c/scratchpad/assets/ic/glob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479" y="164079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13990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Aggreko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72400" y="18562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Weltweit führend in mobiler Energie</a:t>
            </a:r>
            <a:endParaRPr lang="en-US" sz="1250" dirty="0"/>
          </a:p>
        </p:txBody>
      </p:sp>
      <p:pic>
        <p:nvPicPr>
          <p:cNvPr id="11" name="Image 1" descr="/tmp/claude-0/-home-user-Burak/26500360-9123-5efa-8d7a-f35c2706888c/scratchpad/assets/ic/chevro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874252" y="2487168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37960" y="2825496"/>
            <a:ext cx="4892040" cy="1298448"/>
          </a:xfrm>
          <a:prstGeom prst="roundRect">
            <a:avLst>
              <a:gd name="adj" fmla="val 9859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03720" y="3145536"/>
            <a:ext cx="658368" cy="658368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4" name="Image 2" descr="/tmp/claude-0/-home-user-Burak/26500360-9123-5efa-8d7a-f35c2706888c/scratchpad/assets/ic/hybrid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479" y="3323295"/>
            <a:ext cx="302849" cy="3028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0" y="30815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Gruppe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7772400" y="3538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Verbund in der Schweiz &amp; DACH</a:t>
            </a:r>
            <a:endParaRPr lang="en-US" sz="1250" dirty="0"/>
          </a:p>
        </p:txBody>
      </p:sp>
      <p:pic>
        <p:nvPicPr>
          <p:cNvPr id="17" name="Image 3" descr="/tmp/claude-0/-home-user-Burak/26500360-9123-5efa-8d7a-f35c2706888c/scratchpad/assets/ic/chevro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74252" y="4169664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37960" y="4507992"/>
            <a:ext cx="4892040" cy="1298448"/>
          </a:xfrm>
          <a:prstGeom prst="roundRect">
            <a:avLst>
              <a:gd name="adj" fmla="val 9859"/>
            </a:avLst>
          </a:prstGeom>
          <a:solidFill>
            <a:srgbClr val="E3022E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903720" y="4828032"/>
            <a:ext cx="658368" cy="658368"/>
          </a:xfrm>
          <a:prstGeom prst="ellipse">
            <a:avLst/>
          </a:prstGeom>
          <a:solidFill>
            <a:srgbClr val="820118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20" name="Image 4" descr="/tmp/claude-0/-home-user-Burak/26500360-9123-5efa-8d7a-f35c2706888c/scratchpad/assets/ic/mappin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1479" y="5005791"/>
            <a:ext cx="302849" cy="30284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0" y="47640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AG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7772400" y="52212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Partner vor Ort – Strom Schweiz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PRÄSENZ IM DACH-RAUM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41732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sind schon</a:t>
            </a:r>
            <a:endParaRPr lang="en-US" sz="4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2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Ihrer Nähe.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dichtes Standortnetz in der Schweiz, Deutschland, Österreich und Liechtenstein. Damit Technik und Team dort sind, wo Ihr Projekt läuft – schnell.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52303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4480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423160" y="52303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Mitarbeitende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23360" y="44805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023360" y="52303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Länder</a:t>
            </a:r>
            <a:endParaRPr lang="en-US" sz="1150" dirty="0"/>
          </a:p>
        </p:txBody>
      </p:sp>
      <p:pic>
        <p:nvPicPr>
          <p:cNvPr id="11" name="Image 0" descr="/tmp/claude-0/-home-user-Burak/26500360-9123-5efa-8d7a-f35c2706888c/scratchpad/asset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77240"/>
            <a:ext cx="5349240" cy="5276088"/>
          </a:xfrm>
          <a:prstGeom prst="rect">
            <a:avLst/>
          </a:prstGeom>
          <a:effectLst>
            <a:outerShdw sx="100000" sy="100000" kx="0" ky="0" algn="bl" rotWithShape="0" blurRad="330200" dist="50800" dir="16200000">
              <a:srgbClr val="E3022E">
                <a:alpha val="28000"/>
              </a:srgbClr>
            </a:outerShdw>
          </a:effectLst>
        </p:spPr>
      </p:pic>
      <p:sp>
        <p:nvSpPr>
          <p:cNvPr id="12" name="Text 9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EINEN BLICK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Erfahrung, die man</a:t>
            </a:r>
            <a:endParaRPr lang="en-US" sz="4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2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mieten kann.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2396414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78992" y="3502152"/>
            <a:ext cx="19392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1097280" y="4544568"/>
            <a:ext cx="1939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910328"/>
            <a:ext cx="1939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Erfahrung im Markt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9414" y="3246120"/>
            <a:ext cx="2396414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95446" y="3502152"/>
            <a:ext cx="19392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spc="-1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Nr.1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813734" y="4544568"/>
            <a:ext cx="1939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Marktführer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3734" y="4910328"/>
            <a:ext cx="1939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Energie Schweiz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3246120"/>
            <a:ext cx="2396414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1900" y="3502152"/>
            <a:ext cx="19392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6530188" y="4544568"/>
            <a:ext cx="1939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Mitarbeitende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0188" y="4910328"/>
            <a:ext cx="1939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anpacken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72321" y="3246120"/>
            <a:ext cx="2396414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28353" y="3502152"/>
            <a:ext cx="19392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9246641" y="4544568"/>
            <a:ext cx="1939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Standorte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46641" y="4910328"/>
            <a:ext cx="1939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ganzen DACH-Region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Full-Service aus einer Hand – und die Pioniere hinter CO₂-neutralen Methanol-Anlagen und klimafreundlichen Stromlösungen.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PORTFOLIO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Disziplinen. Ein Partner.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Wärme bis Strom – alles, was ein Gebäude oder ein Projekt temporär braucht. Neu und mit voller Kraft dabei: Strom.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1875069" cy="3063240"/>
          </a:xfrm>
          <a:prstGeom prst="roundRect">
            <a:avLst>
              <a:gd name="adj" fmla="val 682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03878" y="3264408"/>
            <a:ext cx="713232" cy="71323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Burak/26500360-9123-5efa-8d7a-f35c2706888c/scratchpad/assets/ic/fue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451" y="3456981"/>
            <a:ext cx="328087" cy="3280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78808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Wärme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87552" y="4663440"/>
            <a:ext cx="15458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Heizungen &amp; Pellet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90637" y="2880360"/>
            <a:ext cx="1875069" cy="3063240"/>
          </a:xfrm>
          <a:prstGeom prst="roundRect">
            <a:avLst>
              <a:gd name="adj" fmla="val 682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1555" y="3264408"/>
            <a:ext cx="713232" cy="71323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1" descr="/tmp/claude-0/-home-user-Burak/26500360-9123-5efa-8d7a-f35c2706888c/scratchpad/assets/ic/win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128" y="3456981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82077" y="4178808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Kälte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155229" y="4663440"/>
            <a:ext cx="15458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Kaltwassersätze &amp; Klima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158313" y="2880360"/>
            <a:ext cx="1875069" cy="3063240"/>
          </a:xfrm>
          <a:prstGeom prst="roundRect">
            <a:avLst>
              <a:gd name="adj" fmla="val 682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39232" y="3264408"/>
            <a:ext cx="713232" cy="71323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7" name="Image 2" descr="/tmp/claude-0/-home-user-Burak/26500360-9123-5efa-8d7a-f35c2706888c/scratchpad/assets/ic/refres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804" y="3456981"/>
            <a:ext cx="328087" cy="3280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49753" y="4178808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Luft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5322905" y="4663440"/>
            <a:ext cx="15458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Lüftung &amp; Entfeuchtung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25990" y="2880360"/>
            <a:ext cx="1875069" cy="3063240"/>
          </a:xfrm>
          <a:prstGeom prst="roundRect">
            <a:avLst>
              <a:gd name="adj" fmla="val 682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06908" y="3264408"/>
            <a:ext cx="713232" cy="71323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22" name="Image 3" descr="/tmp/claude-0/-home-user-Burak/26500360-9123-5efa-8d7a-f35c2706888c/scratchpad/assets/ic/activity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481" y="3456981"/>
            <a:ext cx="328087" cy="3280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17430" y="4178808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Trocknung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7490582" y="4663440"/>
            <a:ext cx="15458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Bau- &amp; Wasserschaden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493667" y="2880360"/>
            <a:ext cx="1875069" cy="3063240"/>
          </a:xfrm>
          <a:prstGeom prst="roundRect">
            <a:avLst>
              <a:gd name="adj" fmla="val 6827"/>
            </a:avLst>
          </a:prstGeom>
          <a:solidFill>
            <a:srgbClr val="E3022E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074585" y="3264408"/>
            <a:ext cx="713232" cy="713232"/>
          </a:xfrm>
          <a:prstGeom prst="ellipse">
            <a:avLst/>
          </a:prstGeom>
          <a:solidFill>
            <a:srgbClr val="820118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27" name="Image 4" descr="/tmp/claude-0/-home-user-Burak/26500360-9123-5efa-8d7a-f35c2706888c/scratchpad/assets/ic/bol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158" y="3456981"/>
            <a:ext cx="328087" cy="3280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85107" y="4178808"/>
            <a:ext cx="1692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Strom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9658259" y="4663440"/>
            <a:ext cx="15458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B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Generatoren, BESS &amp; Hybrid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9974001" y="537667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4"/>
          <p:cNvSpPr/>
          <p:nvPr/>
        </p:nvSpPr>
        <p:spPr>
          <a:xfrm>
            <a:off x="9974001" y="53766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× AGGREKO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3258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Power.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6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Aggreko im Rücken erhalten Sie Zugriff auf modernste Generatoren, Batteriespeicher und Hybridsysteme – von 30 kVA bis in den Megawatt-Bereich. Kombiniert mit unserem Service vor Ort wird daraus eine Lösung, die genau zu Ihrem Projekt passt.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263640" y="1234440"/>
            <a:ext cx="2606040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554480"/>
            <a:ext cx="621792" cy="62179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Burak/26500360-9123-5efa-8d7a-f35c2706888c/scratchpad/assets/ic/glob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564" y="1722364"/>
            <a:ext cx="286024" cy="286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Weltweite Flotte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0" y="26517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Modernste Energietechnik – inkl. USV-Absicherung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0" y="1234440"/>
            <a:ext cx="2606040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64040" y="1554480"/>
            <a:ext cx="621792" cy="62179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1" descr="/tmp/claude-0/-home-user-Burak/26500360-9123-5efa-8d7a-f35c2706888c/scratchpad/assets/ic/leaf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924" y="1722364"/>
            <a:ext cx="286024" cy="286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6404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V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464040" y="26517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Neueste Emissionsstandards, Diesel &amp; HVO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63640" y="3657600"/>
            <a:ext cx="2606040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3977640"/>
            <a:ext cx="621792" cy="62179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7" name="Image 2" descr="/tmp/claude-0/-home-user-Burak/26500360-9123-5efa-8d7a-f35c2706888c/scratchpad/assets/ic/tru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564" y="4145524"/>
            <a:ext cx="286024" cy="2860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 geliefert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8368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Sofort einsatzbereit, wenn es zählt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144000" y="3657600"/>
            <a:ext cx="2606040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64040" y="3977640"/>
            <a:ext cx="621792" cy="62179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22" name="Image 3" descr="/tmp/claude-0/-home-user-Burak/26500360-9123-5efa-8d7a-f35c2706888c/scratchpad/assets/ic/scal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924" y="4145524"/>
            <a:ext cx="286024" cy="286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Skalierbar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464040" y="5074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30 kVA bis in den MW-Bereich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BEREICH STROM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Power-Familie.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Bausteine, die sich beliebig kombinieren lassen – für jede Grösse, jeden Einsatz.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2416988" cy="3291840"/>
          </a:xfrm>
          <a:prstGeom prst="roundRect">
            <a:avLst>
              <a:gd name="adj" fmla="val 529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tmp/claude-0/-home-user-Burak/26500360-9123-5efa-8d7a-f35c2706888c/scratchpad/assets/g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43000" y="3017520"/>
            <a:ext cx="1776908" cy="1600200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5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960120" y="4846320"/>
            <a:ext cx="2142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Generatoren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5276088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– 1'200 kVA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32556" y="2697480"/>
            <a:ext cx="2416988" cy="3291840"/>
          </a:xfrm>
          <a:prstGeom prst="roundRect">
            <a:avLst>
              <a:gd name="adj" fmla="val 529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tmp/claude-0/-home-user-Burak/26500360-9123-5efa-8d7a-f35c2706888c/scratchpad/assets/bes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52596" y="3017520"/>
            <a:ext cx="1776908" cy="1600200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50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3669716" y="4846320"/>
            <a:ext cx="2142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Batteriespeicher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669716" y="5276088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kVA – 1 MW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42152" y="2697480"/>
            <a:ext cx="2416988" cy="3291840"/>
          </a:xfrm>
          <a:prstGeom prst="roundRect">
            <a:avLst>
              <a:gd name="adj" fmla="val 529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2" descr="/tmp/claude-0/-home-user-Burak/26500360-9123-5efa-8d7a-f35c2706888c/scratchpad/assets/hybri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62192" y="3017520"/>
            <a:ext cx="1776908" cy="1600200"/>
          </a:xfrm>
          <a:prstGeom prst="rect">
            <a:avLst/>
          </a:prstGeom>
          <a:effectLst>
            <a:outerShdw sx="100000" sy="100000" kx="0" ky="0" algn="bl" rotWithShape="0" blurRad="152400" dist="76200" dir="5400000">
              <a:srgbClr val="000000">
                <a:alpha val="50000"/>
              </a:srgbClr>
            </a:outerShdw>
          </a:effectLst>
        </p:spPr>
      </p:pic>
      <p:sp>
        <p:nvSpPr>
          <p:cNvPr id="15" name="Text 10"/>
          <p:cNvSpPr/>
          <p:nvPr/>
        </p:nvSpPr>
        <p:spPr>
          <a:xfrm>
            <a:off x="6379312" y="4846320"/>
            <a:ext cx="2142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Power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379312" y="5276088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kVA – 1 MW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951747" y="2697480"/>
            <a:ext cx="2416988" cy="3291840"/>
          </a:xfrm>
          <a:prstGeom prst="roundRect">
            <a:avLst>
              <a:gd name="adj" fmla="val 529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703041" y="3264408"/>
            <a:ext cx="914400" cy="914400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9" name="Image 3" descr="/tmp/claude-0/-home-user-Burak/26500360-9123-5efa-8d7a-f35c2706888c/scratchpad/assets/ic/gaug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9929" y="3511296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88907" y="4846320"/>
            <a:ext cx="2142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Lastbänke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9088907" y="5276088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 kW – 6'300 kVA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GENERATOREN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234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Zuverlässig.</a:t>
            </a:r>
            <a:endParaRPr lang="en-US" sz="3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30 bis</a:t>
            </a:r>
            <a:endParaRPr lang="en-US" sz="3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1'200 kVA.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Stage-V-Generatoren liefern Leistung, wenn es drauf ankommt – sparsam im Verbrauch und voll konform mit der EU-MCP-Richtlinie.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54456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6" name="Image 0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19" y="4601627"/>
            <a:ext cx="123627" cy="1236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44805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– 1'200 kVA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454456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9" name="Image 1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179" y="4601627"/>
            <a:ext cx="123627" cy="1236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48456" y="44805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Emissionsoptimiert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5111496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2" name="Image 2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19" y="5168555"/>
            <a:ext cx="123627" cy="1236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5296" y="50474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Kraftstoffe (HVO)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246120" y="5111496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5" name="Image 3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179" y="5168555"/>
            <a:ext cx="123627" cy="1236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48456" y="50474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Leiser Betrieb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22960" y="5678424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8" name="Image 4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019" y="5735483"/>
            <a:ext cx="123627" cy="12362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25296" y="56144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Intelligente Steuerung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3246120" y="5678424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21" name="Image 5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3179" y="5735483"/>
            <a:ext cx="123627" cy="1236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48456" y="56144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Einfach installiert &amp; gewartet</a:t>
            </a:r>
            <a:endParaRPr lang="en-US" sz="1250" dirty="0"/>
          </a:p>
        </p:txBody>
      </p:sp>
      <p:pic>
        <p:nvPicPr>
          <p:cNvPr id="23" name="Image 6" descr="/tmp/claude-0/-home-user-Burak/26500360-9123-5efa-8d7a-f35c2706888c/scratchpad/assets/spot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3193" y="3971696"/>
            <a:ext cx="7838694" cy="2811780"/>
          </a:xfrm>
          <a:prstGeom prst="rect">
            <a:avLst/>
          </a:prstGeom>
        </p:spPr>
      </p:pic>
      <p:pic>
        <p:nvPicPr>
          <p:cNvPr id="24" name="Image 7" descr="/tmp/claude-0/-home-user-Burak/26500360-9123-5efa-8d7a-f35c2706888c/scratchpad/assets/gen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989320" y="1965960"/>
            <a:ext cx="5806440" cy="3749040"/>
          </a:xfrm>
          <a:prstGeom prst="rect">
            <a:avLst/>
          </a:prstGeom>
          <a:effectLst>
            <a:outerShdw sx="100000" sy="100000" kx="0" ky="0" algn="bl" rotWithShape="0" blurRad="279400" dist="152400" dir="5400000">
              <a:srgbClr val="000000">
                <a:alpha val="60000"/>
              </a:srgbClr>
            </a:outerShdw>
          </a:effectLst>
        </p:spPr>
      </p:pic>
      <p:sp>
        <p:nvSpPr>
          <p:cNvPr id="25" name="Text 15"/>
          <p:cNvSpPr/>
          <p:nvPr/>
        </p:nvSpPr>
        <p:spPr>
          <a:xfrm>
            <a:off x="6492240" y="5440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V  ·  MCPD-konform  ·  Diesel &amp; HVO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BATTERIESPEICHER · BESS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234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Strom speichern.</a:t>
            </a:r>
            <a:endParaRPr lang="en-US" sz="3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Lautlos abrufen.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Batteriespeicher (BESS) laden, wenn Energie günstig verfügbar ist, und geben sie ab, wenn Sie sie brauchen – ganz ohne Lärm und Abgase.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54456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6" name="Image 0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19" y="4601627"/>
            <a:ext cx="123627" cy="1236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44805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kVA – 1 MW, skalierbar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454456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9" name="Image 1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179" y="4601627"/>
            <a:ext cx="123627" cy="1236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48456" y="44805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Intelligentes Energiemanagement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5111496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2" name="Image 2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19" y="5168555"/>
            <a:ext cx="123627" cy="1236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5296" y="50474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Flexibel einsetzbar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246120" y="5111496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5" name="Image 3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179" y="5168555"/>
            <a:ext cx="123627" cy="1236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48456" y="50474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Nachhaltig &amp; kosteneffizient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22960" y="5678424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8" name="Image 4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019" y="5735483"/>
            <a:ext cx="123627" cy="12362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25296" y="56144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&amp; Play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3246120" y="5678424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21" name="Image 5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3179" y="5735483"/>
            <a:ext cx="123627" cy="1236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48456" y="56144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Fernüberwachung &amp; Support</a:t>
            </a:r>
            <a:endParaRPr lang="en-US" sz="1250" dirty="0"/>
          </a:p>
        </p:txBody>
      </p:sp>
      <p:pic>
        <p:nvPicPr>
          <p:cNvPr id="23" name="Image 6" descr="/tmp/claude-0/-home-user-Burak/26500360-9123-5efa-8d7a-f35c2706888c/scratchpad/assets/spot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6742" y="3891001"/>
            <a:ext cx="6048756" cy="3531870"/>
          </a:xfrm>
          <a:prstGeom prst="rect">
            <a:avLst/>
          </a:prstGeom>
        </p:spPr>
      </p:pic>
      <p:pic>
        <p:nvPicPr>
          <p:cNvPr id="24" name="Image 7" descr="/tmp/claude-0/-home-user-Burak/26500360-9123-5efa-8d7a-f35c2706888c/scratchpad/assets/bess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720840" y="1371600"/>
            <a:ext cx="4480560" cy="4709160"/>
          </a:xfrm>
          <a:prstGeom prst="rect">
            <a:avLst/>
          </a:prstGeom>
          <a:effectLst>
            <a:outerShdw sx="100000" sy="100000" kx="0" ky="0" algn="bl" rotWithShape="0" blurRad="279400" dist="152400" dir="5400000">
              <a:srgbClr val="000000">
                <a:alpha val="60000"/>
              </a:srgbClr>
            </a:outerShdw>
          </a:effectLst>
        </p:spPr>
      </p:pic>
      <p:sp>
        <p:nvSpPr>
          <p:cNvPr id="25" name="Text 15"/>
          <p:cNvSpPr/>
          <p:nvPr/>
        </p:nvSpPr>
        <p:spPr>
          <a:xfrm>
            <a:off x="6492240" y="5440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dB Emission  ·  Plug &amp; Play  ·  Fernüberwacht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POWER PACKAGES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234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4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0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trifft Batterie.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und Batteriespeicher zusammen ergeben eine hocheffiziente Kombination: Der Generator läuft nur im optimalen Bereich, die Batterie fängt die Spitzen ab. Das spart Treibstoff, Emissionen und Lärm.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54456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6" name="Image 0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19" y="4601627"/>
            <a:ext cx="123627" cy="1236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44805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kVA – 1 MW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454456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9" name="Image 1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179" y="4601627"/>
            <a:ext cx="123627" cy="1236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48456" y="44805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Verbrauch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5111496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2" name="Image 2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19" y="5168555"/>
            <a:ext cx="123627" cy="1236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5296" y="50474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Automatisches Lastmanagement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246120" y="5111496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5" name="Image 3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179" y="5168555"/>
            <a:ext cx="123627" cy="1236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48456" y="504748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Erneuerbare integrierbar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22960" y="5678424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8" name="Image 4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019" y="5735483"/>
            <a:ext cx="123627" cy="12362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25296" y="56144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Skalierbar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3246120" y="5678424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21" name="Image 5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3179" y="5735483"/>
            <a:ext cx="123627" cy="1236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48456" y="561441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 einsatzbereit</a:t>
            </a:r>
            <a:endParaRPr lang="en-US" sz="1250" dirty="0"/>
          </a:p>
        </p:txBody>
      </p:sp>
      <p:pic>
        <p:nvPicPr>
          <p:cNvPr id="23" name="Image 6" descr="/tmp/claude-0/-home-user-Burak/26500360-9123-5efa-8d7a-f35c2706888c/scratchpad/assets/spot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6083" y="4347240"/>
            <a:ext cx="7221474" cy="2825496"/>
          </a:xfrm>
          <a:prstGeom prst="rect">
            <a:avLst/>
          </a:prstGeom>
        </p:spPr>
      </p:pic>
      <p:pic>
        <p:nvPicPr>
          <p:cNvPr id="24" name="Image 7" descr="/tmp/claude-0/-home-user-Burak/26500360-9123-5efa-8d7a-f35c2706888c/scratchpad/assets/hybri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172200" y="2331720"/>
            <a:ext cx="5349240" cy="3767328"/>
          </a:xfrm>
          <a:prstGeom prst="rect">
            <a:avLst/>
          </a:prstGeom>
          <a:effectLst>
            <a:outerShdw sx="100000" sy="100000" kx="0" ky="0" algn="bl" rotWithShape="0" blurRad="279400" dist="152400" dir="5400000">
              <a:srgbClr val="000000">
                <a:alpha val="60000"/>
              </a:srgbClr>
            </a:outerShdw>
          </a:effectLst>
        </p:spPr>
      </p:pic>
      <p:sp>
        <p:nvSpPr>
          <p:cNvPr id="25" name="Text 15"/>
          <p:cNvSpPr/>
          <p:nvPr/>
        </p:nvSpPr>
        <p:spPr>
          <a:xfrm>
            <a:off x="6492240" y="5440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zu 30 % weniger Treibstoff &amp; Emissionen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EINSATZGEBIETE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960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2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Überall dort, wo Strom nicht ausfallen darf.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32378" cy="1965960"/>
          </a:xfrm>
          <a:prstGeom prst="roundRect">
            <a:avLst>
              <a:gd name="adj" fmla="val 6512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2313432"/>
            <a:ext cx="603504" cy="603504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6" name="Image 0" descr="/tmp/claude-0/-home-user-Burak/26500360-9123-5efa-8d7a-f35c2706888c/scratchpad/assets/ic/industr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378" y="2476378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990088"/>
            <a:ext cx="2637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&amp; Pharma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0432" y="333756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Schutz vor Produktionsausfall, PQ-kritische Prozesse, NEA-Pflicht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29658" y="1965960"/>
            <a:ext cx="3332378" cy="1965960"/>
          </a:xfrm>
          <a:prstGeom prst="roundRect">
            <a:avLst>
              <a:gd name="adj" fmla="val 6512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7130" y="2313432"/>
            <a:ext cx="603504" cy="603504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1" name="Image 1" descr="/tmp/claude-0/-home-user-Burak/26500360-9123-5efa-8d7a-f35c2706888c/scratchpad/assets/ic/serv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076" y="2476378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7130" y="2990088"/>
            <a:ext cx="2637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 &amp; IT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77130" y="333756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Höchste Verfügbarkeit, USV-Absicherung, Redundanz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36357" y="1965960"/>
            <a:ext cx="3332378" cy="1965960"/>
          </a:xfrm>
          <a:prstGeom prst="roundRect">
            <a:avLst>
              <a:gd name="adj" fmla="val 6512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3829" y="2313432"/>
            <a:ext cx="603504" cy="603504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6" name="Image 2" descr="/tmp/claude-0/-home-user-Burak/26500360-9123-5efa-8d7a-f35c2706888c/scratchpad/assets/ic/hospital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775" y="2476378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3829" y="2990088"/>
            <a:ext cx="2637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Spitäler &amp; Gesundheit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83829" y="333756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Gesetzliche NEA-Pflicht (NIV Art. 13), 24/7, IEC 62040-3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4206240"/>
            <a:ext cx="3332378" cy="1965960"/>
          </a:xfrm>
          <a:prstGeom prst="roundRect">
            <a:avLst>
              <a:gd name="adj" fmla="val 6512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170432" y="4553712"/>
            <a:ext cx="603504" cy="603504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21" name="Image 3" descr="/tmp/claude-0/-home-user-Burak/26500360-9123-5efa-8d7a-f35c2706888c/scratchpad/assets/ic/shiel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378" y="4716658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5230368"/>
            <a:ext cx="2637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Kritische Infrastruktur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170432" y="557784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Wasserwerke, ARA, Energieversorger – Notstrom &amp; Katastrophenschutz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29658" y="4206240"/>
            <a:ext cx="3332378" cy="1965960"/>
          </a:xfrm>
          <a:prstGeom prst="roundRect">
            <a:avLst>
              <a:gd name="adj" fmla="val 6512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77130" y="4553712"/>
            <a:ext cx="603504" cy="603504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26" name="Image 4" descr="/tmp/claude-0/-home-user-Burak/26500360-9123-5efa-8d7a-f35c2706888c/scratchpad/assets/ic/hardha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076" y="4716658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77130" y="5230368"/>
            <a:ext cx="2637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Bauprojekte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77130" y="557784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Temporäre Anschlüsse und Baustrom, sofort verfügbar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36357" y="4206240"/>
            <a:ext cx="3332378" cy="1965960"/>
          </a:xfrm>
          <a:prstGeom prst="roundRect">
            <a:avLst>
              <a:gd name="adj" fmla="val 6512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3829" y="4553712"/>
            <a:ext cx="603504" cy="603504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31" name="Image 5" descr="/tmp/claude-0/-home-user-Burak/26500360-9123-5efa-8d7a-f35c2706888c/scratchpad/assets/ic/calendar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775" y="4716658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83829" y="5230368"/>
            <a:ext cx="2637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&amp; Messen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83829" y="5577840"/>
            <a:ext cx="2692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Zuverlässiger Strom für Grossveranstaltungen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DAZU VON AGGREKO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1887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Alles, was dazwischen</a:t>
            </a:r>
            <a:endParaRPr lang="en-US" sz="4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0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fehlt.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 Generatoren und Speichern liefern wir das komplette Drumherum – vom Kabel bis zum Trafo. Damit am Ende alles zusammenpasst.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263640" y="1234440"/>
            <a:ext cx="2606040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554480"/>
            <a:ext cx="621792" cy="62179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tmp/claude-0/-home-user-Burak/26500360-9123-5efa-8d7a-f35c2706888c/scratchpad/assets/ic/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564" y="1722364"/>
            <a:ext cx="286024" cy="286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USV-Anlagen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583680" y="26334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200 kW, unterbrechungsfreie Versorgung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0" y="1234440"/>
            <a:ext cx="2606040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64040" y="1554480"/>
            <a:ext cx="621792" cy="62179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2" name="Image 1" descr="/tmp/claude-0/-home-user-Burak/26500360-9123-5efa-8d7a-f35c2706888c/scratchpad/assets/ic/distribut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924" y="1722364"/>
            <a:ext cx="286024" cy="286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6404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Stromverteilung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9464040" y="26334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Verteiler inkl. Powerlock, Schalt- &amp; Lastumschaltung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63640" y="3657600"/>
            <a:ext cx="2606040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3977640"/>
            <a:ext cx="621792" cy="62179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7" name="Image 2" descr="/tmp/claude-0/-home-user-Burak/26500360-9123-5efa-8d7a-f35c2706888c/scratchpad/assets/ic/transforme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564" y="4145524"/>
            <a:ext cx="286024" cy="2860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Transformatoren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583680" y="505663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 &amp; MS, 2'500 – 6'300 kVA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44000" y="3657600"/>
            <a:ext cx="2606040" cy="2148840"/>
          </a:xfrm>
          <a:prstGeom prst="roundRect">
            <a:avLst>
              <a:gd name="adj" fmla="val 5957"/>
            </a:avLst>
          </a:prstGeom>
          <a:solidFill>
            <a:srgbClr val="141419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64040" y="3977640"/>
            <a:ext cx="621792" cy="621792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22" name="Image 3" descr="/tmp/claude-0/-home-user-Burak/26500360-9123-5efa-8d7a-f35c2706888c/scratchpad/assets/ic/ev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924" y="4145524"/>
            <a:ext cx="286024" cy="286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EV-Lader &amp; PV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464040" y="505663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Ladepunkte 22 – 120 kW, Solar bis 60 kW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POWER-QUALITY-MESSUNG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1887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messen,</a:t>
            </a:r>
            <a:endParaRPr lang="en-US" sz="3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bevor es</a:t>
            </a:r>
            <a:endParaRPr lang="en-US" sz="3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8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teuer wird.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Zertifizierte PQ-Messung nach IEC 61000-4-30 Klasse A mit Reporting nach EN 50160. So erkennen Sie Störungen, bevor sie zum Ausfall werden.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45312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6" name="Image 0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19" y="4510187"/>
            <a:ext cx="123627" cy="1236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4389120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Spannung, Strom &amp; Frequenz präzise erfasst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491032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9" name="Image 1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19" y="4967387"/>
            <a:ext cx="123627" cy="1236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4846320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Störungen früh erkennen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536752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2" name="Image 2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19" y="5424587"/>
            <a:ext cx="123627" cy="1236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5296" y="5303520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Betriebssicherheit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22960" y="5824728"/>
            <a:ext cx="237744" cy="237744"/>
          </a:xfrm>
          <a:prstGeom prst="ellipse">
            <a:avLst/>
          </a:prstGeom>
          <a:solidFill>
            <a:srgbClr val="1E1E25"/>
          </a:solidFill>
          <a:ln w="12700">
            <a:solidFill>
              <a:srgbClr val="E3022E"/>
            </a:solidFill>
            <a:prstDash val="solid"/>
          </a:ln>
        </p:spPr>
      </p:sp>
      <p:pic>
        <p:nvPicPr>
          <p:cNvPr id="15" name="Image 3" descr="/tmp/claude-0/-home-user-Burak/26500360-9123-5efa-8d7a-f35c2706888c/scratchpad/assets/ic/check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019" y="5881787"/>
            <a:ext cx="123627" cy="1236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25296" y="5760720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Nachweis &amp; Transparenz für Kunden</a:t>
            </a:r>
            <a:endParaRPr lang="en-US" sz="1250" dirty="0"/>
          </a:p>
        </p:txBody>
      </p:sp>
      <p:pic>
        <p:nvPicPr>
          <p:cNvPr id="17" name="Image 4" descr="/tmp/claude-0/-home-user-Burak/26500360-9123-5efa-8d7a-f35c2706888c/scratchpad/assets/spot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8132" y="3471977"/>
            <a:ext cx="6665976" cy="2880360"/>
          </a:xfrm>
          <a:prstGeom prst="rect">
            <a:avLst/>
          </a:prstGeom>
        </p:spPr>
      </p:pic>
      <p:pic>
        <p:nvPicPr>
          <p:cNvPr id="18" name="Image 5" descr="/tmp/claude-0/-home-user-Burak/26500360-9123-5efa-8d7a-f35c2706888c/scratchpad/assets/pqmeter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92240" y="1417320"/>
            <a:ext cx="4937760" cy="3840480"/>
          </a:xfrm>
          <a:prstGeom prst="rect">
            <a:avLst/>
          </a:prstGeom>
          <a:effectLst>
            <a:outerShdw sx="100000" sy="100000" kx="0" ky="0" algn="bl" rotWithShape="0" blurRad="279400" dist="152400" dir="5400000">
              <a:srgbClr val="000000">
                <a:alpha val="60000"/>
              </a:srgbClr>
            </a:outerShdw>
          </a:effectLst>
        </p:spPr>
      </p:pic>
      <p:sp>
        <p:nvSpPr>
          <p:cNvPr id="19" name="Shape 11"/>
          <p:cNvSpPr/>
          <p:nvPr/>
        </p:nvSpPr>
        <p:spPr>
          <a:xfrm>
            <a:off x="8732520" y="507492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E3022E"/>
          </a:solidFill>
          <a:ln/>
          <a:effectLst>
            <a:outerShdw sx="100000" sy="100000" kx="0" ky="0" algn="bl" rotWithShape="0" blurRad="177800" dist="76200" dir="5400000">
              <a:srgbClr val="000000">
                <a:alpha val="50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8732520" y="5074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A
</a:t>
            </a:r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BD6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61000-4-30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ANSPRECHPARTNER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86384" y="12801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2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 wir über</a:t>
            </a:r>
            <a:endParaRPr lang="en-US" sz="4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200" b="1" spc="-50" kern="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Stromprojekt.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3154680"/>
            <a:ext cx="475488" cy="475488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5" name="Image 0" descr="/tmp/claude-0/-home-user-Burak/26500360-9123-5efa-8d7a-f35c2706888c/scratchpad/assets/ic/targ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42" y="3283062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31089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Full-Service aus einer Hand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22960" y="3813048"/>
            <a:ext cx="475488" cy="475488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1" descr="/tmp/claude-0/-home-user-Burak/26500360-9123-5efa-8d7a-f35c2706888c/scratchpad/assets/ic/heads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42" y="3941430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767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Kostenlose Beratung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22960" y="4471416"/>
            <a:ext cx="475488" cy="475488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1" name="Image 2" descr="/tmp/claude-0/-home-user-Burak/26500360-9123-5efa-8d7a-f35c2706888c/scratchpad/assets/ic/clo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42" y="4599798"/>
            <a:ext cx="218724" cy="21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42569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Schnellangebot in 24 h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822960" y="5129784"/>
            <a:ext cx="475488" cy="475488"/>
          </a:xfrm>
          <a:prstGeom prst="ellipse">
            <a:avLst/>
          </a:prstGeom>
          <a:solidFill>
            <a:srgbClr val="E3022E"/>
          </a:solidFill>
          <a:ln/>
          <a:effectLst>
            <a:outerShdw sx="100000" sy="100000" kx="0" ky="0" algn="bl" rotWithShape="0" blurRad="114300" dist="38100" dir="5400000">
              <a:srgbClr val="000000">
                <a:alpha val="50000"/>
              </a:srgbClr>
            </a:outerShdw>
          </a:effectLst>
        </p:spPr>
      </p:sp>
      <p:pic>
        <p:nvPicPr>
          <p:cNvPr id="14" name="Image 3" descr="/tmp/claude-0/-home-user-Burak/26500360-9123-5efa-8d7a-f35c2706888c/scratchpad/assets/ic/shiel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342" y="5258166"/>
            <a:ext cx="218724" cy="2187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50840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Notfallservice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7178040" y="1051560"/>
            <a:ext cx="4206240" cy="3566160"/>
          </a:xfrm>
          <a:prstGeom prst="roundRect">
            <a:avLst>
              <a:gd name="adj" fmla="val 4103"/>
            </a:avLst>
          </a:prstGeom>
          <a:solidFill>
            <a:srgbClr val="1C1C23"/>
          </a:solidFill>
          <a:ln w="9525">
            <a:solidFill>
              <a:srgbClr val="30303A"/>
            </a:solidFill>
            <a:prstDash val="solid"/>
          </a:ln>
          <a:effectLst>
            <a:outerShdw sx="100000" sy="100000" kx="0" ky="0" algn="bl" rotWithShape="0" blurRad="279400" dist="127000" dir="5400000">
              <a:srgbClr val="000000">
                <a:alpha val="55000"/>
              </a:srgbClr>
            </a:outerShdw>
          </a:effectLst>
        </p:spPr>
      </p:sp>
      <p:pic>
        <p:nvPicPr>
          <p:cNvPr id="17" name="Image 4" descr="/tmp/claude-0/-home-user-Burak/26500360-9123-5efa-8d7a-f35c2706888c/scratchpad/assets/portrait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87768" y="1161288"/>
            <a:ext cx="3986784" cy="33467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78040" y="47823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Burak Ücöz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7178040" y="5239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0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Engineer Strom · Schweiz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629400" y="55869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+41 76 202 01 70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algn="ctr" indent="0" marL="0">
              <a:buNone/>
            </a:pPr>
            <a:r>
              <a:rPr lang="en-US" sz="1300" dirty="0">
                <a:solidFill>
                  <a:srgbClr val="F3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uecoez@mobilintime.com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38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  ·  STROM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841248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CE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Bereit, wenn Sie es sind – Strom, genau dann, wenn Sie ihn brauchen.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8680" y="580644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tmp/claude-0/-home-user-Burak/26500360-9123-5efa-8d7a-f35c2706888c/scratchpad/assets/ic/bolt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89788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788152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in Time</a:t>
            </a:r>
            <a:pPr indent="0" marL="0">
              <a:buNone/>
            </a:pPr>
            <a:r>
              <a:rPr lang="en-US" sz="1400" dirty="0">
                <a:solidFill>
                  <a:srgbClr val="FB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An Aggreko Company   ·   mobilintime.com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2026-07-22T08:30:10Z</dcterms:created>
  <dcterms:modified xsi:type="dcterms:W3CDTF">2026-07-22T08:30:10Z</dcterms:modified>
</cp:coreProperties>
</file>