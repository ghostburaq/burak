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0" y="-1828800"/>
            <a:ext cx="8229600" cy="8229600"/>
          </a:xfrm>
          <a:prstGeom prst="roundRect">
            <a:avLst>
              <a:gd name="adj" fmla="val 100000"/>
            </a:avLst>
          </a:prstGeom>
          <a:gradFill flip="none" rotWithShape="1">
            <a:gsLst>
              <a:gs pos="0">
                <a:srgbClr val="0A84FF"/>
              </a:gs>
              <a:gs pos="100000">
                <a:srgbClr val="BF5AF2"/>
              </a:gs>
            </a:gsLst>
            <a:lin ang="81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-1828800"/>
            <a:ext cx="82296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AEAEB2"/>
                </a:solidFill>
                <a:latin typeface="Helvetica Neue"/>
              </a:rPr>
              <a:t>MOBIL IN TIME AG   ·   AN AGGREKO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 i="0" spc="-300">
                <a:solidFill>
                  <a:srgbClr val="F5F5F7"/>
                </a:solidFill>
                <a:latin typeface="Helvetica Neue"/>
              </a:rPr>
              <a:t>Strom.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 spc="-200">
                <a:solidFill>
                  <a:srgbClr val="AEAEB2"/>
                </a:solidFill>
                <a:latin typeface="Helvetica Neue"/>
              </a:rPr>
              <a:t>Ohne Fachchinesisch.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AEAEB2"/>
                </a:solidFill>
                <a:latin typeface="Helvetica Neue"/>
              </a:rPr>
              <a:t>Quick Dive für das Marketing-Team. So erklärt, dass es hängen bleibt — auch ohne Elektro-Ausbildung.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598932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126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Burak Ücöz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8251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EAEB2"/>
                </a:solidFill>
                <a:latin typeface="Helvetica Neue"/>
              </a:rPr>
              <a:t>Sales Engineer Power   ·   22. Juli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2636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AEAEB2"/>
                </a:solidFill>
                <a:latin typeface="Helvetica Neue"/>
              </a:rPr>
              <a:t>01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ABLAUF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02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 spc="-150">
                <a:solidFill>
                  <a:srgbClr val="F5F5F7"/>
                </a:solidFill>
                <a:latin typeface="Helvetica Neue"/>
              </a:rPr>
              <a:t>Vier Blöcke.</a:t>
            </a:r>
          </a:p>
          <a:p>
            <a:pPr algn="l">
              <a:lnSpc>
                <a:spcPct val="105000"/>
              </a:lnSpc>
            </a:pPr>
            <a:r>
              <a:rPr sz="5400" b="1" i="0" spc="-150">
                <a:solidFill>
                  <a:srgbClr val="F5F5F7"/>
                </a:solidFill>
                <a:latin typeface="Helvetica Neue"/>
              </a:rPr>
              <a:t>Eine Stunde. Keine Formeln.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01752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13639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100">
                <a:solidFill>
                  <a:srgbClr val="0A84FF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90672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5F7"/>
                </a:solidFill>
                <a:latin typeface="Helvetica Neue"/>
              </a:rPr>
              <a:t>Grundlagen Strom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154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Die vier Begriffe, die alles erklären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3154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20 Min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61188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73075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100">
                <a:solidFill>
                  <a:srgbClr val="0A84FF"/>
                </a:solidFill>
                <a:latin typeface="Helvetica Neu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85032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5F7"/>
                </a:solidFill>
                <a:latin typeface="Helvetica Neue"/>
              </a:rPr>
              <a:t>Zielgruppen &amp; Einsatzgebiete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749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Wer ruft an und warum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3749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15 Min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420624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432511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100">
                <a:solidFill>
                  <a:srgbClr val="0A84FF"/>
                </a:solidFill>
                <a:latin typeface="Helvetica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79392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5F7"/>
                </a:solidFill>
                <a:latin typeface="Helvetica Neue"/>
              </a:rPr>
              <a:t>Anlagentypen &amp; Unterschiede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3434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Sechs Bausteine, mehr gibt es nicht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4343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20 Min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80060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491947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100">
                <a:solidFill>
                  <a:srgbClr val="0A84FF"/>
                </a:solidFill>
                <a:latin typeface="Helvetica Neue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873752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5F7"/>
                </a:solidFill>
                <a:latin typeface="Helvetica Neue"/>
              </a:rPr>
              <a:t>Aufstellung auf der Baustelle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937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Was vor Ort wirklich zählt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49377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15 Min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539496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551383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100">
                <a:solidFill>
                  <a:srgbClr val="0A84FF"/>
                </a:solidFill>
                <a:latin typeface="Helvetica Neue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468112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5F7"/>
                </a:solidFill>
                <a:latin typeface="Helvetica Neue"/>
              </a:rPr>
              <a:t>Was das fürs Marketing heisst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5321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Wörter, Bilder, Pitch, Fallstricke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5532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10 Min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598932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AEAEB2"/>
                </a:solidFill>
                <a:latin typeface="Helvetica Neue"/>
              </a:rPr>
              <a:t>Alles, was tiefer geht, kommt in einen zweiten Termin. Heute geht es um das Fundament.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KERNBOTSCHAFT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03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828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0" b="0" i="0">
                <a:solidFill>
                  <a:srgbClr val="0A84FF"/>
                </a:solidFill>
                <a:latin typeface="Helvetica Neue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1556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 spc="-100">
                <a:solidFill>
                  <a:srgbClr val="F5F5F7"/>
                </a:solidFill>
                <a:latin typeface="Helvetica Neue"/>
              </a:rPr>
              <a:t>«Wir vermieten keine Maschinen.</a:t>
            </a:r>
          </a:p>
          <a:p>
            <a:pPr algn="l">
              <a:lnSpc>
                <a:spcPct val="115000"/>
              </a:lnSpc>
            </a:pPr>
            <a:r>
              <a:rPr sz="4400" b="1" i="0" spc="-100">
                <a:solidFill>
                  <a:srgbClr val="F5F5F7"/>
                </a:solidFill>
                <a:latin typeface="Helvetica Neue"/>
              </a:rPr>
              <a:t>Wir vermieten die Garantie, dass nichts stehen bleibt.»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553212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AEAEB2"/>
                </a:solidFill>
                <a:latin typeface="Helvetica Neue"/>
              </a:rPr>
              <a:t>Wenn ihr aus dieser Stunde nur einen Satz mitnehmt — dann diesen. Alles Weitere ist Technik, die diesen Satz belegt.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KAPITEL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04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0" b="1" i="0" spc="-1000">
                <a:solidFill>
                  <a:srgbClr val="F5F5F7"/>
                </a:solidFill>
                <a:latin typeface="Helvetica Neue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2377440"/>
            <a:ext cx="54864" cy="237744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2860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00">
                <a:solidFill>
                  <a:srgbClr val="F5F5F7"/>
                </a:solidFill>
                <a:latin typeface="Helvetica Neue"/>
              </a:rPr>
              <a:t>Grundlagen Strom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65760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AEAEB2"/>
                </a:solidFill>
                <a:latin typeface="Helvetica Neue"/>
              </a:rPr>
              <a:t>Vier Begriffe. Ein Bild. Danach versteht ihr jede Kundenanfrage.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GRUNDLAGEN · 1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05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Strom ist wie Wasser im Rohr.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AEAEB2"/>
                </a:solidFill>
                <a:latin typeface="Helvetica Neue"/>
              </a:rPr>
              <a:t>Drei Begriffe. Ein Bild. Danach klickt 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3703320" cy="23774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A84FF"/>
                </a:solidFill>
                <a:latin typeface="Helvetica Neue"/>
              </a:rPr>
              <a:t>VOLT (V)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 spc="-50">
                <a:solidFill>
                  <a:srgbClr val="F5F5F7"/>
                </a:solidFill>
                <a:latin typeface="Helvetica Neue"/>
              </a:rPr>
              <a:t>Spannung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Der Druck im Rohr. Je höher der Druck, desto weiter kommt das Wasser.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926080"/>
            <a:ext cx="3703320" cy="23774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24612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BF5AF2"/>
                </a:solidFill>
                <a:latin typeface="Helvetica Neue"/>
              </a:rPr>
              <a:t>AMPERE (A)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61188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 spc="-50">
                <a:solidFill>
                  <a:srgbClr val="F5F5F7"/>
                </a:solidFill>
                <a:latin typeface="Helvetica Neue"/>
              </a:rPr>
              <a:t>Strom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34340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Wie viel Wasser tatsächlich durch das Rohr fliesst.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926080"/>
            <a:ext cx="3703320" cy="23774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30D158"/>
                </a:solidFill>
                <a:latin typeface="Helvetica Neue"/>
              </a:rPr>
              <a:t>WATT (W)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61188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 spc="-50">
                <a:solidFill>
                  <a:srgbClr val="F5F5F7"/>
                </a:solidFill>
                <a:latin typeface="Helvetica Neue"/>
              </a:rPr>
              <a:t>Leistung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34340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Was hinten rauskommt und Arbeit macht — Druck mal Durchfluss.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32120"/>
            <a:ext cx="11109960" cy="685800"/>
          </a:xfrm>
          <a:prstGeom prst="roundRect">
            <a:avLst>
              <a:gd name="adj" fmla="val 6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70585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0A84FF"/>
                </a:solidFill>
                <a:latin typeface="Helvetica Neue"/>
              </a:rPr>
              <a:t>Merksatz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715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5F5F7"/>
                </a:solidFill>
                <a:latin typeface="Helvetica Neue"/>
              </a:rPr>
              <a:t>Wer 400 V sagt, meint den Druck. Wer 300 kVA sagt, meint die Leistung.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GRUNDLAGEN · 2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06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Leistung ist nicht Energie.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394960" cy="256032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 spc="-200">
                <a:solidFill>
                  <a:srgbClr val="0A84FF"/>
                </a:solidFill>
                <a:latin typeface="Helvetica Neue"/>
              </a:rPr>
              <a:t>kW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100">
                <a:solidFill>
                  <a:srgbClr val="F5F5F7"/>
                </a:solidFill>
                <a:latin typeface="Helvetica Neue"/>
              </a:rPr>
              <a:t>Leistung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Wie weit der Wasserhahn gerade aufgedreht ist. Eine Momentaufnahme.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2194560"/>
            <a:ext cx="5394960" cy="256032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256032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 spc="-200">
                <a:solidFill>
                  <a:srgbClr val="BF5AF2"/>
                </a:solidFill>
                <a:latin typeface="Helvetica Neue"/>
              </a:rPr>
              <a:t>kWh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3840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100">
                <a:solidFill>
                  <a:srgbClr val="F5F5F7"/>
                </a:solidFill>
                <a:latin typeface="Helvetica Neue"/>
              </a:rPr>
              <a:t>Energie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42062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Wie viel Wasser am Ende im Eimer ist. Leistung mal Zeit.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A84FF"/>
                </a:solidFill>
                <a:latin typeface="Helvetica Neue"/>
              </a:rPr>
              <a:t>BEISPIEL ZUM MERKEN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5F5F7"/>
                </a:solidFill>
                <a:latin typeface="Helvetica Neue"/>
              </a:rPr>
              <a:t>Ein Haarföhn = 2 kW. Läuft er 1 h → 2 kWh. Läuft er 2 h → 4 kWh.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Die Leistung entscheidet, welche Maschine wir hinstellen. Die Energie entscheidet, was der Kunde zahlt.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GRUNDLAGEN · 3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07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kVA und kW: das Bierglas.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2194560"/>
            <a:ext cx="1828800" cy="3840480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0" y="3383280"/>
            <a:ext cx="1737360" cy="260604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0" y="2240280"/>
            <a:ext cx="1737360" cy="1188720"/>
          </a:xfrm>
          <a:prstGeom prst="rect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AEAEB2"/>
                </a:solidFill>
                <a:latin typeface="Helvetica Neue"/>
              </a:rPr>
              <a:t>SCHAUM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= kVA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4805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AEAEB2"/>
                </a:solidFill>
                <a:latin typeface="Helvetica Neue"/>
              </a:rPr>
              <a:t>BIER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75488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= kW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19456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A84FF"/>
                </a:solidFill>
                <a:latin typeface="Helvetica Neue"/>
              </a:rPr>
              <a:t>SCHEINLEISTUNG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51460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5F5F7"/>
                </a:solidFill>
                <a:latin typeface="Helvetica Neue"/>
              </a:rPr>
              <a:t>Das ganze Glas — kVA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06324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Bier plus Schaum. So heisst die Zahl auf unseren Maschinen. Der Schaum braucht Platz — macht aber niemanden satt.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1605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BF5AF2"/>
                </a:solidFill>
                <a:latin typeface="Helvetica Neue"/>
              </a:rPr>
              <a:t>WIRKLEISTUNG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4805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5F5F7"/>
                </a:solidFill>
                <a:latin typeface="Helvetica Neue"/>
              </a:rPr>
              <a:t>Der trinkbare Teil — kW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02920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Was wirklich Arbeit leistet — Kran heben, Licht machen, Server laufen lassen. Das, was der Kunde will.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943600"/>
            <a:ext cx="11109960" cy="50292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035040"/>
            <a:ext cx="11109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kVA × cos φ = kW      ·      Faustregel: 100 kVA Glas ≈ 80 kW Bier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GRUNDLAGEN · 4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08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Warum es drei Kabel sind. Nicht eines.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3703320" cy="310896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A84FF"/>
                </a:solidFill>
                <a:latin typeface="Helvetica Neue"/>
              </a:rPr>
              <a:t>STROM SCHWINGT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 spc="-150">
                <a:solidFill>
                  <a:srgbClr val="F5F5F7"/>
                </a:solidFill>
                <a:latin typeface="Helvetica Neue"/>
              </a:rPr>
              <a:t>50 Hertz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Er fliesst nicht gerade durch, sondern wechselt 50-mal pro Sekunde die Richtung. Der Herzschlag des Netzes.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377440"/>
            <a:ext cx="3703320" cy="310896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743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BF5AF2"/>
                </a:solidFill>
                <a:latin typeface="Helvetica Neue"/>
              </a:rPr>
              <a:t>DREI PHASEN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15468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 spc="-150">
                <a:solidFill>
                  <a:srgbClr val="F5F5F7"/>
                </a:solidFill>
                <a:latin typeface="Helvetica Neue"/>
              </a:rPr>
              <a:t>Statt einer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438912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Drei Leitungen, zeitlich versetzt. Wie drei Personen, die abwechselnd in die Pedale treten — nie eine Lücke.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377440"/>
            <a:ext cx="3703320" cy="310896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743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30D158"/>
                </a:solidFill>
                <a:latin typeface="Helvetica Neue"/>
              </a:rPr>
              <a:t>SCHWEIZER WERTE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15468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 spc="-150">
                <a:solidFill>
                  <a:srgbClr val="F5F5F7"/>
                </a:solidFill>
                <a:latin typeface="Helvetica Neue"/>
              </a:rPr>
              <a:t>400 V · 230 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38912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400 V zwischen den Phasen für Maschinen und Kräne. 230 V für die Steckdose. Beides aus demselben Kabel.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AEAEB2"/>
                </a:solidFill>
                <a:latin typeface="Helvetica Neue"/>
              </a:rPr>
              <a:t>Für euch reicht: Drehstrom ist der Normalfall bei allem, was wir vermieten. «400 V» heisst genau das.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GRUNDLAGEN · 5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09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Am Netz — oder auf der Insel.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394960" cy="320040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A84FF"/>
                </a:solidFill>
                <a:latin typeface="Helvetica Neue"/>
              </a:rPr>
              <a:t>NETZBETRIEB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 spc="-80">
                <a:solidFill>
                  <a:srgbClr val="F5F5F7"/>
                </a:solidFill>
                <a:latin typeface="Helvetica Neue"/>
              </a:rPr>
              <a:t>Netzbetrieb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EAEB2"/>
                </a:solidFill>
                <a:latin typeface="Helvetica Neue"/>
              </a:rPr>
              <a:t>Bild: Der Rhein.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AEAEB2"/>
                </a:solidFill>
                <a:latin typeface="Helvetica Neue"/>
              </a:rPr>
              <a:t>Der Strom kommt vom EW. Das Netz ist riesig und träge. Springt eine grosse Maschine an, merkt es das Netz kaum.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2286000"/>
            <a:ext cx="5394960" cy="320040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2651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BF5AF2"/>
                </a:solidFill>
                <a:latin typeface="Helvetica Neue"/>
              </a:rPr>
              <a:t>INSELBETRIEB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30632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 spc="-80">
                <a:solidFill>
                  <a:srgbClr val="F5F5F7"/>
                </a:solidFill>
                <a:latin typeface="Helvetica Neue"/>
              </a:rPr>
              <a:t>Inselbetrieb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38404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EAEB2"/>
                </a:solidFill>
                <a:latin typeface="Helvetica Neue"/>
              </a:rPr>
              <a:t>Bild: Der Gartenteich.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4297680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AEAEB2"/>
                </a:solidFill>
                <a:latin typeface="Helvetica Neue"/>
              </a:rPr>
              <a:t>Unser Generator ist das Kraftwerk. Er macht Spannung und Frequenz selbst. Jede Last spürt er sofort.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AEAEB2"/>
                </a:solidFill>
                <a:latin typeface="Helvetica Neue"/>
              </a:rPr>
              <a:t>Deshalb ist unsere Arbeit anspruchsvoller als «Maschine hinstellen»: Auf der Insel muss die Anlage zur Last passen.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GRUNDLAGEN · 6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10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Sauberer Strom. Schmutziger Strom.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AEAEB2"/>
                </a:solidFill>
                <a:latin typeface="Helvetica Neue"/>
              </a:rPr>
              <a:t>Aus dem Wasserhahn kann klares Wasser kommen — oder Brühe mit Sand. Beides ist Wasser. Nur eines brauchbar. Beim Strom sieht man es dem Kabel nicht 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20440"/>
            <a:ext cx="5532120" cy="219456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30D158"/>
                </a:solidFill>
                <a:latin typeface="Helvetica Neue"/>
              </a:rPr>
              <a:t>SAUBER HEISST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5F5F7"/>
                </a:solidFill>
                <a:latin typeface="Helvetica Neue"/>
              </a:rPr>
              <a:t>·   Spannung bleibt stabil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5F5F7"/>
                </a:solidFill>
                <a:latin typeface="Helvetica Neue"/>
              </a:rPr>
              <a:t>·   Schwingung hat eine saubere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5F5F7"/>
                </a:solidFill>
                <a:latin typeface="Helvetica Neue"/>
              </a:rPr>
              <a:t>·   Frequenz stimmt und wackelt nicht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520440"/>
            <a:ext cx="5532120" cy="219456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840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9F0A"/>
                </a:solidFill>
                <a:latin typeface="Helvetica Neue"/>
              </a:rPr>
              <a:t>SCHMUTZIG HEISST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297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5F5F7"/>
                </a:solidFill>
                <a:latin typeface="Helvetica Neue"/>
              </a:rPr>
              <a:t>·   Steuerungen steigen ohne Grund aus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5F5F7"/>
                </a:solidFill>
                <a:latin typeface="Helvetica Neue"/>
              </a:rPr>
              <a:t>·   Motoren werden heiss und halten kürzer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0292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5F5F7"/>
                </a:solidFill>
                <a:latin typeface="Helvetica Neue"/>
              </a:rPr>
              <a:t>·   Server starten neu, LED flackert, Audio brummt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436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EAEB2"/>
                </a:solidFill>
                <a:latin typeface="Helvetica Neue"/>
              </a:rPr>
              <a:t>EN 50160 sagt, welche Qualität das Netz liefern muss.     IEC 61000-4-30 Klasse A sagt, wie man richtig misst.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DAS UNTERSCHEIDET 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11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 spc="-120">
                <a:solidFill>
                  <a:srgbClr val="F5F5F7"/>
                </a:solidFill>
                <a:latin typeface="Helvetica Neue"/>
              </a:rPr>
              <a:t>Jeder kann einen Generator hinstellen.</a:t>
            </a:r>
          </a:p>
          <a:p>
            <a:pPr algn="l">
              <a:lnSpc>
                <a:spcPct val="110000"/>
              </a:lnSpc>
            </a:pPr>
            <a:r>
              <a:rPr sz="4200" b="1" i="0" spc="-120">
                <a:solidFill>
                  <a:srgbClr val="F5F5F7"/>
                </a:solidFill>
                <a:latin typeface="Helvetica Neue"/>
              </a:rPr>
              <a:t>Wir beweisen schwarz auf weiss, dass der Strom sauber war.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A84FF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5F5F7"/>
                </a:solidFill>
                <a:latin typeface="Helvetica Neue"/>
              </a:rPr>
              <a:t>Messgerät der höchsten Klasse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Zertifiziert vom eidgenössischen Institut für Metrologie. Kein Bastelgerät.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1148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3891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A84FF"/>
                </a:solidFill>
                <a:latin typeface="Helvetica Neu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47091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5F5F7"/>
                </a:solidFill>
                <a:latin typeface="Helvetica Neue"/>
              </a:rPr>
              <a:t>Immer dabei, nie ein Aufpreis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51663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Bei jedem Stromauftrag Standard. Nicht als Option, die man wegverhandelt.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1148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43891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A84FF"/>
                </a:solidFill>
                <a:latin typeface="Helvetica Neue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7091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5F5F7"/>
                </a:solidFill>
                <a:latin typeface="Helvetica Neue"/>
              </a:rPr>
              <a:t>Ein Bericht, den man vorzeigen kann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51663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Ein Dokument für Auditor, Versicherung oder Geschäftsleitung.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A84FF"/>
                </a:solidFill>
                <a:latin typeface="Helvetica Neue"/>
              </a:rPr>
              <a:t>Kein anderer mobiler Stromvermieter in der Schweiz bietet das im Standardumfang. Unser stärkstes Argument.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KAPITEL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12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0" b="1" i="0" spc="-1000">
                <a:solidFill>
                  <a:srgbClr val="F5F5F7"/>
                </a:solidFill>
                <a:latin typeface="Helvetica Neue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2377440"/>
            <a:ext cx="54864" cy="237744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2860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00">
                <a:solidFill>
                  <a:srgbClr val="F5F5F7"/>
                </a:solidFill>
                <a:latin typeface="Helvetica Neue"/>
              </a:rPr>
              <a:t>Zielgruppen &amp; Einsatzgebiete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65760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AEAEB2"/>
                </a:solidFill>
                <a:latin typeface="Helvetica Neue"/>
              </a:rPr>
              <a:t>Wer bei uns anruft, warum er anruft und was ihn nachts wach hält.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ZIELGRUPPEN · 1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13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Es gibt nur drei Gründe für einen Anruf.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3703320" cy="320040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 spc="-300">
                <a:solidFill>
                  <a:srgbClr val="0A84FF"/>
                </a:solidFill>
                <a:latin typeface="Helvetica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7764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5F5F7"/>
                </a:solidFill>
                <a:latin typeface="Helvetica Neue"/>
              </a:rPr>
              <a:t>Es gibt hier gar keinen Strom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AEAEB2"/>
                </a:solidFill>
                <a:latin typeface="Helvetica Neue"/>
              </a:rPr>
              <a:t>Baustelle auf der grünen Wiese, Festival auf der Alp, Tunnel, abgelegene Anlage. Keine Steckdose 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377440"/>
            <a:ext cx="3703320" cy="320040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74320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 spc="-300">
                <a:solidFill>
                  <a:srgbClr val="BF5AF2"/>
                </a:solidFill>
                <a:latin typeface="Helvetica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97764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5F5F7"/>
                </a:solidFill>
                <a:latin typeface="Helvetica Neue"/>
              </a:rPr>
              <a:t>Es gibt zu wenig Strom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84632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AEAEB2"/>
                </a:solidFill>
                <a:latin typeface="Helvetica Neue"/>
              </a:rPr>
              <a:t>Der Anschluss reicht nicht: Umbau, zusätzliche Maschine, Spitzenlast im Winter, Erweiterung.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377440"/>
            <a:ext cx="3703320" cy="320040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74320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 spc="-300">
                <a:solidFill>
                  <a:srgbClr val="30D158"/>
                </a:solidFill>
                <a:latin typeface="Helvetica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97764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5F5F7"/>
                </a:solidFill>
                <a:latin typeface="Helvetica Neue"/>
              </a:rPr>
              <a:t>Der Strom darf nie ausfallen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84632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AEAEB2"/>
                </a:solidFill>
                <a:latin typeface="Helvetica Neue"/>
              </a:rPr>
              <a:t>Spital, Rechenzentrum, laufende Produktion. Hier geht es um Existenzsicherung.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EAEB2"/>
                </a:solidFill>
                <a:latin typeface="Helvetica Neue"/>
              </a:rPr>
              <a:t>Grund 1 und 2 sind Termindruck. Grund 3 ist Angst. Beides verkauft — aber man spricht anders darüber.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ZIELGRUPPEN · 2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14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Wer bei uns anruft.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560320"/>
            <a:ext cx="164592" cy="164592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7"/>
                </a:solidFill>
                <a:latin typeface="Helvetica Neue"/>
              </a:rPr>
              <a:t>Bau &amp; Infrastruktur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EAEB2"/>
                </a:solidFill>
                <a:latin typeface="Helvetica Neue"/>
              </a:rPr>
              <a:t>Baustrom, Kran, Trocknung, Beleuchtung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560320"/>
            <a:ext cx="164592" cy="164592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8803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7"/>
                </a:solidFill>
                <a:latin typeface="Helvetica Neue"/>
              </a:rPr>
              <a:t>Events &amp; Festivals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3832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EAEB2"/>
                </a:solidFill>
                <a:latin typeface="Helvetica Neue"/>
              </a:rPr>
              <a:t>Bühne, Licht, Ton, Gastronomie, Camping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9456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95360" y="2560320"/>
            <a:ext cx="164592" cy="164592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8803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7"/>
                </a:solidFill>
                <a:latin typeface="Helvetica Neue"/>
              </a:rPr>
              <a:t>Industrie &amp; Produktion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3832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EAEB2"/>
                </a:solidFill>
                <a:latin typeface="Helvetica Neue"/>
              </a:rPr>
              <a:t>Umbau, Wartung, Spitzenlast, Ausfallschutz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389120"/>
            <a:ext cx="164592" cy="164592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091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7"/>
                </a:solidFill>
                <a:latin typeface="Helvetica Neue"/>
              </a:rPr>
              <a:t>Rechenzentren &amp; Telecom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EAEB2"/>
                </a:solidFill>
                <a:latin typeface="Helvetica Neue"/>
              </a:rPr>
              <a:t>Test vor Inbetriebnahme, Überbrückung, Wartung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02336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54880" y="4389120"/>
            <a:ext cx="164592" cy="164592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47091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7"/>
                </a:solidFill>
                <a:latin typeface="Helvetica Neue"/>
              </a:rPr>
              <a:t>Spitäler &amp; kritische Infrastruktur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2120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EAEB2"/>
                </a:solidFill>
                <a:latin typeface="Helvetica Neue"/>
              </a:rPr>
              <a:t>Gesetzlich vorgeschriebene Notversorgung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02336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95360" y="4389120"/>
            <a:ext cx="164592" cy="164592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7091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7"/>
                </a:solidFill>
                <a:latin typeface="Helvetica Neue"/>
              </a:rPr>
              <a:t>Städte, Gemeinden, EVU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2120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EAEB2"/>
                </a:solidFill>
                <a:latin typeface="Helvetica Neue"/>
              </a:rPr>
              <a:t>Netzarbeiten, Anlässe, Blackout-Vorsorge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A84FF"/>
                </a:solidFill>
                <a:latin typeface="Helvetica Neue"/>
              </a:rPr>
              <a:t>Dazu der wichtigste Kanal überhaupt: unsere eigenen Wärme- und Kältekunden. Gleich mehr.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ZIELGRUPPEN · 3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15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Was den Kunden nachts wach hält.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8E8E93"/>
                </a:solidFill>
                <a:latin typeface="Helvetica Neue"/>
              </a:rPr>
              <a:t>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3774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8E8E93"/>
                </a:solidFill>
                <a:latin typeface="Helvetica Neue"/>
              </a:rPr>
              <a:t>SEIN ALBTRAUM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3774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A84FF"/>
                </a:solidFill>
                <a:latin typeface="Helvetica Neue"/>
              </a:rPr>
              <a:t>UNSERE ANTWORT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74320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90779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7"/>
                </a:solidFill>
                <a:latin typeface="Helvetica Neue"/>
              </a:rPr>
              <a:t>Baustelle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926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AEAEB2"/>
                </a:solidFill>
                <a:latin typeface="Helvetica Neue"/>
              </a:rPr>
              <a:t>Kran steht still, Termin platzt, Vertragsstrafe droht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926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0A84FF"/>
                </a:solidFill>
                <a:latin typeface="Helvetica Neue"/>
              </a:rPr>
              <a:t>Am Montag um sieben läuft alles.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38328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354787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7"/>
                </a:solidFill>
                <a:latin typeface="Helvetica Neue"/>
              </a:rPr>
              <a:t>Festival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661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AEAEB2"/>
                </a:solidFill>
                <a:latin typeface="Helvetica Neue"/>
              </a:rPr>
              <a:t>Die Bühne fällt aus, 20 000 Leute im Dunkeln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5661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0A84FF"/>
                </a:solidFill>
                <a:latin typeface="Helvetica Neue"/>
              </a:rPr>
              <a:t>Kritische Zonen bekommen ihre eigene Maschine.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402336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41879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7"/>
                </a:solidFill>
                <a:latin typeface="Helvetica Neue"/>
              </a:rPr>
              <a:t>Industrie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206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AEAEB2"/>
                </a:solidFill>
                <a:latin typeface="Helvetica Neue"/>
              </a:rPr>
              <a:t>Produktion steht, jede Stunde kostet fünfstellig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20624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0A84FF"/>
                </a:solidFill>
                <a:latin typeface="Helvetica Neue"/>
              </a:rPr>
              <a:t>Umschaltung ohne Produktionsstopp.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66344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482803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7"/>
                </a:solidFill>
                <a:latin typeface="Helvetica Neue"/>
              </a:rPr>
              <a:t>Rechenzentrum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846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AEAEB2"/>
                </a:solidFill>
                <a:latin typeface="Helvetica Neue"/>
              </a:rPr>
              <a:t>Server fallen aus, Kundenverträge werden gebrochen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8463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0A84FF"/>
                </a:solidFill>
                <a:latin typeface="Helvetica Neue"/>
              </a:rPr>
              <a:t>Keine einzige Millisekunde Lücke.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530352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546811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7"/>
                </a:solidFill>
                <a:latin typeface="Helvetica Neue"/>
              </a:rPr>
              <a:t>Spital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486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AEAEB2"/>
                </a:solidFill>
                <a:latin typeface="Helvetica Neue"/>
              </a:rPr>
              <a:t>Gesetzliche Pflicht, Behörde und Haftung im Nacken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4864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0A84FF"/>
                </a:solidFill>
                <a:latin typeface="Helvetica Neue"/>
              </a:rPr>
              <a:t>Prüfung normkonform und dokumentiert.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94360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AEAEB2"/>
                </a:solidFill>
                <a:latin typeface="Helvetica Neue"/>
              </a:rPr>
              <a:t>Reihenfolge in jedem Text: erst den Schmerz benennen, dann die Lösung. Nie umgekehrt.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ZIELGRUPPEN · 4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16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Grössenordnungen zum Anfassen.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37744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309360" y="2724912"/>
            <a:ext cx="5486400" cy="164592"/>
          </a:xfrm>
          <a:prstGeom prst="roundRect">
            <a:avLst>
              <a:gd name="adj" fmla="val 50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2724912"/>
            <a:ext cx="2095084" cy="164592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spc="-50">
                <a:solidFill>
                  <a:srgbClr val="F5F5F7"/>
                </a:solidFill>
                <a:latin typeface="Helvetica Neue"/>
              </a:rPr>
              <a:t>17 kVA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67004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Ein Einfamilienhaus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081528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9360" y="3383280"/>
            <a:ext cx="5486400" cy="164592"/>
          </a:xfrm>
          <a:prstGeom prst="roundRect">
            <a:avLst>
              <a:gd name="adj" fmla="val 50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3383280"/>
            <a:ext cx="2824145" cy="164592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1868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spc="-50">
                <a:solidFill>
                  <a:srgbClr val="F5F5F7"/>
                </a:solidFill>
                <a:latin typeface="Helvetica Neue"/>
              </a:rPr>
              <a:t>60 kVA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328416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Kleine Baustelle, Marktareal, Quartierfest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739896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9360" y="4041648"/>
            <a:ext cx="5486400" cy="164592"/>
          </a:xfrm>
          <a:prstGeom prst="roundRect">
            <a:avLst>
              <a:gd name="adj" fmla="val 50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4041648"/>
            <a:ext cx="3754563" cy="164592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77056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spc="-50">
                <a:solidFill>
                  <a:srgbClr val="F5F5F7"/>
                </a:solidFill>
                <a:latin typeface="Helvetica Neue"/>
              </a:rPr>
              <a:t>300 kVA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98678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Baustelle mit Kran und Bautrocknung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398264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4700016"/>
            <a:ext cx="5486400" cy="164592"/>
          </a:xfrm>
          <a:prstGeom prst="roundRect">
            <a:avLst>
              <a:gd name="adj" fmla="val 50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4700016"/>
            <a:ext cx="4450581" cy="164592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35424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spc="-50">
                <a:solidFill>
                  <a:srgbClr val="F5F5F7"/>
                </a:solidFill>
                <a:latin typeface="Helvetica Neue"/>
              </a:rPr>
              <a:t>1 000 kVA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64515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Grosses Open-Air-Areal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5056632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09360" y="5358384"/>
            <a:ext cx="5486400" cy="164592"/>
          </a:xfrm>
          <a:prstGeom prst="roundRect">
            <a:avLst>
              <a:gd name="adj" fmla="val 50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09360" y="5358384"/>
            <a:ext cx="5486400" cy="164592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19379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spc="-50">
                <a:solidFill>
                  <a:srgbClr val="F5F5F7"/>
                </a:solidFill>
                <a:latin typeface="Helvetica Neue"/>
              </a:rPr>
              <a:t>6 000 kVA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53035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Belastungstest eines Rechenzentrums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571500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FF9F0A"/>
                </a:solidFill>
                <a:latin typeface="Helvetica Neue"/>
              </a:rPr>
              <a:t>Grobe Faustzahlen für ein Gefühl. Nicht für ein Angebot. Die richtige Grösse rechnet immer ein Ingenieur.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ZIELGRUPPEN · 5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17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Der günstigste Kunde ist der, den wir schon haben.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394960" cy="23774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A84FF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5F5F7"/>
                </a:solidFill>
                <a:latin typeface="Helvetica Neue"/>
              </a:rPr>
              <a:t>Was wir schon haben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4480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Hunderte Kunden vertrauen uns bei Wärme und Kälte. Sie kennen unsere Leute und wissen: Wir liefern, wenn es eilt.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2286000"/>
            <a:ext cx="5394960" cy="23774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2651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BF5AF2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301752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5F5F7"/>
                </a:solidFill>
                <a:latin typeface="Helvetica Neue"/>
              </a:rPr>
              <a:t>Was daraus wird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3657600"/>
            <a:ext cx="4480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Jeder dieser Kunden ist ein warmer Kontakt für Strom. Kein Kaltanruf. Kein Vertrauensaufbau von null. Keine neue Freigabe.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37760"/>
            <a:ext cx="11109960" cy="123444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A84FF"/>
                </a:solidFill>
                <a:latin typeface="Helvetica Neue"/>
              </a:rPr>
              <a:t>DER SATZ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5F5F7"/>
                </a:solidFill>
                <a:latin typeface="Helvetica Neue"/>
              </a:rPr>
              <a:t>«Ihr kennt uns für Wärme und Kälte. Jetzt gibt es auch den Strom dazu. Eine Nummer, ein Ansprechpartner, eine Rechnung.»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KAPITEL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18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0" b="1" i="0" spc="-1000">
                <a:solidFill>
                  <a:srgbClr val="F5F5F7"/>
                </a:solidFill>
                <a:latin typeface="Helvetica Neue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2377440"/>
            <a:ext cx="54864" cy="237744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2860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00">
                <a:solidFill>
                  <a:srgbClr val="F5F5F7"/>
                </a:solidFill>
                <a:latin typeface="Helvetica Neue"/>
              </a:rPr>
              <a:t>Anlagentypen &amp; Unterschiede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65760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AEAEB2"/>
                </a:solidFill>
                <a:latin typeface="Helvetica Neue"/>
              </a:rPr>
              <a:t>Sechs Bausteine. Mehr gibt es nicht. Jeder hat genau eine Aufgabe.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ANLAGENTYPEN · ÜBERBLICK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19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Sechs Bausteine. Mehr gibt es nicht.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65176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670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AEAEB2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5F5F7"/>
                </a:solidFill>
                <a:latin typeface="Helvetica Neue"/>
              </a:rPr>
              <a:t>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Kraftwerk auf Rädern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860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0" y="265176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670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AEAEB2"/>
                </a:solidFill>
                <a:latin typeface="Helvetica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1089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5F5F7"/>
                </a:solidFill>
                <a:latin typeface="Helvetica Neue"/>
              </a:rPr>
              <a:t>Batteriespeicher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Riesige Powerbank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2860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95360" y="265176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670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AEAEB2"/>
                </a:solidFill>
                <a:latin typeface="Helvetica Neu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1089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5F5F7"/>
                </a:solidFill>
                <a:latin typeface="Helvetica Neue"/>
              </a:rPr>
              <a:t>Hybrid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Beides kombiniert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148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448056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4988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AEAEB2"/>
                </a:solidFill>
                <a:latin typeface="Helvetica Neue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377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5F5F7"/>
                </a:solidFill>
                <a:latin typeface="Helvetica Neue"/>
              </a:rPr>
              <a:t>USV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Der Fallschirm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1148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0" y="448056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44988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AEAEB2"/>
                </a:solidFill>
                <a:latin typeface="Helvetica Neue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9377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5F5F7"/>
                </a:solidFill>
                <a:latin typeface="Helvetica Neue"/>
              </a:rPr>
              <a:t>Transformator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53492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Der Übersetzer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1148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95360" y="448056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44988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AEAEB2"/>
                </a:solidFill>
                <a:latin typeface="Helvetica Neue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9377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5F5F7"/>
                </a:solidFill>
                <a:latin typeface="Helvetica Neue"/>
              </a:rPr>
              <a:t>Verteilung &amp; Kabel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53492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EAEB2"/>
                </a:solidFill>
                <a:latin typeface="Helvetica Neue"/>
              </a:rPr>
              <a:t>Die Steckdosenleiste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AEAEB2"/>
                </a:solidFill>
                <a:latin typeface="Helvetica Neue"/>
              </a:rPr>
              <a:t>Plus ein Sonderfall: die Lastbank. Am Ende dieses Blocks.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ANLAGENTYPEN · 1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20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Generator — das Kraftwerk auf Rädern.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AEAEB2"/>
                </a:solidFill>
                <a:latin typeface="Helvetica Neue"/>
              </a:rPr>
              <a:t>Ein Dieselmotor treibt einen Stromerzeuger an. Rein Treibstoff, raus Strom.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Wofür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Über Stunden, Wochen, Monate. Das Arbeitspferd — rund 80 % unserer Aufträge.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Was zu wissen 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Braucht Treibstoff, macht Geräusch, macht Abgase, braucht Platz und Zufahrt.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Stage 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Strengste EU-Abgasnorm für solche Motoren. In Städten zunehmend Pflicht.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HVO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Treibstoff aus Rest- und Abfallstoffen statt Erdöl. Gleiche Leistung, deutlich weniger CO₂.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A84FF"/>
                </a:solidFill>
                <a:latin typeface="Helvetica Neue"/>
              </a:rPr>
              <a:t>Stage V betrifft den Motor. HVO den Treibstoff. Beides zusammen ist die sauberste Variante.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ANLAGENTYPEN · 2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21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Batteriespeicher — die riesige Powerbank.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AEAEB2"/>
                </a:solidFill>
                <a:latin typeface="Helvetica Neue"/>
              </a:rPr>
              <a:t>Ein grosser Akku im Container. Wird geladen, gibt Strom ab. Fachbegriff: BESS.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Stärken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Absolut leise, keine Abgase, keine Vibration. Reagiert in Millisekunden.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Die Grenze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Er hat ein Ende. Ist er leer, ist er leer. Für tagelangen Dauerbetrieb allein nicht wirtschaftlich.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Wofür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Nachtbetrieb, Innenräume, kurze Überbrückung, Abfangen von Lastspitzen.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Für Texte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Unsere sichtbarste Nachhaltigkeitsgeschichte. Leise und emissionsfrei versteht jeder.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A84FF"/>
                </a:solidFill>
                <a:latin typeface="Helvetica Neue"/>
              </a:rPr>
              <a:t>Ehrlich bleiben: Batterie ersetzt keinen Generator über Wochen. Wer das behauptet, wird zerlegt.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ANLAGENTYPEN · 3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22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Hybrid — das Beste aus beidem.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AEAEB2"/>
                </a:solidFill>
                <a:latin typeface="Helvetica Neue"/>
              </a:rPr>
              <a:t>Generator und Batterie arbeiten zusammen. Sie teilen sich die Schicht.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Wie es funktioniert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Batterie übernimmt die ruhigen Stunden. Wird mehr gebraucht, springt der Generator an und lädt gleich mit.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Das Ergebnis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Weniger Motorlaufstunden, weniger Treibstoff, weniger Abgase. Nachts ist es still.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Typischer Einsatz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Baustellen im Wohngebiet, Festivals mit Nachtruhe, Projekte mit Öko-Auflagen.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Für Texte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Unsere beste Nachhaltigkeitsstory — mit echten Zahlen dahinter, nicht nur grüner Farbe.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A84FF"/>
                </a:solidFill>
                <a:latin typeface="Helvetica Neue"/>
              </a:rPr>
              <a:t>Wenn eine Ausschreibung von Lärm- oder CO₂-Auflagen spricht: Hybrid ist fast immer die Antwort.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22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ANLAGENTYPEN · 4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23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USV — der Fallschirm.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AEAEB2"/>
                </a:solidFill>
                <a:latin typeface="Helvetica Neue"/>
              </a:rPr>
              <a:t>Ein Generator braucht 10–15 s zum Hochlaufen. Für einen Server ist das eine Ewigkeit.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Was sie macht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Hängt dauerhaft zwischen Netz und Verbraucher. Überbrückt völlig unterbrechungsfrei. Null Lücke.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Das Bild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Ein Fallschirm. Immer dabei, meistens nutzlos. An dem einen Tag ist er alles.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Wofür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Rechenzentren, Serverräume, medizinische Geräte, Steuerungen — überall wo Neustart teuer ist.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Für Texte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Nicht über die Technik schreiben — über die Folge: kein Datenverlust, kein Produktionsabbruch.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23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ANLAGENTYPEN · 5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24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Transformator — der Übersetzer.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AEAEB2"/>
                </a:solidFill>
                <a:latin typeface="Helvetica Neue"/>
              </a:rPr>
              <a:t>Das Netz liefert Mittelspannung, z.B. 16 000 V. Maschinen wollen 400 V. Der Trafo übersetzt.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Wie er arbeitet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Keine Elektronik, keine beweglichen Teile. Nur Kupfer und Eisen. Extrem zuverlässig.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Wofür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Grosse Baustellen, Industrieareale, Rechenzentren, Netzarbeiten — überall wo Mittelspannung anliegt.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Warum wichtig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Ohne Trafo kein Zugang zu grossen Leistungen. Ab ~1 MW geht praktisch nichts ohne.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Für Texte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Unspektakulär, aber mit Hebelwirkung. Nicht ins Zentrum stellen — nie vergessen zu erwähnen.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A84FF"/>
                </a:solidFill>
                <a:latin typeface="Helvetica Neue"/>
              </a:rPr>
              <a:t>Achtung: Mittelspannung ist Lebensgefahr. Daran arbeitet ausschliesslich speziell ausgebildetes Personal.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ANLAGENTYPEN · 6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25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Verteilung &amp; Kabel — die Steckdosenleiste.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AEAEB2"/>
                </a:solidFill>
                <a:latin typeface="Helvetica Neue"/>
              </a:rPr>
              <a:t>Aus einem dicken Kabel werden viele kleine. Verteiler, Kabel, Steckverbindungen.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Klingt banal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Ist es nicht. Der Kabelweg entscheidet oft über Preis und Machbarkeit.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Kostentreiber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200 m Kabel können mehr kosten als der halbe Generator. Je länger, desto dicker.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Die eine Frage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Wie weit ist es vom Aufstellort bis zum Verbraucher? Diese Antwort spart uns Stunden.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Für Texte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Der unsichtbare Teil unserer Leistung. In Referenzstories sichtbar machen.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ANLAGENTYPEN · 7 VON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26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Lastbank — der Hometrainer.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AEAEB2"/>
                </a:solidFill>
                <a:latin typeface="Helvetica Neue"/>
              </a:rPr>
              <a:t>Eine Maschine, die Strom in Wärme umwandelt. Sie tut so, als wäre sie ein echter Verbraucher.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Wofür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Notstromanlage oder neues Rechenzentrum unter Volllast testen — bevor echte Kunden dranhängen.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Zweiter Zweck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Generatoren, die zu wenig zu tun haben, verrussen. Die Lastbank hält sie gesund.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Warum wichtig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Unser Türöffner in den Rechenzentrumsmarkt. Wer den Test macht, ist beim nächsten Projekt schon im Haus.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Für Texte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Erklärungsbedürftig. Am besten über die Frage: Woher weisst du, dass dein Notstrom wirklich funktioniert?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ANLAGENTYPEN · ZUSAMMENFASSUNG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27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Wann was: die Kurzfassung.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37744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51460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5F5F7"/>
                </a:solidFill>
                <a:latin typeface="Helvetica Neue"/>
              </a:rPr>
              <a:t>Strom über Wochen, egal wo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679192"/>
            <a:ext cx="548640" cy="27432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5146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84FF"/>
                </a:solidFill>
                <a:latin typeface="Helvetica Neue"/>
              </a:rPr>
              <a:t>Generator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944368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081528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5F5F7"/>
                </a:solidFill>
                <a:latin typeface="Helvetica Neue"/>
              </a:rPr>
              <a:t>Tagsüber Vollgas, nachts still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246120"/>
            <a:ext cx="548640" cy="27432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08152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BF5AF2"/>
                </a:solidFill>
                <a:latin typeface="Helvetica Neue"/>
              </a:rPr>
              <a:t>Hybrid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3511296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648456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5F5F7"/>
                </a:solidFill>
                <a:latin typeface="Helvetica Neue"/>
              </a:rPr>
              <a:t>Kurz, leise, drinnen oder im Wohngebiet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813048"/>
            <a:ext cx="548640" cy="27432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648456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0D158"/>
                </a:solidFill>
                <a:latin typeface="Helvetica Neue"/>
              </a:rPr>
              <a:t>Batteriespeicher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4078224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4215384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5F5F7"/>
                </a:solidFill>
                <a:latin typeface="Helvetica Neue"/>
              </a:rPr>
              <a:t>Keine einzige Millisekunde Lücke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379976"/>
            <a:ext cx="548640" cy="27432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215384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9F0A"/>
                </a:solidFill>
                <a:latin typeface="Helvetica Neue"/>
              </a:rPr>
              <a:t>USV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4645152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4782312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5F5F7"/>
                </a:solidFill>
                <a:latin typeface="Helvetica Neue"/>
              </a:rPr>
              <a:t>Die Spannung passt nicht zusammen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4946904"/>
            <a:ext cx="548640" cy="27432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78231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84FF"/>
                </a:solidFill>
                <a:latin typeface="Helvetica Neue"/>
              </a:rPr>
              <a:t>Transformator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521208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534924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5F5F7"/>
                </a:solidFill>
                <a:latin typeface="Helvetica Neue"/>
              </a:rPr>
              <a:t>Anlage testen, bevor sie scharf geht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5513832"/>
            <a:ext cx="548640" cy="27432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53492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BF5AF2"/>
                </a:solidFill>
                <a:latin typeface="Helvetica Neue"/>
              </a:rPr>
              <a:t>Lastbank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5779008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AEAEB2"/>
                </a:solidFill>
                <a:latin typeface="Helvetica Neue"/>
              </a:rPr>
              <a:t>In der Praxis ist es fast immer eine Kombination. Genau das ist unsere Arbeit.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27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KAPITEL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28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0" b="1" i="0" spc="-1000">
                <a:solidFill>
                  <a:srgbClr val="F5F5F7"/>
                </a:solidFill>
                <a:latin typeface="Helvetica Neue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2377440"/>
            <a:ext cx="54864" cy="237744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2860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00">
                <a:solidFill>
                  <a:srgbClr val="F5F5F7"/>
                </a:solidFill>
                <a:latin typeface="Helvetica Neue"/>
              </a:rPr>
              <a:t>Aufstellung auf der Baustelle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65760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AEAEB2"/>
                </a:solidFill>
                <a:latin typeface="Helvetica Neue"/>
              </a:rPr>
              <a:t>Wo die Maschine steht, entscheidet über Kosten, Termin und Bewilligung.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28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BAUSTELLE · 1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29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Sechs Fragen vor jeder Aufstellung.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0A84FF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7"/>
                </a:solidFill>
                <a:latin typeface="Helvetica Neue"/>
              </a:rPr>
              <a:t>Kommt der Lastwagen hin?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Zufahrt, Engstellen, Torbreite, Tragfähigkeit. Kran nötig?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606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0A84FF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7180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7"/>
                </a:solidFill>
                <a:latin typeface="Helvetica Neue"/>
              </a:rPr>
              <a:t>Hält der Boden?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4747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Ein grosses Aggregat wiegt Tonnen. Kein Schlamm, kein Rasen, keine Tiefgarage.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2860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606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0A84FF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97180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7"/>
                </a:solidFill>
                <a:latin typeface="Helvetica Neue"/>
              </a:rPr>
              <a:t>Ist genug Platz?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4747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Nicht nur die Maschine — rundherum Platz für Arbeit und freie Luft.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0A84FF"/>
                </a:solidFill>
                <a:latin typeface="Helvetica Neue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7"/>
                </a:solidFill>
                <a:latin typeface="Helvetica Neue"/>
              </a:rPr>
              <a:t>Wie weit zum Verbraucher?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Der Kabelweg. Je länger, desto teurer, desto dicker. Immer in Metern.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1148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4348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0A84FF"/>
                </a:solidFill>
                <a:latin typeface="Helvetica Neue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80060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7"/>
                </a:solidFill>
                <a:latin typeface="Helvetica Neue"/>
              </a:rPr>
              <a:t>Wer ist der Nachbar?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3035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Lärm und Abgase. Wohnhaus in 20 m verändert die ganze Lösung.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114800"/>
            <a:ext cx="3703320" cy="169164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44348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0A84FF"/>
                </a:solidFill>
                <a:latin typeface="Helvetica Neue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80060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F5F7"/>
                </a:solidFill>
                <a:latin typeface="Helvetica Neue"/>
              </a:rPr>
              <a:t>Wo steht der Tank?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3035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Menge, Auffangwanne, Zufahrt für den Tankwagen, Abstand zu Gewässern.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A84FF"/>
                </a:solidFill>
                <a:latin typeface="Helvetica Neue"/>
              </a:rPr>
              <a:t>Zwei Minuten am Telefon. Ganze Tage später gespart.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BAUSTELLE · 2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30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Lärm und Abgase — die häufigsten Stolpersteine.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394960" cy="320040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A84FF"/>
                </a:solidFill>
                <a:latin typeface="Helvetica Neue"/>
              </a:rPr>
              <a:t>LÄRM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 spc="-200">
                <a:solidFill>
                  <a:srgbClr val="F5F5F7"/>
                </a:solidFill>
                <a:latin typeface="Helvetica Neue"/>
              </a:rPr>
              <a:t>≈ 70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EAEB2"/>
                </a:solidFill>
                <a:latin typeface="Helvetica Neue"/>
              </a:rPr>
              <a:t>in 7 m Abstand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389120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AEAEB2"/>
                </a:solidFill>
                <a:latin typeface="Helvetica Neue"/>
              </a:rPr>
              <a:t>Ein modernes gekapseltes Aggregat — etwa wie ein Staubsauger im Nebenzimmer. Doppelter Abstand = deutlich leiser.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E8E93"/>
                </a:solidFill>
                <a:latin typeface="Helvetica Neue"/>
              </a:rPr>
              <a:t>Regelwerk:  Lärmschutz-Verordnung (LSV)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2194560"/>
            <a:ext cx="5394960" cy="320040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2514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BF5AF2"/>
                </a:solidFill>
                <a:latin typeface="Helvetica Neue"/>
              </a:rPr>
              <a:t>ABGASE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288036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 spc="-200">
                <a:solidFill>
                  <a:srgbClr val="F5F5F7"/>
                </a:solidFill>
                <a:latin typeface="Helvetica Neue"/>
              </a:rPr>
              <a:t>Stage 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4023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EAEB2"/>
                </a:solidFill>
                <a:latin typeface="Helvetica Neue"/>
              </a:rPr>
              <a:t>strengste Stufe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4389120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AEAEB2"/>
                </a:solidFill>
                <a:latin typeface="Helvetica Neue"/>
              </a:rPr>
              <a:t>In Städten, bei öffentlichen Bauherren und in Wohnquartieren zunehmend Pflicht. Wer nicht liefert, ist draussen.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E8E93"/>
                </a:solidFill>
                <a:latin typeface="Helvetica Neue"/>
              </a:rPr>
              <a:t>Regelwerk:  Luftreinhalte-Verordnung (LRV)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235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F9F0A"/>
                </a:solidFill>
                <a:latin typeface="Helvetica Neue"/>
              </a:rPr>
              <a:t>«72 dB» sagt nichts. «72 dB in 7 m» ist eine Aussage. Ohne Abstand keine Zahl.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30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BAUSTELLE · 3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31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Treibstoff — mehr Regelwerk als erwartet.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AEAEB2"/>
                </a:solidFill>
                <a:latin typeface="Helvetica Neue"/>
              </a:rPr>
              <a:t>Tanks sind doppelwandig, Überfüllsicherung, Auffangwanne. Kein Extra — Gesetz.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Doppelwandig &amp; aufgefangen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Doppelwandiger Tank, Überfüllsicherung, Auffangwanne. Nicht optional.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Gewässerschutz ist ernst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Bei Ölunfall haftet auch die Person vor Ort persönlich — nicht nur die Firma.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Autonomie planen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Wie viele Stunden ohne Nachtanken? Daraus ergibt sich Tankgrösse und Rhythmus.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Für Marketing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Tankservice und Gewässerschutz sind ein Verkaufsargument. Kunde kümmert sich um nichts.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31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BAUSTELLE · 4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32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Sicherheit auf dem Platz.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AEAEB2"/>
                </a:solidFill>
                <a:latin typeface="Helvetica Neue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Absperrung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Niemand steht ungeschützt neben der Anlage. Heisse Teile, drehende Teile, Spannung.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Feuerlöscher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Griffbereit, geprüft, für jeden erreichbar. Fluchtwege bleiben frei.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Erdung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Verbindung in den Boden. Im Fehlerfall löst der Schutzschalter aus — nicht ein Mensch.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Nur Fachpersonal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Anschluss und Inbetriebnahme immer durch ausgebildete Fachperson.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A84FF"/>
                </a:solidFill>
                <a:latin typeface="Helvetica Neue"/>
              </a:rPr>
              <a:t>Bei Fotos für Social Media prüfen: Absperrung sichtbar, Helm auf, keine offenen Schaltschränke im Bild.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BAUSTELLE · 5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33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So läuft ein Auftrag ab.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51560.0" y="3108960"/>
            <a:ext cx="10104120.0" cy="0"/>
          </a:xfrm>
          <a:prstGeom prst="line">
            <a:avLst/>
          </a:prstGeom>
          <a:ln w="12700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0" y="2788920"/>
            <a:ext cx="640080" cy="64008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7121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5F5F7"/>
                </a:solidFill>
                <a:latin typeface="Helvetica Neue"/>
              </a:rPr>
              <a:t>Anfrage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AEAEB2"/>
                </a:solidFill>
                <a:latin typeface="Helvetica Neue"/>
              </a:rPr>
              <a:t>Kunde meldet sich, Eckdaten erfasst</a:t>
            </a:r>
          </a:p>
        </p:txBody>
      </p:sp>
      <p:sp>
        <p:nvSpPr>
          <p:cNvPr id="11" name="Oval 10"/>
          <p:cNvSpPr/>
          <p:nvPr/>
        </p:nvSpPr>
        <p:spPr>
          <a:xfrm>
            <a:off x="2971800" y="2788920"/>
            <a:ext cx="640080" cy="64008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87121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5F5F7"/>
                </a:solidFill>
                <a:latin typeface="Helvetica Neue"/>
              </a:rPr>
              <a:t>Klärung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0233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AEAEB2"/>
                </a:solidFill>
                <a:latin typeface="Helvetica Neue"/>
              </a:rPr>
              <a:t>Rückfragen, oft ein Vor-Ort-Termin</a:t>
            </a:r>
          </a:p>
        </p:txBody>
      </p:sp>
      <p:sp>
        <p:nvSpPr>
          <p:cNvPr id="15" name="Oval 14"/>
          <p:cNvSpPr/>
          <p:nvPr/>
        </p:nvSpPr>
        <p:spPr>
          <a:xfrm>
            <a:off x="4846320" y="2788920"/>
            <a:ext cx="640080" cy="64008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87121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5F5F7"/>
                </a:solidFill>
                <a:latin typeface="Helvetica Neue"/>
              </a:rPr>
              <a:t>Auslegung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40233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AEAEB2"/>
                </a:solidFill>
                <a:latin typeface="Helvetica Neue"/>
              </a:rPr>
              <a:t>Ingenieur rechnet, Offerte geht raus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788920"/>
            <a:ext cx="640080" cy="64008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87121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5F5F7"/>
                </a:solidFill>
                <a:latin typeface="Helvetica Neue"/>
              </a:rPr>
              <a:t>Anlieferung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0233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AEAEB2"/>
                </a:solidFill>
                <a:latin typeface="Helvetica Neue"/>
              </a:rPr>
              <a:t>Transport, Aufstellung, Inbetriebnahme</a:t>
            </a:r>
          </a:p>
        </p:txBody>
      </p:sp>
      <p:sp>
        <p:nvSpPr>
          <p:cNvPr id="23" name="Oval 22"/>
          <p:cNvSpPr/>
          <p:nvPr/>
        </p:nvSpPr>
        <p:spPr>
          <a:xfrm>
            <a:off x="8595360" y="2788920"/>
            <a:ext cx="640080" cy="64008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287121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5F5F7"/>
                </a:solidFill>
                <a:latin typeface="Helvetica Neue"/>
              </a:rPr>
              <a:t>Betrieb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0233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AEAEB2"/>
                </a:solidFill>
                <a:latin typeface="Helvetica Neue"/>
              </a:rPr>
              <a:t>Service, Tankung, Überwachung</a:t>
            </a:r>
          </a:p>
        </p:txBody>
      </p:sp>
      <p:sp>
        <p:nvSpPr>
          <p:cNvPr id="27" name="Oval 26"/>
          <p:cNvSpPr/>
          <p:nvPr/>
        </p:nvSpPr>
        <p:spPr>
          <a:xfrm>
            <a:off x="10469880" y="2788920"/>
            <a:ext cx="640080" cy="64008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69880" y="287121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5F5F7"/>
                </a:solidFill>
                <a:latin typeface="Helvetica Neue"/>
              </a:rPr>
              <a:t>Rückbau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40233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AEAEB2"/>
                </a:solidFill>
                <a:latin typeface="Helvetica Neue"/>
              </a:rPr>
              <a:t>Abholung und Bericht zur Netzqualität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AEAEB2"/>
                </a:solidFill>
                <a:latin typeface="Helvetica Neue"/>
              </a:rPr>
              <a:t>Zwischen Anfrage und Anlieferung: Tage bis Wochen. Notfälle gehen schneller — kosten mehr.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FF9F0A"/>
                </a:solidFill>
                <a:latin typeface="Helvetica Neue"/>
              </a:rPr>
              <a:t>Bitte nie am Telefon einen Termin zusagen.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33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KAPITEL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34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0" b="1" i="0" spc="-1000">
                <a:solidFill>
                  <a:srgbClr val="F5F5F7"/>
                </a:solidFill>
                <a:latin typeface="Helvetica Neue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2377440"/>
            <a:ext cx="54864" cy="237744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2860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00">
                <a:solidFill>
                  <a:srgbClr val="F5F5F7"/>
                </a:solidFill>
                <a:latin typeface="Helvetica Neue"/>
              </a:rPr>
              <a:t>Was das fürs Marketing heisst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65760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AEAEB2"/>
                </a:solidFill>
                <a:latin typeface="Helvetica Neue"/>
              </a:rPr>
              <a:t>Wörter, Bilder, Pitch — und die Fallen, in die man nur einmal tritt.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34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MARKETING · 1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35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Wörter, die funktionieren — und Wörter, die schaden.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394960" cy="356616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30D158"/>
                </a:solidFill>
                <a:latin typeface="Helvetica Neue"/>
              </a:rPr>
              <a:t>VERWENDEN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0D158"/>
                </a:solidFill>
                <a:latin typeface="Helvetica Neue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0175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5F5F7"/>
                </a:solidFill>
                <a:latin typeface="Helvetica Neue"/>
              </a:rPr>
              <a:t>Versorgungssicherheit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0156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0D158"/>
                </a:solidFill>
                <a:latin typeface="Helvetica Neue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40156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5F5F7"/>
                </a:solidFill>
                <a:latin typeface="Helvetica Neue"/>
              </a:rPr>
              <a:t>Kein Produktionsstopp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85616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0D158"/>
                </a:solidFill>
                <a:latin typeface="Helvetica Neue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785616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5F5F7"/>
                </a:solidFill>
                <a:latin typeface="Helvetica Neue"/>
              </a:rPr>
              <a:t>Planbar und dokumentiert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6966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0D158"/>
                </a:solidFill>
                <a:latin typeface="Helvetica Neue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69664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5F5F7"/>
                </a:solidFill>
                <a:latin typeface="Helvetica Neue"/>
              </a:rPr>
              <a:t>Leise, emissionsarm, HVO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5371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0D158"/>
                </a:solidFill>
                <a:latin typeface="Helvetica Neue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5537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5F5F7"/>
                </a:solidFill>
                <a:latin typeface="Helvetica Neue"/>
              </a:rPr>
              <a:t>Aus einer Hand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3776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0D158"/>
                </a:solidFill>
                <a:latin typeface="Helvetica Neue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9377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5F5F7"/>
                </a:solidFill>
                <a:latin typeface="Helvetica Neue"/>
              </a:rPr>
              <a:t>Kurzfristig verfügbar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2180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0D158"/>
                </a:solidFill>
                <a:latin typeface="Helvetica Neue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32180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5F5F7"/>
                </a:solidFill>
                <a:latin typeface="Helvetica Neue"/>
              </a:rPr>
              <a:t>Nachweis der Netzqualität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2194560"/>
            <a:ext cx="5394960" cy="356616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79" y="2514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9F0A"/>
                </a:solidFill>
                <a:latin typeface="Helvetica Neue"/>
              </a:rPr>
              <a:t>VERMEIDEN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301752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9F0A"/>
                </a:solidFill>
                <a:latin typeface="Helvetica Neue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19" y="30175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5F5F7"/>
                </a:solidFill>
                <a:latin typeface="Helvetica Neue"/>
              </a:rPr>
              <a:t>Günstig, billig, Schnäppchen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340156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9F0A"/>
                </a:solidFill>
                <a:latin typeface="Helvetica Neue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19" y="340156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5F5F7"/>
                </a:solidFill>
                <a:latin typeface="Helvetica Neue"/>
              </a:rPr>
              <a:t>Weltmarktführer, Superlative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3785616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9F0A"/>
                </a:solidFill>
                <a:latin typeface="Helvetica Neue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19" y="3785616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5F5F7"/>
                </a:solidFill>
                <a:latin typeface="Helvetica Neue"/>
              </a:rPr>
              <a:t>«Notstrom» (klingt nach Panik)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79" y="416966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9F0A"/>
                </a:solidFill>
                <a:latin typeface="Helvetica Neue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19" y="4169664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5F5F7"/>
                </a:solidFill>
                <a:latin typeface="Helvetica Neue"/>
              </a:rPr>
              <a:t>Lösungen ohne Bild dahinter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79" y="455371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9F0A"/>
                </a:solidFill>
                <a:latin typeface="Helvetica Neue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19" y="45537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5F5F7"/>
                </a:solidFill>
                <a:latin typeface="Helvetica Neue"/>
              </a:rPr>
              <a:t>Abkürzungen ohne Erklärung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79" y="493776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9F0A"/>
                </a:solidFill>
                <a:latin typeface="Helvetica Neue"/>
              </a:rPr>
              <a:t>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19" y="49377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5F5F7"/>
                </a:solidFill>
                <a:latin typeface="Helvetica Neue"/>
              </a:rPr>
              <a:t>Zahlen ohne Bezugsgrösse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AEAEB2"/>
                </a:solidFill>
                <a:latin typeface="Helvetica Neue"/>
              </a:rPr>
              <a:t>Schweizer Kunden reagieren auf Superlative mit Misstrauen. Understatement mit Belegen wirkt stärker.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35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MARKETING · 2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36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Bildsprache — was funktioniert.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AEAEB2"/>
                </a:solidFill>
                <a:latin typeface="Helvetica Neue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Zeigt 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Maschinen im echten Einsatz. Umgebung drumherum. Menschen im Bild. Kabelwege, Verteiler, Baustelle bei Nacht mit Licht.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Zeigt das nicht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Freigestellte Maschinen auf Weiss. Stockfotos mit Glühbirnen. Steckdosen-Klischees. Blitze im Himmel.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Freigabe zuerst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Vor jeder Veröffentlichung. Ohne Ausnahme, auch bei harmlosen Bildern. Sicherheitsstandorte: oft Fotoverbot.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Echt schlägt perfekt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Ein echtes Baustellenbild schlägt jedes Stockfoto. Auch wenn es weniger perfekt aussieht.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36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MARKETING · 3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37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Fünf Sätze, die immer stimmen.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37744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54203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00">
                <a:solidFill>
                  <a:srgbClr val="0A84FF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23744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F5F5F7"/>
                </a:solidFill>
                <a:latin typeface="Helvetica Neue"/>
              </a:rPr>
              <a:t>Wir vermieten mobile Stromversorgung — von der Baustellensteckdose bis zum Megawatt.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3035808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32004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00">
                <a:solidFill>
                  <a:srgbClr val="0A84FF"/>
                </a:solidFill>
                <a:latin typeface="Helvetica Neu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8211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F5F5F7"/>
                </a:solidFill>
                <a:latin typeface="Helvetica Neue"/>
              </a:rPr>
              <a:t>Alles aus einer Hand: Wärme, Kälte und Strom. Ein Ansprechpartner, eine Nummer.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3694176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385876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00">
                <a:solidFill>
                  <a:srgbClr val="0A84FF"/>
                </a:solidFill>
                <a:latin typeface="Helvetica Neue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40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0A84FF"/>
                </a:solidFill>
                <a:latin typeface="Helvetica Neue"/>
              </a:rPr>
              <a:t>Wir liefern nicht nur Strom — wir weisen nach, dass er sauber war.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352544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451713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00">
                <a:solidFill>
                  <a:srgbClr val="0A84FF"/>
                </a:solidFill>
                <a:latin typeface="Helvetica Neue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4988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F5F5F7"/>
                </a:solidFill>
                <a:latin typeface="Helvetica Neue"/>
              </a:rPr>
              <a:t>Die Aggreko-Flotte im Rücken, ein Schweizer Team davor.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5010912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517550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00">
                <a:solidFill>
                  <a:srgbClr val="0A84FF"/>
                </a:solidFill>
                <a:latin typeface="Helvetica Neue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157216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F5F5F7"/>
                </a:solidFill>
                <a:latin typeface="Helvetica Neue"/>
              </a:rPr>
              <a:t>Wenn es schnell gehen muss, geht es schnell.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566928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A84FF"/>
                </a:solidFill>
                <a:latin typeface="Helvetica Neue"/>
              </a:rPr>
              <a:t>Satz 03 kann kein Wettbewerber in der Schweiz sagen. Gehört in jeden längeren Text.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37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MARKETING · 4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38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Die fünf Fragen, die euch gestellt werden.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33172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45973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7"/>
                </a:solidFill>
                <a:latin typeface="Helvetica Neue"/>
              </a:rPr>
              <a:t>«Was kostet so ein Generator?»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487168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AEAEB2"/>
                </a:solidFill>
                <a:latin typeface="Helvetica Neue"/>
              </a:rPr>
              <a:t>Kommt auf Leistung, Dauer und Ort an. Diese drei Angaben sammeln — weitergeben.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97180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309981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7"/>
                </a:solidFill>
                <a:latin typeface="Helvetica Neue"/>
              </a:rPr>
              <a:t>«Habt ihr das morgen verfügbar?»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3127248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AEAEB2"/>
                </a:solidFill>
                <a:latin typeface="Helvetica Neue"/>
              </a:rPr>
              <a:t>Prüft immer die Disposition. Nie selbst zusagen — auch nicht ungefähr.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361188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373989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7"/>
                </a:solidFill>
                <a:latin typeface="Helvetica Neue"/>
              </a:rPr>
              <a:t>«Ist das nicht sehr laut?»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767328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AEAEB2"/>
                </a:solidFill>
                <a:latin typeface="Helvetica Neue"/>
              </a:rPr>
              <a:t>Moderne Anlagen sind gekapselt und mit Abstand unproblematisch. Zahl aus dem Datenblatt.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25196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437997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7"/>
                </a:solidFill>
                <a:latin typeface="Helvetica Neue"/>
              </a:rPr>
              <a:t>«Ist das umweltfreundlich?»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4407408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AEAEB2"/>
                </a:solidFill>
                <a:latin typeface="Helvetica Neue"/>
              </a:rPr>
              <a:t>Mit HVO und Hybrid deutlich, ja. Konkrete Zahlen liefert das Projektteam mit Zertifikat.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489204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502005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5F7"/>
                </a:solidFill>
                <a:latin typeface="Helvetica Neue"/>
              </a:rPr>
              <a:t>«Wie gross muss die Anlage sein?»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5047488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AEAEB2"/>
                </a:solidFill>
                <a:latin typeface="Helvetica Neue"/>
              </a:rPr>
              <a:t>Rechnet ein Ingenieur anhand einer Lastliste. Niemals schätzen. Auch nicht als Hausnummer.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5532120"/>
            <a:ext cx="11091672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FF9F0A"/>
                </a:solidFill>
                <a:latin typeface="Helvetica Neue"/>
              </a:rPr>
              <a:t>Goldene Regel: Im Zweifel keine Zahl nennen. Eine sauber weitergegebene Frage schlägt jede falsche Antwort.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38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E8E93"/>
                </a:solidFill>
                <a:latin typeface="Helvetica Neue"/>
              </a:rPr>
              <a:t>MARKETING · 5 VON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100">
                <a:solidFill>
                  <a:srgbClr val="8E8E93"/>
                </a:solidFill>
                <a:latin typeface="Helvetica Neue"/>
              </a:rPr>
              <a:t>39 —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120">
                <a:solidFill>
                  <a:srgbClr val="F5F5F7"/>
                </a:solidFill>
                <a:latin typeface="Helvetica Neue"/>
              </a:rPr>
              <a:t>Was ich konkret von euch brauche.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AEAEB2"/>
                </a:solidFill>
                <a:latin typeface="Helvetica Neue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Bestandskunden-Kampagne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Alle Wärme- und Kältekunden für eine Strom-Ansprache aufbereiten. Schnellster Weg zu den ersten Aufträgen.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201168" cy="201168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Zwei Referenzstories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Eine Baustelle, ein Event. Mit echten Bildern, echten Zahlen und Freigabe des Kunden.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566160"/>
            <a:ext cx="201168" cy="201168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Einheitliche Sprache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Begriffe aus diesem Termin in allen Kanälen gleich verwenden. Wortliste kommt von mir.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00400"/>
            <a:ext cx="2697480" cy="2468880"/>
          </a:xfrm>
          <a:prstGeom prst="roundRect">
            <a:avLst>
              <a:gd name="adj" fmla="val 4500"/>
            </a:avLst>
          </a:prstGeom>
          <a:solidFill>
            <a:srgbClr val="1C1C1E"/>
          </a:solidFill>
          <a:ln w="9525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3566160"/>
            <a:ext cx="201168" cy="2011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F5F7"/>
                </a:solidFill>
                <a:latin typeface="Helvetica Neue"/>
              </a:rPr>
              <a:t>Kurze Gegenlesung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EAEB2"/>
                </a:solidFill>
                <a:latin typeface="Helvetica Neue"/>
              </a:rPr>
              <a:t>Zwei Minuten Blick auf jeden Text mit technischem Inhalt. Spart uns Korrekturen danach.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A84FF"/>
                </a:solidFill>
                <a:latin typeface="Helvetica Neue"/>
              </a:rPr>
              <a:t>Wenn wir das aufgleisen: bis Herbst eine Strom-Kommunikation, die sitzt.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E93"/>
                </a:solidFill>
                <a:latin typeface="Helvetica Neue"/>
              </a:rPr>
              <a:t>Mobil in Time AG   ·   Strom Quick Dive   ·   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46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E8E93"/>
                </a:solidFill>
                <a:latin typeface="Helvetica Neue"/>
              </a:rPr>
              <a:t>39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1000">
        <p14:morph option="byObject"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828800" y="-914400"/>
            <a:ext cx="7315200" cy="8229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A84FF"/>
              </a:gs>
              <a:gs pos="100000">
                <a:srgbClr val="BF5AF2"/>
              </a:gs>
            </a:gsLst>
            <a:lin ang="81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FFFFFF"/>
                </a:solidFill>
                <a:latin typeface="Helvetica Neue"/>
              </a:rPr>
              <a:t>DANKE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 spc="-200">
                <a:solidFill>
                  <a:srgbClr val="FFFFFF"/>
                </a:solidFill>
                <a:latin typeface="Helvetica Neue"/>
              </a:rPr>
              <a:t>Fragen?</a:t>
            </a:r>
          </a:p>
          <a:p>
            <a:pPr algn="l">
              <a:lnSpc>
                <a:spcPct val="105000"/>
              </a:lnSpc>
            </a:pPr>
            <a:r>
              <a:rPr sz="6400" b="1" i="0" spc="-200">
                <a:solidFill>
                  <a:srgbClr val="FFFFFF"/>
                </a:solidFill>
                <a:latin typeface="Helvetica Neue"/>
              </a:rPr>
              <a:t>Immer her damit.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FFFFFF"/>
                </a:solidFill>
                <a:latin typeface="Helvetica Neue"/>
              </a:rPr>
              <a:t>Es gibt keine dumme Frage zu Strom.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FFFFFF"/>
                </a:solidFill>
                <a:latin typeface="Helvetica Neue"/>
              </a:rPr>
              <a:t>Nur Texte, die falsch werden, weil niemand gefragt 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100">
                <a:solidFill>
                  <a:srgbClr val="FFFFFF"/>
                </a:solidFill>
                <a:latin typeface="Helvetica Neue"/>
              </a:rPr>
              <a:t>Burak Ücöz   ·   Sales Engineer Power   ·   Mobil in Time 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5486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A84FF"/>
                </a:solidFill>
                <a:latin typeface="Helvetica Neue"/>
              </a:rPr>
              <a:t>VORSCHLAG · ZWEITER TERMIN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96012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 spc="-100">
                <a:solidFill>
                  <a:srgbClr val="F5F5F7"/>
                </a:solidFill>
                <a:latin typeface="Helvetica Neue"/>
              </a:rPr>
              <a:t>Was als Nächstes kommt.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0" y="2377440"/>
            <a:ext cx="4846320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0" y="2560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84FF"/>
                </a:solidFill>
                <a:latin typeface="Helvetica Neue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254203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5F7"/>
                </a:solidFill>
                <a:latin typeface="Helvetica Neue"/>
              </a:rPr>
              <a:t>Netzqualität im Detail und was wir damit verkaufen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0" y="3154680"/>
            <a:ext cx="4846320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0" y="3337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84FF"/>
                </a:solidFill>
                <a:latin typeface="Helvetica Neu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331927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5F7"/>
                </a:solidFill>
                <a:latin typeface="Helvetica Neue"/>
              </a:rPr>
              <a:t>Nachhaltigkeit: HVO, Hybrid und die Zahlen dahinter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3931920"/>
            <a:ext cx="4846320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0" y="4114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84FF"/>
                </a:solidFill>
                <a:latin typeface="Helvetica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409651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5F7"/>
                </a:solidFill>
                <a:latin typeface="Helvetica Neue"/>
              </a:rPr>
              <a:t>Rechenzentren als Wachstumsmarkt Schweiz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0" y="4709160"/>
            <a:ext cx="4846320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0" y="4892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84FF"/>
                </a:solidFill>
                <a:latin typeface="Helvetica Neue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487375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5F7"/>
                </a:solidFill>
                <a:latin typeface="Helvetica Neue"/>
              </a:rPr>
              <a:t>Referenzprojekte zum Anfassen: Gampel, Baustellen, Industrie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0" y="5486400"/>
            <a:ext cx="4846320" cy="0"/>
          </a:xfrm>
          <a:prstGeom prst="line">
            <a:avLst/>
          </a:prstGeom>
          <a:ln w="9525">
            <a:solidFill>
              <a:srgbClr val="3A3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0" y="62636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200">
                <a:solidFill>
                  <a:srgbClr val="8E8E93"/>
                </a:solidFill>
                <a:latin typeface="Helvetica Neue"/>
              </a:rPr>
              <a:t>40 / 40   ·   Ende der Session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