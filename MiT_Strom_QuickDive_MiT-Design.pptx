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Begrüssung. Ziel des Termins in einem Satz: Ihr sollt nach einer Stunde über Strom reden können, ohne euch unsicher zu fühlen. Kein Elektro-Wissen nötig, keine Formeln. Fragen jederzeit dazwischen, nicht am Schluss sammeln.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Erwartungsmanagement: Das ist bewusst ein Quick Dive. Wir gehen breit, nicht tief. Block 5 ist der wichtigste für euch, deshalb ist er markiert. Wenn wir Zeit verlieren, kürze ich Block 3, nicht Block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stehen lassen. Das ist der emotionale Anker. Der Kunde kauft kein Aggregat, er kauft Ruhe. Wer das versteht, schreibt automatisch bessere 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bauen alles auf einem einzigen Bild auf: Wasser. Das Bild trägt durch den ganzen Block. Nicht abkürzen, das ist die Basis für alles danach.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Wasserbild ist die wichtigste Folie im ganzen Deck. Wenn jemand es nicht versteht, hier stehen bleiben. Praktisches Beispiel: Gartenschlauch. Daumen drauf erhöht den Druck, aber weniger Wasser fliesst. Deshalb sind Druck und Durchfluss nicht dasselbe.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Häufigster Fehler in Kundentexten: kW und kWh verwechseln. Faustregel für euch: Wenn ein h dranhängt, geht es um die Rechnung. Ohne h geht es um die Maschine.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 phi ist der Schaumanteil, gesprochen "Kosinus Phi". Ihr müsst ihn nicht rechnen können, nur wissen, dass er existiert und meist bei 0.8 liegt. Wichtigste Botschaft: 300 kVA sind nicht 300 kW. Wer das in einem Text schreibt, verliert Glaubwürdigkeit beim technischen Leser.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in die Physik abgleiten. Das Fahrrad-Bild reicht vollkommen. Wenn jemand nach Einphasen fragt: Das gibt es auch, ist bei uns aber die Ausnahme, typischerweise nur bei ganz kleinen Geräten.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Teich-Vergleich ist der Kern. Er erklärt später auch, warum wir eine saubere Auslegung machen und warum niemand am Telefon eine Grösse schätzen darf.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Klasse A ist die höchste Genauigkeitsklasse für Messgeräte. Das ist kein Marketing-Wort, das ist eine echte Prüfvorgabe. Genau daran hängt unser Alleinstellungsmerkmal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der Kern meiner Rolle hier. Ich komme aus der Messtechnik, nicht aus dem Maschinenverleih. Diese Kombination gibt es sonst nirgends in der Schweiz. Wenn ihr eine Sache in Texte einbaut, dann diese.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Wechsel von Technik zu Menschen. Ab hier wird es für euch direkt anwendbar.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Dreiteilung ist euer Raster für jede Kampagne. Termindruck-Texte sind konkret und schnell. Angst-Texte sind ruhig, seriös und arbeiten mit Nachweisen. Beides in einem Text zu mischen funktioniert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untere Reihe ist orange markiert: Das sind die Segmente mit der höchsten Zahlungsbereitschaft und den längsten Verkaufszyklen. Rechenzentren sind aktuell unser grösstes Wachstumsthema in der Schweiz.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wichtigste Folie für Textarbeit. Der Schmerz gehört in die erste Zeile, das Produkt kommt spät. Schweizer Kunden reagieren allergisch auf Verkaufsdruck, aber sehr gut auf jemanden, der ihre Situation offensichtlich verstanden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hilft euch beim Einordnen von Anfragen. Wenn jemand von 2 MVA spricht, wisst ihr: das ist ein grosses Projekt, das gehört sofort zu mir. Nochmal betonen: Faustzahlen, nie in Kundenkommunikation als Zusage verwenden.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Konkreter Auftrag ans Marketing: eine Bestandskunden-Kampagne. Das ist mit Abstand der schnellste Weg zu den ersten Strom-Aufträgen. Kaltakquise dauert Monate, ein bestehender Kunde entscheidet in Wochen.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kommt der Teil, bei dem ihr sonst aussteigt. Deshalb: pro Anlagentyp genau ein Bild, das hängen bleibt.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Übersicht ist die Landkarte. Jede der nächsten Folien vertieft genau einen Baustein. Sagt den Kollegen: Ihr müsst euch nur die Bilder in Orange merken, nicht die Technik.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Wichtigster Baustein. Wenn jemand "Notstromaggregat" sagt, meint er das hier. HVO nicht als Wundermittel verkaufen: Es ist ein sehr gutes Argument, aber die konkreten Einsparzahlen kommen aus dem Zertifikat und nicht aus dem Bauch.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BESS ist Ehrlichkeit wichtiger als Begeisterung. Wir gewinnen technische Kunden damit, dass wir die Grenze selbst benennen, bevor sie danach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ist unser strategisches Wachstumsthema. Öffentliche Bauherren schreiben zunehmend Emissionsgrenzen aus. Wer da liefern kann, gewinnt Aufträge, bei denen der Preis zweitrangig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Unterschied zwischen Generator und USV ist die Frage, die uns Kunden am häufigsten stellen. Merksatz: Der Generator liefert lange, die USV liefert sofort. Zusammen decken sie beides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Trafos verkaufen sich nicht über Emotion, sondern über Machbarkeit. Wichtig ist nur, dass ihr wisst: Wenn ein Kunde von 16 kV oder 20 kV spricht, geht es um Mittelspannung und das Projekt ist automatisch gross.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ihr aus dem Block eine praktische Sache mitnehmt, dann diese Frage nach der Distanz. Sie kommt in fast jedem Erstgespräch zu spät.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Lastbank ist strategisch wichtiger, als die Umsätze vermuten lassen. Das ist der erste Kontakt zu jedem neuen Rechenzentrum in der Schweiz, und davon entstehen gerade mehrere.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ausdrucken und an die Pinnwand. Sie beantwortet neunzig Prozent der Fragen, die euch intern gestellt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wird es sehr konkret. Diese Punkte kommen in jedem Kundengespräch vor. Wer sie kennt, wirkt sofort kompetent.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Konkreter Nutzen für euch: Wenn eine Anfrage über Marketing-Kanäle reinkommt, stellt genau diese Fragen und schickt mir die Antworten mit. Damit spart ihr uns eine komplette Rückfragerunde.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Dezibel-Fehler passiert in Broschüren ständig, auch bei Wettbewerbern. Wer ihn vermeidet, wirkt beim technischen Leser sofort seriös. Zusatz: Dezibel verhält sich nicht linear, deshalb keine Zahlen addieren.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Der persönliche Haftungspunkt ist kein Angstmachen, sondern Realität. Deshalb machen wir Tankaufstellung nie nach Gefühl. Das ist auch ein gutes Argument gegen Billiganbieter.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Foto-Hinweis ist ernst gemeint. Ein Bild mit einem offenen Schaltschrank oder ohne Helm ist ein Sicherheitsproblem, das um die halbe Branche geht. Im Zweifel schickt mir das Bild vorher.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letzte Zeile ist die wichtigste Verhaltensregel für euch. Verfügbarkeit bestätigt ausschliesslich die Disposition. Eine falsche Zusage kostet uns mehr als ein verlorener Auftrag, weil sie das Vertrauen zerstört.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eigentliche Zweck des Termins. Alles davor war Vorbereitung für diesen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Wort Notstrom: Es ist nicht falsch, aber es besetzt die Situation emotional negativ. Besser sind Ersatzversorgung, Überbrückung oder Versorgungssicherheit. Der Kunde kauft lieber Planung als Panik.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Freigabe-Punkt ist nicht verhandelbar. Manche unserer Kunden sind Rechenzentren, Spitäler oder Sicherheitsstandorte. Ein einziges veröffentlichtes Bild kann dort eine Geschäftsbeziehung beenden.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fünf Sätze sind auswendig zu können. Sie funktionieren am Messestand, am Telefon und als Einstieg in jeden Text. Wenn ihr nur dreissig Sekunden habt, sagt Satz 1 und Satz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praktischste Folie des ganzen Decks. Eine falsche Zahl aus dem Marketing landet im Kopf des Kunden und muss später mühsam korrigiert werden. Lieber sagen: gute Frage, ich hole das verbindlich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will ich am Ende der Stunde eine Zusage, wer welchen Punkt übernimmt und bis wann. Ohne konkrete Zuweisung passiert nichts. Punkt 1 ist der wichtigste, falls nur einer möglich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 Zuweisung der vier Punkte aus der vorherigen Folie einholen, bevor alle aufstehen. Dann Termin für den zweiten Teil vereinbaren, solange alle im Raum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75756"/>
        </a:solidFill>
      </p:bgPr>
    </p:bg>
    <p:spTree>
      <p:nvGrpSpPr>
        <p:cNvPr id="1" name=""/>
        <p:cNvGrpSpPr/>
        <p:nvPr/>
      </p:nvGrpSpPr>
      <p:grpSpPr>
        <a:xfrm>
          <a:off x="0" y="0"/>
          <a:ext cx="0" cy="0"/>
          <a:chOff x="0" y="0"/>
          <a:chExt cx="0" cy="0"/>
        </a:xfrm>
      </p:grpSpPr>
      <p:sp>
        <p:nvSpPr>
          <p:cNvPr id="2" name="Shape 0"/>
          <p:cNvSpPr/>
          <p:nvPr/>
        </p:nvSpPr>
        <p:spPr>
          <a:xfrm>
            <a:off x="8138160" y="822960"/>
            <a:ext cx="5120640" cy="5120640"/>
          </a:xfrm>
          <a:prstGeom prst="ellipse">
            <a:avLst/>
          </a:prstGeom>
          <a:solidFill>
            <a:srgbClr val="3C3C3B"/>
          </a:solidFill>
          <a:ln/>
        </p:spPr>
      </p:sp>
      <p:pic>
        <p:nvPicPr>
          <p:cNvPr id="3" name="Image 0" descr="/home/claude/ico/bolt_o.png">    </p:cNvPr>
          <p:cNvPicPr>
            <a:picLocks noChangeAspect="1"/>
          </p:cNvPicPr>
          <p:nvPr/>
        </p:nvPicPr>
        <p:blipFill>
          <a:blip r:embed="rId1"/>
          <a:stretch>
            <a:fillRect/>
          </a:stretch>
        </p:blipFill>
        <p:spPr>
          <a:xfrm>
            <a:off x="9464040" y="2377440"/>
            <a:ext cx="1920240" cy="1920240"/>
          </a:xfrm>
          <a:prstGeom prst="rect">
            <a:avLst/>
          </a:prstGeom>
        </p:spPr>
      </p:pic>
      <p:sp>
        <p:nvSpPr>
          <p:cNvPr id="4" name="Text 1"/>
          <p:cNvSpPr/>
          <p:nvPr/>
        </p:nvSpPr>
        <p:spPr>
          <a:xfrm>
            <a:off x="566928" y="1417320"/>
            <a:ext cx="7498080" cy="274320"/>
          </a:xfrm>
          <a:prstGeom prst="rect">
            <a:avLst/>
          </a:prstGeom>
          <a:noFill/>
          <a:ln/>
        </p:spPr>
        <p:txBody>
          <a:bodyPr wrap="square" lIns="0" tIns="0" rIns="0" bIns="0" rtlCol="0" anchor="ctr"/>
          <a:lstStyle/>
          <a:p>
            <a:pPr indent="0" marL="0">
              <a:buNone/>
            </a:pPr>
            <a:r>
              <a:rPr lang="en-US" sz="1200" b="1" spc="180" kern="0" dirty="0">
                <a:solidFill>
                  <a:srgbClr val="E4022E"/>
                </a:solidFill>
                <a:latin typeface="Arial" pitchFamily="34" charset="0"/>
                <a:ea typeface="Arial" pitchFamily="34" charset="-122"/>
                <a:cs typeface="Arial" pitchFamily="34" charset="-120"/>
              </a:rPr>
              <a:t>MOBIL IN TIME AG  ·  AN AGGREKO COMPANY</a:t>
            </a:r>
            <a:endParaRPr lang="en-US" sz="1200" dirty="0"/>
          </a:p>
        </p:txBody>
      </p:sp>
      <p:sp>
        <p:nvSpPr>
          <p:cNvPr id="5" name="Text 2"/>
          <p:cNvSpPr/>
          <p:nvPr/>
        </p:nvSpPr>
        <p:spPr>
          <a:xfrm>
            <a:off x="566928" y="1828800"/>
            <a:ext cx="7498080" cy="173736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Arial" pitchFamily="34" charset="0"/>
                <a:ea typeface="Arial" pitchFamily="34" charset="-122"/>
                <a:cs typeface="Arial" pitchFamily="34" charset="-120"/>
              </a:rPr>
              <a:t>Strom.</a:t>
            </a:r>
            <a:endParaRPr lang="en-US" sz="4600" dirty="0"/>
          </a:p>
          <a:p>
            <a:pPr indent="0" marL="0">
              <a:lnSpc>
                <a:spcPts val="5400"/>
              </a:lnSpc>
              <a:buNone/>
            </a:pPr>
            <a:r>
              <a:rPr lang="en-US" sz="4600" b="1" dirty="0">
                <a:solidFill>
                  <a:srgbClr val="FFFFFF"/>
                </a:solidFill>
                <a:latin typeface="Arial" pitchFamily="34" charset="0"/>
                <a:ea typeface="Arial" pitchFamily="34" charset="-122"/>
                <a:cs typeface="Arial" pitchFamily="34" charset="-120"/>
              </a:rPr>
              <a:t>Ohne Fachchinesisch.</a:t>
            </a:r>
            <a:endParaRPr lang="en-US" sz="4600" dirty="0"/>
          </a:p>
        </p:txBody>
      </p:sp>
      <p:sp>
        <p:nvSpPr>
          <p:cNvPr id="6" name="Text 3"/>
          <p:cNvSpPr/>
          <p:nvPr/>
        </p:nvSpPr>
        <p:spPr>
          <a:xfrm>
            <a:off x="566928" y="3703320"/>
            <a:ext cx="6949440" cy="822960"/>
          </a:xfrm>
          <a:prstGeom prst="rect">
            <a:avLst/>
          </a:prstGeom>
          <a:noFill/>
          <a:ln/>
        </p:spPr>
        <p:txBody>
          <a:bodyPr wrap="square" lIns="0" tIns="0" rIns="0" bIns="0" rtlCol="0" anchor="ctr"/>
          <a:lstStyle/>
          <a:p>
            <a:pPr indent="0" marL="0">
              <a:lnSpc>
                <a:spcPts val="2300"/>
              </a:lnSpc>
              <a:buNone/>
            </a:pPr>
            <a:r>
              <a:rPr lang="en-US" sz="1500" dirty="0">
                <a:solidFill>
                  <a:srgbClr val="E6E6E6"/>
                </a:solidFill>
                <a:latin typeface="Arial" pitchFamily="34" charset="0"/>
                <a:ea typeface="Arial" pitchFamily="34" charset="-122"/>
                <a:cs typeface="Arial" pitchFamily="34" charset="-120"/>
              </a:rPr>
              <a:t>Quick Dive für das Marketing-Team. Alles so erklärt, dass es hängen bleibt — auch ohne Elektro-Ausbildung.</a:t>
            </a:r>
            <a:endParaRPr lang="en-US" sz="1500" dirty="0"/>
          </a:p>
        </p:txBody>
      </p:sp>
      <p:sp>
        <p:nvSpPr>
          <p:cNvPr id="7" name="Shape 4"/>
          <p:cNvSpPr/>
          <p:nvPr/>
        </p:nvSpPr>
        <p:spPr>
          <a:xfrm>
            <a:off x="566928" y="4709160"/>
            <a:ext cx="2011680" cy="32004"/>
          </a:xfrm>
          <a:prstGeom prst="rect">
            <a:avLst/>
          </a:prstGeom>
          <a:solidFill>
            <a:srgbClr val="E4022E"/>
          </a:solidFill>
          <a:ln/>
        </p:spPr>
      </p:sp>
      <p:sp>
        <p:nvSpPr>
          <p:cNvPr id="8" name="Text 5"/>
          <p:cNvSpPr/>
          <p:nvPr/>
        </p:nvSpPr>
        <p:spPr>
          <a:xfrm>
            <a:off x="566928" y="4956048"/>
            <a:ext cx="6400800" cy="32004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Burak Ücöz  ·  Sales Engineer Power  ·  22.07.2026</a:t>
            </a:r>
            <a:endParaRPr lang="en-US" sz="1300" dirty="0"/>
          </a:p>
        </p:txBody>
      </p:sp>
      <p:sp>
        <p:nvSpPr>
          <p:cNvPr id="9" name="Text 6"/>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A6A6A6"/>
                </a:solidFill>
                <a:latin typeface="Arial" pitchFamily="34" charset="0"/>
                <a:ea typeface="Arial" pitchFamily="34" charset="-122"/>
                <a:cs typeface="Arial" pitchFamily="34" charset="-120"/>
              </a:rPr>
              <a:t>Mobil in Time AG  |  Strom Quick Dive  |  Marketing-Team</a:t>
            </a:r>
            <a:endParaRPr lang="en-US" sz="900" dirty="0"/>
          </a:p>
        </p:txBody>
      </p:sp>
      <p:sp>
        <p:nvSpPr>
          <p:cNvPr id="10" name="Text 7"/>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A6A6A6"/>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ABLAUF</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Vier Blöcke, eine Stunde, keine Formeln</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2</a:t>
            </a:r>
            <a:endParaRPr lang="en-US" sz="1000" dirty="0"/>
          </a:p>
        </p:txBody>
      </p:sp>
      <p:sp>
        <p:nvSpPr>
          <p:cNvPr id="6" name="Shape 4"/>
          <p:cNvSpPr/>
          <p:nvPr/>
        </p:nvSpPr>
        <p:spPr>
          <a:xfrm>
            <a:off x="566928" y="1572768"/>
            <a:ext cx="11055096" cy="786384"/>
          </a:xfrm>
          <a:prstGeom prst="roundRect">
            <a:avLst>
              <a:gd name="adj" fmla="val 10465"/>
            </a:avLst>
          </a:prstGeom>
          <a:solidFill>
            <a:srgbClr val="F4F4F4"/>
          </a:solidFill>
          <a:ln/>
        </p:spPr>
      </p:sp>
      <p:sp>
        <p:nvSpPr>
          <p:cNvPr id="7" name="Shape 5"/>
          <p:cNvSpPr/>
          <p:nvPr/>
        </p:nvSpPr>
        <p:spPr>
          <a:xfrm>
            <a:off x="804672" y="1728216"/>
            <a:ext cx="475488" cy="475488"/>
          </a:xfrm>
          <a:prstGeom prst="ellipse">
            <a:avLst/>
          </a:prstGeom>
          <a:solidFill>
            <a:srgbClr val="575756"/>
          </a:solidFill>
          <a:ln/>
        </p:spPr>
      </p:sp>
      <p:pic>
        <p:nvPicPr>
          <p:cNvPr id="8" name="Image 0" descr="/home/claude/ico/water_w.png">    </p:cNvPr>
          <p:cNvPicPr>
            <a:picLocks noChangeAspect="1"/>
          </p:cNvPicPr>
          <p:nvPr/>
        </p:nvPicPr>
        <p:blipFill>
          <a:blip r:embed="rId1"/>
          <a:stretch>
            <a:fillRect/>
          </a:stretch>
        </p:blipFill>
        <p:spPr>
          <a:xfrm>
            <a:off x="928299" y="1851843"/>
            <a:ext cx="228234" cy="228234"/>
          </a:xfrm>
          <a:prstGeom prst="rect">
            <a:avLst/>
          </a:prstGeom>
        </p:spPr>
      </p:pic>
      <p:sp>
        <p:nvSpPr>
          <p:cNvPr id="9" name="Text 6"/>
          <p:cNvSpPr/>
          <p:nvPr/>
        </p:nvSpPr>
        <p:spPr>
          <a:xfrm>
            <a:off x="1408176" y="1737360"/>
            <a:ext cx="457200" cy="457200"/>
          </a:xfrm>
          <a:prstGeom prst="rect">
            <a:avLst/>
          </a:prstGeom>
          <a:noFill/>
          <a:ln/>
        </p:spPr>
        <p:txBody>
          <a:bodyPr wrap="square" lIns="0" tIns="0" rIns="0" bIns="0" rtlCol="0" anchor="ctr"/>
          <a:lstStyle/>
          <a:p>
            <a:pPr indent="0" marL="0">
              <a:buNone/>
            </a:pPr>
            <a:r>
              <a:rPr lang="en-US" sz="2000" b="1" dirty="0">
                <a:solidFill>
                  <a:srgbClr val="575756"/>
                </a:solidFill>
                <a:latin typeface="Arial" pitchFamily="34" charset="0"/>
                <a:ea typeface="Arial" pitchFamily="34" charset="-122"/>
                <a:cs typeface="Arial" pitchFamily="34" charset="-120"/>
              </a:rPr>
              <a:t>01</a:t>
            </a:r>
            <a:endParaRPr lang="en-US" sz="2000" dirty="0"/>
          </a:p>
        </p:txBody>
      </p:sp>
      <p:sp>
        <p:nvSpPr>
          <p:cNvPr id="10" name="Text 7"/>
          <p:cNvSpPr/>
          <p:nvPr/>
        </p:nvSpPr>
        <p:spPr>
          <a:xfrm>
            <a:off x="1956816" y="1700784"/>
            <a:ext cx="5852160" cy="310896"/>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Grundlagen Strom</a:t>
            </a:r>
            <a:endParaRPr lang="en-US" sz="1600" dirty="0"/>
          </a:p>
        </p:txBody>
      </p:sp>
      <p:sp>
        <p:nvSpPr>
          <p:cNvPr id="11" name="Text 8"/>
          <p:cNvSpPr/>
          <p:nvPr/>
        </p:nvSpPr>
        <p:spPr>
          <a:xfrm>
            <a:off x="1956816" y="1993392"/>
            <a:ext cx="6949440" cy="274320"/>
          </a:xfrm>
          <a:prstGeom prst="rect">
            <a:avLst/>
          </a:prstGeom>
          <a:noFill/>
          <a:ln/>
        </p:spPr>
        <p:txBody>
          <a:bodyPr wrap="square" lIns="0" tIns="0" rIns="0" bIns="0" rtlCol="0" anchor="ctr"/>
          <a:lstStyle/>
          <a:p>
            <a:pPr indent="0" marL="0">
              <a:buNone/>
            </a:pPr>
            <a:r>
              <a:rPr lang="en-US" sz="1200" dirty="0">
                <a:solidFill>
                  <a:srgbClr val="8A8A8C"/>
                </a:solidFill>
                <a:latin typeface="Arial" pitchFamily="34" charset="0"/>
                <a:ea typeface="Arial" pitchFamily="34" charset="-122"/>
                <a:cs typeface="Arial" pitchFamily="34" charset="-120"/>
              </a:rPr>
              <a:t>Die vier Begriffe, die alles erklären</a:t>
            </a:r>
            <a:endParaRPr lang="en-US" sz="1200" dirty="0"/>
          </a:p>
        </p:txBody>
      </p:sp>
      <p:sp>
        <p:nvSpPr>
          <p:cNvPr id="12" name="Text 9"/>
          <p:cNvSpPr/>
          <p:nvPr/>
        </p:nvSpPr>
        <p:spPr>
          <a:xfrm>
            <a:off x="10250424" y="1737360"/>
            <a:ext cx="1097280" cy="457200"/>
          </a:xfrm>
          <a:prstGeom prst="rect">
            <a:avLst/>
          </a:prstGeom>
          <a:noFill/>
          <a:ln/>
        </p:spPr>
        <p:txBody>
          <a:bodyPr wrap="square" lIns="0" tIns="0" rIns="0" bIns="0" rtlCol="0" anchor="ctr"/>
          <a:lstStyle/>
          <a:p>
            <a:pPr algn="r" indent="0" marL="0">
              <a:buNone/>
            </a:pPr>
            <a:r>
              <a:rPr lang="en-US" sz="1400" b="1" dirty="0">
                <a:solidFill>
                  <a:srgbClr val="575756"/>
                </a:solidFill>
                <a:latin typeface="Arial" pitchFamily="34" charset="0"/>
                <a:ea typeface="Arial" pitchFamily="34" charset="-122"/>
                <a:cs typeface="Arial" pitchFamily="34" charset="-120"/>
              </a:rPr>
              <a:t>20 Min</a:t>
            </a:r>
            <a:endParaRPr lang="en-US" sz="1400" dirty="0"/>
          </a:p>
        </p:txBody>
      </p:sp>
      <p:sp>
        <p:nvSpPr>
          <p:cNvPr id="13" name="Shape 10"/>
          <p:cNvSpPr/>
          <p:nvPr/>
        </p:nvSpPr>
        <p:spPr>
          <a:xfrm>
            <a:off x="566928" y="2505456"/>
            <a:ext cx="11055096" cy="786384"/>
          </a:xfrm>
          <a:prstGeom prst="roundRect">
            <a:avLst>
              <a:gd name="adj" fmla="val 10465"/>
            </a:avLst>
          </a:prstGeom>
          <a:solidFill>
            <a:srgbClr val="F4F4F4"/>
          </a:solidFill>
          <a:ln/>
        </p:spPr>
      </p:sp>
      <p:sp>
        <p:nvSpPr>
          <p:cNvPr id="14" name="Shape 11"/>
          <p:cNvSpPr/>
          <p:nvPr/>
        </p:nvSpPr>
        <p:spPr>
          <a:xfrm>
            <a:off x="804672" y="2660904"/>
            <a:ext cx="475488" cy="475488"/>
          </a:xfrm>
          <a:prstGeom prst="ellipse">
            <a:avLst/>
          </a:prstGeom>
          <a:solidFill>
            <a:srgbClr val="575756"/>
          </a:solidFill>
          <a:ln/>
        </p:spPr>
      </p:sp>
      <p:pic>
        <p:nvPicPr>
          <p:cNvPr id="15" name="Image 1" descr="/home/claude/ico/target_w.png">    </p:cNvPr>
          <p:cNvPicPr>
            <a:picLocks noChangeAspect="1"/>
          </p:cNvPicPr>
          <p:nvPr/>
        </p:nvPicPr>
        <p:blipFill>
          <a:blip r:embed="rId2"/>
          <a:stretch>
            <a:fillRect/>
          </a:stretch>
        </p:blipFill>
        <p:spPr>
          <a:xfrm>
            <a:off x="928299" y="2784531"/>
            <a:ext cx="228234" cy="228234"/>
          </a:xfrm>
          <a:prstGeom prst="rect">
            <a:avLst/>
          </a:prstGeom>
        </p:spPr>
      </p:pic>
      <p:sp>
        <p:nvSpPr>
          <p:cNvPr id="16" name="Text 12"/>
          <p:cNvSpPr/>
          <p:nvPr/>
        </p:nvSpPr>
        <p:spPr>
          <a:xfrm>
            <a:off x="1408176" y="2670048"/>
            <a:ext cx="457200" cy="457200"/>
          </a:xfrm>
          <a:prstGeom prst="rect">
            <a:avLst/>
          </a:prstGeom>
          <a:noFill/>
          <a:ln/>
        </p:spPr>
        <p:txBody>
          <a:bodyPr wrap="square" lIns="0" tIns="0" rIns="0" bIns="0" rtlCol="0" anchor="ctr"/>
          <a:lstStyle/>
          <a:p>
            <a:pPr indent="0" marL="0">
              <a:buNone/>
            </a:pPr>
            <a:r>
              <a:rPr lang="en-US" sz="2000" b="1" dirty="0">
                <a:solidFill>
                  <a:srgbClr val="575756"/>
                </a:solidFill>
                <a:latin typeface="Arial" pitchFamily="34" charset="0"/>
                <a:ea typeface="Arial" pitchFamily="34" charset="-122"/>
                <a:cs typeface="Arial" pitchFamily="34" charset="-120"/>
              </a:rPr>
              <a:t>02</a:t>
            </a:r>
            <a:endParaRPr lang="en-US" sz="2000" dirty="0"/>
          </a:p>
        </p:txBody>
      </p:sp>
      <p:sp>
        <p:nvSpPr>
          <p:cNvPr id="17" name="Text 13"/>
          <p:cNvSpPr/>
          <p:nvPr/>
        </p:nvSpPr>
        <p:spPr>
          <a:xfrm>
            <a:off x="1956816" y="2633472"/>
            <a:ext cx="5852160" cy="310896"/>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Zielgruppen und Einsatzgebiete</a:t>
            </a:r>
            <a:endParaRPr lang="en-US" sz="1600" dirty="0"/>
          </a:p>
        </p:txBody>
      </p:sp>
      <p:sp>
        <p:nvSpPr>
          <p:cNvPr id="18" name="Text 14"/>
          <p:cNvSpPr/>
          <p:nvPr/>
        </p:nvSpPr>
        <p:spPr>
          <a:xfrm>
            <a:off x="1956816" y="2926080"/>
            <a:ext cx="6949440" cy="274320"/>
          </a:xfrm>
          <a:prstGeom prst="rect">
            <a:avLst/>
          </a:prstGeom>
          <a:noFill/>
          <a:ln/>
        </p:spPr>
        <p:txBody>
          <a:bodyPr wrap="square" lIns="0" tIns="0" rIns="0" bIns="0" rtlCol="0" anchor="ctr"/>
          <a:lstStyle/>
          <a:p>
            <a:pPr indent="0" marL="0">
              <a:buNone/>
            </a:pPr>
            <a:r>
              <a:rPr lang="en-US" sz="1200" dirty="0">
                <a:solidFill>
                  <a:srgbClr val="8A8A8C"/>
                </a:solidFill>
                <a:latin typeface="Arial" pitchFamily="34" charset="0"/>
                <a:ea typeface="Arial" pitchFamily="34" charset="-122"/>
                <a:cs typeface="Arial" pitchFamily="34" charset="-120"/>
              </a:rPr>
              <a:t>Wer ruft an und warum</a:t>
            </a:r>
            <a:endParaRPr lang="en-US" sz="1200" dirty="0"/>
          </a:p>
        </p:txBody>
      </p:sp>
      <p:sp>
        <p:nvSpPr>
          <p:cNvPr id="19" name="Text 15"/>
          <p:cNvSpPr/>
          <p:nvPr/>
        </p:nvSpPr>
        <p:spPr>
          <a:xfrm>
            <a:off x="10250424" y="2670048"/>
            <a:ext cx="1097280" cy="457200"/>
          </a:xfrm>
          <a:prstGeom prst="rect">
            <a:avLst/>
          </a:prstGeom>
          <a:noFill/>
          <a:ln/>
        </p:spPr>
        <p:txBody>
          <a:bodyPr wrap="square" lIns="0" tIns="0" rIns="0" bIns="0" rtlCol="0" anchor="ctr"/>
          <a:lstStyle/>
          <a:p>
            <a:pPr algn="r" indent="0" marL="0">
              <a:buNone/>
            </a:pPr>
            <a:r>
              <a:rPr lang="en-US" sz="1400" b="1" dirty="0">
                <a:solidFill>
                  <a:srgbClr val="575756"/>
                </a:solidFill>
                <a:latin typeface="Arial" pitchFamily="34" charset="0"/>
                <a:ea typeface="Arial" pitchFamily="34" charset="-122"/>
                <a:cs typeface="Arial" pitchFamily="34" charset="-120"/>
              </a:rPr>
              <a:t>15 Min</a:t>
            </a:r>
            <a:endParaRPr lang="en-US" sz="1400" dirty="0"/>
          </a:p>
        </p:txBody>
      </p:sp>
      <p:sp>
        <p:nvSpPr>
          <p:cNvPr id="20" name="Shape 16"/>
          <p:cNvSpPr/>
          <p:nvPr/>
        </p:nvSpPr>
        <p:spPr>
          <a:xfrm>
            <a:off x="566928" y="3438144"/>
            <a:ext cx="11055096" cy="786384"/>
          </a:xfrm>
          <a:prstGeom prst="roundRect">
            <a:avLst>
              <a:gd name="adj" fmla="val 10465"/>
            </a:avLst>
          </a:prstGeom>
          <a:solidFill>
            <a:srgbClr val="F4F4F4"/>
          </a:solidFill>
          <a:ln/>
        </p:spPr>
      </p:sp>
      <p:sp>
        <p:nvSpPr>
          <p:cNvPr id="21" name="Shape 17"/>
          <p:cNvSpPr/>
          <p:nvPr/>
        </p:nvSpPr>
        <p:spPr>
          <a:xfrm>
            <a:off x="804672" y="3593592"/>
            <a:ext cx="475488" cy="475488"/>
          </a:xfrm>
          <a:prstGeom prst="ellipse">
            <a:avLst/>
          </a:prstGeom>
          <a:solidFill>
            <a:srgbClr val="575756"/>
          </a:solidFill>
          <a:ln/>
        </p:spPr>
      </p:sp>
      <p:pic>
        <p:nvPicPr>
          <p:cNvPr id="22" name="Image 2" descr="/home/claude/ico/generator_w.png">    </p:cNvPr>
          <p:cNvPicPr>
            <a:picLocks noChangeAspect="1"/>
          </p:cNvPicPr>
          <p:nvPr/>
        </p:nvPicPr>
        <p:blipFill>
          <a:blip r:embed="rId3"/>
          <a:stretch>
            <a:fillRect/>
          </a:stretch>
        </p:blipFill>
        <p:spPr>
          <a:xfrm>
            <a:off x="928299" y="3717219"/>
            <a:ext cx="228234" cy="228234"/>
          </a:xfrm>
          <a:prstGeom prst="rect">
            <a:avLst/>
          </a:prstGeom>
        </p:spPr>
      </p:pic>
      <p:sp>
        <p:nvSpPr>
          <p:cNvPr id="23" name="Text 18"/>
          <p:cNvSpPr/>
          <p:nvPr/>
        </p:nvSpPr>
        <p:spPr>
          <a:xfrm>
            <a:off x="1408176" y="3602736"/>
            <a:ext cx="457200" cy="457200"/>
          </a:xfrm>
          <a:prstGeom prst="rect">
            <a:avLst/>
          </a:prstGeom>
          <a:noFill/>
          <a:ln/>
        </p:spPr>
        <p:txBody>
          <a:bodyPr wrap="square" lIns="0" tIns="0" rIns="0" bIns="0" rtlCol="0" anchor="ctr"/>
          <a:lstStyle/>
          <a:p>
            <a:pPr indent="0" marL="0">
              <a:buNone/>
            </a:pPr>
            <a:r>
              <a:rPr lang="en-US" sz="2000" b="1" dirty="0">
                <a:solidFill>
                  <a:srgbClr val="575756"/>
                </a:solidFill>
                <a:latin typeface="Arial" pitchFamily="34" charset="0"/>
                <a:ea typeface="Arial" pitchFamily="34" charset="-122"/>
                <a:cs typeface="Arial" pitchFamily="34" charset="-120"/>
              </a:rPr>
              <a:t>03</a:t>
            </a:r>
            <a:endParaRPr lang="en-US" sz="2000" dirty="0"/>
          </a:p>
        </p:txBody>
      </p:sp>
      <p:sp>
        <p:nvSpPr>
          <p:cNvPr id="24" name="Text 19"/>
          <p:cNvSpPr/>
          <p:nvPr/>
        </p:nvSpPr>
        <p:spPr>
          <a:xfrm>
            <a:off x="1956816" y="3566160"/>
            <a:ext cx="5852160" cy="310896"/>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Anlagentypen und Unterschiede</a:t>
            </a:r>
            <a:endParaRPr lang="en-US" sz="1600" dirty="0"/>
          </a:p>
        </p:txBody>
      </p:sp>
      <p:sp>
        <p:nvSpPr>
          <p:cNvPr id="25" name="Text 20"/>
          <p:cNvSpPr/>
          <p:nvPr/>
        </p:nvSpPr>
        <p:spPr>
          <a:xfrm>
            <a:off x="1956816" y="3858768"/>
            <a:ext cx="6949440" cy="274320"/>
          </a:xfrm>
          <a:prstGeom prst="rect">
            <a:avLst/>
          </a:prstGeom>
          <a:noFill/>
          <a:ln/>
        </p:spPr>
        <p:txBody>
          <a:bodyPr wrap="square" lIns="0" tIns="0" rIns="0" bIns="0" rtlCol="0" anchor="ctr"/>
          <a:lstStyle/>
          <a:p>
            <a:pPr indent="0" marL="0">
              <a:buNone/>
            </a:pPr>
            <a:r>
              <a:rPr lang="en-US" sz="1200" dirty="0">
                <a:solidFill>
                  <a:srgbClr val="8A8A8C"/>
                </a:solidFill>
                <a:latin typeface="Arial" pitchFamily="34" charset="0"/>
                <a:ea typeface="Arial" pitchFamily="34" charset="-122"/>
                <a:cs typeface="Arial" pitchFamily="34" charset="-120"/>
              </a:rPr>
              <a:t>Sechs Bausteine, mehr gibt es nicht</a:t>
            </a:r>
            <a:endParaRPr lang="en-US" sz="1200" dirty="0"/>
          </a:p>
        </p:txBody>
      </p:sp>
      <p:sp>
        <p:nvSpPr>
          <p:cNvPr id="26" name="Text 21"/>
          <p:cNvSpPr/>
          <p:nvPr/>
        </p:nvSpPr>
        <p:spPr>
          <a:xfrm>
            <a:off x="10250424" y="3602736"/>
            <a:ext cx="1097280" cy="457200"/>
          </a:xfrm>
          <a:prstGeom prst="rect">
            <a:avLst/>
          </a:prstGeom>
          <a:noFill/>
          <a:ln/>
        </p:spPr>
        <p:txBody>
          <a:bodyPr wrap="square" lIns="0" tIns="0" rIns="0" bIns="0" rtlCol="0" anchor="ctr"/>
          <a:lstStyle/>
          <a:p>
            <a:pPr algn="r" indent="0" marL="0">
              <a:buNone/>
            </a:pPr>
            <a:r>
              <a:rPr lang="en-US" sz="1400" b="1" dirty="0">
                <a:solidFill>
                  <a:srgbClr val="575756"/>
                </a:solidFill>
                <a:latin typeface="Arial" pitchFamily="34" charset="0"/>
                <a:ea typeface="Arial" pitchFamily="34" charset="-122"/>
                <a:cs typeface="Arial" pitchFamily="34" charset="-120"/>
              </a:rPr>
              <a:t>20 Min</a:t>
            </a:r>
            <a:endParaRPr lang="en-US" sz="1400" dirty="0"/>
          </a:p>
        </p:txBody>
      </p:sp>
      <p:sp>
        <p:nvSpPr>
          <p:cNvPr id="27" name="Shape 22"/>
          <p:cNvSpPr/>
          <p:nvPr/>
        </p:nvSpPr>
        <p:spPr>
          <a:xfrm>
            <a:off x="566928" y="4370832"/>
            <a:ext cx="11055096" cy="786384"/>
          </a:xfrm>
          <a:prstGeom prst="roundRect">
            <a:avLst>
              <a:gd name="adj" fmla="val 10465"/>
            </a:avLst>
          </a:prstGeom>
          <a:solidFill>
            <a:srgbClr val="F4F4F4"/>
          </a:solidFill>
          <a:ln/>
        </p:spPr>
      </p:sp>
      <p:sp>
        <p:nvSpPr>
          <p:cNvPr id="28" name="Shape 23"/>
          <p:cNvSpPr/>
          <p:nvPr/>
        </p:nvSpPr>
        <p:spPr>
          <a:xfrm>
            <a:off x="804672" y="4526280"/>
            <a:ext cx="475488" cy="475488"/>
          </a:xfrm>
          <a:prstGeom prst="ellipse">
            <a:avLst/>
          </a:prstGeom>
          <a:solidFill>
            <a:srgbClr val="575756"/>
          </a:solidFill>
          <a:ln/>
        </p:spPr>
      </p:sp>
      <p:pic>
        <p:nvPicPr>
          <p:cNvPr id="29" name="Image 3" descr="/home/claude/ico/build_w.png">    </p:cNvPr>
          <p:cNvPicPr>
            <a:picLocks noChangeAspect="1"/>
          </p:cNvPicPr>
          <p:nvPr/>
        </p:nvPicPr>
        <p:blipFill>
          <a:blip r:embed="rId4"/>
          <a:stretch>
            <a:fillRect/>
          </a:stretch>
        </p:blipFill>
        <p:spPr>
          <a:xfrm>
            <a:off x="928299" y="4649907"/>
            <a:ext cx="228234" cy="228234"/>
          </a:xfrm>
          <a:prstGeom prst="rect">
            <a:avLst/>
          </a:prstGeom>
        </p:spPr>
      </p:pic>
      <p:sp>
        <p:nvSpPr>
          <p:cNvPr id="30" name="Text 24"/>
          <p:cNvSpPr/>
          <p:nvPr/>
        </p:nvSpPr>
        <p:spPr>
          <a:xfrm>
            <a:off x="1408176" y="4535424"/>
            <a:ext cx="457200" cy="457200"/>
          </a:xfrm>
          <a:prstGeom prst="rect">
            <a:avLst/>
          </a:prstGeom>
          <a:noFill/>
          <a:ln/>
        </p:spPr>
        <p:txBody>
          <a:bodyPr wrap="square" lIns="0" tIns="0" rIns="0" bIns="0" rtlCol="0" anchor="ctr"/>
          <a:lstStyle/>
          <a:p>
            <a:pPr indent="0" marL="0">
              <a:buNone/>
            </a:pPr>
            <a:r>
              <a:rPr lang="en-US" sz="2000" b="1" dirty="0">
                <a:solidFill>
                  <a:srgbClr val="575756"/>
                </a:solidFill>
                <a:latin typeface="Arial" pitchFamily="34" charset="0"/>
                <a:ea typeface="Arial" pitchFamily="34" charset="-122"/>
                <a:cs typeface="Arial" pitchFamily="34" charset="-120"/>
              </a:rPr>
              <a:t>04</a:t>
            </a:r>
            <a:endParaRPr lang="en-US" sz="2000" dirty="0"/>
          </a:p>
        </p:txBody>
      </p:sp>
      <p:sp>
        <p:nvSpPr>
          <p:cNvPr id="31" name="Text 25"/>
          <p:cNvSpPr/>
          <p:nvPr/>
        </p:nvSpPr>
        <p:spPr>
          <a:xfrm>
            <a:off x="1956816" y="4498848"/>
            <a:ext cx="5852160" cy="310896"/>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Aufstellung auf der Baustelle</a:t>
            </a:r>
            <a:endParaRPr lang="en-US" sz="1600" dirty="0"/>
          </a:p>
        </p:txBody>
      </p:sp>
      <p:sp>
        <p:nvSpPr>
          <p:cNvPr id="32" name="Text 26"/>
          <p:cNvSpPr/>
          <p:nvPr/>
        </p:nvSpPr>
        <p:spPr>
          <a:xfrm>
            <a:off x="1956816" y="4791456"/>
            <a:ext cx="6949440" cy="274320"/>
          </a:xfrm>
          <a:prstGeom prst="rect">
            <a:avLst/>
          </a:prstGeom>
          <a:noFill/>
          <a:ln/>
        </p:spPr>
        <p:txBody>
          <a:bodyPr wrap="square" lIns="0" tIns="0" rIns="0" bIns="0" rtlCol="0" anchor="ctr"/>
          <a:lstStyle/>
          <a:p>
            <a:pPr indent="0" marL="0">
              <a:buNone/>
            </a:pPr>
            <a:r>
              <a:rPr lang="en-US" sz="1200" dirty="0">
                <a:solidFill>
                  <a:srgbClr val="8A8A8C"/>
                </a:solidFill>
                <a:latin typeface="Arial" pitchFamily="34" charset="0"/>
                <a:ea typeface="Arial" pitchFamily="34" charset="-122"/>
                <a:cs typeface="Arial" pitchFamily="34" charset="-120"/>
              </a:rPr>
              <a:t>Was vor Ort wirklich zählt</a:t>
            </a:r>
            <a:endParaRPr lang="en-US" sz="1200" dirty="0"/>
          </a:p>
        </p:txBody>
      </p:sp>
      <p:sp>
        <p:nvSpPr>
          <p:cNvPr id="33" name="Text 27"/>
          <p:cNvSpPr/>
          <p:nvPr/>
        </p:nvSpPr>
        <p:spPr>
          <a:xfrm>
            <a:off x="10250424" y="4535424"/>
            <a:ext cx="1097280" cy="457200"/>
          </a:xfrm>
          <a:prstGeom prst="rect">
            <a:avLst/>
          </a:prstGeom>
          <a:noFill/>
          <a:ln/>
        </p:spPr>
        <p:txBody>
          <a:bodyPr wrap="square" lIns="0" tIns="0" rIns="0" bIns="0" rtlCol="0" anchor="ctr"/>
          <a:lstStyle/>
          <a:p>
            <a:pPr algn="r" indent="0" marL="0">
              <a:buNone/>
            </a:pPr>
            <a:r>
              <a:rPr lang="en-US" sz="1400" b="1" dirty="0">
                <a:solidFill>
                  <a:srgbClr val="575756"/>
                </a:solidFill>
                <a:latin typeface="Arial" pitchFamily="34" charset="0"/>
                <a:ea typeface="Arial" pitchFamily="34" charset="-122"/>
                <a:cs typeface="Arial" pitchFamily="34" charset="-120"/>
              </a:rPr>
              <a:t>15 Min</a:t>
            </a:r>
            <a:endParaRPr lang="en-US" sz="1400" dirty="0"/>
          </a:p>
        </p:txBody>
      </p:sp>
      <p:sp>
        <p:nvSpPr>
          <p:cNvPr id="34" name="Shape 28"/>
          <p:cNvSpPr/>
          <p:nvPr/>
        </p:nvSpPr>
        <p:spPr>
          <a:xfrm>
            <a:off x="566928" y="5303520"/>
            <a:ext cx="11055096" cy="786384"/>
          </a:xfrm>
          <a:prstGeom prst="roundRect">
            <a:avLst>
              <a:gd name="adj" fmla="val 10465"/>
            </a:avLst>
          </a:prstGeom>
          <a:solidFill>
            <a:srgbClr val="FBE0E6"/>
          </a:solidFill>
          <a:ln/>
        </p:spPr>
      </p:sp>
      <p:sp>
        <p:nvSpPr>
          <p:cNvPr id="35" name="Shape 29"/>
          <p:cNvSpPr/>
          <p:nvPr/>
        </p:nvSpPr>
        <p:spPr>
          <a:xfrm>
            <a:off x="804672" y="5458968"/>
            <a:ext cx="475488" cy="475488"/>
          </a:xfrm>
          <a:prstGeom prst="ellipse">
            <a:avLst/>
          </a:prstGeom>
          <a:solidFill>
            <a:srgbClr val="E4022E"/>
          </a:solidFill>
          <a:ln/>
        </p:spPr>
      </p:sp>
      <p:pic>
        <p:nvPicPr>
          <p:cNvPr id="36" name="Image 4" descr="/home/claude/ico/chat_w.png">    </p:cNvPr>
          <p:cNvPicPr>
            <a:picLocks noChangeAspect="1"/>
          </p:cNvPicPr>
          <p:nvPr/>
        </p:nvPicPr>
        <p:blipFill>
          <a:blip r:embed="rId5"/>
          <a:stretch>
            <a:fillRect/>
          </a:stretch>
        </p:blipFill>
        <p:spPr>
          <a:xfrm>
            <a:off x="928299" y="5582595"/>
            <a:ext cx="228234" cy="228234"/>
          </a:xfrm>
          <a:prstGeom prst="rect">
            <a:avLst/>
          </a:prstGeom>
        </p:spPr>
      </p:pic>
      <p:sp>
        <p:nvSpPr>
          <p:cNvPr id="37" name="Text 30"/>
          <p:cNvSpPr/>
          <p:nvPr/>
        </p:nvSpPr>
        <p:spPr>
          <a:xfrm>
            <a:off x="1408176" y="5468112"/>
            <a:ext cx="457200" cy="457200"/>
          </a:xfrm>
          <a:prstGeom prst="rect">
            <a:avLst/>
          </a:prstGeom>
          <a:noFill/>
          <a:ln/>
        </p:spPr>
        <p:txBody>
          <a:bodyPr wrap="square" lIns="0" tIns="0" rIns="0" bIns="0" rtlCol="0" anchor="ctr"/>
          <a:lstStyle/>
          <a:p>
            <a:pPr indent="0" marL="0">
              <a:buNone/>
            </a:pPr>
            <a:r>
              <a:rPr lang="en-US" sz="2000" b="1" dirty="0">
                <a:solidFill>
                  <a:srgbClr val="E4022E"/>
                </a:solidFill>
                <a:latin typeface="Arial" pitchFamily="34" charset="0"/>
                <a:ea typeface="Arial" pitchFamily="34" charset="-122"/>
                <a:cs typeface="Arial" pitchFamily="34" charset="-120"/>
              </a:rPr>
              <a:t>05</a:t>
            </a:r>
            <a:endParaRPr lang="en-US" sz="2000" dirty="0"/>
          </a:p>
        </p:txBody>
      </p:sp>
      <p:sp>
        <p:nvSpPr>
          <p:cNvPr id="38" name="Text 31"/>
          <p:cNvSpPr/>
          <p:nvPr/>
        </p:nvSpPr>
        <p:spPr>
          <a:xfrm>
            <a:off x="1956816" y="5431536"/>
            <a:ext cx="5852160" cy="310896"/>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Was das fürs Marketing heisst</a:t>
            </a:r>
            <a:endParaRPr lang="en-US" sz="1600" dirty="0"/>
          </a:p>
        </p:txBody>
      </p:sp>
      <p:sp>
        <p:nvSpPr>
          <p:cNvPr id="39" name="Text 32"/>
          <p:cNvSpPr/>
          <p:nvPr/>
        </p:nvSpPr>
        <p:spPr>
          <a:xfrm>
            <a:off x="1956816" y="5724144"/>
            <a:ext cx="6949440" cy="274320"/>
          </a:xfrm>
          <a:prstGeom prst="rect">
            <a:avLst/>
          </a:prstGeom>
          <a:noFill/>
          <a:ln/>
        </p:spPr>
        <p:txBody>
          <a:bodyPr wrap="square" lIns="0" tIns="0" rIns="0" bIns="0" rtlCol="0" anchor="ctr"/>
          <a:lstStyle/>
          <a:p>
            <a:pPr indent="0" marL="0">
              <a:buNone/>
            </a:pPr>
            <a:r>
              <a:rPr lang="en-US" sz="1200" dirty="0">
                <a:solidFill>
                  <a:srgbClr val="8A8A8C"/>
                </a:solidFill>
                <a:latin typeface="Arial" pitchFamily="34" charset="0"/>
                <a:ea typeface="Arial" pitchFamily="34" charset="-122"/>
                <a:cs typeface="Arial" pitchFamily="34" charset="-120"/>
              </a:rPr>
              <a:t>Wörter, Bilder, Pitch, Fallstricke</a:t>
            </a:r>
            <a:endParaRPr lang="en-US" sz="1200" dirty="0"/>
          </a:p>
        </p:txBody>
      </p:sp>
      <p:sp>
        <p:nvSpPr>
          <p:cNvPr id="40" name="Text 33"/>
          <p:cNvSpPr/>
          <p:nvPr/>
        </p:nvSpPr>
        <p:spPr>
          <a:xfrm>
            <a:off x="10250424" y="5468112"/>
            <a:ext cx="1097280" cy="457200"/>
          </a:xfrm>
          <a:prstGeom prst="rect">
            <a:avLst/>
          </a:prstGeom>
          <a:noFill/>
          <a:ln/>
        </p:spPr>
        <p:txBody>
          <a:bodyPr wrap="square" lIns="0" tIns="0" rIns="0" bIns="0" rtlCol="0" anchor="ctr"/>
          <a:lstStyle/>
          <a:p>
            <a:pPr algn="r" indent="0" marL="0">
              <a:buNone/>
            </a:pPr>
            <a:r>
              <a:rPr lang="en-US" sz="1400" b="1" dirty="0">
                <a:solidFill>
                  <a:srgbClr val="E4022E"/>
                </a:solidFill>
                <a:latin typeface="Arial" pitchFamily="34" charset="0"/>
                <a:ea typeface="Arial" pitchFamily="34" charset="-122"/>
                <a:cs typeface="Arial" pitchFamily="34" charset="-120"/>
              </a:rPr>
              <a:t>10 Min</a:t>
            </a:r>
            <a:endParaRPr lang="en-US" sz="1400" dirty="0"/>
          </a:p>
        </p:txBody>
      </p:sp>
      <p:sp>
        <p:nvSpPr>
          <p:cNvPr id="41" name="Text 34"/>
          <p:cNvSpPr/>
          <p:nvPr/>
        </p:nvSpPr>
        <p:spPr>
          <a:xfrm>
            <a:off x="566928" y="5943600"/>
            <a:ext cx="11055096" cy="292608"/>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Alles, was tiefer geht, kommt in einen zweiten Termin. Heute geht es um das Fundament.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75756"/>
        </a:solidFill>
      </p:bgPr>
    </p:bg>
    <p:spTree>
      <p:nvGrpSpPr>
        <p:cNvPr id="1" name=""/>
        <p:cNvGrpSpPr/>
        <p:nvPr/>
      </p:nvGrpSpPr>
      <p:grpSpPr>
        <a:xfrm>
          <a:off x="0" y="0"/>
          <a:ext cx="0" cy="0"/>
          <a:chOff x="0" y="0"/>
          <a:chExt cx="0" cy="0"/>
        </a:xfrm>
      </p:grpSpPr>
      <p:sp>
        <p:nvSpPr>
          <p:cNvPr id="2" name="Text 0"/>
          <p:cNvSpPr/>
          <p:nvPr/>
        </p:nvSpPr>
        <p:spPr>
          <a:xfrm>
            <a:off x="1371600" y="1828800"/>
            <a:ext cx="9418320" cy="2194560"/>
          </a:xfrm>
          <a:prstGeom prst="rect">
            <a:avLst/>
          </a:prstGeom>
          <a:noFill/>
          <a:ln/>
        </p:spPr>
        <p:txBody>
          <a:bodyPr wrap="square" lIns="0" tIns="0" rIns="0" bIns="0" rtlCol="0" anchor="ctr"/>
          <a:lstStyle/>
          <a:p>
            <a:pPr algn="ctr" indent="0" marL="0">
              <a:lnSpc>
                <a:spcPts val="4200"/>
              </a:lnSpc>
              <a:buNone/>
            </a:pPr>
            <a:r>
              <a:rPr lang="en-US" sz="3000" b="1" dirty="0">
                <a:solidFill>
                  <a:srgbClr val="FFFFFF"/>
                </a:solidFill>
                <a:latin typeface="Arial" pitchFamily="34" charset="0"/>
                <a:ea typeface="Arial" pitchFamily="34" charset="-122"/>
                <a:cs typeface="Arial" pitchFamily="34" charset="-120"/>
              </a:rPr>
              <a:t>"Wir vermieten keine Maschinen.</a:t>
            </a:r>
            <a:endParaRPr lang="en-US" sz="3000" dirty="0"/>
          </a:p>
          <a:p>
            <a:pPr algn="ctr" indent="0" marL="0">
              <a:lnSpc>
                <a:spcPts val="4200"/>
              </a:lnSpc>
              <a:buNone/>
            </a:pPr>
            <a:r>
              <a:rPr lang="en-US" sz="3000" b="1" dirty="0">
                <a:solidFill>
                  <a:srgbClr val="FFFFFF"/>
                </a:solidFill>
                <a:latin typeface="Arial" pitchFamily="34" charset="0"/>
                <a:ea typeface="Arial" pitchFamily="34" charset="-122"/>
                <a:cs typeface="Arial" pitchFamily="34" charset="-120"/>
              </a:rPr>
              <a:t>Wir vermieten die Garantie,</a:t>
            </a:r>
            <a:endParaRPr lang="en-US" sz="3000" dirty="0"/>
          </a:p>
          <a:p>
            <a:pPr algn="ctr" indent="0" marL="0">
              <a:lnSpc>
                <a:spcPts val="4200"/>
              </a:lnSpc>
              <a:buNone/>
            </a:pPr>
            <a:r>
              <a:rPr lang="en-US" sz="3000" b="1" dirty="0">
                <a:solidFill>
                  <a:srgbClr val="FFFFFF"/>
                </a:solidFill>
                <a:latin typeface="Arial" pitchFamily="34" charset="0"/>
                <a:ea typeface="Arial" pitchFamily="34" charset="-122"/>
                <a:cs typeface="Arial" pitchFamily="34" charset="-120"/>
              </a:rPr>
              <a:t>dass etwas nicht stehen bleibt."</a:t>
            </a:r>
            <a:endParaRPr lang="en-US" sz="3000" dirty="0"/>
          </a:p>
        </p:txBody>
      </p:sp>
      <p:sp>
        <p:nvSpPr>
          <p:cNvPr id="3" name="Text 1"/>
          <p:cNvSpPr/>
          <p:nvPr/>
        </p:nvSpPr>
        <p:spPr>
          <a:xfrm>
            <a:off x="2011680" y="4206240"/>
            <a:ext cx="8138160" cy="822960"/>
          </a:xfrm>
          <a:prstGeom prst="rect">
            <a:avLst/>
          </a:prstGeom>
          <a:noFill/>
          <a:ln/>
        </p:spPr>
        <p:txBody>
          <a:bodyPr wrap="square" lIns="0" tIns="0" rIns="0" bIns="0" rtlCol="0" anchor="t"/>
          <a:lstStyle/>
          <a:p>
            <a:pPr algn="ctr" indent="0" marL="0">
              <a:lnSpc>
                <a:spcPts val="2100"/>
              </a:lnSpc>
              <a:buNone/>
            </a:pPr>
            <a:r>
              <a:rPr lang="en-US" sz="1400" dirty="0">
                <a:solidFill>
                  <a:srgbClr val="E6E6E6"/>
                </a:solidFill>
                <a:latin typeface="Arial" pitchFamily="34" charset="0"/>
                <a:ea typeface="Arial" pitchFamily="34" charset="-122"/>
                <a:cs typeface="Arial" pitchFamily="34" charset="-120"/>
              </a:rPr>
              <a:t>Wenn ihr aus dieser Stunde nur einen Satz mitnehmt, dann diesen. Alles Weitere ist Technik, die diesen Satz belegt.</a:t>
            </a:r>
            <a:endParaRPr lang="en-US" sz="1400" dirty="0"/>
          </a:p>
        </p:txBody>
      </p:sp>
      <p:sp>
        <p:nvSpPr>
          <p:cNvPr id="4" name="Shape 2"/>
          <p:cNvSpPr/>
          <p:nvPr/>
        </p:nvSpPr>
        <p:spPr>
          <a:xfrm>
            <a:off x="5769864" y="960120"/>
            <a:ext cx="658368" cy="658368"/>
          </a:xfrm>
          <a:prstGeom prst="ellipse">
            <a:avLst/>
          </a:prstGeom>
          <a:solidFill>
            <a:srgbClr val="E4022E"/>
          </a:solidFill>
          <a:ln/>
        </p:spPr>
      </p:sp>
      <p:pic>
        <p:nvPicPr>
          <p:cNvPr id="5" name="Image 0" descr="/home/claude/ico/shield_w.png">    </p:cNvPr>
          <p:cNvPicPr>
            <a:picLocks noChangeAspect="1"/>
          </p:cNvPicPr>
          <p:nvPr/>
        </p:nvPicPr>
        <p:blipFill>
          <a:blip r:embed="rId1"/>
          <a:stretch>
            <a:fillRect/>
          </a:stretch>
        </p:blipFill>
        <p:spPr>
          <a:xfrm>
            <a:off x="5941040" y="1131296"/>
            <a:ext cx="316017" cy="316017"/>
          </a:xfrm>
          <a:prstGeom prst="rect">
            <a:avLst/>
          </a:prstGeom>
        </p:spPr>
      </p:pic>
      <p:sp>
        <p:nvSpPr>
          <p:cNvPr id="6" name="Text 3"/>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A6A6A6"/>
                </a:solidFill>
                <a:latin typeface="Arial" pitchFamily="34" charset="0"/>
                <a:ea typeface="Arial" pitchFamily="34" charset="-122"/>
                <a:cs typeface="Arial" pitchFamily="34" charset="-120"/>
              </a:rPr>
              <a:t>Mobil in Time AG  |  Strom Quick Dive  |  Marketing-Team</a:t>
            </a:r>
            <a:endParaRPr lang="en-US" sz="900" dirty="0"/>
          </a:p>
        </p:txBody>
      </p:sp>
      <p:sp>
        <p:nvSpPr>
          <p:cNvPr id="7" name="Text 4"/>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A6A6A6"/>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575756"/>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3C3C3B"/>
          </a:solidFill>
          <a:ln/>
        </p:spPr>
      </p:sp>
      <p:sp>
        <p:nvSpPr>
          <p:cNvPr id="3" name="Text 1"/>
          <p:cNvSpPr/>
          <p:nvPr/>
        </p:nvSpPr>
        <p:spPr>
          <a:xfrm>
            <a:off x="566928" y="1417320"/>
            <a:ext cx="2743200" cy="1737360"/>
          </a:xfrm>
          <a:prstGeom prst="rect">
            <a:avLst/>
          </a:prstGeom>
          <a:noFill/>
          <a:ln/>
        </p:spPr>
        <p:txBody>
          <a:bodyPr wrap="square" lIns="0" tIns="0" rIns="0" bIns="0" rtlCol="0" anchor="ctr"/>
          <a:lstStyle/>
          <a:p>
            <a:pPr indent="0" marL="0">
              <a:buNone/>
            </a:pPr>
            <a:r>
              <a:rPr lang="en-US" sz="9600" b="1" dirty="0">
                <a:solidFill>
                  <a:srgbClr val="E4022E"/>
                </a:solidFill>
                <a:latin typeface="Arial" pitchFamily="34" charset="0"/>
                <a:ea typeface="Arial" pitchFamily="34" charset="-122"/>
                <a:cs typeface="Arial" pitchFamily="34" charset="-120"/>
              </a:rPr>
              <a:t>01</a:t>
            </a:r>
            <a:endParaRPr lang="en-US" sz="9600" dirty="0"/>
          </a:p>
        </p:txBody>
      </p:sp>
      <p:sp>
        <p:nvSpPr>
          <p:cNvPr id="4" name="Text 2"/>
          <p:cNvSpPr/>
          <p:nvPr/>
        </p:nvSpPr>
        <p:spPr>
          <a:xfrm>
            <a:off x="566928" y="3154680"/>
            <a:ext cx="7863840" cy="100584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Grundlagen Strom</a:t>
            </a:r>
            <a:endParaRPr lang="en-US" sz="4000" dirty="0"/>
          </a:p>
        </p:txBody>
      </p:sp>
      <p:sp>
        <p:nvSpPr>
          <p:cNvPr id="5" name="Text 3"/>
          <p:cNvSpPr/>
          <p:nvPr/>
        </p:nvSpPr>
        <p:spPr>
          <a:xfrm>
            <a:off x="566928" y="4224528"/>
            <a:ext cx="7498080" cy="822960"/>
          </a:xfrm>
          <a:prstGeom prst="rect">
            <a:avLst/>
          </a:prstGeom>
          <a:noFill/>
          <a:ln/>
        </p:spPr>
        <p:txBody>
          <a:bodyPr wrap="square" lIns="0" tIns="0" rIns="0" bIns="0" rtlCol="0" anchor="t"/>
          <a:lstStyle/>
          <a:p>
            <a:pPr indent="0" marL="0">
              <a:lnSpc>
                <a:spcPts val="2200"/>
              </a:lnSpc>
              <a:buNone/>
            </a:pPr>
            <a:r>
              <a:rPr lang="en-US" sz="1500" dirty="0">
                <a:solidFill>
                  <a:srgbClr val="E6E6E6"/>
                </a:solidFill>
                <a:latin typeface="Arial" pitchFamily="34" charset="0"/>
                <a:ea typeface="Arial" pitchFamily="34" charset="-122"/>
                <a:cs typeface="Arial" pitchFamily="34" charset="-120"/>
              </a:rPr>
              <a:t>Vier Begriffe. Ein Bild. Danach versteht ihr jede Kundenanfrage.</a:t>
            </a:r>
            <a:endParaRPr lang="en-US" sz="1500" dirty="0"/>
          </a:p>
        </p:txBody>
      </p:sp>
      <p:pic>
        <p:nvPicPr>
          <p:cNvPr id="6" name="Image 0" descr="/home/claude/ico/water_w.png">    </p:cNvPr>
          <p:cNvPicPr>
            <a:picLocks noChangeAspect="1"/>
          </p:cNvPicPr>
          <p:nvPr/>
        </p:nvPicPr>
        <p:blipFill>
          <a:blip r:embed="rId1">
            <a:alphaModFix amt="88000"/>
          </a:blip>
          <a:stretch>
            <a:fillRect/>
          </a:stretch>
        </p:blipFill>
        <p:spPr>
          <a:xfrm>
            <a:off x="10058400" y="2651760"/>
            <a:ext cx="1417320" cy="1417320"/>
          </a:xfrm>
          <a:prstGeom prst="rect">
            <a:avLst/>
          </a:prstGeom>
        </p:spPr>
      </p:pic>
      <p:sp>
        <p:nvSpPr>
          <p:cNvPr id="7" name="Text 4"/>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A6A6A6"/>
                </a:solidFill>
                <a:latin typeface="Arial" pitchFamily="34" charset="0"/>
                <a:ea typeface="Arial" pitchFamily="34" charset="-122"/>
                <a:cs typeface="Arial" pitchFamily="34" charset="-120"/>
              </a:rPr>
              <a:t>Mobil in Time AG  |  Strom Quick Dive  |  Marketing-Team</a:t>
            </a:r>
            <a:endParaRPr lang="en-US" sz="900" dirty="0"/>
          </a:p>
        </p:txBody>
      </p:sp>
      <p:sp>
        <p:nvSpPr>
          <p:cNvPr id="8" name="Text 5"/>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A6A6A6"/>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GRUNDLAGEN · 1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Strom ist wie Wasser in einem Rohr</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5</a:t>
            </a:r>
            <a:endParaRPr lang="en-US" sz="1000" dirty="0"/>
          </a:p>
        </p:txBody>
      </p:sp>
      <p:sp>
        <p:nvSpPr>
          <p:cNvPr id="6" name="Shape 4"/>
          <p:cNvSpPr/>
          <p:nvPr/>
        </p:nvSpPr>
        <p:spPr>
          <a:xfrm>
            <a:off x="566928" y="1627632"/>
            <a:ext cx="3429000" cy="2788920"/>
          </a:xfrm>
          <a:prstGeom prst="roundRect">
            <a:avLst>
              <a:gd name="adj" fmla="val 2951"/>
            </a:avLst>
          </a:prstGeom>
          <a:solidFill>
            <a:srgbClr val="F4F4F4"/>
          </a:solidFill>
          <a:ln/>
        </p:spPr>
      </p:sp>
      <p:sp>
        <p:nvSpPr>
          <p:cNvPr id="7" name="Shape 5"/>
          <p:cNvSpPr/>
          <p:nvPr/>
        </p:nvSpPr>
        <p:spPr>
          <a:xfrm>
            <a:off x="859536" y="1901952"/>
            <a:ext cx="658368" cy="658368"/>
          </a:xfrm>
          <a:prstGeom prst="ellipse">
            <a:avLst/>
          </a:prstGeom>
          <a:solidFill>
            <a:srgbClr val="575756"/>
          </a:solidFill>
          <a:ln/>
        </p:spPr>
      </p:sp>
      <p:pic>
        <p:nvPicPr>
          <p:cNvPr id="8" name="Image 0" descr="/home/claude/ico/gauge_w.png">    </p:cNvPr>
          <p:cNvPicPr>
            <a:picLocks noChangeAspect="1"/>
          </p:cNvPicPr>
          <p:nvPr/>
        </p:nvPicPr>
        <p:blipFill>
          <a:blip r:embed="rId1"/>
          <a:stretch>
            <a:fillRect/>
          </a:stretch>
        </p:blipFill>
        <p:spPr>
          <a:xfrm>
            <a:off x="1030712" y="2073128"/>
            <a:ext cx="316017" cy="316017"/>
          </a:xfrm>
          <a:prstGeom prst="rect">
            <a:avLst/>
          </a:prstGeom>
        </p:spPr>
      </p:pic>
      <p:sp>
        <p:nvSpPr>
          <p:cNvPr id="9" name="Text 6"/>
          <p:cNvSpPr/>
          <p:nvPr/>
        </p:nvSpPr>
        <p:spPr>
          <a:xfrm>
            <a:off x="859536" y="2743200"/>
            <a:ext cx="2843784" cy="329184"/>
          </a:xfrm>
          <a:prstGeom prst="rect">
            <a:avLst/>
          </a:prstGeom>
          <a:noFill/>
          <a:ln/>
        </p:spPr>
        <p:txBody>
          <a:bodyPr wrap="square" lIns="0" tIns="0" rIns="0" bIns="0" rtlCol="0" anchor="ctr"/>
          <a:lstStyle/>
          <a:p>
            <a:pPr indent="0" marL="0">
              <a:buNone/>
            </a:pPr>
            <a:r>
              <a:rPr lang="en-US" sz="2000" b="1" dirty="0">
                <a:solidFill>
                  <a:srgbClr val="575756"/>
                </a:solidFill>
                <a:latin typeface="Arial" pitchFamily="34" charset="0"/>
                <a:ea typeface="Arial" pitchFamily="34" charset="-122"/>
                <a:cs typeface="Arial" pitchFamily="34" charset="-120"/>
              </a:rPr>
              <a:t>Spannung</a:t>
            </a:r>
            <a:endParaRPr lang="en-US" sz="2000" dirty="0"/>
          </a:p>
        </p:txBody>
      </p:sp>
      <p:sp>
        <p:nvSpPr>
          <p:cNvPr id="10" name="Text 7"/>
          <p:cNvSpPr/>
          <p:nvPr/>
        </p:nvSpPr>
        <p:spPr>
          <a:xfrm>
            <a:off x="859536" y="3090672"/>
            <a:ext cx="2843784" cy="274320"/>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Volt (V)</a:t>
            </a:r>
            <a:endParaRPr lang="en-US" sz="1300" dirty="0"/>
          </a:p>
        </p:txBody>
      </p:sp>
      <p:sp>
        <p:nvSpPr>
          <p:cNvPr id="11" name="Text 8"/>
          <p:cNvSpPr/>
          <p:nvPr/>
        </p:nvSpPr>
        <p:spPr>
          <a:xfrm>
            <a:off x="859536" y="3438144"/>
            <a:ext cx="2843784" cy="86868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Der Druck im Rohr. Je höher der Druck, desto weiter kommt das Wasser.</a:t>
            </a:r>
            <a:endParaRPr lang="en-US" sz="1300" dirty="0"/>
          </a:p>
        </p:txBody>
      </p:sp>
      <p:sp>
        <p:nvSpPr>
          <p:cNvPr id="12" name="Shape 9"/>
          <p:cNvSpPr/>
          <p:nvPr/>
        </p:nvSpPr>
        <p:spPr>
          <a:xfrm>
            <a:off x="4379976" y="1627632"/>
            <a:ext cx="3429000" cy="2788920"/>
          </a:xfrm>
          <a:prstGeom prst="roundRect">
            <a:avLst>
              <a:gd name="adj" fmla="val 2951"/>
            </a:avLst>
          </a:prstGeom>
          <a:solidFill>
            <a:srgbClr val="F4F4F4"/>
          </a:solidFill>
          <a:ln/>
        </p:spPr>
      </p:sp>
      <p:sp>
        <p:nvSpPr>
          <p:cNvPr id="13" name="Shape 10"/>
          <p:cNvSpPr/>
          <p:nvPr/>
        </p:nvSpPr>
        <p:spPr>
          <a:xfrm>
            <a:off x="4672584" y="1901952"/>
            <a:ext cx="658368" cy="658368"/>
          </a:xfrm>
          <a:prstGeom prst="ellipse">
            <a:avLst/>
          </a:prstGeom>
          <a:solidFill>
            <a:srgbClr val="575756"/>
          </a:solidFill>
          <a:ln/>
        </p:spPr>
      </p:sp>
      <p:pic>
        <p:nvPicPr>
          <p:cNvPr id="14" name="Image 1" descr="/home/claude/ico/water_w.png">    </p:cNvPr>
          <p:cNvPicPr>
            <a:picLocks noChangeAspect="1"/>
          </p:cNvPicPr>
          <p:nvPr/>
        </p:nvPicPr>
        <p:blipFill>
          <a:blip r:embed="rId2"/>
          <a:stretch>
            <a:fillRect/>
          </a:stretch>
        </p:blipFill>
        <p:spPr>
          <a:xfrm>
            <a:off x="4843760" y="2073128"/>
            <a:ext cx="316017" cy="316017"/>
          </a:xfrm>
          <a:prstGeom prst="rect">
            <a:avLst/>
          </a:prstGeom>
        </p:spPr>
      </p:pic>
      <p:sp>
        <p:nvSpPr>
          <p:cNvPr id="15" name="Text 11"/>
          <p:cNvSpPr/>
          <p:nvPr/>
        </p:nvSpPr>
        <p:spPr>
          <a:xfrm>
            <a:off x="4672584" y="2743200"/>
            <a:ext cx="2843784" cy="329184"/>
          </a:xfrm>
          <a:prstGeom prst="rect">
            <a:avLst/>
          </a:prstGeom>
          <a:noFill/>
          <a:ln/>
        </p:spPr>
        <p:txBody>
          <a:bodyPr wrap="square" lIns="0" tIns="0" rIns="0" bIns="0" rtlCol="0" anchor="ctr"/>
          <a:lstStyle/>
          <a:p>
            <a:pPr indent="0" marL="0">
              <a:buNone/>
            </a:pPr>
            <a:r>
              <a:rPr lang="en-US" sz="2000" b="1" dirty="0">
                <a:solidFill>
                  <a:srgbClr val="575756"/>
                </a:solidFill>
                <a:latin typeface="Arial" pitchFamily="34" charset="0"/>
                <a:ea typeface="Arial" pitchFamily="34" charset="-122"/>
                <a:cs typeface="Arial" pitchFamily="34" charset="-120"/>
              </a:rPr>
              <a:t>Strom</a:t>
            </a:r>
            <a:endParaRPr lang="en-US" sz="2000" dirty="0"/>
          </a:p>
        </p:txBody>
      </p:sp>
      <p:sp>
        <p:nvSpPr>
          <p:cNvPr id="16" name="Text 12"/>
          <p:cNvSpPr/>
          <p:nvPr/>
        </p:nvSpPr>
        <p:spPr>
          <a:xfrm>
            <a:off x="4672584" y="3090672"/>
            <a:ext cx="2843784" cy="274320"/>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Ampere (A)</a:t>
            </a:r>
            <a:endParaRPr lang="en-US" sz="1300" dirty="0"/>
          </a:p>
        </p:txBody>
      </p:sp>
      <p:sp>
        <p:nvSpPr>
          <p:cNvPr id="17" name="Text 13"/>
          <p:cNvSpPr/>
          <p:nvPr/>
        </p:nvSpPr>
        <p:spPr>
          <a:xfrm>
            <a:off x="4672584" y="3438144"/>
            <a:ext cx="2843784" cy="86868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Wie viel Wasser tatsächlich durch das Rohr fliesst.</a:t>
            </a:r>
            <a:endParaRPr lang="en-US" sz="1300" dirty="0"/>
          </a:p>
        </p:txBody>
      </p:sp>
      <p:sp>
        <p:nvSpPr>
          <p:cNvPr id="18" name="Shape 14"/>
          <p:cNvSpPr/>
          <p:nvPr/>
        </p:nvSpPr>
        <p:spPr>
          <a:xfrm>
            <a:off x="8193024" y="1627632"/>
            <a:ext cx="3429000" cy="2788920"/>
          </a:xfrm>
          <a:prstGeom prst="roundRect">
            <a:avLst>
              <a:gd name="adj" fmla="val 2951"/>
            </a:avLst>
          </a:prstGeom>
          <a:solidFill>
            <a:srgbClr val="F4F4F4"/>
          </a:solidFill>
          <a:ln/>
        </p:spPr>
      </p:sp>
      <p:sp>
        <p:nvSpPr>
          <p:cNvPr id="19" name="Shape 15"/>
          <p:cNvSpPr/>
          <p:nvPr/>
        </p:nvSpPr>
        <p:spPr>
          <a:xfrm>
            <a:off x="8485632" y="1901952"/>
            <a:ext cx="658368" cy="658368"/>
          </a:xfrm>
          <a:prstGeom prst="ellipse">
            <a:avLst/>
          </a:prstGeom>
          <a:solidFill>
            <a:srgbClr val="E4022E"/>
          </a:solidFill>
          <a:ln/>
        </p:spPr>
      </p:sp>
      <p:pic>
        <p:nvPicPr>
          <p:cNvPr id="20" name="Image 2" descr="/home/claude/ico/bolt_w.png">    </p:cNvPr>
          <p:cNvPicPr>
            <a:picLocks noChangeAspect="1"/>
          </p:cNvPicPr>
          <p:nvPr/>
        </p:nvPicPr>
        <p:blipFill>
          <a:blip r:embed="rId3"/>
          <a:stretch>
            <a:fillRect/>
          </a:stretch>
        </p:blipFill>
        <p:spPr>
          <a:xfrm>
            <a:off x="8656808" y="2073128"/>
            <a:ext cx="316017" cy="316017"/>
          </a:xfrm>
          <a:prstGeom prst="rect">
            <a:avLst/>
          </a:prstGeom>
        </p:spPr>
      </p:pic>
      <p:sp>
        <p:nvSpPr>
          <p:cNvPr id="21" name="Text 16"/>
          <p:cNvSpPr/>
          <p:nvPr/>
        </p:nvSpPr>
        <p:spPr>
          <a:xfrm>
            <a:off x="8485632" y="2743200"/>
            <a:ext cx="2843784" cy="329184"/>
          </a:xfrm>
          <a:prstGeom prst="rect">
            <a:avLst/>
          </a:prstGeom>
          <a:noFill/>
          <a:ln/>
        </p:spPr>
        <p:txBody>
          <a:bodyPr wrap="square" lIns="0" tIns="0" rIns="0" bIns="0" rtlCol="0" anchor="ctr"/>
          <a:lstStyle/>
          <a:p>
            <a:pPr indent="0" marL="0">
              <a:buNone/>
            </a:pPr>
            <a:r>
              <a:rPr lang="en-US" sz="2000" b="1" dirty="0">
                <a:solidFill>
                  <a:srgbClr val="575756"/>
                </a:solidFill>
                <a:latin typeface="Arial" pitchFamily="34" charset="0"/>
                <a:ea typeface="Arial" pitchFamily="34" charset="-122"/>
                <a:cs typeface="Arial" pitchFamily="34" charset="-120"/>
              </a:rPr>
              <a:t>Leistung</a:t>
            </a:r>
            <a:endParaRPr lang="en-US" sz="2000" dirty="0"/>
          </a:p>
        </p:txBody>
      </p:sp>
      <p:sp>
        <p:nvSpPr>
          <p:cNvPr id="22" name="Text 17"/>
          <p:cNvSpPr/>
          <p:nvPr/>
        </p:nvSpPr>
        <p:spPr>
          <a:xfrm>
            <a:off x="8485632" y="3090672"/>
            <a:ext cx="2843784" cy="274320"/>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Watt (W)</a:t>
            </a:r>
            <a:endParaRPr lang="en-US" sz="1300" dirty="0"/>
          </a:p>
        </p:txBody>
      </p:sp>
      <p:sp>
        <p:nvSpPr>
          <p:cNvPr id="23" name="Text 18"/>
          <p:cNvSpPr/>
          <p:nvPr/>
        </p:nvSpPr>
        <p:spPr>
          <a:xfrm>
            <a:off x="8485632" y="3438144"/>
            <a:ext cx="2843784" cy="86868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Was hinten rauskommt und Arbeit macht. Druck mal Durchfluss.</a:t>
            </a:r>
            <a:endParaRPr lang="en-US" sz="1300" dirty="0"/>
          </a:p>
        </p:txBody>
      </p:sp>
      <p:sp>
        <p:nvSpPr>
          <p:cNvPr id="24" name="Shape 19"/>
          <p:cNvSpPr/>
          <p:nvPr/>
        </p:nvSpPr>
        <p:spPr>
          <a:xfrm>
            <a:off x="566928" y="4681728"/>
            <a:ext cx="11055096" cy="1115568"/>
          </a:xfrm>
          <a:prstGeom prst="roundRect">
            <a:avLst>
              <a:gd name="adj" fmla="val 7377"/>
            </a:avLst>
          </a:prstGeom>
          <a:solidFill>
            <a:srgbClr val="575756"/>
          </a:solidFill>
          <a:ln/>
        </p:spPr>
      </p:sp>
      <p:sp>
        <p:nvSpPr>
          <p:cNvPr id="25" name="Text 20"/>
          <p:cNvSpPr/>
          <p:nvPr/>
        </p:nvSpPr>
        <p:spPr>
          <a:xfrm>
            <a:off x="932688" y="4864608"/>
            <a:ext cx="1828800" cy="274320"/>
          </a:xfrm>
          <a:prstGeom prst="rect">
            <a:avLst/>
          </a:prstGeom>
          <a:noFill/>
          <a:ln/>
        </p:spPr>
        <p:txBody>
          <a:bodyPr wrap="square" lIns="0" tIns="0" rIns="0" bIns="0" rtlCol="0" anchor="ctr"/>
          <a:lstStyle/>
          <a:p>
            <a:pPr indent="0" marL="0">
              <a:buNone/>
            </a:pPr>
            <a:r>
              <a:rPr lang="en-US" sz="1200" b="1" spc="120" kern="0" dirty="0">
                <a:solidFill>
                  <a:srgbClr val="E4022E"/>
                </a:solidFill>
                <a:latin typeface="Arial" pitchFamily="34" charset="0"/>
                <a:ea typeface="Arial" pitchFamily="34" charset="-122"/>
                <a:cs typeface="Arial" pitchFamily="34" charset="-120"/>
              </a:rPr>
              <a:t>Merksatz</a:t>
            </a:r>
            <a:endParaRPr lang="en-US" sz="1200" dirty="0"/>
          </a:p>
        </p:txBody>
      </p:sp>
      <p:sp>
        <p:nvSpPr>
          <p:cNvPr id="26" name="Text 21"/>
          <p:cNvSpPr/>
          <p:nvPr/>
        </p:nvSpPr>
        <p:spPr>
          <a:xfrm>
            <a:off x="932688" y="5175504"/>
            <a:ext cx="10323576"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Viel Druck plus viel Durchfluss ergibt viel Leistung. Wer 400 Volt sagt, meint den Druck. Wer 300 kVA sagt, meint die Leistung.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GRUNDLAGEN · 2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Leistung ist nicht Energie</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6</a:t>
            </a:r>
            <a:endParaRPr lang="en-US" sz="1000" dirty="0"/>
          </a:p>
        </p:txBody>
      </p:sp>
      <p:sp>
        <p:nvSpPr>
          <p:cNvPr id="6" name="Shape 4"/>
          <p:cNvSpPr/>
          <p:nvPr/>
        </p:nvSpPr>
        <p:spPr>
          <a:xfrm>
            <a:off x="566928" y="1627632"/>
            <a:ext cx="11055096" cy="1170432"/>
          </a:xfrm>
          <a:prstGeom prst="roundRect">
            <a:avLst>
              <a:gd name="adj" fmla="val 7031"/>
            </a:avLst>
          </a:prstGeom>
          <a:solidFill>
            <a:srgbClr val="F4F4F4"/>
          </a:solidFill>
          <a:ln/>
        </p:spPr>
      </p:sp>
      <p:sp>
        <p:nvSpPr>
          <p:cNvPr id="7" name="Shape 5"/>
          <p:cNvSpPr/>
          <p:nvPr/>
        </p:nvSpPr>
        <p:spPr>
          <a:xfrm>
            <a:off x="841248" y="1901952"/>
            <a:ext cx="1234440" cy="621792"/>
          </a:xfrm>
          <a:prstGeom prst="roundRect">
            <a:avLst>
              <a:gd name="adj" fmla="val 8824"/>
            </a:avLst>
          </a:prstGeom>
          <a:solidFill>
            <a:srgbClr val="575756"/>
          </a:solidFill>
          <a:ln/>
        </p:spPr>
      </p:sp>
      <p:sp>
        <p:nvSpPr>
          <p:cNvPr id="8" name="Text 6"/>
          <p:cNvSpPr/>
          <p:nvPr/>
        </p:nvSpPr>
        <p:spPr>
          <a:xfrm>
            <a:off x="841248" y="1901952"/>
            <a:ext cx="1234440"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kW</a:t>
            </a:r>
            <a:endParaRPr lang="en-US" sz="2200" dirty="0"/>
          </a:p>
        </p:txBody>
      </p:sp>
      <p:sp>
        <p:nvSpPr>
          <p:cNvPr id="9" name="Text 7"/>
          <p:cNvSpPr/>
          <p:nvPr/>
        </p:nvSpPr>
        <p:spPr>
          <a:xfrm>
            <a:off x="2350008" y="1856232"/>
            <a:ext cx="2743200" cy="347472"/>
          </a:xfrm>
          <a:prstGeom prst="rect">
            <a:avLst/>
          </a:prstGeom>
          <a:noFill/>
          <a:ln/>
        </p:spPr>
        <p:txBody>
          <a:bodyPr wrap="square" lIns="0" tIns="0" rIns="0" bIns="0" rtlCol="0" anchor="ctr"/>
          <a:lstStyle/>
          <a:p>
            <a:pPr indent="0" marL="0">
              <a:buNone/>
            </a:pPr>
            <a:r>
              <a:rPr lang="en-US" sz="1900" b="1" dirty="0">
                <a:solidFill>
                  <a:srgbClr val="575756"/>
                </a:solidFill>
                <a:latin typeface="Arial" pitchFamily="34" charset="0"/>
                <a:ea typeface="Arial" pitchFamily="34" charset="-122"/>
                <a:cs typeface="Arial" pitchFamily="34" charset="-120"/>
              </a:rPr>
              <a:t>Leistung</a:t>
            </a:r>
            <a:endParaRPr lang="en-US" sz="1900" dirty="0"/>
          </a:p>
        </p:txBody>
      </p:sp>
      <p:sp>
        <p:nvSpPr>
          <p:cNvPr id="10" name="Text 8"/>
          <p:cNvSpPr/>
          <p:nvPr/>
        </p:nvSpPr>
        <p:spPr>
          <a:xfrm>
            <a:off x="2350008" y="2231136"/>
            <a:ext cx="8860536" cy="45720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Wie weit der Wasserhahn gerade aufgedreht ist. Ein Moment, eine Momentaufnahme.</a:t>
            </a:r>
            <a:endParaRPr lang="en-US" sz="1300" dirty="0"/>
          </a:p>
        </p:txBody>
      </p:sp>
      <p:sp>
        <p:nvSpPr>
          <p:cNvPr id="11" name="Shape 9"/>
          <p:cNvSpPr/>
          <p:nvPr/>
        </p:nvSpPr>
        <p:spPr>
          <a:xfrm>
            <a:off x="566928" y="2962656"/>
            <a:ext cx="11055096" cy="1170432"/>
          </a:xfrm>
          <a:prstGeom prst="roundRect">
            <a:avLst>
              <a:gd name="adj" fmla="val 7031"/>
            </a:avLst>
          </a:prstGeom>
          <a:solidFill>
            <a:srgbClr val="F4F4F4"/>
          </a:solidFill>
          <a:ln/>
        </p:spPr>
      </p:sp>
      <p:sp>
        <p:nvSpPr>
          <p:cNvPr id="12" name="Shape 10"/>
          <p:cNvSpPr/>
          <p:nvPr/>
        </p:nvSpPr>
        <p:spPr>
          <a:xfrm>
            <a:off x="841248" y="3236976"/>
            <a:ext cx="1234440" cy="621792"/>
          </a:xfrm>
          <a:prstGeom prst="roundRect">
            <a:avLst>
              <a:gd name="adj" fmla="val 8824"/>
            </a:avLst>
          </a:prstGeom>
          <a:solidFill>
            <a:srgbClr val="E4022E"/>
          </a:solidFill>
          <a:ln/>
        </p:spPr>
      </p:sp>
      <p:sp>
        <p:nvSpPr>
          <p:cNvPr id="13" name="Text 11"/>
          <p:cNvSpPr/>
          <p:nvPr/>
        </p:nvSpPr>
        <p:spPr>
          <a:xfrm>
            <a:off x="841248" y="3236976"/>
            <a:ext cx="1234440"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kWh</a:t>
            </a:r>
            <a:endParaRPr lang="en-US" sz="2200" dirty="0"/>
          </a:p>
        </p:txBody>
      </p:sp>
      <p:sp>
        <p:nvSpPr>
          <p:cNvPr id="14" name="Text 12"/>
          <p:cNvSpPr/>
          <p:nvPr/>
        </p:nvSpPr>
        <p:spPr>
          <a:xfrm>
            <a:off x="2350008" y="3191256"/>
            <a:ext cx="2743200" cy="347472"/>
          </a:xfrm>
          <a:prstGeom prst="rect">
            <a:avLst/>
          </a:prstGeom>
          <a:noFill/>
          <a:ln/>
        </p:spPr>
        <p:txBody>
          <a:bodyPr wrap="square" lIns="0" tIns="0" rIns="0" bIns="0" rtlCol="0" anchor="ctr"/>
          <a:lstStyle/>
          <a:p>
            <a:pPr indent="0" marL="0">
              <a:buNone/>
            </a:pPr>
            <a:r>
              <a:rPr lang="en-US" sz="1900" b="1" dirty="0">
                <a:solidFill>
                  <a:srgbClr val="575756"/>
                </a:solidFill>
                <a:latin typeface="Arial" pitchFamily="34" charset="0"/>
                <a:ea typeface="Arial" pitchFamily="34" charset="-122"/>
                <a:cs typeface="Arial" pitchFamily="34" charset="-120"/>
              </a:rPr>
              <a:t>Energie</a:t>
            </a:r>
            <a:endParaRPr lang="en-US" sz="1900" dirty="0"/>
          </a:p>
        </p:txBody>
      </p:sp>
      <p:sp>
        <p:nvSpPr>
          <p:cNvPr id="15" name="Text 13"/>
          <p:cNvSpPr/>
          <p:nvPr/>
        </p:nvSpPr>
        <p:spPr>
          <a:xfrm>
            <a:off x="2350008" y="3566160"/>
            <a:ext cx="8860536" cy="45720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Wie viel Wasser am Ende im Eimer ist. Leistung mal Zeit.</a:t>
            </a:r>
            <a:endParaRPr lang="en-US" sz="1300" dirty="0"/>
          </a:p>
        </p:txBody>
      </p:sp>
      <p:sp>
        <p:nvSpPr>
          <p:cNvPr id="16" name="Shape 14"/>
          <p:cNvSpPr/>
          <p:nvPr/>
        </p:nvSpPr>
        <p:spPr>
          <a:xfrm>
            <a:off x="566928" y="4315968"/>
            <a:ext cx="11055096" cy="1481328"/>
          </a:xfrm>
          <a:prstGeom prst="roundRect">
            <a:avLst>
              <a:gd name="adj" fmla="val 5556"/>
            </a:avLst>
          </a:prstGeom>
          <a:solidFill>
            <a:srgbClr val="FBE0E6"/>
          </a:solidFill>
          <a:ln/>
        </p:spPr>
      </p:sp>
      <p:sp>
        <p:nvSpPr>
          <p:cNvPr id="17" name="Shape 15"/>
          <p:cNvSpPr/>
          <p:nvPr/>
        </p:nvSpPr>
        <p:spPr>
          <a:xfrm>
            <a:off x="877824" y="4626864"/>
            <a:ext cx="566928" cy="566928"/>
          </a:xfrm>
          <a:prstGeom prst="ellipse">
            <a:avLst/>
          </a:prstGeom>
          <a:solidFill>
            <a:srgbClr val="E4022E"/>
          </a:solidFill>
          <a:ln/>
        </p:spPr>
      </p:sp>
      <p:pic>
        <p:nvPicPr>
          <p:cNvPr id="18" name="Image 0" descr="/home/claude/ico/home_w.png">    </p:cNvPr>
          <p:cNvPicPr>
            <a:picLocks noChangeAspect="1"/>
          </p:cNvPicPr>
          <p:nvPr/>
        </p:nvPicPr>
        <p:blipFill>
          <a:blip r:embed="rId1"/>
          <a:stretch>
            <a:fillRect/>
          </a:stretch>
        </p:blipFill>
        <p:spPr>
          <a:xfrm>
            <a:off x="1025225" y="4774265"/>
            <a:ext cx="272125" cy="272125"/>
          </a:xfrm>
          <a:prstGeom prst="rect">
            <a:avLst/>
          </a:prstGeom>
        </p:spPr>
      </p:pic>
      <p:sp>
        <p:nvSpPr>
          <p:cNvPr id="19" name="Text 16"/>
          <p:cNvSpPr/>
          <p:nvPr/>
        </p:nvSpPr>
        <p:spPr>
          <a:xfrm>
            <a:off x="1627632" y="4517136"/>
            <a:ext cx="4572000" cy="292608"/>
          </a:xfrm>
          <a:prstGeom prst="rect">
            <a:avLst/>
          </a:prstGeom>
          <a:noFill/>
          <a:ln/>
        </p:spPr>
        <p:txBody>
          <a:bodyPr wrap="square" lIns="0" tIns="0" rIns="0" bIns="0" rtlCol="0" anchor="ctr"/>
          <a:lstStyle/>
          <a:p>
            <a:pPr indent="0" marL="0">
              <a:buNone/>
            </a:pPr>
            <a:r>
              <a:rPr lang="en-US" sz="1400" b="1" dirty="0">
                <a:solidFill>
                  <a:srgbClr val="E4022E"/>
                </a:solidFill>
                <a:latin typeface="Arial" pitchFamily="34" charset="0"/>
                <a:ea typeface="Arial" pitchFamily="34" charset="-122"/>
                <a:cs typeface="Arial" pitchFamily="34" charset="-120"/>
              </a:rPr>
              <a:t>Beispiel zum Merken</a:t>
            </a:r>
            <a:endParaRPr lang="en-US" sz="1400" dirty="0"/>
          </a:p>
        </p:txBody>
      </p:sp>
      <p:sp>
        <p:nvSpPr>
          <p:cNvPr id="20" name="Text 17"/>
          <p:cNvSpPr/>
          <p:nvPr/>
        </p:nvSpPr>
        <p:spPr>
          <a:xfrm>
            <a:off x="1627632" y="4846320"/>
            <a:ext cx="9500616" cy="822960"/>
          </a:xfrm>
          <a:prstGeom prst="rect">
            <a:avLst/>
          </a:prstGeom>
          <a:noFill/>
          <a:ln/>
        </p:spPr>
        <p:txBody>
          <a:bodyPr wrap="square" lIns="0" tIns="0" rIns="0" bIns="0" rtlCol="0" anchor="t"/>
          <a:lstStyle/>
          <a:p>
            <a:pPr indent="0" marL="0">
              <a:lnSpc>
                <a:spcPts val="1900"/>
              </a:lnSpc>
              <a:buNone/>
            </a:pPr>
            <a:r>
              <a:rPr lang="en-US" sz="1350" dirty="0">
                <a:solidFill>
                  <a:srgbClr val="575756"/>
                </a:solidFill>
                <a:latin typeface="Arial" pitchFamily="34" charset="0"/>
                <a:ea typeface="Arial" pitchFamily="34" charset="-122"/>
                <a:cs typeface="Arial" pitchFamily="34" charset="-120"/>
              </a:rPr>
              <a:t>Ein Haarföhn hat 2 kW Leistung. Läuft er eine Stunde, hat er 2 kWh Energie verbraucht. Läuft er zwei Stunden, sind es 4 kWh. Die Leistung bleibt gleich, die Energie wächst.</a:t>
            </a:r>
            <a:endParaRPr lang="en-US" sz="1350" dirty="0"/>
          </a:p>
        </p:txBody>
      </p:sp>
      <p:sp>
        <p:nvSpPr>
          <p:cNvPr id="21" name="Text 18"/>
          <p:cNvSpPr/>
          <p:nvPr/>
        </p:nvSpPr>
        <p:spPr>
          <a:xfrm>
            <a:off x="566928" y="5925312"/>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Warum das für uns zählt:  Die Leistung entscheidet, welche Maschine wir hinstellen.  Die Energie entscheidet, wie viel Treibstoff reingeht und was der Kunde am Ende zahlt.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GRUNDLAGEN · 3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kVA und kW: das Bierglas</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7</a:t>
            </a:r>
            <a:endParaRPr lang="en-US" sz="1000" dirty="0"/>
          </a:p>
        </p:txBody>
      </p:sp>
      <p:sp>
        <p:nvSpPr>
          <p:cNvPr id="6" name="Shape 4"/>
          <p:cNvSpPr/>
          <p:nvPr/>
        </p:nvSpPr>
        <p:spPr>
          <a:xfrm>
            <a:off x="566928" y="1627632"/>
            <a:ext cx="5349240" cy="3063240"/>
          </a:xfrm>
          <a:prstGeom prst="roundRect">
            <a:avLst>
              <a:gd name="adj" fmla="val 2687"/>
            </a:avLst>
          </a:prstGeom>
          <a:solidFill>
            <a:srgbClr val="F4F4F4"/>
          </a:solidFill>
          <a:ln/>
        </p:spPr>
      </p:sp>
      <p:sp>
        <p:nvSpPr>
          <p:cNvPr id="7" name="Shape 5"/>
          <p:cNvSpPr/>
          <p:nvPr/>
        </p:nvSpPr>
        <p:spPr>
          <a:xfrm>
            <a:off x="896112" y="1901952"/>
            <a:ext cx="621792" cy="621792"/>
          </a:xfrm>
          <a:prstGeom prst="ellipse">
            <a:avLst/>
          </a:prstGeom>
          <a:solidFill>
            <a:srgbClr val="E4022E"/>
          </a:solidFill>
          <a:ln/>
        </p:spPr>
      </p:sp>
      <p:pic>
        <p:nvPicPr>
          <p:cNvPr id="8" name="Image 0" descr="/home/claude/ico/beer_w.png">    </p:cNvPr>
          <p:cNvPicPr>
            <a:picLocks noChangeAspect="1"/>
          </p:cNvPicPr>
          <p:nvPr/>
        </p:nvPicPr>
        <p:blipFill>
          <a:blip r:embed="rId1"/>
          <a:stretch>
            <a:fillRect/>
          </a:stretch>
        </p:blipFill>
        <p:spPr>
          <a:xfrm>
            <a:off x="1057778" y="2063618"/>
            <a:ext cx="298460" cy="298460"/>
          </a:xfrm>
          <a:prstGeom prst="rect">
            <a:avLst/>
          </a:prstGeom>
        </p:spPr>
      </p:pic>
      <p:sp>
        <p:nvSpPr>
          <p:cNvPr id="9" name="Text 6"/>
          <p:cNvSpPr/>
          <p:nvPr/>
        </p:nvSpPr>
        <p:spPr>
          <a:xfrm>
            <a:off x="896112" y="2670048"/>
            <a:ext cx="466344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Das ganze Glas = kVA</a:t>
            </a:r>
            <a:endParaRPr lang="en-US" sz="1800" dirty="0"/>
          </a:p>
        </p:txBody>
      </p:sp>
      <p:sp>
        <p:nvSpPr>
          <p:cNvPr id="10" name="Text 7"/>
          <p:cNvSpPr/>
          <p:nvPr/>
        </p:nvSpPr>
        <p:spPr>
          <a:xfrm>
            <a:off x="896112" y="3054096"/>
            <a:ext cx="4663440" cy="960120"/>
          </a:xfrm>
          <a:prstGeom prst="rect">
            <a:avLst/>
          </a:prstGeom>
          <a:noFill/>
          <a:ln/>
        </p:spPr>
        <p:txBody>
          <a:bodyPr wrap="square" lIns="0" tIns="0" rIns="0" bIns="0" rtlCol="0" anchor="t"/>
          <a:lstStyle/>
          <a:p>
            <a:pPr indent="0" marL="0">
              <a:lnSpc>
                <a:spcPts val="1900"/>
              </a:lnSpc>
              <a:buNone/>
            </a:pPr>
            <a:r>
              <a:rPr lang="en-US" sz="1350" dirty="0">
                <a:solidFill>
                  <a:srgbClr val="575756"/>
                </a:solidFill>
                <a:latin typeface="Arial" pitchFamily="34" charset="0"/>
                <a:ea typeface="Arial" pitchFamily="34" charset="-122"/>
                <a:cs typeface="Arial" pitchFamily="34" charset="-120"/>
              </a:rPr>
              <a:t>Bier plus Schaum. Das ist die Grösse, die auf unseren Maschinen steht. Der Schaum braucht Platz im Glas, macht aber niemanden satt.</a:t>
            </a:r>
            <a:endParaRPr lang="en-US" sz="1350" dirty="0"/>
          </a:p>
        </p:txBody>
      </p:sp>
      <p:sp>
        <p:nvSpPr>
          <p:cNvPr id="11" name="Text 8"/>
          <p:cNvSpPr/>
          <p:nvPr/>
        </p:nvSpPr>
        <p:spPr>
          <a:xfrm>
            <a:off x="896112" y="4114800"/>
            <a:ext cx="4663440" cy="274320"/>
          </a:xfrm>
          <a:prstGeom prst="rect">
            <a:avLst/>
          </a:prstGeom>
          <a:noFill/>
          <a:ln/>
        </p:spPr>
        <p:txBody>
          <a:bodyPr wrap="square" lIns="0" tIns="0" rIns="0" bIns="0" rtlCol="0" anchor="ctr"/>
          <a:lstStyle/>
          <a:p>
            <a:pPr indent="0" marL="0">
              <a:buNone/>
            </a:pPr>
            <a:r>
              <a:rPr lang="en-US" sz="1200" b="1" dirty="0">
                <a:solidFill>
                  <a:srgbClr val="E4022E"/>
                </a:solidFill>
                <a:latin typeface="Arial" pitchFamily="34" charset="0"/>
                <a:ea typeface="Arial" pitchFamily="34" charset="-122"/>
                <a:cs typeface="Arial" pitchFamily="34" charset="-120"/>
              </a:rPr>
              <a:t>Fachbegriff: Scheinleistung</a:t>
            </a:r>
            <a:endParaRPr lang="en-US" sz="1200" dirty="0"/>
          </a:p>
        </p:txBody>
      </p:sp>
      <p:sp>
        <p:nvSpPr>
          <p:cNvPr id="12" name="Shape 9"/>
          <p:cNvSpPr/>
          <p:nvPr/>
        </p:nvSpPr>
        <p:spPr>
          <a:xfrm>
            <a:off x="6272784" y="1627632"/>
            <a:ext cx="5349240" cy="3063240"/>
          </a:xfrm>
          <a:prstGeom prst="roundRect">
            <a:avLst>
              <a:gd name="adj" fmla="val 2687"/>
            </a:avLst>
          </a:prstGeom>
          <a:solidFill>
            <a:srgbClr val="F4F4F4"/>
          </a:solidFill>
          <a:ln/>
        </p:spPr>
      </p:sp>
      <p:sp>
        <p:nvSpPr>
          <p:cNvPr id="13" name="Shape 10"/>
          <p:cNvSpPr/>
          <p:nvPr/>
        </p:nvSpPr>
        <p:spPr>
          <a:xfrm>
            <a:off x="6601968" y="1901952"/>
            <a:ext cx="621792" cy="621792"/>
          </a:xfrm>
          <a:prstGeom prst="ellipse">
            <a:avLst/>
          </a:prstGeom>
          <a:solidFill>
            <a:srgbClr val="575756"/>
          </a:solidFill>
          <a:ln/>
        </p:spPr>
      </p:sp>
      <p:pic>
        <p:nvPicPr>
          <p:cNvPr id="14" name="Image 1" descr="/home/claude/ico/bolt_w.png">    </p:cNvPr>
          <p:cNvPicPr>
            <a:picLocks noChangeAspect="1"/>
          </p:cNvPicPr>
          <p:nvPr/>
        </p:nvPicPr>
        <p:blipFill>
          <a:blip r:embed="rId2"/>
          <a:stretch>
            <a:fillRect/>
          </a:stretch>
        </p:blipFill>
        <p:spPr>
          <a:xfrm>
            <a:off x="6763634" y="2063618"/>
            <a:ext cx="298460" cy="298460"/>
          </a:xfrm>
          <a:prstGeom prst="rect">
            <a:avLst/>
          </a:prstGeom>
        </p:spPr>
      </p:pic>
      <p:sp>
        <p:nvSpPr>
          <p:cNvPr id="15" name="Text 11"/>
          <p:cNvSpPr/>
          <p:nvPr/>
        </p:nvSpPr>
        <p:spPr>
          <a:xfrm>
            <a:off x="6601968" y="2670048"/>
            <a:ext cx="466344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Das trinkbare Bier = kW</a:t>
            </a:r>
            <a:endParaRPr lang="en-US" sz="1800" dirty="0"/>
          </a:p>
        </p:txBody>
      </p:sp>
      <p:sp>
        <p:nvSpPr>
          <p:cNvPr id="16" name="Text 12"/>
          <p:cNvSpPr/>
          <p:nvPr/>
        </p:nvSpPr>
        <p:spPr>
          <a:xfrm>
            <a:off x="6601968" y="3054096"/>
            <a:ext cx="4663440" cy="960120"/>
          </a:xfrm>
          <a:prstGeom prst="rect">
            <a:avLst/>
          </a:prstGeom>
          <a:noFill/>
          <a:ln/>
        </p:spPr>
        <p:txBody>
          <a:bodyPr wrap="square" lIns="0" tIns="0" rIns="0" bIns="0" rtlCol="0" anchor="t"/>
          <a:lstStyle/>
          <a:p>
            <a:pPr indent="0" marL="0">
              <a:lnSpc>
                <a:spcPts val="1900"/>
              </a:lnSpc>
              <a:buNone/>
            </a:pPr>
            <a:r>
              <a:rPr lang="en-US" sz="1350" dirty="0">
                <a:solidFill>
                  <a:srgbClr val="575756"/>
                </a:solidFill>
                <a:latin typeface="Arial" pitchFamily="34" charset="0"/>
                <a:ea typeface="Arial" pitchFamily="34" charset="-122"/>
                <a:cs typeface="Arial" pitchFamily="34" charset="-120"/>
              </a:rPr>
              <a:t>Der Teil, der wirklich Arbeit leistet: Kran heben, Licht machen, Server laufen lassen. Das ist, was der Kunde eigentlich will.</a:t>
            </a:r>
            <a:endParaRPr lang="en-US" sz="1350" dirty="0"/>
          </a:p>
        </p:txBody>
      </p:sp>
      <p:sp>
        <p:nvSpPr>
          <p:cNvPr id="17" name="Text 13"/>
          <p:cNvSpPr/>
          <p:nvPr/>
        </p:nvSpPr>
        <p:spPr>
          <a:xfrm>
            <a:off x="6601968" y="4114800"/>
            <a:ext cx="4663440" cy="274320"/>
          </a:xfrm>
          <a:prstGeom prst="rect">
            <a:avLst/>
          </a:prstGeom>
          <a:noFill/>
          <a:ln/>
        </p:spPr>
        <p:txBody>
          <a:bodyPr wrap="square" lIns="0" tIns="0" rIns="0" bIns="0" rtlCol="0" anchor="ctr"/>
          <a:lstStyle/>
          <a:p>
            <a:pPr indent="0" marL="0">
              <a:buNone/>
            </a:pPr>
            <a:r>
              <a:rPr lang="en-US" sz="1200" b="1" dirty="0">
                <a:solidFill>
                  <a:srgbClr val="E4022E"/>
                </a:solidFill>
                <a:latin typeface="Arial" pitchFamily="34" charset="0"/>
                <a:ea typeface="Arial" pitchFamily="34" charset="-122"/>
                <a:cs typeface="Arial" pitchFamily="34" charset="-120"/>
              </a:rPr>
              <a:t>Fachbegriff: Wirkleistung</a:t>
            </a:r>
            <a:endParaRPr lang="en-US" sz="1200" dirty="0"/>
          </a:p>
        </p:txBody>
      </p:sp>
      <p:sp>
        <p:nvSpPr>
          <p:cNvPr id="18" name="Shape 14"/>
          <p:cNvSpPr/>
          <p:nvPr/>
        </p:nvSpPr>
        <p:spPr>
          <a:xfrm>
            <a:off x="566928" y="4864608"/>
            <a:ext cx="11055096" cy="969264"/>
          </a:xfrm>
          <a:prstGeom prst="roundRect">
            <a:avLst>
              <a:gd name="adj" fmla="val 8491"/>
            </a:avLst>
          </a:prstGeom>
          <a:solidFill>
            <a:srgbClr val="575756"/>
          </a:solidFill>
          <a:ln/>
        </p:spPr>
      </p:sp>
      <p:sp>
        <p:nvSpPr>
          <p:cNvPr id="19" name="Text 15"/>
          <p:cNvSpPr/>
          <p:nvPr/>
        </p:nvSpPr>
        <p:spPr>
          <a:xfrm>
            <a:off x="932688" y="5010912"/>
            <a:ext cx="3291840" cy="274320"/>
          </a:xfrm>
          <a:prstGeom prst="rect">
            <a:avLst/>
          </a:prstGeom>
          <a:noFill/>
          <a:ln/>
        </p:spPr>
        <p:txBody>
          <a:bodyPr wrap="square" lIns="0" tIns="0" rIns="0" bIns="0" rtlCol="0" anchor="ctr"/>
          <a:lstStyle/>
          <a:p>
            <a:pPr indent="0" marL="0">
              <a:buNone/>
            </a:pPr>
            <a:r>
              <a:rPr lang="en-US" sz="1250" b="1" dirty="0">
                <a:solidFill>
                  <a:srgbClr val="E4022E"/>
                </a:solidFill>
                <a:latin typeface="Arial" pitchFamily="34" charset="0"/>
                <a:ea typeface="Arial" pitchFamily="34" charset="-122"/>
                <a:cs typeface="Arial" pitchFamily="34" charset="-120"/>
              </a:rPr>
              <a:t>Umrechnung, die immer gilt:</a:t>
            </a:r>
            <a:endParaRPr lang="en-US" sz="1250" dirty="0"/>
          </a:p>
        </p:txBody>
      </p:sp>
      <p:sp>
        <p:nvSpPr>
          <p:cNvPr id="20" name="Text 16"/>
          <p:cNvSpPr/>
          <p:nvPr/>
        </p:nvSpPr>
        <p:spPr>
          <a:xfrm>
            <a:off x="932688" y="5303520"/>
            <a:ext cx="10323576"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kVA × cos φ = kW      ·      typisch: 100 kVA Glas ergibt rund 80 kW Bier</a:t>
            </a:r>
            <a:endParaRPr lang="en-US" sz="1600" dirty="0"/>
          </a:p>
        </p:txBody>
      </p:sp>
      <p:sp>
        <p:nvSpPr>
          <p:cNvPr id="21" name="Text 17"/>
          <p:cNvSpPr/>
          <p:nvPr/>
        </p:nvSpPr>
        <p:spPr>
          <a:xfrm>
            <a:off x="566928" y="5943600"/>
            <a:ext cx="11055096" cy="310896"/>
          </a:xfrm>
          <a:prstGeom prst="rect">
            <a:avLst/>
          </a:prstGeom>
          <a:noFill/>
          <a:ln/>
        </p:spPr>
        <p:txBody>
          <a:bodyPr wrap="square" lIns="0" tIns="0" rIns="0" bIns="0" rtlCol="0" anchor="ctr"/>
          <a:lstStyle/>
          <a:p>
            <a:pPr indent="0" marL="0">
              <a:buNone/>
            </a:pPr>
            <a:r>
              <a:rPr lang="en-US" sz="1150" i="1" dirty="0">
                <a:solidFill>
                  <a:srgbClr val="8A8A8C"/>
                </a:solidFill>
                <a:latin typeface="Arial" pitchFamily="34" charset="0"/>
                <a:ea typeface="Arial" pitchFamily="34" charset="-122"/>
                <a:cs typeface="Arial" pitchFamily="34" charset="-120"/>
              </a:rPr>
              <a:t>Regel für alle Texte: Unsere Maschinen werden in kVA angeboten. Der Kunde denkt in kW. Nie die beiden Zahlen gleichsetzen — das ist der Klassiker, an dem Techniker sofort merken, dass jemand nicht vom Fach ist.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GRUNDLAGEN · 4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Warum es drei Kabel sind und nicht eines</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8</a:t>
            </a:r>
            <a:endParaRPr lang="en-US" sz="1000" dirty="0"/>
          </a:p>
        </p:txBody>
      </p:sp>
      <p:sp>
        <p:nvSpPr>
          <p:cNvPr id="6" name="Shape 4"/>
          <p:cNvSpPr/>
          <p:nvPr/>
        </p:nvSpPr>
        <p:spPr>
          <a:xfrm>
            <a:off x="566928" y="1645920"/>
            <a:ext cx="11055096" cy="1261872"/>
          </a:xfrm>
          <a:prstGeom prst="roundRect">
            <a:avLst>
              <a:gd name="adj" fmla="val 6522"/>
            </a:avLst>
          </a:prstGeom>
          <a:solidFill>
            <a:srgbClr val="F4F4F4"/>
          </a:solidFill>
          <a:ln/>
        </p:spPr>
      </p:sp>
      <p:sp>
        <p:nvSpPr>
          <p:cNvPr id="7" name="Shape 5"/>
          <p:cNvSpPr/>
          <p:nvPr/>
        </p:nvSpPr>
        <p:spPr>
          <a:xfrm>
            <a:off x="877824" y="1956816"/>
            <a:ext cx="640080" cy="640080"/>
          </a:xfrm>
          <a:prstGeom prst="ellipse">
            <a:avLst/>
          </a:prstGeom>
          <a:solidFill>
            <a:srgbClr val="575756"/>
          </a:solidFill>
          <a:ln/>
        </p:spPr>
      </p:sp>
      <p:pic>
        <p:nvPicPr>
          <p:cNvPr id="8" name="Image 0" descr="/home/claude/ico/wave_w.png">    </p:cNvPr>
          <p:cNvPicPr>
            <a:picLocks noChangeAspect="1"/>
          </p:cNvPicPr>
          <p:nvPr/>
        </p:nvPicPr>
        <p:blipFill>
          <a:blip r:embed="rId1"/>
          <a:stretch>
            <a:fillRect/>
          </a:stretch>
        </p:blipFill>
        <p:spPr>
          <a:xfrm>
            <a:off x="1044245" y="2123237"/>
            <a:ext cx="307238" cy="307238"/>
          </a:xfrm>
          <a:prstGeom prst="rect">
            <a:avLst/>
          </a:prstGeom>
        </p:spPr>
      </p:pic>
      <p:sp>
        <p:nvSpPr>
          <p:cNvPr id="9" name="Text 6"/>
          <p:cNvSpPr/>
          <p:nvPr/>
        </p:nvSpPr>
        <p:spPr>
          <a:xfrm>
            <a:off x="1737360" y="1865376"/>
            <a:ext cx="384048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Strom schwingt</a:t>
            </a:r>
            <a:endParaRPr lang="en-US" sz="1800" dirty="0"/>
          </a:p>
        </p:txBody>
      </p:sp>
      <p:sp>
        <p:nvSpPr>
          <p:cNvPr id="10" name="Text 7"/>
          <p:cNvSpPr/>
          <p:nvPr/>
        </p:nvSpPr>
        <p:spPr>
          <a:xfrm>
            <a:off x="1737360" y="2231136"/>
            <a:ext cx="9454896" cy="566928"/>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Er fliesst nicht gerade durch, sondern wechselt 50 Mal pro Sekunde die Richtung. Das nennt man 50 Hertz. Es ist der Herzschlag des Netzes.</a:t>
            </a:r>
            <a:endParaRPr lang="en-US" sz="1300" dirty="0"/>
          </a:p>
        </p:txBody>
      </p:sp>
      <p:sp>
        <p:nvSpPr>
          <p:cNvPr id="11" name="Shape 8"/>
          <p:cNvSpPr/>
          <p:nvPr/>
        </p:nvSpPr>
        <p:spPr>
          <a:xfrm>
            <a:off x="566928" y="3072384"/>
            <a:ext cx="11055096" cy="1261872"/>
          </a:xfrm>
          <a:prstGeom prst="roundRect">
            <a:avLst>
              <a:gd name="adj" fmla="val 6522"/>
            </a:avLst>
          </a:prstGeom>
          <a:solidFill>
            <a:srgbClr val="F4F4F4"/>
          </a:solidFill>
          <a:ln/>
        </p:spPr>
      </p:sp>
      <p:sp>
        <p:nvSpPr>
          <p:cNvPr id="12" name="Shape 9"/>
          <p:cNvSpPr/>
          <p:nvPr/>
        </p:nvSpPr>
        <p:spPr>
          <a:xfrm>
            <a:off x="877824" y="3383280"/>
            <a:ext cx="640080" cy="640080"/>
          </a:xfrm>
          <a:prstGeom prst="ellipse">
            <a:avLst/>
          </a:prstGeom>
          <a:solidFill>
            <a:srgbClr val="575756"/>
          </a:solidFill>
          <a:ln/>
        </p:spPr>
      </p:sp>
      <p:pic>
        <p:nvPicPr>
          <p:cNvPr id="13" name="Image 1" descr="/home/claude/ico/plug_w.png">    </p:cNvPr>
          <p:cNvPicPr>
            <a:picLocks noChangeAspect="1"/>
          </p:cNvPicPr>
          <p:nvPr/>
        </p:nvPicPr>
        <p:blipFill>
          <a:blip r:embed="rId2"/>
          <a:stretch>
            <a:fillRect/>
          </a:stretch>
        </p:blipFill>
        <p:spPr>
          <a:xfrm>
            <a:off x="1044245" y="3549701"/>
            <a:ext cx="307238" cy="307238"/>
          </a:xfrm>
          <a:prstGeom prst="rect">
            <a:avLst/>
          </a:prstGeom>
        </p:spPr>
      </p:pic>
      <p:sp>
        <p:nvSpPr>
          <p:cNvPr id="14" name="Text 10"/>
          <p:cNvSpPr/>
          <p:nvPr/>
        </p:nvSpPr>
        <p:spPr>
          <a:xfrm>
            <a:off x="1737360" y="3291840"/>
            <a:ext cx="384048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Drei Phasen statt einer</a:t>
            </a:r>
            <a:endParaRPr lang="en-US" sz="1800" dirty="0"/>
          </a:p>
        </p:txBody>
      </p:sp>
      <p:sp>
        <p:nvSpPr>
          <p:cNvPr id="15" name="Text 11"/>
          <p:cNvSpPr/>
          <p:nvPr/>
        </p:nvSpPr>
        <p:spPr>
          <a:xfrm>
            <a:off x="1737360" y="3657600"/>
            <a:ext cx="9454896" cy="566928"/>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Drei Leitungen, zeitlich versetzt. Wie drei Personen, die abwechselnd in die Pedale treten: Es entsteht nie eine Lücke, die Maschine läuft rund.</a:t>
            </a:r>
            <a:endParaRPr lang="en-US" sz="1300" dirty="0"/>
          </a:p>
        </p:txBody>
      </p:sp>
      <p:sp>
        <p:nvSpPr>
          <p:cNvPr id="16" name="Shape 12"/>
          <p:cNvSpPr/>
          <p:nvPr/>
        </p:nvSpPr>
        <p:spPr>
          <a:xfrm>
            <a:off x="566928" y="4498848"/>
            <a:ext cx="11055096" cy="1261872"/>
          </a:xfrm>
          <a:prstGeom prst="roundRect">
            <a:avLst>
              <a:gd name="adj" fmla="val 6522"/>
            </a:avLst>
          </a:prstGeom>
          <a:solidFill>
            <a:srgbClr val="F4F4F4"/>
          </a:solidFill>
          <a:ln/>
        </p:spPr>
      </p:sp>
      <p:sp>
        <p:nvSpPr>
          <p:cNvPr id="17" name="Shape 13"/>
          <p:cNvSpPr/>
          <p:nvPr/>
        </p:nvSpPr>
        <p:spPr>
          <a:xfrm>
            <a:off x="877824" y="4809744"/>
            <a:ext cx="640080" cy="640080"/>
          </a:xfrm>
          <a:prstGeom prst="ellipse">
            <a:avLst/>
          </a:prstGeom>
          <a:solidFill>
            <a:srgbClr val="575756"/>
          </a:solidFill>
          <a:ln/>
        </p:spPr>
      </p:sp>
      <p:pic>
        <p:nvPicPr>
          <p:cNvPr id="18" name="Image 2" descr="/home/claude/ico/home_w.png">    </p:cNvPr>
          <p:cNvPicPr>
            <a:picLocks noChangeAspect="1"/>
          </p:cNvPicPr>
          <p:nvPr/>
        </p:nvPicPr>
        <p:blipFill>
          <a:blip r:embed="rId3"/>
          <a:stretch>
            <a:fillRect/>
          </a:stretch>
        </p:blipFill>
        <p:spPr>
          <a:xfrm>
            <a:off x="1044245" y="4976165"/>
            <a:ext cx="307238" cy="307238"/>
          </a:xfrm>
          <a:prstGeom prst="rect">
            <a:avLst/>
          </a:prstGeom>
        </p:spPr>
      </p:pic>
      <p:sp>
        <p:nvSpPr>
          <p:cNvPr id="19" name="Text 14"/>
          <p:cNvSpPr/>
          <p:nvPr/>
        </p:nvSpPr>
        <p:spPr>
          <a:xfrm>
            <a:off x="1737360" y="4718304"/>
            <a:ext cx="384048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Schweizer Werte</a:t>
            </a:r>
            <a:endParaRPr lang="en-US" sz="1800" dirty="0"/>
          </a:p>
        </p:txBody>
      </p:sp>
      <p:sp>
        <p:nvSpPr>
          <p:cNvPr id="20" name="Text 15"/>
          <p:cNvSpPr/>
          <p:nvPr/>
        </p:nvSpPr>
        <p:spPr>
          <a:xfrm>
            <a:off x="1737360" y="5084064"/>
            <a:ext cx="9454896" cy="566928"/>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400 Volt zwischen den Phasen für Maschinen und Kräne. 230 Volt für die normale Steckdose. Beides kommt aus demselben Kabel.</a:t>
            </a:r>
            <a:endParaRPr lang="en-US" sz="1300" dirty="0"/>
          </a:p>
        </p:txBody>
      </p:sp>
      <p:sp>
        <p:nvSpPr>
          <p:cNvPr id="21" name="Text 16"/>
          <p:cNvSpPr/>
          <p:nvPr/>
        </p:nvSpPr>
        <p:spPr>
          <a:xfrm>
            <a:off x="566928" y="5925312"/>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Für euch reicht: Drehstrom ist der Normalfall bei allem, was wir vermieten. Wenn ein Kunde von 400 Volt spricht, meint er genau das.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GRUNDLAGEN · 5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Am Netz oder auf der eigenen Insel</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9</a:t>
            </a:r>
            <a:endParaRPr lang="en-US" sz="1000" dirty="0"/>
          </a:p>
        </p:txBody>
      </p:sp>
      <p:sp>
        <p:nvSpPr>
          <p:cNvPr id="6" name="Shape 4"/>
          <p:cNvSpPr/>
          <p:nvPr/>
        </p:nvSpPr>
        <p:spPr>
          <a:xfrm>
            <a:off x="566928" y="1645920"/>
            <a:ext cx="5349240" cy="3017520"/>
          </a:xfrm>
          <a:prstGeom prst="roundRect">
            <a:avLst>
              <a:gd name="adj" fmla="val 2727"/>
            </a:avLst>
          </a:prstGeom>
          <a:solidFill>
            <a:srgbClr val="F4F4F4"/>
          </a:solidFill>
          <a:ln/>
        </p:spPr>
      </p:sp>
      <p:sp>
        <p:nvSpPr>
          <p:cNvPr id="7" name="Shape 5"/>
          <p:cNvSpPr/>
          <p:nvPr/>
        </p:nvSpPr>
        <p:spPr>
          <a:xfrm>
            <a:off x="896112" y="1920240"/>
            <a:ext cx="621792" cy="621792"/>
          </a:xfrm>
          <a:prstGeom prst="ellipse">
            <a:avLst/>
          </a:prstGeom>
          <a:solidFill>
            <a:srgbClr val="575756"/>
          </a:solidFill>
          <a:ln/>
        </p:spPr>
      </p:sp>
      <p:pic>
        <p:nvPicPr>
          <p:cNvPr id="8" name="Image 0" descr="/home/claude/ico/grid_w.png">    </p:cNvPr>
          <p:cNvPicPr>
            <a:picLocks noChangeAspect="1"/>
          </p:cNvPicPr>
          <p:nvPr/>
        </p:nvPicPr>
        <p:blipFill>
          <a:blip r:embed="rId1"/>
          <a:stretch>
            <a:fillRect/>
          </a:stretch>
        </p:blipFill>
        <p:spPr>
          <a:xfrm>
            <a:off x="1057778" y="2081906"/>
            <a:ext cx="298460" cy="298460"/>
          </a:xfrm>
          <a:prstGeom prst="rect">
            <a:avLst/>
          </a:prstGeom>
        </p:spPr>
      </p:pic>
      <p:sp>
        <p:nvSpPr>
          <p:cNvPr id="9" name="Text 6"/>
          <p:cNvSpPr/>
          <p:nvPr/>
        </p:nvSpPr>
        <p:spPr>
          <a:xfrm>
            <a:off x="896112" y="2688336"/>
            <a:ext cx="4663440" cy="329184"/>
          </a:xfrm>
          <a:prstGeom prst="rect">
            <a:avLst/>
          </a:prstGeom>
          <a:noFill/>
          <a:ln/>
        </p:spPr>
        <p:txBody>
          <a:bodyPr wrap="square" lIns="0" tIns="0" rIns="0" bIns="0" rtlCol="0" anchor="ctr"/>
          <a:lstStyle/>
          <a:p>
            <a:pPr indent="0" marL="0">
              <a:buNone/>
            </a:pPr>
            <a:r>
              <a:rPr lang="en-US" sz="1900" b="1" dirty="0">
                <a:solidFill>
                  <a:srgbClr val="575756"/>
                </a:solidFill>
                <a:latin typeface="Arial" pitchFamily="34" charset="0"/>
                <a:ea typeface="Arial" pitchFamily="34" charset="-122"/>
                <a:cs typeface="Arial" pitchFamily="34" charset="-120"/>
              </a:rPr>
              <a:t>Netzbetrieb</a:t>
            </a:r>
            <a:endParaRPr lang="en-US" sz="1900" dirty="0"/>
          </a:p>
        </p:txBody>
      </p:sp>
      <p:sp>
        <p:nvSpPr>
          <p:cNvPr id="10" name="Text 7"/>
          <p:cNvSpPr/>
          <p:nvPr/>
        </p:nvSpPr>
        <p:spPr>
          <a:xfrm>
            <a:off x="896112" y="3090672"/>
            <a:ext cx="4663440" cy="1005840"/>
          </a:xfrm>
          <a:prstGeom prst="rect">
            <a:avLst/>
          </a:prstGeom>
          <a:noFill/>
          <a:ln/>
        </p:spPr>
        <p:txBody>
          <a:bodyPr wrap="square" lIns="0" tIns="0" rIns="0" bIns="0" rtlCol="0" anchor="t"/>
          <a:lstStyle/>
          <a:p>
            <a:pPr indent="0" marL="0">
              <a:lnSpc>
                <a:spcPts val="1900"/>
              </a:lnSpc>
              <a:buNone/>
            </a:pPr>
            <a:r>
              <a:rPr lang="en-US" sz="1350" dirty="0">
                <a:solidFill>
                  <a:srgbClr val="575756"/>
                </a:solidFill>
                <a:latin typeface="Arial" pitchFamily="34" charset="0"/>
                <a:ea typeface="Arial" pitchFamily="34" charset="-122"/>
                <a:cs typeface="Arial" pitchFamily="34" charset="-120"/>
              </a:rPr>
              <a:t>Der Strom kommt vom Elektrizitätswerk. Das Netz ist riesig und träge. Wenn eine grosse Maschine anspringt, merkt das Netz das kaum.</a:t>
            </a:r>
            <a:endParaRPr lang="en-US" sz="1350" dirty="0"/>
          </a:p>
        </p:txBody>
      </p:sp>
      <p:sp>
        <p:nvSpPr>
          <p:cNvPr id="11" name="Text 8"/>
          <p:cNvSpPr/>
          <p:nvPr/>
        </p:nvSpPr>
        <p:spPr>
          <a:xfrm>
            <a:off x="896112" y="4114800"/>
            <a:ext cx="4663440" cy="384048"/>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Bild: der Rhein. Ein Eimer Wasser raus fällt nicht auf.</a:t>
            </a:r>
            <a:endParaRPr lang="en-US" sz="1200" dirty="0"/>
          </a:p>
        </p:txBody>
      </p:sp>
      <p:sp>
        <p:nvSpPr>
          <p:cNvPr id="12" name="Shape 9"/>
          <p:cNvSpPr/>
          <p:nvPr/>
        </p:nvSpPr>
        <p:spPr>
          <a:xfrm>
            <a:off x="6272784" y="1645920"/>
            <a:ext cx="5349240" cy="3017520"/>
          </a:xfrm>
          <a:prstGeom prst="roundRect">
            <a:avLst>
              <a:gd name="adj" fmla="val 2727"/>
            </a:avLst>
          </a:prstGeom>
          <a:solidFill>
            <a:srgbClr val="F4F4F4"/>
          </a:solidFill>
          <a:ln/>
        </p:spPr>
      </p:sp>
      <p:sp>
        <p:nvSpPr>
          <p:cNvPr id="13" name="Shape 10"/>
          <p:cNvSpPr/>
          <p:nvPr/>
        </p:nvSpPr>
        <p:spPr>
          <a:xfrm>
            <a:off x="6601968" y="1920240"/>
            <a:ext cx="621792" cy="621792"/>
          </a:xfrm>
          <a:prstGeom prst="ellipse">
            <a:avLst/>
          </a:prstGeom>
          <a:solidFill>
            <a:srgbClr val="E4022E"/>
          </a:solidFill>
          <a:ln/>
        </p:spPr>
      </p:sp>
      <p:pic>
        <p:nvPicPr>
          <p:cNvPr id="14" name="Image 1" descr="/home/claude/ico/island_w.png">    </p:cNvPr>
          <p:cNvPicPr>
            <a:picLocks noChangeAspect="1"/>
          </p:cNvPicPr>
          <p:nvPr/>
        </p:nvPicPr>
        <p:blipFill>
          <a:blip r:embed="rId2"/>
          <a:stretch>
            <a:fillRect/>
          </a:stretch>
        </p:blipFill>
        <p:spPr>
          <a:xfrm>
            <a:off x="6763634" y="2081906"/>
            <a:ext cx="298460" cy="298460"/>
          </a:xfrm>
          <a:prstGeom prst="rect">
            <a:avLst/>
          </a:prstGeom>
        </p:spPr>
      </p:pic>
      <p:sp>
        <p:nvSpPr>
          <p:cNvPr id="15" name="Text 11"/>
          <p:cNvSpPr/>
          <p:nvPr/>
        </p:nvSpPr>
        <p:spPr>
          <a:xfrm>
            <a:off x="6601968" y="2688336"/>
            <a:ext cx="4663440" cy="329184"/>
          </a:xfrm>
          <a:prstGeom prst="rect">
            <a:avLst/>
          </a:prstGeom>
          <a:noFill/>
          <a:ln/>
        </p:spPr>
        <p:txBody>
          <a:bodyPr wrap="square" lIns="0" tIns="0" rIns="0" bIns="0" rtlCol="0" anchor="ctr"/>
          <a:lstStyle/>
          <a:p>
            <a:pPr indent="0" marL="0">
              <a:buNone/>
            </a:pPr>
            <a:r>
              <a:rPr lang="en-US" sz="1900" b="1" dirty="0">
                <a:solidFill>
                  <a:srgbClr val="575756"/>
                </a:solidFill>
                <a:latin typeface="Arial" pitchFamily="34" charset="0"/>
                <a:ea typeface="Arial" pitchFamily="34" charset="-122"/>
                <a:cs typeface="Arial" pitchFamily="34" charset="-120"/>
              </a:rPr>
              <a:t>Inselbetrieb</a:t>
            </a:r>
            <a:endParaRPr lang="en-US" sz="1900" dirty="0"/>
          </a:p>
        </p:txBody>
      </p:sp>
      <p:sp>
        <p:nvSpPr>
          <p:cNvPr id="16" name="Text 12"/>
          <p:cNvSpPr/>
          <p:nvPr/>
        </p:nvSpPr>
        <p:spPr>
          <a:xfrm>
            <a:off x="6601968" y="3090672"/>
            <a:ext cx="4663440" cy="1005840"/>
          </a:xfrm>
          <a:prstGeom prst="rect">
            <a:avLst/>
          </a:prstGeom>
          <a:noFill/>
          <a:ln/>
        </p:spPr>
        <p:txBody>
          <a:bodyPr wrap="square" lIns="0" tIns="0" rIns="0" bIns="0" rtlCol="0" anchor="t"/>
          <a:lstStyle/>
          <a:p>
            <a:pPr indent="0" marL="0">
              <a:lnSpc>
                <a:spcPts val="1900"/>
              </a:lnSpc>
              <a:buNone/>
            </a:pPr>
            <a:r>
              <a:rPr lang="en-US" sz="1350" dirty="0">
                <a:solidFill>
                  <a:srgbClr val="575756"/>
                </a:solidFill>
                <a:latin typeface="Arial" pitchFamily="34" charset="0"/>
                <a:ea typeface="Arial" pitchFamily="34" charset="-122"/>
                <a:cs typeface="Arial" pitchFamily="34" charset="-120"/>
              </a:rPr>
              <a:t>Unser Generator ist das Kraftwerk. Er macht Spannung und Frequenz selbst. Jede Last, die anspringt, spürt er sofort.</a:t>
            </a:r>
            <a:endParaRPr lang="en-US" sz="1350" dirty="0"/>
          </a:p>
        </p:txBody>
      </p:sp>
      <p:sp>
        <p:nvSpPr>
          <p:cNvPr id="17" name="Text 13"/>
          <p:cNvSpPr/>
          <p:nvPr/>
        </p:nvSpPr>
        <p:spPr>
          <a:xfrm>
            <a:off x="6601968" y="4114800"/>
            <a:ext cx="4663440" cy="384048"/>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Bild: ein Gartenteich. Ein Eimer raus, und der Pegel sinkt.</a:t>
            </a:r>
            <a:endParaRPr lang="en-US" sz="1200" dirty="0"/>
          </a:p>
        </p:txBody>
      </p:sp>
      <p:sp>
        <p:nvSpPr>
          <p:cNvPr id="18" name="Shape 14"/>
          <p:cNvSpPr/>
          <p:nvPr/>
        </p:nvSpPr>
        <p:spPr>
          <a:xfrm>
            <a:off x="566928" y="4846320"/>
            <a:ext cx="11055096" cy="1024128"/>
          </a:xfrm>
          <a:prstGeom prst="roundRect">
            <a:avLst>
              <a:gd name="adj" fmla="val 8036"/>
            </a:avLst>
          </a:prstGeom>
          <a:solidFill>
            <a:srgbClr val="575756"/>
          </a:solidFill>
          <a:ln/>
        </p:spPr>
      </p:sp>
      <p:sp>
        <p:nvSpPr>
          <p:cNvPr id="19" name="Text 15"/>
          <p:cNvSpPr/>
          <p:nvPr/>
        </p:nvSpPr>
        <p:spPr>
          <a:xfrm>
            <a:off x="932688" y="5029200"/>
            <a:ext cx="10323576" cy="685800"/>
          </a:xfrm>
          <a:prstGeom prst="rect">
            <a:avLst/>
          </a:prstGeom>
          <a:noFill/>
          <a:ln/>
        </p:spPr>
        <p:txBody>
          <a:bodyPr wrap="square" lIns="0" tIns="0" rIns="0" bIns="0" rtlCol="0" anchor="ctr"/>
          <a:lstStyle/>
          <a:p>
            <a:pPr indent="0" marL="0">
              <a:lnSpc>
                <a:spcPts val="2200"/>
              </a:lnSpc>
              <a:buNone/>
            </a:pPr>
            <a:r>
              <a:rPr lang="en-US" sz="1450" b="1" dirty="0">
                <a:solidFill>
                  <a:srgbClr val="FFFFFF"/>
                </a:solidFill>
                <a:latin typeface="Arial" pitchFamily="34" charset="0"/>
                <a:ea typeface="Arial" pitchFamily="34" charset="-122"/>
                <a:cs typeface="Arial" pitchFamily="34" charset="-120"/>
              </a:rPr>
              <a:t>Deshalb ist unsere Arbeit anspruchsvoller als "Maschine hinstellen": Auf der Insel muss die Anlage zur Last passen. Zu klein und sie geht in die Knie. Zu gross und sie verrusst.</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GRUNDLAGEN · 6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Sauberer Strom und schmutziger Strom</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10</a:t>
            </a:r>
            <a:endParaRPr lang="en-US" sz="1000" dirty="0"/>
          </a:p>
        </p:txBody>
      </p:sp>
      <p:sp>
        <p:nvSpPr>
          <p:cNvPr id="6" name="Text 4"/>
          <p:cNvSpPr/>
          <p:nvPr/>
        </p:nvSpPr>
        <p:spPr>
          <a:xfrm>
            <a:off x="566928" y="1572768"/>
            <a:ext cx="11055096" cy="566928"/>
          </a:xfrm>
          <a:prstGeom prst="rect">
            <a:avLst/>
          </a:prstGeom>
          <a:noFill/>
          <a:ln/>
        </p:spPr>
        <p:txBody>
          <a:bodyPr wrap="square" lIns="0" tIns="0" rIns="0" bIns="0" rtlCol="0" anchor="t"/>
          <a:lstStyle/>
          <a:p>
            <a:pPr indent="0" marL="0">
              <a:lnSpc>
                <a:spcPts val="1900"/>
              </a:lnSpc>
              <a:buNone/>
            </a:pPr>
            <a:r>
              <a:rPr lang="en-US" sz="1450" dirty="0">
                <a:solidFill>
                  <a:srgbClr val="575756"/>
                </a:solidFill>
                <a:latin typeface="Arial" pitchFamily="34" charset="0"/>
                <a:ea typeface="Arial" pitchFamily="34" charset="-122"/>
                <a:cs typeface="Arial" pitchFamily="34" charset="-120"/>
              </a:rPr>
              <a:t>Aus dem Wasserhahn kann klares Wasser kommen oder braune Brühe mit Sand. Beides ist Wasser. Nur eines ist brauchbar. Bei Strom ist es genauso — und man sieht es dem Kabel nicht an.</a:t>
            </a:r>
            <a:endParaRPr lang="en-US" sz="1450" dirty="0"/>
          </a:p>
        </p:txBody>
      </p:sp>
      <p:sp>
        <p:nvSpPr>
          <p:cNvPr id="7" name="Shape 5"/>
          <p:cNvSpPr/>
          <p:nvPr/>
        </p:nvSpPr>
        <p:spPr>
          <a:xfrm>
            <a:off x="566928" y="2286000"/>
            <a:ext cx="5349240" cy="2395728"/>
          </a:xfrm>
          <a:prstGeom prst="roundRect">
            <a:avLst>
              <a:gd name="adj" fmla="val 3435"/>
            </a:avLst>
          </a:prstGeom>
          <a:solidFill>
            <a:srgbClr val="F4F4F4"/>
          </a:solidFill>
          <a:ln/>
        </p:spPr>
      </p:sp>
      <p:sp>
        <p:nvSpPr>
          <p:cNvPr id="8" name="Shape 6"/>
          <p:cNvSpPr/>
          <p:nvPr/>
        </p:nvSpPr>
        <p:spPr>
          <a:xfrm>
            <a:off x="896112" y="2542032"/>
            <a:ext cx="566928" cy="566928"/>
          </a:xfrm>
          <a:prstGeom prst="ellipse">
            <a:avLst/>
          </a:prstGeom>
          <a:solidFill>
            <a:srgbClr val="575756"/>
          </a:solidFill>
          <a:ln/>
        </p:spPr>
      </p:sp>
      <p:pic>
        <p:nvPicPr>
          <p:cNvPr id="9" name="Image 0" descr="/home/claude/ico/check_w.png">    </p:cNvPr>
          <p:cNvPicPr>
            <a:picLocks noChangeAspect="1"/>
          </p:cNvPicPr>
          <p:nvPr/>
        </p:nvPicPr>
        <p:blipFill>
          <a:blip r:embed="rId1"/>
          <a:stretch>
            <a:fillRect/>
          </a:stretch>
        </p:blipFill>
        <p:spPr>
          <a:xfrm>
            <a:off x="1043513" y="2689433"/>
            <a:ext cx="272125" cy="272125"/>
          </a:xfrm>
          <a:prstGeom prst="rect">
            <a:avLst/>
          </a:prstGeom>
        </p:spPr>
      </p:pic>
      <p:sp>
        <p:nvSpPr>
          <p:cNvPr id="10" name="Text 7"/>
          <p:cNvSpPr/>
          <p:nvPr/>
        </p:nvSpPr>
        <p:spPr>
          <a:xfrm>
            <a:off x="1609344" y="2615184"/>
            <a:ext cx="3840480" cy="310896"/>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Sauber heisst</a:t>
            </a:r>
            <a:endParaRPr lang="en-US" sz="1700" dirty="0"/>
          </a:p>
        </p:txBody>
      </p:sp>
      <p:sp>
        <p:nvSpPr>
          <p:cNvPr id="11" name="Text 8"/>
          <p:cNvSpPr/>
          <p:nvPr/>
        </p:nvSpPr>
        <p:spPr>
          <a:xfrm>
            <a:off x="932688" y="3200400"/>
            <a:ext cx="4663440" cy="12801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575756"/>
                </a:solidFill>
                <a:latin typeface="Arial" pitchFamily="34" charset="0"/>
                <a:ea typeface="Arial" pitchFamily="34" charset="-122"/>
                <a:cs typeface="Arial" pitchFamily="34" charset="-120"/>
              </a:rPr>
              <a:t>Die Spannung bleibt stabil</a:t>
            </a:r>
            <a:endParaRPr lang="en-US" sz="1300" dirty="0"/>
          </a:p>
          <a:p>
            <a:pPr marL="342900" indent="-342900">
              <a:spcAft>
                <a:spcPts val="700"/>
              </a:spcAft>
              <a:buSzPct val="100000"/>
              <a:buChar char="•"/>
            </a:pPr>
            <a:r>
              <a:rPr lang="en-US" sz="1300" dirty="0">
                <a:solidFill>
                  <a:srgbClr val="575756"/>
                </a:solidFill>
                <a:latin typeface="Arial" pitchFamily="34" charset="0"/>
                <a:ea typeface="Arial" pitchFamily="34" charset="-122"/>
                <a:cs typeface="Arial" pitchFamily="34" charset="-120"/>
              </a:rPr>
              <a:t>Die Schwingung hat eine saubere Form</a:t>
            </a:r>
            <a:endParaRPr lang="en-US" sz="1300" dirty="0"/>
          </a:p>
          <a:p>
            <a:pPr marL="342900" indent="-342900">
              <a:spcAft>
                <a:spcPts val="700"/>
              </a:spcAft>
              <a:buSzPct val="100000"/>
              <a:buChar char="•"/>
            </a:pPr>
            <a:r>
              <a:rPr lang="en-US" sz="1300" dirty="0">
                <a:solidFill>
                  <a:srgbClr val="575756"/>
                </a:solidFill>
                <a:latin typeface="Arial" pitchFamily="34" charset="0"/>
                <a:ea typeface="Arial" pitchFamily="34" charset="-122"/>
                <a:cs typeface="Arial" pitchFamily="34" charset="-120"/>
              </a:rPr>
              <a:t>Die Frequenz stimmt und wackelt nicht</a:t>
            </a:r>
            <a:endParaRPr lang="en-US" sz="1300" dirty="0"/>
          </a:p>
        </p:txBody>
      </p:sp>
      <p:sp>
        <p:nvSpPr>
          <p:cNvPr id="12" name="Shape 9"/>
          <p:cNvSpPr/>
          <p:nvPr/>
        </p:nvSpPr>
        <p:spPr>
          <a:xfrm>
            <a:off x="6272784" y="2286000"/>
            <a:ext cx="5349240" cy="2395728"/>
          </a:xfrm>
          <a:prstGeom prst="roundRect">
            <a:avLst>
              <a:gd name="adj" fmla="val 3435"/>
            </a:avLst>
          </a:prstGeom>
          <a:solidFill>
            <a:srgbClr val="F4F4F4"/>
          </a:solidFill>
          <a:ln/>
        </p:spPr>
      </p:sp>
      <p:sp>
        <p:nvSpPr>
          <p:cNvPr id="13" name="Shape 10"/>
          <p:cNvSpPr/>
          <p:nvPr/>
        </p:nvSpPr>
        <p:spPr>
          <a:xfrm>
            <a:off x="6601968" y="2542032"/>
            <a:ext cx="566928" cy="566928"/>
          </a:xfrm>
          <a:prstGeom prst="ellipse">
            <a:avLst/>
          </a:prstGeom>
          <a:solidFill>
            <a:srgbClr val="E4022E"/>
          </a:solidFill>
          <a:ln/>
        </p:spPr>
      </p:sp>
      <p:pic>
        <p:nvPicPr>
          <p:cNvPr id="14" name="Image 1" descr="/home/claude/ico/cross_w.png">    </p:cNvPr>
          <p:cNvPicPr>
            <a:picLocks noChangeAspect="1"/>
          </p:cNvPicPr>
          <p:nvPr/>
        </p:nvPicPr>
        <p:blipFill>
          <a:blip r:embed="rId2"/>
          <a:stretch>
            <a:fillRect/>
          </a:stretch>
        </p:blipFill>
        <p:spPr>
          <a:xfrm>
            <a:off x="6749369" y="2689433"/>
            <a:ext cx="272125" cy="272125"/>
          </a:xfrm>
          <a:prstGeom prst="rect">
            <a:avLst/>
          </a:prstGeom>
        </p:spPr>
      </p:pic>
      <p:sp>
        <p:nvSpPr>
          <p:cNvPr id="15" name="Text 11"/>
          <p:cNvSpPr/>
          <p:nvPr/>
        </p:nvSpPr>
        <p:spPr>
          <a:xfrm>
            <a:off x="7315200" y="2615184"/>
            <a:ext cx="3840480" cy="310896"/>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Schmutzig heisst</a:t>
            </a:r>
            <a:endParaRPr lang="en-US" sz="1700" dirty="0"/>
          </a:p>
        </p:txBody>
      </p:sp>
      <p:sp>
        <p:nvSpPr>
          <p:cNvPr id="16" name="Text 12"/>
          <p:cNvSpPr/>
          <p:nvPr/>
        </p:nvSpPr>
        <p:spPr>
          <a:xfrm>
            <a:off x="6638544" y="3200400"/>
            <a:ext cx="4663440" cy="12801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575756"/>
                </a:solidFill>
                <a:latin typeface="Arial" pitchFamily="34" charset="0"/>
                <a:ea typeface="Arial" pitchFamily="34" charset="-122"/>
                <a:cs typeface="Arial" pitchFamily="34" charset="-120"/>
              </a:rPr>
              <a:t>Steuerungen steigen ohne Grund aus</a:t>
            </a:r>
            <a:endParaRPr lang="en-US" sz="1300" dirty="0"/>
          </a:p>
          <a:p>
            <a:pPr marL="342900" indent="-342900">
              <a:spcAft>
                <a:spcPts val="700"/>
              </a:spcAft>
              <a:buSzPct val="100000"/>
              <a:buChar char="•"/>
            </a:pPr>
            <a:r>
              <a:rPr lang="en-US" sz="1300" dirty="0">
                <a:solidFill>
                  <a:srgbClr val="575756"/>
                </a:solidFill>
                <a:latin typeface="Arial" pitchFamily="34" charset="0"/>
                <a:ea typeface="Arial" pitchFamily="34" charset="-122"/>
                <a:cs typeface="Arial" pitchFamily="34" charset="-120"/>
              </a:rPr>
              <a:t>Motoren werden heiss und halten kürzer</a:t>
            </a:r>
            <a:endParaRPr lang="en-US" sz="1300" dirty="0"/>
          </a:p>
          <a:p>
            <a:pPr marL="342900" indent="-342900">
              <a:spcAft>
                <a:spcPts val="700"/>
              </a:spcAft>
              <a:buSzPct val="100000"/>
              <a:buChar char="•"/>
            </a:pPr>
            <a:r>
              <a:rPr lang="en-US" sz="1300" dirty="0">
                <a:solidFill>
                  <a:srgbClr val="575756"/>
                </a:solidFill>
                <a:latin typeface="Arial" pitchFamily="34" charset="0"/>
                <a:ea typeface="Arial" pitchFamily="34" charset="-122"/>
                <a:cs typeface="Arial" pitchFamily="34" charset="-120"/>
              </a:rPr>
              <a:t>Server starten neu, LED flackert, Audio brummt</a:t>
            </a:r>
            <a:endParaRPr lang="en-US" sz="1300" dirty="0"/>
          </a:p>
        </p:txBody>
      </p:sp>
      <p:sp>
        <p:nvSpPr>
          <p:cNvPr id="17" name="Shape 13"/>
          <p:cNvSpPr/>
          <p:nvPr/>
        </p:nvSpPr>
        <p:spPr>
          <a:xfrm>
            <a:off x="566928" y="4864608"/>
            <a:ext cx="11055096" cy="969264"/>
          </a:xfrm>
          <a:prstGeom prst="roundRect">
            <a:avLst>
              <a:gd name="adj" fmla="val 8491"/>
            </a:avLst>
          </a:prstGeom>
          <a:solidFill>
            <a:srgbClr val="FBE0E6"/>
          </a:solidFill>
          <a:ln/>
        </p:spPr>
      </p:sp>
      <p:sp>
        <p:nvSpPr>
          <p:cNvPr id="18" name="Text 14"/>
          <p:cNvSpPr/>
          <p:nvPr/>
        </p:nvSpPr>
        <p:spPr>
          <a:xfrm>
            <a:off x="932688" y="4992624"/>
            <a:ext cx="5486400" cy="274320"/>
          </a:xfrm>
          <a:prstGeom prst="rect">
            <a:avLst/>
          </a:prstGeom>
          <a:noFill/>
          <a:ln/>
        </p:spPr>
        <p:txBody>
          <a:bodyPr wrap="square" lIns="0" tIns="0" rIns="0" bIns="0" rtlCol="0" anchor="ctr"/>
          <a:lstStyle/>
          <a:p>
            <a:pPr indent="0" marL="0">
              <a:buNone/>
            </a:pPr>
            <a:r>
              <a:rPr lang="en-US" sz="1200" b="1" dirty="0">
                <a:solidFill>
                  <a:srgbClr val="E4022E"/>
                </a:solidFill>
                <a:latin typeface="Arial" pitchFamily="34" charset="0"/>
                <a:ea typeface="Arial" pitchFamily="34" charset="-122"/>
                <a:cs typeface="Arial" pitchFamily="34" charset="-120"/>
              </a:rPr>
              <a:t>Die zwei Normen, die ihr kennen solltet</a:t>
            </a:r>
            <a:endParaRPr lang="en-US" sz="1200" dirty="0"/>
          </a:p>
        </p:txBody>
      </p:sp>
      <p:sp>
        <p:nvSpPr>
          <p:cNvPr id="19" name="Text 15"/>
          <p:cNvSpPr/>
          <p:nvPr/>
        </p:nvSpPr>
        <p:spPr>
          <a:xfrm>
            <a:off x="932688" y="5285232"/>
            <a:ext cx="10323576" cy="384048"/>
          </a:xfrm>
          <a:prstGeom prst="rect">
            <a:avLst/>
          </a:prstGeom>
          <a:noFill/>
          <a:ln/>
        </p:spPr>
        <p:txBody>
          <a:bodyPr wrap="square" lIns="0" tIns="0" rIns="0" bIns="0" rtlCol="0" anchor="ctr"/>
          <a:lstStyle/>
          <a:p>
            <a:pPr indent="0" marL="0">
              <a:buNone/>
            </a:pPr>
            <a:r>
              <a:rPr lang="en-US" sz="1400" b="1" dirty="0">
                <a:solidFill>
                  <a:srgbClr val="575756"/>
                </a:solidFill>
                <a:latin typeface="Arial" pitchFamily="34" charset="0"/>
                <a:ea typeface="Arial" pitchFamily="34" charset="-122"/>
                <a:cs typeface="Arial" pitchFamily="34" charset="-120"/>
              </a:rPr>
              <a:t>EN 50160 sagt, welche Qualität das Netz liefern muss.    IEC 61000-4-30 Klasse A sagt, wie man richtig misst.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75756"/>
        </a:solidFill>
      </p:bgPr>
    </p:bg>
    <p:spTree>
      <p:nvGrpSpPr>
        <p:cNvPr id="1" name=""/>
        <p:cNvGrpSpPr/>
        <p:nvPr/>
      </p:nvGrpSpPr>
      <p:grpSpPr>
        <a:xfrm>
          <a:off x="0" y="0"/>
          <a:ext cx="0" cy="0"/>
          <a:chOff x="0" y="0"/>
          <a:chExt cx="0" cy="0"/>
        </a:xfrm>
      </p:grpSpPr>
      <p:sp>
        <p:nvSpPr>
          <p:cNvPr id="2" name="Text 0"/>
          <p:cNvSpPr/>
          <p:nvPr/>
        </p:nvSpPr>
        <p:spPr>
          <a:xfrm>
            <a:off x="566928" y="658368"/>
            <a:ext cx="7315200" cy="274320"/>
          </a:xfrm>
          <a:prstGeom prst="rect">
            <a:avLst/>
          </a:prstGeom>
          <a:noFill/>
          <a:ln/>
        </p:spPr>
        <p:txBody>
          <a:bodyPr wrap="square" lIns="0" tIns="0" rIns="0" bIns="0" rtlCol="0" anchor="ctr"/>
          <a:lstStyle/>
          <a:p>
            <a:pPr indent="0" marL="0">
              <a:buNone/>
            </a:pPr>
            <a:r>
              <a:rPr lang="en-US" sz="1200" b="1" spc="180" kern="0" dirty="0">
                <a:solidFill>
                  <a:srgbClr val="E4022E"/>
                </a:solidFill>
                <a:latin typeface="Arial" pitchFamily="34" charset="0"/>
                <a:ea typeface="Arial" pitchFamily="34" charset="-122"/>
                <a:cs typeface="Arial" pitchFamily="34" charset="-120"/>
              </a:rPr>
              <a:t>DAS UNTERSCHEIDET UNS</a:t>
            </a:r>
            <a:endParaRPr lang="en-US" sz="1200" dirty="0"/>
          </a:p>
        </p:txBody>
      </p:sp>
      <p:sp>
        <p:nvSpPr>
          <p:cNvPr id="3" name="Text 1"/>
          <p:cNvSpPr/>
          <p:nvPr/>
        </p:nvSpPr>
        <p:spPr>
          <a:xfrm>
            <a:off x="566928" y="1024128"/>
            <a:ext cx="10607040" cy="1371600"/>
          </a:xfrm>
          <a:prstGeom prst="rect">
            <a:avLst/>
          </a:prstGeom>
          <a:noFill/>
          <a:ln/>
        </p:spPr>
        <p:txBody>
          <a:bodyPr wrap="square" lIns="0" tIns="0" rIns="0" bIns="0" rtlCol="0" anchor="ctr"/>
          <a:lstStyle/>
          <a:p>
            <a:pPr indent="0" marL="0">
              <a:lnSpc>
                <a:spcPts val="4000"/>
              </a:lnSpc>
              <a:buNone/>
            </a:pPr>
            <a:r>
              <a:rPr lang="en-US" sz="2700" b="1" dirty="0">
                <a:solidFill>
                  <a:srgbClr val="FFFFFF"/>
                </a:solidFill>
                <a:latin typeface="Arial" pitchFamily="34" charset="0"/>
                <a:ea typeface="Arial" pitchFamily="34" charset="-122"/>
                <a:cs typeface="Arial" pitchFamily="34" charset="-120"/>
              </a:rPr>
              <a:t>Jeder kann einen Generator hinstellen.</a:t>
            </a:r>
            <a:endParaRPr lang="en-US" sz="2700" dirty="0"/>
          </a:p>
          <a:p>
            <a:pPr indent="0" marL="0">
              <a:lnSpc>
                <a:spcPts val="4000"/>
              </a:lnSpc>
              <a:buNone/>
            </a:pPr>
            <a:r>
              <a:rPr lang="en-US" sz="2700" b="1" dirty="0">
                <a:solidFill>
                  <a:srgbClr val="FFFFFF"/>
                </a:solidFill>
                <a:latin typeface="Arial" pitchFamily="34" charset="0"/>
                <a:ea typeface="Arial" pitchFamily="34" charset="-122"/>
                <a:cs typeface="Arial" pitchFamily="34" charset="-120"/>
              </a:rPr>
              <a:t>Wir beweisen schwarz auf weiss, dass der Strom sauber war.</a:t>
            </a:r>
            <a:endParaRPr lang="en-US" sz="2700" dirty="0"/>
          </a:p>
        </p:txBody>
      </p:sp>
      <p:sp>
        <p:nvSpPr>
          <p:cNvPr id="4" name="Shape 2"/>
          <p:cNvSpPr/>
          <p:nvPr/>
        </p:nvSpPr>
        <p:spPr>
          <a:xfrm>
            <a:off x="566928" y="2788920"/>
            <a:ext cx="3429000" cy="2651760"/>
          </a:xfrm>
          <a:prstGeom prst="roundRect">
            <a:avLst>
              <a:gd name="adj" fmla="val 3103"/>
            </a:avLst>
          </a:prstGeom>
          <a:solidFill>
            <a:srgbClr val="3C3C3B"/>
          </a:solidFill>
          <a:ln/>
        </p:spPr>
      </p:sp>
      <p:sp>
        <p:nvSpPr>
          <p:cNvPr id="5" name="Shape 3"/>
          <p:cNvSpPr/>
          <p:nvPr/>
        </p:nvSpPr>
        <p:spPr>
          <a:xfrm>
            <a:off x="859536" y="3054096"/>
            <a:ext cx="585216" cy="585216"/>
          </a:xfrm>
          <a:prstGeom prst="ellipse">
            <a:avLst/>
          </a:prstGeom>
          <a:solidFill>
            <a:srgbClr val="E4022E"/>
          </a:solidFill>
          <a:ln/>
        </p:spPr>
      </p:sp>
      <p:pic>
        <p:nvPicPr>
          <p:cNvPr id="6" name="Image 0" descr="/home/claude/ico/gauge_w.png">    </p:cNvPr>
          <p:cNvPicPr>
            <a:picLocks noChangeAspect="1"/>
          </p:cNvPicPr>
          <p:nvPr/>
        </p:nvPicPr>
        <p:blipFill>
          <a:blip r:embed="rId1"/>
          <a:stretch>
            <a:fillRect/>
          </a:stretch>
        </p:blipFill>
        <p:spPr>
          <a:xfrm>
            <a:off x="1011692" y="3206252"/>
            <a:ext cx="280904" cy="280904"/>
          </a:xfrm>
          <a:prstGeom prst="rect">
            <a:avLst/>
          </a:prstGeom>
        </p:spPr>
      </p:pic>
      <p:sp>
        <p:nvSpPr>
          <p:cNvPr id="7" name="Text 4"/>
          <p:cNvSpPr/>
          <p:nvPr/>
        </p:nvSpPr>
        <p:spPr>
          <a:xfrm>
            <a:off x="859536" y="3785616"/>
            <a:ext cx="2843784" cy="640080"/>
          </a:xfrm>
          <a:prstGeom prst="rect">
            <a:avLst/>
          </a:prstGeom>
          <a:noFill/>
          <a:ln/>
        </p:spPr>
        <p:txBody>
          <a:bodyPr wrap="square" lIns="0" tIns="0" rIns="0" bIns="0" rtlCol="0" anchor="t"/>
          <a:lstStyle/>
          <a:p>
            <a:pPr indent="0" marL="0">
              <a:buNone/>
            </a:pPr>
            <a:r>
              <a:rPr lang="en-US" sz="1550" b="1" dirty="0">
                <a:solidFill>
                  <a:srgbClr val="FFFFFF"/>
                </a:solidFill>
                <a:latin typeface="Arial" pitchFamily="34" charset="0"/>
                <a:ea typeface="Arial" pitchFamily="34" charset="-122"/>
                <a:cs typeface="Arial" pitchFamily="34" charset="-120"/>
              </a:rPr>
              <a:t>Messgerät der höchsten Klasse</a:t>
            </a:r>
            <a:endParaRPr lang="en-US" sz="1550" dirty="0"/>
          </a:p>
        </p:txBody>
      </p:sp>
      <p:sp>
        <p:nvSpPr>
          <p:cNvPr id="8" name="Text 5"/>
          <p:cNvSpPr/>
          <p:nvPr/>
        </p:nvSpPr>
        <p:spPr>
          <a:xfrm>
            <a:off x="859536" y="4443984"/>
            <a:ext cx="2843784" cy="914400"/>
          </a:xfrm>
          <a:prstGeom prst="rect">
            <a:avLst/>
          </a:prstGeom>
          <a:noFill/>
          <a:ln/>
        </p:spPr>
        <p:txBody>
          <a:bodyPr wrap="square" lIns="0" tIns="0" rIns="0" bIns="0" rtlCol="0" anchor="ctr"/>
          <a:lstStyle/>
          <a:p>
            <a:pPr indent="0" marL="0">
              <a:lnSpc>
                <a:spcPts val="1700"/>
              </a:lnSpc>
              <a:buNone/>
            </a:pPr>
            <a:r>
              <a:rPr lang="en-US" sz="1200" dirty="0">
                <a:solidFill>
                  <a:srgbClr val="E6E6E6"/>
                </a:solidFill>
                <a:latin typeface="Arial" pitchFamily="34" charset="0"/>
                <a:ea typeface="Arial" pitchFamily="34" charset="-122"/>
                <a:cs typeface="Arial" pitchFamily="34" charset="-120"/>
              </a:rPr>
              <a:t>Ein zertifiziertes Messgerät, geprüft vom eidgenössischen Institut für Metrologie. Kein Bastelgerät.</a:t>
            </a:r>
            <a:endParaRPr lang="en-US" sz="1200" dirty="0"/>
          </a:p>
        </p:txBody>
      </p:sp>
      <p:sp>
        <p:nvSpPr>
          <p:cNvPr id="9" name="Shape 6"/>
          <p:cNvSpPr/>
          <p:nvPr/>
        </p:nvSpPr>
        <p:spPr>
          <a:xfrm>
            <a:off x="4379976" y="2788920"/>
            <a:ext cx="3429000" cy="2651760"/>
          </a:xfrm>
          <a:prstGeom prst="roundRect">
            <a:avLst>
              <a:gd name="adj" fmla="val 3103"/>
            </a:avLst>
          </a:prstGeom>
          <a:solidFill>
            <a:srgbClr val="3C3C3B"/>
          </a:solidFill>
          <a:ln/>
        </p:spPr>
      </p:sp>
      <p:sp>
        <p:nvSpPr>
          <p:cNvPr id="10" name="Shape 7"/>
          <p:cNvSpPr/>
          <p:nvPr/>
        </p:nvSpPr>
        <p:spPr>
          <a:xfrm>
            <a:off x="4672584" y="3054096"/>
            <a:ext cx="585216" cy="585216"/>
          </a:xfrm>
          <a:prstGeom prst="ellipse">
            <a:avLst/>
          </a:prstGeom>
          <a:solidFill>
            <a:srgbClr val="E4022E"/>
          </a:solidFill>
          <a:ln/>
        </p:spPr>
      </p:sp>
      <p:pic>
        <p:nvPicPr>
          <p:cNvPr id="11" name="Image 1" descr="/home/claude/ico/clip_w.png">    </p:cNvPr>
          <p:cNvPicPr>
            <a:picLocks noChangeAspect="1"/>
          </p:cNvPicPr>
          <p:nvPr/>
        </p:nvPicPr>
        <p:blipFill>
          <a:blip r:embed="rId2"/>
          <a:stretch>
            <a:fillRect/>
          </a:stretch>
        </p:blipFill>
        <p:spPr>
          <a:xfrm>
            <a:off x="4824740" y="3206252"/>
            <a:ext cx="280904" cy="280904"/>
          </a:xfrm>
          <a:prstGeom prst="rect">
            <a:avLst/>
          </a:prstGeom>
        </p:spPr>
      </p:pic>
      <p:sp>
        <p:nvSpPr>
          <p:cNvPr id="12" name="Text 8"/>
          <p:cNvSpPr/>
          <p:nvPr/>
        </p:nvSpPr>
        <p:spPr>
          <a:xfrm>
            <a:off x="4672584" y="3785616"/>
            <a:ext cx="2843784" cy="640080"/>
          </a:xfrm>
          <a:prstGeom prst="rect">
            <a:avLst/>
          </a:prstGeom>
          <a:noFill/>
          <a:ln/>
        </p:spPr>
        <p:txBody>
          <a:bodyPr wrap="square" lIns="0" tIns="0" rIns="0" bIns="0" rtlCol="0" anchor="t"/>
          <a:lstStyle/>
          <a:p>
            <a:pPr indent="0" marL="0">
              <a:buNone/>
            </a:pPr>
            <a:r>
              <a:rPr lang="en-US" sz="1550" b="1" dirty="0">
                <a:solidFill>
                  <a:srgbClr val="FFFFFF"/>
                </a:solidFill>
                <a:latin typeface="Arial" pitchFamily="34" charset="0"/>
                <a:ea typeface="Arial" pitchFamily="34" charset="-122"/>
                <a:cs typeface="Arial" pitchFamily="34" charset="-120"/>
              </a:rPr>
              <a:t>Immer dabei, nie ein Aufpreis</a:t>
            </a:r>
            <a:endParaRPr lang="en-US" sz="1550" dirty="0"/>
          </a:p>
        </p:txBody>
      </p:sp>
      <p:sp>
        <p:nvSpPr>
          <p:cNvPr id="13" name="Text 9"/>
          <p:cNvSpPr/>
          <p:nvPr/>
        </p:nvSpPr>
        <p:spPr>
          <a:xfrm>
            <a:off x="4672584" y="4443984"/>
            <a:ext cx="2843784" cy="914400"/>
          </a:xfrm>
          <a:prstGeom prst="rect">
            <a:avLst/>
          </a:prstGeom>
          <a:noFill/>
          <a:ln/>
        </p:spPr>
        <p:txBody>
          <a:bodyPr wrap="square" lIns="0" tIns="0" rIns="0" bIns="0" rtlCol="0" anchor="ctr"/>
          <a:lstStyle/>
          <a:p>
            <a:pPr indent="0" marL="0">
              <a:lnSpc>
                <a:spcPts val="1700"/>
              </a:lnSpc>
              <a:buNone/>
            </a:pPr>
            <a:r>
              <a:rPr lang="en-US" sz="1200" dirty="0">
                <a:solidFill>
                  <a:srgbClr val="E6E6E6"/>
                </a:solidFill>
                <a:latin typeface="Arial" pitchFamily="34" charset="0"/>
                <a:ea typeface="Arial" pitchFamily="34" charset="-122"/>
                <a:cs typeface="Arial" pitchFamily="34" charset="-120"/>
              </a:rPr>
              <a:t>Bei jedem Stromauftrag Standard. Nicht als Zusatzoption, die man wegverhandeln kann.</a:t>
            </a:r>
            <a:endParaRPr lang="en-US" sz="1200" dirty="0"/>
          </a:p>
        </p:txBody>
      </p:sp>
      <p:sp>
        <p:nvSpPr>
          <p:cNvPr id="14" name="Shape 10"/>
          <p:cNvSpPr/>
          <p:nvPr/>
        </p:nvSpPr>
        <p:spPr>
          <a:xfrm>
            <a:off x="8193024" y="2788920"/>
            <a:ext cx="3429000" cy="2651760"/>
          </a:xfrm>
          <a:prstGeom prst="roundRect">
            <a:avLst>
              <a:gd name="adj" fmla="val 3103"/>
            </a:avLst>
          </a:prstGeom>
          <a:solidFill>
            <a:srgbClr val="3C3C3B"/>
          </a:solidFill>
          <a:ln/>
        </p:spPr>
      </p:sp>
      <p:sp>
        <p:nvSpPr>
          <p:cNvPr id="15" name="Shape 11"/>
          <p:cNvSpPr/>
          <p:nvPr/>
        </p:nvSpPr>
        <p:spPr>
          <a:xfrm>
            <a:off x="8485632" y="3054096"/>
            <a:ext cx="585216" cy="585216"/>
          </a:xfrm>
          <a:prstGeom prst="ellipse">
            <a:avLst/>
          </a:prstGeom>
          <a:solidFill>
            <a:srgbClr val="E4022E"/>
          </a:solidFill>
          <a:ln/>
        </p:spPr>
      </p:sp>
      <p:pic>
        <p:nvPicPr>
          <p:cNvPr id="16" name="Image 2" descr="/home/claude/ico/eye_w.png">    </p:cNvPr>
          <p:cNvPicPr>
            <a:picLocks noChangeAspect="1"/>
          </p:cNvPicPr>
          <p:nvPr/>
        </p:nvPicPr>
        <p:blipFill>
          <a:blip r:embed="rId3"/>
          <a:stretch>
            <a:fillRect/>
          </a:stretch>
        </p:blipFill>
        <p:spPr>
          <a:xfrm>
            <a:off x="8637788" y="3206252"/>
            <a:ext cx="280904" cy="280904"/>
          </a:xfrm>
          <a:prstGeom prst="rect">
            <a:avLst/>
          </a:prstGeom>
        </p:spPr>
      </p:pic>
      <p:sp>
        <p:nvSpPr>
          <p:cNvPr id="17" name="Text 12"/>
          <p:cNvSpPr/>
          <p:nvPr/>
        </p:nvSpPr>
        <p:spPr>
          <a:xfrm>
            <a:off x="8485632" y="3785616"/>
            <a:ext cx="2843784" cy="640080"/>
          </a:xfrm>
          <a:prstGeom prst="rect">
            <a:avLst/>
          </a:prstGeom>
          <a:noFill/>
          <a:ln/>
        </p:spPr>
        <p:txBody>
          <a:bodyPr wrap="square" lIns="0" tIns="0" rIns="0" bIns="0" rtlCol="0" anchor="t"/>
          <a:lstStyle/>
          <a:p>
            <a:pPr indent="0" marL="0">
              <a:buNone/>
            </a:pPr>
            <a:r>
              <a:rPr lang="en-US" sz="1550" b="1" dirty="0">
                <a:solidFill>
                  <a:srgbClr val="FFFFFF"/>
                </a:solidFill>
                <a:latin typeface="Arial" pitchFamily="34" charset="0"/>
                <a:ea typeface="Arial" pitchFamily="34" charset="-122"/>
                <a:cs typeface="Arial" pitchFamily="34" charset="-120"/>
              </a:rPr>
              <a:t>Ein Bericht, den man vorzeigen kann</a:t>
            </a:r>
            <a:endParaRPr lang="en-US" sz="1550" dirty="0"/>
          </a:p>
        </p:txBody>
      </p:sp>
      <p:sp>
        <p:nvSpPr>
          <p:cNvPr id="18" name="Text 13"/>
          <p:cNvSpPr/>
          <p:nvPr/>
        </p:nvSpPr>
        <p:spPr>
          <a:xfrm>
            <a:off x="8485632" y="4443984"/>
            <a:ext cx="2843784" cy="914400"/>
          </a:xfrm>
          <a:prstGeom prst="rect">
            <a:avLst/>
          </a:prstGeom>
          <a:noFill/>
          <a:ln/>
        </p:spPr>
        <p:txBody>
          <a:bodyPr wrap="square" lIns="0" tIns="0" rIns="0" bIns="0" rtlCol="0" anchor="ctr"/>
          <a:lstStyle/>
          <a:p>
            <a:pPr indent="0" marL="0">
              <a:lnSpc>
                <a:spcPts val="1700"/>
              </a:lnSpc>
              <a:buNone/>
            </a:pPr>
            <a:r>
              <a:rPr lang="en-US" sz="1200" dirty="0">
                <a:solidFill>
                  <a:srgbClr val="E6E6E6"/>
                </a:solidFill>
                <a:latin typeface="Arial" pitchFamily="34" charset="0"/>
                <a:ea typeface="Arial" pitchFamily="34" charset="-122"/>
                <a:cs typeface="Arial" pitchFamily="34" charset="-120"/>
              </a:rPr>
              <a:t>Der Kunde bekommt ein Dokument, das er seinem Auditor, seiner Versicherung oder seinem Chef hinlegen kann.</a:t>
            </a:r>
            <a:endParaRPr lang="en-US" sz="1200" dirty="0"/>
          </a:p>
        </p:txBody>
      </p:sp>
      <p:sp>
        <p:nvSpPr>
          <p:cNvPr id="19" name="Text 14"/>
          <p:cNvSpPr/>
          <p:nvPr/>
        </p:nvSpPr>
        <p:spPr>
          <a:xfrm>
            <a:off x="566928" y="5650992"/>
            <a:ext cx="11055096" cy="457200"/>
          </a:xfrm>
          <a:prstGeom prst="rect">
            <a:avLst/>
          </a:prstGeom>
          <a:noFill/>
          <a:ln/>
        </p:spPr>
        <p:txBody>
          <a:bodyPr wrap="square" lIns="0" tIns="0" rIns="0" bIns="0" rtlCol="0" anchor="ctr"/>
          <a:lstStyle/>
          <a:p>
            <a:pPr indent="0" marL="0">
              <a:buNone/>
            </a:pPr>
            <a:r>
              <a:rPr lang="en-US" sz="1250" i="1" dirty="0">
                <a:solidFill>
                  <a:srgbClr val="E6E6E6"/>
                </a:solidFill>
                <a:latin typeface="Arial" pitchFamily="34" charset="0"/>
                <a:ea typeface="Arial" pitchFamily="34" charset="-122"/>
                <a:cs typeface="Arial" pitchFamily="34" charset="-120"/>
              </a:rPr>
              <a:t>Kein anderer mobiler Stromvermieter in der Schweiz bietet das im Standardumfang an. Das ist unser stärkstes Verkaufsargument — bitte in jedem Text erwähnen.</a:t>
            </a:r>
            <a:endParaRPr lang="en-US" sz="1250" dirty="0"/>
          </a:p>
        </p:txBody>
      </p:sp>
      <p:sp>
        <p:nvSpPr>
          <p:cNvPr id="20" name="Text 15"/>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A6A6A6"/>
                </a:solidFill>
                <a:latin typeface="Arial" pitchFamily="34" charset="0"/>
                <a:ea typeface="Arial" pitchFamily="34" charset="-122"/>
                <a:cs typeface="Arial" pitchFamily="34" charset="-120"/>
              </a:rPr>
              <a:t>Mobil in Time AG  |  Strom Quick Dive  |  Marketing-Team</a:t>
            </a:r>
            <a:endParaRPr lang="en-US" sz="900" dirty="0"/>
          </a:p>
        </p:txBody>
      </p:sp>
      <p:sp>
        <p:nvSpPr>
          <p:cNvPr id="21" name="Text 16"/>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A6A6A6"/>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75756"/>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3C3C3B"/>
          </a:solidFill>
          <a:ln/>
        </p:spPr>
      </p:sp>
      <p:sp>
        <p:nvSpPr>
          <p:cNvPr id="3" name="Text 1"/>
          <p:cNvSpPr/>
          <p:nvPr/>
        </p:nvSpPr>
        <p:spPr>
          <a:xfrm>
            <a:off x="566928" y="1417320"/>
            <a:ext cx="2743200" cy="1737360"/>
          </a:xfrm>
          <a:prstGeom prst="rect">
            <a:avLst/>
          </a:prstGeom>
          <a:noFill/>
          <a:ln/>
        </p:spPr>
        <p:txBody>
          <a:bodyPr wrap="square" lIns="0" tIns="0" rIns="0" bIns="0" rtlCol="0" anchor="ctr"/>
          <a:lstStyle/>
          <a:p>
            <a:pPr indent="0" marL="0">
              <a:buNone/>
            </a:pPr>
            <a:r>
              <a:rPr lang="en-US" sz="9600" b="1" dirty="0">
                <a:solidFill>
                  <a:srgbClr val="E4022E"/>
                </a:solidFill>
                <a:latin typeface="Arial" pitchFamily="34" charset="0"/>
                <a:ea typeface="Arial" pitchFamily="34" charset="-122"/>
                <a:cs typeface="Arial" pitchFamily="34" charset="-120"/>
              </a:rPr>
              <a:t>02</a:t>
            </a:r>
            <a:endParaRPr lang="en-US" sz="9600" dirty="0"/>
          </a:p>
        </p:txBody>
      </p:sp>
      <p:sp>
        <p:nvSpPr>
          <p:cNvPr id="4" name="Text 2"/>
          <p:cNvSpPr/>
          <p:nvPr/>
        </p:nvSpPr>
        <p:spPr>
          <a:xfrm>
            <a:off x="566928" y="3154680"/>
            <a:ext cx="7863840" cy="100584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Zielgruppen und Einsatzgebiete</a:t>
            </a:r>
            <a:endParaRPr lang="en-US" sz="4000" dirty="0"/>
          </a:p>
        </p:txBody>
      </p:sp>
      <p:sp>
        <p:nvSpPr>
          <p:cNvPr id="5" name="Text 3"/>
          <p:cNvSpPr/>
          <p:nvPr/>
        </p:nvSpPr>
        <p:spPr>
          <a:xfrm>
            <a:off x="566928" y="4224528"/>
            <a:ext cx="7498080" cy="822960"/>
          </a:xfrm>
          <a:prstGeom prst="rect">
            <a:avLst/>
          </a:prstGeom>
          <a:noFill/>
          <a:ln/>
        </p:spPr>
        <p:txBody>
          <a:bodyPr wrap="square" lIns="0" tIns="0" rIns="0" bIns="0" rtlCol="0" anchor="t"/>
          <a:lstStyle/>
          <a:p>
            <a:pPr indent="0" marL="0">
              <a:lnSpc>
                <a:spcPts val="2200"/>
              </a:lnSpc>
              <a:buNone/>
            </a:pPr>
            <a:r>
              <a:rPr lang="en-US" sz="1500" dirty="0">
                <a:solidFill>
                  <a:srgbClr val="E6E6E6"/>
                </a:solidFill>
                <a:latin typeface="Arial" pitchFamily="34" charset="0"/>
                <a:ea typeface="Arial" pitchFamily="34" charset="-122"/>
                <a:cs typeface="Arial" pitchFamily="34" charset="-120"/>
              </a:rPr>
              <a:t>Wer bei uns anruft, warum er anruft und was ihn nachts wach hält.</a:t>
            </a:r>
            <a:endParaRPr lang="en-US" sz="1500" dirty="0"/>
          </a:p>
        </p:txBody>
      </p:sp>
      <p:pic>
        <p:nvPicPr>
          <p:cNvPr id="6" name="Image 0" descr="/home/claude/ico/target_w.png">    </p:cNvPr>
          <p:cNvPicPr>
            <a:picLocks noChangeAspect="1"/>
          </p:cNvPicPr>
          <p:nvPr/>
        </p:nvPicPr>
        <p:blipFill>
          <a:blip r:embed="rId1">
            <a:alphaModFix amt="88000"/>
          </a:blip>
          <a:stretch>
            <a:fillRect/>
          </a:stretch>
        </p:blipFill>
        <p:spPr>
          <a:xfrm>
            <a:off x="10058400" y="2651760"/>
            <a:ext cx="1417320" cy="1417320"/>
          </a:xfrm>
          <a:prstGeom prst="rect">
            <a:avLst/>
          </a:prstGeom>
        </p:spPr>
      </p:pic>
      <p:sp>
        <p:nvSpPr>
          <p:cNvPr id="7" name="Text 4"/>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A6A6A6"/>
                </a:solidFill>
                <a:latin typeface="Arial" pitchFamily="34" charset="0"/>
                <a:ea typeface="Arial" pitchFamily="34" charset="-122"/>
                <a:cs typeface="Arial" pitchFamily="34" charset="-120"/>
              </a:rPr>
              <a:t>Mobil in Time AG  |  Strom Quick Dive  |  Marketing-Team</a:t>
            </a:r>
            <a:endParaRPr lang="en-US" sz="900" dirty="0"/>
          </a:p>
        </p:txBody>
      </p:sp>
      <p:sp>
        <p:nvSpPr>
          <p:cNvPr id="8" name="Text 5"/>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A6A6A6"/>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ZIELGRUPPEN · 1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Es gibt nur drei Gründe für einen Anruf</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13</a:t>
            </a:r>
            <a:endParaRPr lang="en-US" sz="1000" dirty="0"/>
          </a:p>
        </p:txBody>
      </p:sp>
      <p:sp>
        <p:nvSpPr>
          <p:cNvPr id="6" name="Shape 4"/>
          <p:cNvSpPr/>
          <p:nvPr/>
        </p:nvSpPr>
        <p:spPr>
          <a:xfrm>
            <a:off x="566928" y="1627632"/>
            <a:ext cx="11055096" cy="1207008"/>
          </a:xfrm>
          <a:prstGeom prst="roundRect">
            <a:avLst>
              <a:gd name="adj" fmla="val 6818"/>
            </a:avLst>
          </a:prstGeom>
          <a:solidFill>
            <a:srgbClr val="F4F4F4"/>
          </a:solidFill>
          <a:ln/>
        </p:spPr>
      </p:sp>
      <p:sp>
        <p:nvSpPr>
          <p:cNvPr id="7" name="Shape 5"/>
          <p:cNvSpPr/>
          <p:nvPr/>
        </p:nvSpPr>
        <p:spPr>
          <a:xfrm>
            <a:off x="859536" y="1947672"/>
            <a:ext cx="566928" cy="566928"/>
          </a:xfrm>
          <a:prstGeom prst="ellipse">
            <a:avLst/>
          </a:prstGeom>
          <a:solidFill>
            <a:srgbClr val="575756"/>
          </a:solidFill>
          <a:ln/>
        </p:spPr>
      </p:sp>
      <p:sp>
        <p:nvSpPr>
          <p:cNvPr id="8" name="Text 6"/>
          <p:cNvSpPr/>
          <p:nvPr/>
        </p:nvSpPr>
        <p:spPr>
          <a:xfrm>
            <a:off x="859536" y="194767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1664208" y="1828800"/>
            <a:ext cx="685800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Es gibt hier gar keinen Strom</a:t>
            </a:r>
            <a:endParaRPr lang="en-US" sz="1800" dirty="0"/>
          </a:p>
        </p:txBody>
      </p:sp>
      <p:sp>
        <p:nvSpPr>
          <p:cNvPr id="10" name="Text 8"/>
          <p:cNvSpPr/>
          <p:nvPr/>
        </p:nvSpPr>
        <p:spPr>
          <a:xfrm>
            <a:off x="1664208" y="2194560"/>
            <a:ext cx="8860536" cy="54864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Baustelle auf der grünen Wiese, Festival auf der Alp, Tunnel, abgelegene Anlage. Es ist schlicht keine Steckdose da.</a:t>
            </a:r>
            <a:endParaRPr lang="en-US" sz="1300" dirty="0"/>
          </a:p>
        </p:txBody>
      </p:sp>
      <p:pic>
        <p:nvPicPr>
          <p:cNvPr id="11" name="Image 0" descr="/home/claude/ico/build_n.png">    </p:cNvPr>
          <p:cNvPicPr>
            <a:picLocks noChangeAspect="1"/>
          </p:cNvPicPr>
          <p:nvPr/>
        </p:nvPicPr>
        <p:blipFill>
          <a:blip r:embed="rId1">
            <a:alphaModFix amt="28000"/>
          </a:blip>
          <a:stretch>
            <a:fillRect/>
          </a:stretch>
        </p:blipFill>
        <p:spPr>
          <a:xfrm>
            <a:off x="10661904" y="1993392"/>
            <a:ext cx="502920" cy="502920"/>
          </a:xfrm>
          <a:prstGeom prst="rect">
            <a:avLst/>
          </a:prstGeom>
        </p:spPr>
      </p:pic>
      <p:sp>
        <p:nvSpPr>
          <p:cNvPr id="12" name="Shape 9"/>
          <p:cNvSpPr/>
          <p:nvPr/>
        </p:nvSpPr>
        <p:spPr>
          <a:xfrm>
            <a:off x="566928" y="2999232"/>
            <a:ext cx="11055096" cy="1207008"/>
          </a:xfrm>
          <a:prstGeom prst="roundRect">
            <a:avLst>
              <a:gd name="adj" fmla="val 6818"/>
            </a:avLst>
          </a:prstGeom>
          <a:solidFill>
            <a:srgbClr val="F4F4F4"/>
          </a:solidFill>
          <a:ln/>
        </p:spPr>
      </p:sp>
      <p:sp>
        <p:nvSpPr>
          <p:cNvPr id="13" name="Shape 10"/>
          <p:cNvSpPr/>
          <p:nvPr/>
        </p:nvSpPr>
        <p:spPr>
          <a:xfrm>
            <a:off x="859536" y="3319272"/>
            <a:ext cx="566928" cy="566928"/>
          </a:xfrm>
          <a:prstGeom prst="ellipse">
            <a:avLst/>
          </a:prstGeom>
          <a:solidFill>
            <a:srgbClr val="575756"/>
          </a:solidFill>
          <a:ln/>
        </p:spPr>
      </p:sp>
      <p:sp>
        <p:nvSpPr>
          <p:cNvPr id="14" name="Text 11"/>
          <p:cNvSpPr/>
          <p:nvPr/>
        </p:nvSpPr>
        <p:spPr>
          <a:xfrm>
            <a:off x="859536" y="331927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5" name="Text 12"/>
          <p:cNvSpPr/>
          <p:nvPr/>
        </p:nvSpPr>
        <p:spPr>
          <a:xfrm>
            <a:off x="1664208" y="3200400"/>
            <a:ext cx="685800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Es gibt zu wenig Strom</a:t>
            </a:r>
            <a:endParaRPr lang="en-US" sz="1800" dirty="0"/>
          </a:p>
        </p:txBody>
      </p:sp>
      <p:sp>
        <p:nvSpPr>
          <p:cNvPr id="16" name="Text 13"/>
          <p:cNvSpPr/>
          <p:nvPr/>
        </p:nvSpPr>
        <p:spPr>
          <a:xfrm>
            <a:off x="1664208" y="3566160"/>
            <a:ext cx="8860536" cy="54864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Der bestehende Anschluss reicht nicht: Umbau, zusätzliche Maschine, Spitzenlast im Winter, Erweiterung der Produktion.</a:t>
            </a:r>
            <a:endParaRPr lang="en-US" sz="1300" dirty="0"/>
          </a:p>
        </p:txBody>
      </p:sp>
      <p:pic>
        <p:nvPicPr>
          <p:cNvPr id="17" name="Image 1" descr="/home/claude/ico/chart_n.png">    </p:cNvPr>
          <p:cNvPicPr>
            <a:picLocks noChangeAspect="1"/>
          </p:cNvPicPr>
          <p:nvPr/>
        </p:nvPicPr>
        <p:blipFill>
          <a:blip r:embed="rId2">
            <a:alphaModFix amt="28000"/>
          </a:blip>
          <a:stretch>
            <a:fillRect/>
          </a:stretch>
        </p:blipFill>
        <p:spPr>
          <a:xfrm>
            <a:off x="10661904" y="3364992"/>
            <a:ext cx="502920" cy="502920"/>
          </a:xfrm>
          <a:prstGeom prst="rect">
            <a:avLst/>
          </a:prstGeom>
        </p:spPr>
      </p:pic>
      <p:sp>
        <p:nvSpPr>
          <p:cNvPr id="18" name="Shape 14"/>
          <p:cNvSpPr/>
          <p:nvPr/>
        </p:nvSpPr>
        <p:spPr>
          <a:xfrm>
            <a:off x="566928" y="4370832"/>
            <a:ext cx="11055096" cy="1207008"/>
          </a:xfrm>
          <a:prstGeom prst="roundRect">
            <a:avLst>
              <a:gd name="adj" fmla="val 6818"/>
            </a:avLst>
          </a:prstGeom>
          <a:solidFill>
            <a:srgbClr val="FBE0E6"/>
          </a:solidFill>
          <a:ln/>
        </p:spPr>
      </p:sp>
      <p:sp>
        <p:nvSpPr>
          <p:cNvPr id="19" name="Shape 15"/>
          <p:cNvSpPr/>
          <p:nvPr/>
        </p:nvSpPr>
        <p:spPr>
          <a:xfrm>
            <a:off x="859536" y="4690872"/>
            <a:ext cx="566928" cy="566928"/>
          </a:xfrm>
          <a:prstGeom prst="ellipse">
            <a:avLst/>
          </a:prstGeom>
          <a:solidFill>
            <a:srgbClr val="E4022E"/>
          </a:solidFill>
          <a:ln/>
        </p:spPr>
      </p:sp>
      <p:sp>
        <p:nvSpPr>
          <p:cNvPr id="20" name="Text 16"/>
          <p:cNvSpPr/>
          <p:nvPr/>
        </p:nvSpPr>
        <p:spPr>
          <a:xfrm>
            <a:off x="859536" y="469087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1" name="Text 17"/>
          <p:cNvSpPr/>
          <p:nvPr/>
        </p:nvSpPr>
        <p:spPr>
          <a:xfrm>
            <a:off x="1664208" y="4572000"/>
            <a:ext cx="685800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Der Strom darf nie ausfallen</a:t>
            </a:r>
            <a:endParaRPr lang="en-US" sz="1800" dirty="0"/>
          </a:p>
        </p:txBody>
      </p:sp>
      <p:sp>
        <p:nvSpPr>
          <p:cNvPr id="22" name="Text 18"/>
          <p:cNvSpPr/>
          <p:nvPr/>
        </p:nvSpPr>
        <p:spPr>
          <a:xfrm>
            <a:off x="1664208" y="4937760"/>
            <a:ext cx="8860536" cy="54864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Spital, Rechenzentrum, laufende Produktion. Hier geht es nicht um Strom, hier geht es um Existenzsicherung.</a:t>
            </a:r>
            <a:endParaRPr lang="en-US" sz="1300" dirty="0"/>
          </a:p>
        </p:txBody>
      </p:sp>
      <p:pic>
        <p:nvPicPr>
          <p:cNvPr id="23" name="Image 2" descr="/home/claude/ico/shield_o.png">    </p:cNvPr>
          <p:cNvPicPr>
            <a:picLocks noChangeAspect="1"/>
          </p:cNvPicPr>
          <p:nvPr/>
        </p:nvPicPr>
        <p:blipFill>
          <a:blip r:embed="rId3"/>
          <a:stretch>
            <a:fillRect/>
          </a:stretch>
        </p:blipFill>
        <p:spPr>
          <a:xfrm>
            <a:off x="10661904" y="4736592"/>
            <a:ext cx="502920" cy="502920"/>
          </a:xfrm>
          <a:prstGeom prst="rect">
            <a:avLst/>
          </a:prstGeom>
        </p:spPr>
      </p:pic>
      <p:sp>
        <p:nvSpPr>
          <p:cNvPr id="24" name="Shape 19"/>
          <p:cNvSpPr/>
          <p:nvPr/>
        </p:nvSpPr>
        <p:spPr>
          <a:xfrm>
            <a:off x="566928" y="5742432"/>
            <a:ext cx="11055096" cy="548640"/>
          </a:xfrm>
          <a:prstGeom prst="roundRect">
            <a:avLst>
              <a:gd name="adj" fmla="val 15000"/>
            </a:avLst>
          </a:prstGeom>
          <a:solidFill>
            <a:srgbClr val="575756"/>
          </a:solidFill>
          <a:ln/>
        </p:spPr>
      </p:sp>
      <p:sp>
        <p:nvSpPr>
          <p:cNvPr id="25" name="Text 20"/>
          <p:cNvSpPr/>
          <p:nvPr/>
        </p:nvSpPr>
        <p:spPr>
          <a:xfrm>
            <a:off x="932688" y="5815584"/>
            <a:ext cx="10323576" cy="40233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Grund 1 und 2 sind Termindruck. Grund 3 ist Angst. Beides verkauft — aber man spricht ganz anders darüber.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ZIELGRUPPEN · 2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Wer bei uns anruft</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14</a:t>
            </a:r>
            <a:endParaRPr lang="en-US" sz="1000" dirty="0"/>
          </a:p>
        </p:txBody>
      </p:sp>
      <p:sp>
        <p:nvSpPr>
          <p:cNvPr id="6" name="Shape 4"/>
          <p:cNvSpPr/>
          <p:nvPr/>
        </p:nvSpPr>
        <p:spPr>
          <a:xfrm>
            <a:off x="566928" y="1627632"/>
            <a:ext cx="3584448" cy="1883664"/>
          </a:xfrm>
          <a:prstGeom prst="roundRect">
            <a:avLst>
              <a:gd name="adj" fmla="val 4369"/>
            </a:avLst>
          </a:prstGeom>
          <a:solidFill>
            <a:srgbClr val="F4F4F4"/>
          </a:solidFill>
          <a:ln/>
        </p:spPr>
      </p:sp>
      <p:sp>
        <p:nvSpPr>
          <p:cNvPr id="7" name="Shape 5"/>
          <p:cNvSpPr/>
          <p:nvPr/>
        </p:nvSpPr>
        <p:spPr>
          <a:xfrm>
            <a:off x="841248" y="1883664"/>
            <a:ext cx="566928" cy="566928"/>
          </a:xfrm>
          <a:prstGeom prst="ellipse">
            <a:avLst/>
          </a:prstGeom>
          <a:solidFill>
            <a:srgbClr val="575756"/>
          </a:solidFill>
          <a:ln/>
        </p:spPr>
      </p:sp>
      <p:pic>
        <p:nvPicPr>
          <p:cNvPr id="8" name="Image 0" descr="/home/claude/ico/build_w.png">    </p:cNvPr>
          <p:cNvPicPr>
            <a:picLocks noChangeAspect="1"/>
          </p:cNvPicPr>
          <p:nvPr/>
        </p:nvPicPr>
        <p:blipFill>
          <a:blip r:embed="rId1"/>
          <a:stretch>
            <a:fillRect/>
          </a:stretch>
        </p:blipFill>
        <p:spPr>
          <a:xfrm>
            <a:off x="988649" y="2031065"/>
            <a:ext cx="272125" cy="272125"/>
          </a:xfrm>
          <a:prstGeom prst="rect">
            <a:avLst/>
          </a:prstGeom>
        </p:spPr>
      </p:pic>
      <p:sp>
        <p:nvSpPr>
          <p:cNvPr id="9" name="Text 6"/>
          <p:cNvSpPr/>
          <p:nvPr/>
        </p:nvSpPr>
        <p:spPr>
          <a:xfrm>
            <a:off x="841248" y="2542032"/>
            <a:ext cx="3035808" cy="530352"/>
          </a:xfrm>
          <a:prstGeom prst="rect">
            <a:avLst/>
          </a:prstGeom>
          <a:noFill/>
          <a:ln/>
        </p:spPr>
        <p:txBody>
          <a:bodyPr wrap="square" lIns="0" tIns="0" rIns="0" bIns="0" rtlCol="0" anchor="t"/>
          <a:lstStyle/>
          <a:p>
            <a:pPr indent="0" marL="0">
              <a:buNone/>
            </a:pPr>
            <a:r>
              <a:rPr lang="en-US" sz="1500" b="1" dirty="0">
                <a:solidFill>
                  <a:srgbClr val="575756"/>
                </a:solidFill>
                <a:latin typeface="Arial" pitchFamily="34" charset="0"/>
                <a:ea typeface="Arial" pitchFamily="34" charset="-122"/>
                <a:cs typeface="Arial" pitchFamily="34" charset="-120"/>
              </a:rPr>
              <a:t>Bau &amp; Infrastruktur</a:t>
            </a:r>
            <a:endParaRPr lang="en-US" sz="1500" dirty="0"/>
          </a:p>
        </p:txBody>
      </p:sp>
      <p:sp>
        <p:nvSpPr>
          <p:cNvPr id="10" name="Text 7"/>
          <p:cNvSpPr/>
          <p:nvPr/>
        </p:nvSpPr>
        <p:spPr>
          <a:xfrm>
            <a:off x="841248" y="3054096"/>
            <a:ext cx="3035808" cy="384048"/>
          </a:xfrm>
          <a:prstGeom prst="rect">
            <a:avLst/>
          </a:prstGeom>
          <a:noFill/>
          <a:ln/>
        </p:spPr>
        <p:txBody>
          <a:bodyPr wrap="square" lIns="0" tIns="0" rIns="0" bIns="0" rtlCol="0" anchor="ctr"/>
          <a:lstStyle/>
          <a:p>
            <a:pPr indent="0" marL="0">
              <a:lnSpc>
                <a:spcPts val="1500"/>
              </a:lnSpc>
              <a:buNone/>
            </a:pPr>
            <a:r>
              <a:rPr lang="en-US" sz="1150" dirty="0">
                <a:solidFill>
                  <a:srgbClr val="8A8A8C"/>
                </a:solidFill>
                <a:latin typeface="Arial" pitchFamily="34" charset="0"/>
                <a:ea typeface="Arial" pitchFamily="34" charset="-122"/>
                <a:cs typeface="Arial" pitchFamily="34" charset="-120"/>
              </a:rPr>
              <a:t>Baustrom, Kran, Trocknung, Beleuchtung</a:t>
            </a:r>
            <a:endParaRPr lang="en-US" sz="1150" dirty="0"/>
          </a:p>
        </p:txBody>
      </p:sp>
      <p:sp>
        <p:nvSpPr>
          <p:cNvPr id="11" name="Shape 8"/>
          <p:cNvSpPr/>
          <p:nvPr/>
        </p:nvSpPr>
        <p:spPr>
          <a:xfrm>
            <a:off x="4535424" y="1627632"/>
            <a:ext cx="3584448" cy="1883664"/>
          </a:xfrm>
          <a:prstGeom prst="roundRect">
            <a:avLst>
              <a:gd name="adj" fmla="val 4369"/>
            </a:avLst>
          </a:prstGeom>
          <a:solidFill>
            <a:srgbClr val="F4F4F4"/>
          </a:solidFill>
          <a:ln/>
        </p:spPr>
      </p:sp>
      <p:sp>
        <p:nvSpPr>
          <p:cNvPr id="12" name="Shape 9"/>
          <p:cNvSpPr/>
          <p:nvPr/>
        </p:nvSpPr>
        <p:spPr>
          <a:xfrm>
            <a:off x="4809744" y="1883664"/>
            <a:ext cx="566928" cy="566928"/>
          </a:xfrm>
          <a:prstGeom prst="ellipse">
            <a:avLst/>
          </a:prstGeom>
          <a:solidFill>
            <a:srgbClr val="575756"/>
          </a:solidFill>
          <a:ln/>
        </p:spPr>
      </p:sp>
      <p:pic>
        <p:nvPicPr>
          <p:cNvPr id="13" name="Image 1" descr="/home/claude/ico/event_w.png">    </p:cNvPr>
          <p:cNvPicPr>
            <a:picLocks noChangeAspect="1"/>
          </p:cNvPicPr>
          <p:nvPr/>
        </p:nvPicPr>
        <p:blipFill>
          <a:blip r:embed="rId2"/>
          <a:stretch>
            <a:fillRect/>
          </a:stretch>
        </p:blipFill>
        <p:spPr>
          <a:xfrm>
            <a:off x="4957145" y="2031065"/>
            <a:ext cx="272125" cy="272125"/>
          </a:xfrm>
          <a:prstGeom prst="rect">
            <a:avLst/>
          </a:prstGeom>
        </p:spPr>
      </p:pic>
      <p:sp>
        <p:nvSpPr>
          <p:cNvPr id="14" name="Text 10"/>
          <p:cNvSpPr/>
          <p:nvPr/>
        </p:nvSpPr>
        <p:spPr>
          <a:xfrm>
            <a:off x="4809744" y="2542032"/>
            <a:ext cx="3035808" cy="530352"/>
          </a:xfrm>
          <a:prstGeom prst="rect">
            <a:avLst/>
          </a:prstGeom>
          <a:noFill/>
          <a:ln/>
        </p:spPr>
        <p:txBody>
          <a:bodyPr wrap="square" lIns="0" tIns="0" rIns="0" bIns="0" rtlCol="0" anchor="t"/>
          <a:lstStyle/>
          <a:p>
            <a:pPr indent="0" marL="0">
              <a:buNone/>
            </a:pPr>
            <a:r>
              <a:rPr lang="en-US" sz="1500" b="1" dirty="0">
                <a:solidFill>
                  <a:srgbClr val="575756"/>
                </a:solidFill>
                <a:latin typeface="Arial" pitchFamily="34" charset="0"/>
                <a:ea typeface="Arial" pitchFamily="34" charset="-122"/>
                <a:cs typeface="Arial" pitchFamily="34" charset="-120"/>
              </a:rPr>
              <a:t>Events &amp; Festivals</a:t>
            </a:r>
            <a:endParaRPr lang="en-US" sz="1500" dirty="0"/>
          </a:p>
        </p:txBody>
      </p:sp>
      <p:sp>
        <p:nvSpPr>
          <p:cNvPr id="15" name="Text 11"/>
          <p:cNvSpPr/>
          <p:nvPr/>
        </p:nvSpPr>
        <p:spPr>
          <a:xfrm>
            <a:off x="4809744" y="3054096"/>
            <a:ext cx="3035808" cy="384048"/>
          </a:xfrm>
          <a:prstGeom prst="rect">
            <a:avLst/>
          </a:prstGeom>
          <a:noFill/>
          <a:ln/>
        </p:spPr>
        <p:txBody>
          <a:bodyPr wrap="square" lIns="0" tIns="0" rIns="0" bIns="0" rtlCol="0" anchor="ctr"/>
          <a:lstStyle/>
          <a:p>
            <a:pPr indent="0" marL="0">
              <a:lnSpc>
                <a:spcPts val="1500"/>
              </a:lnSpc>
              <a:buNone/>
            </a:pPr>
            <a:r>
              <a:rPr lang="en-US" sz="1150" dirty="0">
                <a:solidFill>
                  <a:srgbClr val="8A8A8C"/>
                </a:solidFill>
                <a:latin typeface="Arial" pitchFamily="34" charset="0"/>
                <a:ea typeface="Arial" pitchFamily="34" charset="-122"/>
                <a:cs typeface="Arial" pitchFamily="34" charset="-120"/>
              </a:rPr>
              <a:t>Bühne, Licht, Ton, Gastronomie, Camping</a:t>
            </a:r>
            <a:endParaRPr lang="en-US" sz="1150" dirty="0"/>
          </a:p>
        </p:txBody>
      </p:sp>
      <p:sp>
        <p:nvSpPr>
          <p:cNvPr id="16" name="Shape 12"/>
          <p:cNvSpPr/>
          <p:nvPr/>
        </p:nvSpPr>
        <p:spPr>
          <a:xfrm>
            <a:off x="8503920" y="1627632"/>
            <a:ext cx="3584448" cy="1883664"/>
          </a:xfrm>
          <a:prstGeom prst="roundRect">
            <a:avLst>
              <a:gd name="adj" fmla="val 4369"/>
            </a:avLst>
          </a:prstGeom>
          <a:solidFill>
            <a:srgbClr val="F4F4F4"/>
          </a:solidFill>
          <a:ln/>
        </p:spPr>
      </p:sp>
      <p:sp>
        <p:nvSpPr>
          <p:cNvPr id="17" name="Shape 13"/>
          <p:cNvSpPr/>
          <p:nvPr/>
        </p:nvSpPr>
        <p:spPr>
          <a:xfrm>
            <a:off x="8778240" y="1883664"/>
            <a:ext cx="566928" cy="566928"/>
          </a:xfrm>
          <a:prstGeom prst="ellipse">
            <a:avLst/>
          </a:prstGeom>
          <a:solidFill>
            <a:srgbClr val="575756"/>
          </a:solidFill>
          <a:ln/>
        </p:spPr>
      </p:sp>
      <p:pic>
        <p:nvPicPr>
          <p:cNvPr id="18" name="Image 2" descr="/home/claude/ico/factory_w.png">    </p:cNvPr>
          <p:cNvPicPr>
            <a:picLocks noChangeAspect="1"/>
          </p:cNvPicPr>
          <p:nvPr/>
        </p:nvPicPr>
        <p:blipFill>
          <a:blip r:embed="rId3"/>
          <a:stretch>
            <a:fillRect/>
          </a:stretch>
        </p:blipFill>
        <p:spPr>
          <a:xfrm>
            <a:off x="8925641" y="2031065"/>
            <a:ext cx="272125" cy="272125"/>
          </a:xfrm>
          <a:prstGeom prst="rect">
            <a:avLst/>
          </a:prstGeom>
        </p:spPr>
      </p:pic>
      <p:sp>
        <p:nvSpPr>
          <p:cNvPr id="19" name="Text 14"/>
          <p:cNvSpPr/>
          <p:nvPr/>
        </p:nvSpPr>
        <p:spPr>
          <a:xfrm>
            <a:off x="8778240" y="2542032"/>
            <a:ext cx="3035808" cy="530352"/>
          </a:xfrm>
          <a:prstGeom prst="rect">
            <a:avLst/>
          </a:prstGeom>
          <a:noFill/>
          <a:ln/>
        </p:spPr>
        <p:txBody>
          <a:bodyPr wrap="square" lIns="0" tIns="0" rIns="0" bIns="0" rtlCol="0" anchor="t"/>
          <a:lstStyle/>
          <a:p>
            <a:pPr indent="0" marL="0">
              <a:buNone/>
            </a:pPr>
            <a:r>
              <a:rPr lang="en-US" sz="1500" b="1" dirty="0">
                <a:solidFill>
                  <a:srgbClr val="575756"/>
                </a:solidFill>
                <a:latin typeface="Arial" pitchFamily="34" charset="0"/>
                <a:ea typeface="Arial" pitchFamily="34" charset="-122"/>
                <a:cs typeface="Arial" pitchFamily="34" charset="-120"/>
              </a:rPr>
              <a:t>Industrie &amp; Produktion</a:t>
            </a:r>
            <a:endParaRPr lang="en-US" sz="1500" dirty="0"/>
          </a:p>
        </p:txBody>
      </p:sp>
      <p:sp>
        <p:nvSpPr>
          <p:cNvPr id="20" name="Text 15"/>
          <p:cNvSpPr/>
          <p:nvPr/>
        </p:nvSpPr>
        <p:spPr>
          <a:xfrm>
            <a:off x="8778240" y="3054096"/>
            <a:ext cx="3035808" cy="384048"/>
          </a:xfrm>
          <a:prstGeom prst="rect">
            <a:avLst/>
          </a:prstGeom>
          <a:noFill/>
          <a:ln/>
        </p:spPr>
        <p:txBody>
          <a:bodyPr wrap="square" lIns="0" tIns="0" rIns="0" bIns="0" rtlCol="0" anchor="ctr"/>
          <a:lstStyle/>
          <a:p>
            <a:pPr indent="0" marL="0">
              <a:lnSpc>
                <a:spcPts val="1500"/>
              </a:lnSpc>
              <a:buNone/>
            </a:pPr>
            <a:r>
              <a:rPr lang="en-US" sz="1150" dirty="0">
                <a:solidFill>
                  <a:srgbClr val="8A8A8C"/>
                </a:solidFill>
                <a:latin typeface="Arial" pitchFamily="34" charset="0"/>
                <a:ea typeface="Arial" pitchFamily="34" charset="-122"/>
                <a:cs typeface="Arial" pitchFamily="34" charset="-120"/>
              </a:rPr>
              <a:t>Umbau, Wartung, Spitzenlast, Ausfallschutz</a:t>
            </a:r>
            <a:endParaRPr lang="en-US" sz="1150" dirty="0"/>
          </a:p>
        </p:txBody>
      </p:sp>
      <p:sp>
        <p:nvSpPr>
          <p:cNvPr id="21" name="Shape 16"/>
          <p:cNvSpPr/>
          <p:nvPr/>
        </p:nvSpPr>
        <p:spPr>
          <a:xfrm>
            <a:off x="566928" y="3822192"/>
            <a:ext cx="3584448" cy="1883664"/>
          </a:xfrm>
          <a:prstGeom prst="roundRect">
            <a:avLst>
              <a:gd name="adj" fmla="val 4369"/>
            </a:avLst>
          </a:prstGeom>
          <a:solidFill>
            <a:srgbClr val="F4F4F4"/>
          </a:solidFill>
          <a:ln/>
        </p:spPr>
      </p:sp>
      <p:sp>
        <p:nvSpPr>
          <p:cNvPr id="22" name="Shape 17"/>
          <p:cNvSpPr/>
          <p:nvPr/>
        </p:nvSpPr>
        <p:spPr>
          <a:xfrm>
            <a:off x="841248" y="4078224"/>
            <a:ext cx="566928" cy="566928"/>
          </a:xfrm>
          <a:prstGeom prst="ellipse">
            <a:avLst/>
          </a:prstGeom>
          <a:solidFill>
            <a:srgbClr val="E4022E"/>
          </a:solidFill>
          <a:ln/>
        </p:spPr>
      </p:sp>
      <p:pic>
        <p:nvPicPr>
          <p:cNvPr id="23" name="Image 3" descr="/home/claude/ico/server_w.png">    </p:cNvPr>
          <p:cNvPicPr>
            <a:picLocks noChangeAspect="1"/>
          </p:cNvPicPr>
          <p:nvPr/>
        </p:nvPicPr>
        <p:blipFill>
          <a:blip r:embed="rId4"/>
          <a:stretch>
            <a:fillRect/>
          </a:stretch>
        </p:blipFill>
        <p:spPr>
          <a:xfrm>
            <a:off x="988649" y="4225625"/>
            <a:ext cx="272125" cy="272125"/>
          </a:xfrm>
          <a:prstGeom prst="rect">
            <a:avLst/>
          </a:prstGeom>
        </p:spPr>
      </p:pic>
      <p:sp>
        <p:nvSpPr>
          <p:cNvPr id="24" name="Text 18"/>
          <p:cNvSpPr/>
          <p:nvPr/>
        </p:nvSpPr>
        <p:spPr>
          <a:xfrm>
            <a:off x="841248" y="4736592"/>
            <a:ext cx="3035808" cy="530352"/>
          </a:xfrm>
          <a:prstGeom prst="rect">
            <a:avLst/>
          </a:prstGeom>
          <a:noFill/>
          <a:ln/>
        </p:spPr>
        <p:txBody>
          <a:bodyPr wrap="square" lIns="0" tIns="0" rIns="0" bIns="0" rtlCol="0" anchor="t"/>
          <a:lstStyle/>
          <a:p>
            <a:pPr indent="0" marL="0">
              <a:buNone/>
            </a:pPr>
            <a:r>
              <a:rPr lang="en-US" sz="1500" b="1" dirty="0">
                <a:solidFill>
                  <a:srgbClr val="575756"/>
                </a:solidFill>
                <a:latin typeface="Arial" pitchFamily="34" charset="0"/>
                <a:ea typeface="Arial" pitchFamily="34" charset="-122"/>
                <a:cs typeface="Arial" pitchFamily="34" charset="-120"/>
              </a:rPr>
              <a:t>Rechenzentren &amp; Telecom</a:t>
            </a:r>
            <a:endParaRPr lang="en-US" sz="1500" dirty="0"/>
          </a:p>
        </p:txBody>
      </p:sp>
      <p:sp>
        <p:nvSpPr>
          <p:cNvPr id="25" name="Text 19"/>
          <p:cNvSpPr/>
          <p:nvPr/>
        </p:nvSpPr>
        <p:spPr>
          <a:xfrm>
            <a:off x="841248" y="5248656"/>
            <a:ext cx="3035808" cy="384048"/>
          </a:xfrm>
          <a:prstGeom prst="rect">
            <a:avLst/>
          </a:prstGeom>
          <a:noFill/>
          <a:ln/>
        </p:spPr>
        <p:txBody>
          <a:bodyPr wrap="square" lIns="0" tIns="0" rIns="0" bIns="0" rtlCol="0" anchor="ctr"/>
          <a:lstStyle/>
          <a:p>
            <a:pPr indent="0" marL="0">
              <a:lnSpc>
                <a:spcPts val="1500"/>
              </a:lnSpc>
              <a:buNone/>
            </a:pPr>
            <a:r>
              <a:rPr lang="en-US" sz="1150" dirty="0">
                <a:solidFill>
                  <a:srgbClr val="8A8A8C"/>
                </a:solidFill>
                <a:latin typeface="Arial" pitchFamily="34" charset="0"/>
                <a:ea typeface="Arial" pitchFamily="34" charset="-122"/>
                <a:cs typeface="Arial" pitchFamily="34" charset="-120"/>
              </a:rPr>
              <a:t>Test vor Inbetriebnahme, Überbrückung, Wartung</a:t>
            </a:r>
            <a:endParaRPr lang="en-US" sz="1150" dirty="0"/>
          </a:p>
        </p:txBody>
      </p:sp>
      <p:sp>
        <p:nvSpPr>
          <p:cNvPr id="26" name="Shape 20"/>
          <p:cNvSpPr/>
          <p:nvPr/>
        </p:nvSpPr>
        <p:spPr>
          <a:xfrm>
            <a:off x="4535424" y="3822192"/>
            <a:ext cx="3584448" cy="1883664"/>
          </a:xfrm>
          <a:prstGeom prst="roundRect">
            <a:avLst>
              <a:gd name="adj" fmla="val 4369"/>
            </a:avLst>
          </a:prstGeom>
          <a:solidFill>
            <a:srgbClr val="F4F4F4"/>
          </a:solidFill>
          <a:ln/>
        </p:spPr>
      </p:sp>
      <p:sp>
        <p:nvSpPr>
          <p:cNvPr id="27" name="Shape 21"/>
          <p:cNvSpPr/>
          <p:nvPr/>
        </p:nvSpPr>
        <p:spPr>
          <a:xfrm>
            <a:off x="4809744" y="4078224"/>
            <a:ext cx="566928" cy="566928"/>
          </a:xfrm>
          <a:prstGeom prst="ellipse">
            <a:avLst/>
          </a:prstGeom>
          <a:solidFill>
            <a:srgbClr val="E4022E"/>
          </a:solidFill>
          <a:ln/>
        </p:spPr>
      </p:sp>
      <p:pic>
        <p:nvPicPr>
          <p:cNvPr id="28" name="Image 4" descr="/home/claude/ico/hospital_w.png">    </p:cNvPr>
          <p:cNvPicPr>
            <a:picLocks noChangeAspect="1"/>
          </p:cNvPicPr>
          <p:nvPr/>
        </p:nvPicPr>
        <p:blipFill>
          <a:blip r:embed="rId5"/>
          <a:stretch>
            <a:fillRect/>
          </a:stretch>
        </p:blipFill>
        <p:spPr>
          <a:xfrm>
            <a:off x="4957145" y="4225625"/>
            <a:ext cx="272125" cy="272125"/>
          </a:xfrm>
          <a:prstGeom prst="rect">
            <a:avLst/>
          </a:prstGeom>
        </p:spPr>
      </p:pic>
      <p:sp>
        <p:nvSpPr>
          <p:cNvPr id="29" name="Text 22"/>
          <p:cNvSpPr/>
          <p:nvPr/>
        </p:nvSpPr>
        <p:spPr>
          <a:xfrm>
            <a:off x="4809744" y="4736592"/>
            <a:ext cx="3035808" cy="530352"/>
          </a:xfrm>
          <a:prstGeom prst="rect">
            <a:avLst/>
          </a:prstGeom>
          <a:noFill/>
          <a:ln/>
        </p:spPr>
        <p:txBody>
          <a:bodyPr wrap="square" lIns="0" tIns="0" rIns="0" bIns="0" rtlCol="0" anchor="t"/>
          <a:lstStyle/>
          <a:p>
            <a:pPr indent="0" marL="0">
              <a:buNone/>
            </a:pPr>
            <a:r>
              <a:rPr lang="en-US" sz="1500" b="1" dirty="0">
                <a:solidFill>
                  <a:srgbClr val="575756"/>
                </a:solidFill>
                <a:latin typeface="Arial" pitchFamily="34" charset="0"/>
                <a:ea typeface="Arial" pitchFamily="34" charset="-122"/>
                <a:cs typeface="Arial" pitchFamily="34" charset="-120"/>
              </a:rPr>
              <a:t>Spitäler &amp; kritische Infrastruktur</a:t>
            </a:r>
            <a:endParaRPr lang="en-US" sz="1500" dirty="0"/>
          </a:p>
        </p:txBody>
      </p:sp>
      <p:sp>
        <p:nvSpPr>
          <p:cNvPr id="30" name="Text 23"/>
          <p:cNvSpPr/>
          <p:nvPr/>
        </p:nvSpPr>
        <p:spPr>
          <a:xfrm>
            <a:off x="4809744" y="5248656"/>
            <a:ext cx="3035808" cy="384048"/>
          </a:xfrm>
          <a:prstGeom prst="rect">
            <a:avLst/>
          </a:prstGeom>
          <a:noFill/>
          <a:ln/>
        </p:spPr>
        <p:txBody>
          <a:bodyPr wrap="square" lIns="0" tIns="0" rIns="0" bIns="0" rtlCol="0" anchor="ctr"/>
          <a:lstStyle/>
          <a:p>
            <a:pPr indent="0" marL="0">
              <a:lnSpc>
                <a:spcPts val="1500"/>
              </a:lnSpc>
              <a:buNone/>
            </a:pPr>
            <a:r>
              <a:rPr lang="en-US" sz="1150" dirty="0">
                <a:solidFill>
                  <a:srgbClr val="8A8A8C"/>
                </a:solidFill>
                <a:latin typeface="Arial" pitchFamily="34" charset="0"/>
                <a:ea typeface="Arial" pitchFamily="34" charset="-122"/>
                <a:cs typeface="Arial" pitchFamily="34" charset="-120"/>
              </a:rPr>
              <a:t>Gesetzlich vorgeschriebene Notversorgung</a:t>
            </a:r>
            <a:endParaRPr lang="en-US" sz="1150" dirty="0"/>
          </a:p>
        </p:txBody>
      </p:sp>
      <p:sp>
        <p:nvSpPr>
          <p:cNvPr id="31" name="Shape 24"/>
          <p:cNvSpPr/>
          <p:nvPr/>
        </p:nvSpPr>
        <p:spPr>
          <a:xfrm>
            <a:off x="8503920" y="3822192"/>
            <a:ext cx="3584448" cy="1883664"/>
          </a:xfrm>
          <a:prstGeom prst="roundRect">
            <a:avLst>
              <a:gd name="adj" fmla="val 4369"/>
            </a:avLst>
          </a:prstGeom>
          <a:solidFill>
            <a:srgbClr val="F4F4F4"/>
          </a:solidFill>
          <a:ln/>
        </p:spPr>
      </p:sp>
      <p:sp>
        <p:nvSpPr>
          <p:cNvPr id="32" name="Shape 25"/>
          <p:cNvSpPr/>
          <p:nvPr/>
        </p:nvSpPr>
        <p:spPr>
          <a:xfrm>
            <a:off x="8778240" y="4078224"/>
            <a:ext cx="566928" cy="566928"/>
          </a:xfrm>
          <a:prstGeom prst="ellipse">
            <a:avLst/>
          </a:prstGeom>
          <a:solidFill>
            <a:srgbClr val="E4022E"/>
          </a:solidFill>
          <a:ln/>
        </p:spPr>
      </p:sp>
      <p:pic>
        <p:nvPicPr>
          <p:cNvPr id="33" name="Image 5" descr="/home/claude/ico/city_w.png">    </p:cNvPr>
          <p:cNvPicPr>
            <a:picLocks noChangeAspect="1"/>
          </p:cNvPicPr>
          <p:nvPr/>
        </p:nvPicPr>
        <p:blipFill>
          <a:blip r:embed="rId6"/>
          <a:stretch>
            <a:fillRect/>
          </a:stretch>
        </p:blipFill>
        <p:spPr>
          <a:xfrm>
            <a:off x="8925641" y="4225625"/>
            <a:ext cx="272125" cy="272125"/>
          </a:xfrm>
          <a:prstGeom prst="rect">
            <a:avLst/>
          </a:prstGeom>
        </p:spPr>
      </p:pic>
      <p:sp>
        <p:nvSpPr>
          <p:cNvPr id="34" name="Text 26"/>
          <p:cNvSpPr/>
          <p:nvPr/>
        </p:nvSpPr>
        <p:spPr>
          <a:xfrm>
            <a:off x="8778240" y="4736592"/>
            <a:ext cx="3035808" cy="530352"/>
          </a:xfrm>
          <a:prstGeom prst="rect">
            <a:avLst/>
          </a:prstGeom>
          <a:noFill/>
          <a:ln/>
        </p:spPr>
        <p:txBody>
          <a:bodyPr wrap="square" lIns="0" tIns="0" rIns="0" bIns="0" rtlCol="0" anchor="t"/>
          <a:lstStyle/>
          <a:p>
            <a:pPr indent="0" marL="0">
              <a:buNone/>
            </a:pPr>
            <a:r>
              <a:rPr lang="en-US" sz="1500" b="1" dirty="0">
                <a:solidFill>
                  <a:srgbClr val="575756"/>
                </a:solidFill>
                <a:latin typeface="Arial" pitchFamily="34" charset="0"/>
                <a:ea typeface="Arial" pitchFamily="34" charset="-122"/>
                <a:cs typeface="Arial" pitchFamily="34" charset="-120"/>
              </a:rPr>
              <a:t>Städte, Gemeinden &amp; Energieversorger</a:t>
            </a:r>
            <a:endParaRPr lang="en-US" sz="1500" dirty="0"/>
          </a:p>
        </p:txBody>
      </p:sp>
      <p:sp>
        <p:nvSpPr>
          <p:cNvPr id="35" name="Text 27"/>
          <p:cNvSpPr/>
          <p:nvPr/>
        </p:nvSpPr>
        <p:spPr>
          <a:xfrm>
            <a:off x="8778240" y="5248656"/>
            <a:ext cx="3035808" cy="384048"/>
          </a:xfrm>
          <a:prstGeom prst="rect">
            <a:avLst/>
          </a:prstGeom>
          <a:noFill/>
          <a:ln/>
        </p:spPr>
        <p:txBody>
          <a:bodyPr wrap="square" lIns="0" tIns="0" rIns="0" bIns="0" rtlCol="0" anchor="ctr"/>
          <a:lstStyle/>
          <a:p>
            <a:pPr indent="0" marL="0">
              <a:lnSpc>
                <a:spcPts val="1500"/>
              </a:lnSpc>
              <a:buNone/>
            </a:pPr>
            <a:r>
              <a:rPr lang="en-US" sz="1150" dirty="0">
                <a:solidFill>
                  <a:srgbClr val="8A8A8C"/>
                </a:solidFill>
                <a:latin typeface="Arial" pitchFamily="34" charset="0"/>
                <a:ea typeface="Arial" pitchFamily="34" charset="-122"/>
                <a:cs typeface="Arial" pitchFamily="34" charset="-120"/>
              </a:rPr>
              <a:t>Netzarbeiten, Anlässe, Blackout-Vorsorge</a:t>
            </a:r>
            <a:endParaRPr lang="en-US" sz="1150" dirty="0"/>
          </a:p>
        </p:txBody>
      </p:sp>
      <p:sp>
        <p:nvSpPr>
          <p:cNvPr id="36" name="Text 28"/>
          <p:cNvSpPr/>
          <p:nvPr/>
        </p:nvSpPr>
        <p:spPr>
          <a:xfrm>
            <a:off x="566928" y="5870448"/>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Dazu kommt der wichtigste Kanal überhaupt: unsere eigenen Wärme- und Kältekunden. Dazu gleich mehr.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ZIELGRUPPEN · 3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Was den Kunden nachts wach hält</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15</a:t>
            </a:r>
            <a:endParaRPr lang="en-US" sz="1000" dirty="0"/>
          </a:p>
        </p:txBody>
      </p:sp>
      <p:sp>
        <p:nvSpPr>
          <p:cNvPr id="6" name="Shape 4"/>
          <p:cNvSpPr/>
          <p:nvPr/>
        </p:nvSpPr>
        <p:spPr>
          <a:xfrm>
            <a:off x="566928" y="1609344"/>
            <a:ext cx="11055096" cy="457200"/>
          </a:xfrm>
          <a:prstGeom prst="roundRect">
            <a:avLst>
              <a:gd name="adj" fmla="val 12000"/>
            </a:avLst>
          </a:prstGeom>
          <a:solidFill>
            <a:srgbClr val="575756"/>
          </a:solidFill>
          <a:ln/>
        </p:spPr>
      </p:sp>
      <p:sp>
        <p:nvSpPr>
          <p:cNvPr id="7" name="Text 5"/>
          <p:cNvSpPr/>
          <p:nvPr/>
        </p:nvSpPr>
        <p:spPr>
          <a:xfrm>
            <a:off x="822960" y="1609344"/>
            <a:ext cx="1737360" cy="457200"/>
          </a:xfrm>
          <a:prstGeom prst="rect">
            <a:avLst/>
          </a:prstGeom>
          <a:noFill/>
          <a:ln/>
        </p:spPr>
        <p:txBody>
          <a:bodyPr wrap="square" lIns="0" tIns="0" rIns="0" bIns="0" rtlCol="0" anchor="ctr"/>
          <a:lstStyle/>
          <a:p>
            <a:pPr indent="0" marL="0">
              <a:buNone/>
            </a:pPr>
            <a:r>
              <a:rPr lang="en-US" sz="1200" b="1" spc="80" kern="0" dirty="0">
                <a:solidFill>
                  <a:srgbClr val="FFFFFF"/>
                </a:solidFill>
                <a:latin typeface="Arial" pitchFamily="34" charset="0"/>
                <a:ea typeface="Arial" pitchFamily="34" charset="-122"/>
                <a:cs typeface="Arial" pitchFamily="34" charset="-120"/>
              </a:rPr>
              <a:t>Wer</a:t>
            </a:r>
            <a:endParaRPr lang="en-US" sz="1200" dirty="0"/>
          </a:p>
        </p:txBody>
      </p:sp>
      <p:sp>
        <p:nvSpPr>
          <p:cNvPr id="8" name="Text 6"/>
          <p:cNvSpPr/>
          <p:nvPr/>
        </p:nvSpPr>
        <p:spPr>
          <a:xfrm>
            <a:off x="2715768" y="1609344"/>
            <a:ext cx="5212080" cy="457200"/>
          </a:xfrm>
          <a:prstGeom prst="rect">
            <a:avLst/>
          </a:prstGeom>
          <a:noFill/>
          <a:ln/>
        </p:spPr>
        <p:txBody>
          <a:bodyPr wrap="square" lIns="0" tIns="0" rIns="0" bIns="0" rtlCol="0" anchor="ctr"/>
          <a:lstStyle/>
          <a:p>
            <a:pPr indent="0" marL="0">
              <a:buNone/>
            </a:pPr>
            <a:r>
              <a:rPr lang="en-US" sz="1200" b="1" spc="80" kern="0" dirty="0">
                <a:solidFill>
                  <a:srgbClr val="FFFFFF"/>
                </a:solidFill>
                <a:latin typeface="Arial" pitchFamily="34" charset="0"/>
                <a:ea typeface="Arial" pitchFamily="34" charset="-122"/>
                <a:cs typeface="Arial" pitchFamily="34" charset="-120"/>
              </a:rPr>
              <a:t>Sein Albtraum</a:t>
            </a:r>
            <a:endParaRPr lang="en-US" sz="1200" dirty="0"/>
          </a:p>
        </p:txBody>
      </p:sp>
      <p:sp>
        <p:nvSpPr>
          <p:cNvPr id="9" name="Text 7"/>
          <p:cNvSpPr/>
          <p:nvPr/>
        </p:nvSpPr>
        <p:spPr>
          <a:xfrm>
            <a:off x="8065008" y="1609344"/>
            <a:ext cx="3383280" cy="457200"/>
          </a:xfrm>
          <a:prstGeom prst="rect">
            <a:avLst/>
          </a:prstGeom>
          <a:noFill/>
          <a:ln/>
        </p:spPr>
        <p:txBody>
          <a:bodyPr wrap="square" lIns="0" tIns="0" rIns="0" bIns="0" rtlCol="0" anchor="ctr"/>
          <a:lstStyle/>
          <a:p>
            <a:pPr indent="0" marL="0">
              <a:buNone/>
            </a:pPr>
            <a:r>
              <a:rPr lang="en-US" sz="1200" b="1" spc="80" kern="0" dirty="0">
                <a:solidFill>
                  <a:srgbClr val="FFFFFF"/>
                </a:solidFill>
                <a:latin typeface="Arial" pitchFamily="34" charset="0"/>
                <a:ea typeface="Arial" pitchFamily="34" charset="-122"/>
                <a:cs typeface="Arial" pitchFamily="34" charset="-120"/>
              </a:rPr>
              <a:t>Unsere Antwort in einem Satz</a:t>
            </a:r>
            <a:endParaRPr lang="en-US" sz="1200" dirty="0"/>
          </a:p>
        </p:txBody>
      </p:sp>
      <p:sp>
        <p:nvSpPr>
          <p:cNvPr id="10" name="Shape 8"/>
          <p:cNvSpPr/>
          <p:nvPr/>
        </p:nvSpPr>
        <p:spPr>
          <a:xfrm>
            <a:off x="566928" y="2066544"/>
            <a:ext cx="11055096" cy="804672"/>
          </a:xfrm>
          <a:prstGeom prst="rect">
            <a:avLst/>
          </a:prstGeom>
          <a:solidFill>
            <a:srgbClr val="F4F4F4"/>
          </a:solidFill>
          <a:ln/>
        </p:spPr>
      </p:sp>
      <p:sp>
        <p:nvSpPr>
          <p:cNvPr id="11" name="Text 9"/>
          <p:cNvSpPr/>
          <p:nvPr/>
        </p:nvSpPr>
        <p:spPr>
          <a:xfrm>
            <a:off x="822960" y="2066544"/>
            <a:ext cx="1737360" cy="804672"/>
          </a:xfrm>
          <a:prstGeom prst="rect">
            <a:avLst/>
          </a:prstGeom>
          <a:noFill/>
          <a:ln/>
        </p:spPr>
        <p:txBody>
          <a:bodyPr wrap="square" lIns="0" tIns="0" rIns="0" bIns="0" rtlCol="0" anchor="ctr"/>
          <a:lstStyle/>
          <a:p>
            <a:pPr indent="0" marL="0">
              <a:buNone/>
            </a:pPr>
            <a:r>
              <a:rPr lang="en-US" sz="1400" b="1" dirty="0">
                <a:solidFill>
                  <a:srgbClr val="575756"/>
                </a:solidFill>
                <a:latin typeface="Arial" pitchFamily="34" charset="0"/>
                <a:ea typeface="Arial" pitchFamily="34" charset="-122"/>
                <a:cs typeface="Arial" pitchFamily="34" charset="-120"/>
              </a:rPr>
              <a:t>Baustelle</a:t>
            </a:r>
            <a:endParaRPr lang="en-US" sz="1400" dirty="0"/>
          </a:p>
        </p:txBody>
      </p:sp>
      <p:sp>
        <p:nvSpPr>
          <p:cNvPr id="12" name="Text 10"/>
          <p:cNvSpPr/>
          <p:nvPr/>
        </p:nvSpPr>
        <p:spPr>
          <a:xfrm>
            <a:off x="2715768" y="2066544"/>
            <a:ext cx="5212080" cy="804672"/>
          </a:xfrm>
          <a:prstGeom prst="rect">
            <a:avLst/>
          </a:prstGeom>
          <a:noFill/>
          <a:ln/>
        </p:spPr>
        <p:txBody>
          <a:bodyPr wrap="square" lIns="0" tIns="0" rIns="0" bIns="0" rtlCol="0" anchor="ctr"/>
          <a:lstStyle/>
          <a:p>
            <a:pPr indent="0" marL="0">
              <a:lnSpc>
                <a:spcPts val="1700"/>
              </a:lnSpc>
              <a:buNone/>
            </a:pPr>
            <a:r>
              <a:rPr lang="en-US" sz="1250" dirty="0">
                <a:solidFill>
                  <a:srgbClr val="575756"/>
                </a:solidFill>
                <a:latin typeface="Arial" pitchFamily="34" charset="0"/>
                <a:ea typeface="Arial" pitchFamily="34" charset="-122"/>
                <a:cs typeface="Arial" pitchFamily="34" charset="-120"/>
              </a:rPr>
              <a:t>Der Kran steht still, der Termin platzt, es droht eine Vertragsstrafe</a:t>
            </a:r>
            <a:endParaRPr lang="en-US" sz="1250" dirty="0"/>
          </a:p>
        </p:txBody>
      </p:sp>
      <p:sp>
        <p:nvSpPr>
          <p:cNvPr id="13" name="Text 11"/>
          <p:cNvSpPr/>
          <p:nvPr/>
        </p:nvSpPr>
        <p:spPr>
          <a:xfrm>
            <a:off x="8065008" y="2066544"/>
            <a:ext cx="3383280" cy="804672"/>
          </a:xfrm>
          <a:prstGeom prst="rect">
            <a:avLst/>
          </a:prstGeom>
          <a:noFill/>
          <a:ln/>
        </p:spPr>
        <p:txBody>
          <a:bodyPr wrap="square" lIns="0" tIns="0" rIns="0" bIns="0" rtlCol="0" anchor="ctr"/>
          <a:lstStyle/>
          <a:p>
            <a:pPr indent="0" marL="0">
              <a:lnSpc>
                <a:spcPts val="1700"/>
              </a:lnSpc>
              <a:buNone/>
            </a:pPr>
            <a:r>
              <a:rPr lang="en-US" sz="1250" b="1" dirty="0">
                <a:solidFill>
                  <a:srgbClr val="E4022E"/>
                </a:solidFill>
                <a:latin typeface="Arial" pitchFamily="34" charset="0"/>
                <a:ea typeface="Arial" pitchFamily="34" charset="-122"/>
                <a:cs typeface="Arial" pitchFamily="34" charset="-120"/>
              </a:rPr>
              <a:t>Am Montag um sieben läuft alles.</a:t>
            </a:r>
            <a:endParaRPr lang="en-US" sz="1250" dirty="0"/>
          </a:p>
        </p:txBody>
      </p:sp>
      <p:sp>
        <p:nvSpPr>
          <p:cNvPr id="14" name="Text 12"/>
          <p:cNvSpPr/>
          <p:nvPr/>
        </p:nvSpPr>
        <p:spPr>
          <a:xfrm>
            <a:off x="822960" y="2871216"/>
            <a:ext cx="1737360" cy="804672"/>
          </a:xfrm>
          <a:prstGeom prst="rect">
            <a:avLst/>
          </a:prstGeom>
          <a:noFill/>
          <a:ln/>
        </p:spPr>
        <p:txBody>
          <a:bodyPr wrap="square" lIns="0" tIns="0" rIns="0" bIns="0" rtlCol="0" anchor="ctr"/>
          <a:lstStyle/>
          <a:p>
            <a:pPr indent="0" marL="0">
              <a:buNone/>
            </a:pPr>
            <a:r>
              <a:rPr lang="en-US" sz="1400" b="1" dirty="0">
                <a:solidFill>
                  <a:srgbClr val="575756"/>
                </a:solidFill>
                <a:latin typeface="Arial" pitchFamily="34" charset="0"/>
                <a:ea typeface="Arial" pitchFamily="34" charset="-122"/>
                <a:cs typeface="Arial" pitchFamily="34" charset="-120"/>
              </a:rPr>
              <a:t>Festival</a:t>
            </a:r>
            <a:endParaRPr lang="en-US" sz="1400" dirty="0"/>
          </a:p>
        </p:txBody>
      </p:sp>
      <p:sp>
        <p:nvSpPr>
          <p:cNvPr id="15" name="Text 13"/>
          <p:cNvSpPr/>
          <p:nvPr/>
        </p:nvSpPr>
        <p:spPr>
          <a:xfrm>
            <a:off x="2715768" y="2871216"/>
            <a:ext cx="5212080" cy="804672"/>
          </a:xfrm>
          <a:prstGeom prst="rect">
            <a:avLst/>
          </a:prstGeom>
          <a:noFill/>
          <a:ln/>
        </p:spPr>
        <p:txBody>
          <a:bodyPr wrap="square" lIns="0" tIns="0" rIns="0" bIns="0" rtlCol="0" anchor="ctr"/>
          <a:lstStyle/>
          <a:p>
            <a:pPr indent="0" marL="0">
              <a:lnSpc>
                <a:spcPts val="1700"/>
              </a:lnSpc>
              <a:buNone/>
            </a:pPr>
            <a:r>
              <a:rPr lang="en-US" sz="1250" dirty="0">
                <a:solidFill>
                  <a:srgbClr val="575756"/>
                </a:solidFill>
                <a:latin typeface="Arial" pitchFamily="34" charset="0"/>
                <a:ea typeface="Arial" pitchFamily="34" charset="-122"/>
                <a:cs typeface="Arial" pitchFamily="34" charset="-120"/>
              </a:rPr>
              <a:t>Die Bühne fällt aus, 20 000 Leute stehen im Dunkeln</a:t>
            </a:r>
            <a:endParaRPr lang="en-US" sz="1250" dirty="0"/>
          </a:p>
        </p:txBody>
      </p:sp>
      <p:sp>
        <p:nvSpPr>
          <p:cNvPr id="16" name="Text 14"/>
          <p:cNvSpPr/>
          <p:nvPr/>
        </p:nvSpPr>
        <p:spPr>
          <a:xfrm>
            <a:off x="8065008" y="2871216"/>
            <a:ext cx="3383280" cy="804672"/>
          </a:xfrm>
          <a:prstGeom prst="rect">
            <a:avLst/>
          </a:prstGeom>
          <a:noFill/>
          <a:ln/>
        </p:spPr>
        <p:txBody>
          <a:bodyPr wrap="square" lIns="0" tIns="0" rIns="0" bIns="0" rtlCol="0" anchor="ctr"/>
          <a:lstStyle/>
          <a:p>
            <a:pPr indent="0" marL="0">
              <a:lnSpc>
                <a:spcPts val="1700"/>
              </a:lnSpc>
              <a:buNone/>
            </a:pPr>
            <a:r>
              <a:rPr lang="en-US" sz="1250" b="1" dirty="0">
                <a:solidFill>
                  <a:srgbClr val="E4022E"/>
                </a:solidFill>
                <a:latin typeface="Arial" pitchFamily="34" charset="0"/>
                <a:ea typeface="Arial" pitchFamily="34" charset="-122"/>
                <a:cs typeface="Arial" pitchFamily="34" charset="-120"/>
              </a:rPr>
              <a:t>Kritische Zonen bekommen ihre eigene Maschine.</a:t>
            </a:r>
            <a:endParaRPr lang="en-US" sz="1250" dirty="0"/>
          </a:p>
        </p:txBody>
      </p:sp>
      <p:sp>
        <p:nvSpPr>
          <p:cNvPr id="17" name="Shape 15"/>
          <p:cNvSpPr/>
          <p:nvPr/>
        </p:nvSpPr>
        <p:spPr>
          <a:xfrm>
            <a:off x="566928" y="3675888"/>
            <a:ext cx="11055096" cy="804672"/>
          </a:xfrm>
          <a:prstGeom prst="rect">
            <a:avLst/>
          </a:prstGeom>
          <a:solidFill>
            <a:srgbClr val="F4F4F4"/>
          </a:solidFill>
          <a:ln/>
        </p:spPr>
      </p:sp>
      <p:sp>
        <p:nvSpPr>
          <p:cNvPr id="18" name="Text 16"/>
          <p:cNvSpPr/>
          <p:nvPr/>
        </p:nvSpPr>
        <p:spPr>
          <a:xfrm>
            <a:off x="822960" y="3675888"/>
            <a:ext cx="1737360" cy="804672"/>
          </a:xfrm>
          <a:prstGeom prst="rect">
            <a:avLst/>
          </a:prstGeom>
          <a:noFill/>
          <a:ln/>
        </p:spPr>
        <p:txBody>
          <a:bodyPr wrap="square" lIns="0" tIns="0" rIns="0" bIns="0" rtlCol="0" anchor="ctr"/>
          <a:lstStyle/>
          <a:p>
            <a:pPr indent="0" marL="0">
              <a:buNone/>
            </a:pPr>
            <a:r>
              <a:rPr lang="en-US" sz="1400" b="1" dirty="0">
                <a:solidFill>
                  <a:srgbClr val="575756"/>
                </a:solidFill>
                <a:latin typeface="Arial" pitchFamily="34" charset="0"/>
                <a:ea typeface="Arial" pitchFamily="34" charset="-122"/>
                <a:cs typeface="Arial" pitchFamily="34" charset="-120"/>
              </a:rPr>
              <a:t>Industrie</a:t>
            </a:r>
            <a:endParaRPr lang="en-US" sz="1400" dirty="0"/>
          </a:p>
        </p:txBody>
      </p:sp>
      <p:sp>
        <p:nvSpPr>
          <p:cNvPr id="19" name="Text 17"/>
          <p:cNvSpPr/>
          <p:nvPr/>
        </p:nvSpPr>
        <p:spPr>
          <a:xfrm>
            <a:off x="2715768" y="3675888"/>
            <a:ext cx="5212080" cy="804672"/>
          </a:xfrm>
          <a:prstGeom prst="rect">
            <a:avLst/>
          </a:prstGeom>
          <a:noFill/>
          <a:ln/>
        </p:spPr>
        <p:txBody>
          <a:bodyPr wrap="square" lIns="0" tIns="0" rIns="0" bIns="0" rtlCol="0" anchor="ctr"/>
          <a:lstStyle/>
          <a:p>
            <a:pPr indent="0" marL="0">
              <a:lnSpc>
                <a:spcPts val="1700"/>
              </a:lnSpc>
              <a:buNone/>
            </a:pPr>
            <a:r>
              <a:rPr lang="en-US" sz="1250" dirty="0">
                <a:solidFill>
                  <a:srgbClr val="575756"/>
                </a:solidFill>
                <a:latin typeface="Arial" pitchFamily="34" charset="0"/>
                <a:ea typeface="Arial" pitchFamily="34" charset="-122"/>
                <a:cs typeface="Arial" pitchFamily="34" charset="-120"/>
              </a:rPr>
              <a:t>Die Produktion steht, jede Stunde kostet fünfstellig</a:t>
            </a:r>
            <a:endParaRPr lang="en-US" sz="1250" dirty="0"/>
          </a:p>
        </p:txBody>
      </p:sp>
      <p:sp>
        <p:nvSpPr>
          <p:cNvPr id="20" name="Text 18"/>
          <p:cNvSpPr/>
          <p:nvPr/>
        </p:nvSpPr>
        <p:spPr>
          <a:xfrm>
            <a:off x="8065008" y="3675888"/>
            <a:ext cx="3383280" cy="804672"/>
          </a:xfrm>
          <a:prstGeom prst="rect">
            <a:avLst/>
          </a:prstGeom>
          <a:noFill/>
          <a:ln/>
        </p:spPr>
        <p:txBody>
          <a:bodyPr wrap="square" lIns="0" tIns="0" rIns="0" bIns="0" rtlCol="0" anchor="ctr"/>
          <a:lstStyle/>
          <a:p>
            <a:pPr indent="0" marL="0">
              <a:lnSpc>
                <a:spcPts val="1700"/>
              </a:lnSpc>
              <a:buNone/>
            </a:pPr>
            <a:r>
              <a:rPr lang="en-US" sz="1250" b="1" dirty="0">
                <a:solidFill>
                  <a:srgbClr val="E4022E"/>
                </a:solidFill>
                <a:latin typeface="Arial" pitchFamily="34" charset="0"/>
                <a:ea typeface="Arial" pitchFamily="34" charset="-122"/>
                <a:cs typeface="Arial" pitchFamily="34" charset="-120"/>
              </a:rPr>
              <a:t>Umschaltung ohne Produktionsstopp.</a:t>
            </a:r>
            <a:endParaRPr lang="en-US" sz="1250" dirty="0"/>
          </a:p>
        </p:txBody>
      </p:sp>
      <p:sp>
        <p:nvSpPr>
          <p:cNvPr id="21" name="Text 19"/>
          <p:cNvSpPr/>
          <p:nvPr/>
        </p:nvSpPr>
        <p:spPr>
          <a:xfrm>
            <a:off x="822960" y="4480560"/>
            <a:ext cx="1737360" cy="804672"/>
          </a:xfrm>
          <a:prstGeom prst="rect">
            <a:avLst/>
          </a:prstGeom>
          <a:noFill/>
          <a:ln/>
        </p:spPr>
        <p:txBody>
          <a:bodyPr wrap="square" lIns="0" tIns="0" rIns="0" bIns="0" rtlCol="0" anchor="ctr"/>
          <a:lstStyle/>
          <a:p>
            <a:pPr indent="0" marL="0">
              <a:buNone/>
            </a:pPr>
            <a:r>
              <a:rPr lang="en-US" sz="1400" b="1" dirty="0">
                <a:solidFill>
                  <a:srgbClr val="575756"/>
                </a:solidFill>
                <a:latin typeface="Arial" pitchFamily="34" charset="0"/>
                <a:ea typeface="Arial" pitchFamily="34" charset="-122"/>
                <a:cs typeface="Arial" pitchFamily="34" charset="-120"/>
              </a:rPr>
              <a:t>Rechenzentrum</a:t>
            </a:r>
            <a:endParaRPr lang="en-US" sz="1400" dirty="0"/>
          </a:p>
        </p:txBody>
      </p:sp>
      <p:sp>
        <p:nvSpPr>
          <p:cNvPr id="22" name="Text 20"/>
          <p:cNvSpPr/>
          <p:nvPr/>
        </p:nvSpPr>
        <p:spPr>
          <a:xfrm>
            <a:off x="2715768" y="4480560"/>
            <a:ext cx="5212080" cy="804672"/>
          </a:xfrm>
          <a:prstGeom prst="rect">
            <a:avLst/>
          </a:prstGeom>
          <a:noFill/>
          <a:ln/>
        </p:spPr>
        <p:txBody>
          <a:bodyPr wrap="square" lIns="0" tIns="0" rIns="0" bIns="0" rtlCol="0" anchor="ctr"/>
          <a:lstStyle/>
          <a:p>
            <a:pPr indent="0" marL="0">
              <a:lnSpc>
                <a:spcPts val="1700"/>
              </a:lnSpc>
              <a:buNone/>
            </a:pPr>
            <a:r>
              <a:rPr lang="en-US" sz="1250" dirty="0">
                <a:solidFill>
                  <a:srgbClr val="575756"/>
                </a:solidFill>
                <a:latin typeface="Arial" pitchFamily="34" charset="0"/>
                <a:ea typeface="Arial" pitchFamily="34" charset="-122"/>
                <a:cs typeface="Arial" pitchFamily="34" charset="-120"/>
              </a:rPr>
              <a:t>Server fallen aus, Verträge mit Kunden werden gebrochen</a:t>
            </a:r>
            <a:endParaRPr lang="en-US" sz="1250" dirty="0"/>
          </a:p>
        </p:txBody>
      </p:sp>
      <p:sp>
        <p:nvSpPr>
          <p:cNvPr id="23" name="Text 21"/>
          <p:cNvSpPr/>
          <p:nvPr/>
        </p:nvSpPr>
        <p:spPr>
          <a:xfrm>
            <a:off x="8065008" y="4480560"/>
            <a:ext cx="3383280" cy="804672"/>
          </a:xfrm>
          <a:prstGeom prst="rect">
            <a:avLst/>
          </a:prstGeom>
          <a:noFill/>
          <a:ln/>
        </p:spPr>
        <p:txBody>
          <a:bodyPr wrap="square" lIns="0" tIns="0" rIns="0" bIns="0" rtlCol="0" anchor="ctr"/>
          <a:lstStyle/>
          <a:p>
            <a:pPr indent="0" marL="0">
              <a:lnSpc>
                <a:spcPts val="1700"/>
              </a:lnSpc>
              <a:buNone/>
            </a:pPr>
            <a:r>
              <a:rPr lang="en-US" sz="1250" b="1" dirty="0">
                <a:solidFill>
                  <a:srgbClr val="E4022E"/>
                </a:solidFill>
                <a:latin typeface="Arial" pitchFamily="34" charset="0"/>
                <a:ea typeface="Arial" pitchFamily="34" charset="-122"/>
                <a:cs typeface="Arial" pitchFamily="34" charset="-120"/>
              </a:rPr>
              <a:t>Keine einzige Millisekunde Lücke.</a:t>
            </a:r>
            <a:endParaRPr lang="en-US" sz="1250" dirty="0"/>
          </a:p>
        </p:txBody>
      </p:sp>
      <p:sp>
        <p:nvSpPr>
          <p:cNvPr id="24" name="Shape 22"/>
          <p:cNvSpPr/>
          <p:nvPr/>
        </p:nvSpPr>
        <p:spPr>
          <a:xfrm>
            <a:off x="566928" y="5285232"/>
            <a:ext cx="11055096" cy="804672"/>
          </a:xfrm>
          <a:prstGeom prst="rect">
            <a:avLst/>
          </a:prstGeom>
          <a:solidFill>
            <a:srgbClr val="F4F4F4"/>
          </a:solidFill>
          <a:ln/>
        </p:spPr>
      </p:sp>
      <p:sp>
        <p:nvSpPr>
          <p:cNvPr id="25" name="Text 23"/>
          <p:cNvSpPr/>
          <p:nvPr/>
        </p:nvSpPr>
        <p:spPr>
          <a:xfrm>
            <a:off x="822960" y="5285232"/>
            <a:ext cx="1737360" cy="804672"/>
          </a:xfrm>
          <a:prstGeom prst="rect">
            <a:avLst/>
          </a:prstGeom>
          <a:noFill/>
          <a:ln/>
        </p:spPr>
        <p:txBody>
          <a:bodyPr wrap="square" lIns="0" tIns="0" rIns="0" bIns="0" rtlCol="0" anchor="ctr"/>
          <a:lstStyle/>
          <a:p>
            <a:pPr indent="0" marL="0">
              <a:buNone/>
            </a:pPr>
            <a:r>
              <a:rPr lang="en-US" sz="1400" b="1" dirty="0">
                <a:solidFill>
                  <a:srgbClr val="575756"/>
                </a:solidFill>
                <a:latin typeface="Arial" pitchFamily="34" charset="0"/>
                <a:ea typeface="Arial" pitchFamily="34" charset="-122"/>
                <a:cs typeface="Arial" pitchFamily="34" charset="-120"/>
              </a:rPr>
              <a:t>Spital</a:t>
            </a:r>
            <a:endParaRPr lang="en-US" sz="1400" dirty="0"/>
          </a:p>
        </p:txBody>
      </p:sp>
      <p:sp>
        <p:nvSpPr>
          <p:cNvPr id="26" name="Text 24"/>
          <p:cNvSpPr/>
          <p:nvPr/>
        </p:nvSpPr>
        <p:spPr>
          <a:xfrm>
            <a:off x="2715768" y="5285232"/>
            <a:ext cx="5212080" cy="804672"/>
          </a:xfrm>
          <a:prstGeom prst="rect">
            <a:avLst/>
          </a:prstGeom>
          <a:noFill/>
          <a:ln/>
        </p:spPr>
        <p:txBody>
          <a:bodyPr wrap="square" lIns="0" tIns="0" rIns="0" bIns="0" rtlCol="0" anchor="ctr"/>
          <a:lstStyle/>
          <a:p>
            <a:pPr indent="0" marL="0">
              <a:lnSpc>
                <a:spcPts val="1700"/>
              </a:lnSpc>
              <a:buNone/>
            </a:pPr>
            <a:r>
              <a:rPr lang="en-US" sz="1250" dirty="0">
                <a:solidFill>
                  <a:srgbClr val="575756"/>
                </a:solidFill>
                <a:latin typeface="Arial" pitchFamily="34" charset="0"/>
                <a:ea typeface="Arial" pitchFamily="34" charset="-122"/>
                <a:cs typeface="Arial" pitchFamily="34" charset="-120"/>
              </a:rPr>
              <a:t>Gesetzliche Pflicht, Behörde und Haftung im Nacken</a:t>
            </a:r>
            <a:endParaRPr lang="en-US" sz="1250" dirty="0"/>
          </a:p>
        </p:txBody>
      </p:sp>
      <p:sp>
        <p:nvSpPr>
          <p:cNvPr id="27" name="Text 25"/>
          <p:cNvSpPr/>
          <p:nvPr/>
        </p:nvSpPr>
        <p:spPr>
          <a:xfrm>
            <a:off x="8065008" y="5285232"/>
            <a:ext cx="3383280" cy="804672"/>
          </a:xfrm>
          <a:prstGeom prst="rect">
            <a:avLst/>
          </a:prstGeom>
          <a:noFill/>
          <a:ln/>
        </p:spPr>
        <p:txBody>
          <a:bodyPr wrap="square" lIns="0" tIns="0" rIns="0" bIns="0" rtlCol="0" anchor="ctr"/>
          <a:lstStyle/>
          <a:p>
            <a:pPr indent="0" marL="0">
              <a:lnSpc>
                <a:spcPts val="1700"/>
              </a:lnSpc>
              <a:buNone/>
            </a:pPr>
            <a:r>
              <a:rPr lang="en-US" sz="1250" b="1" dirty="0">
                <a:solidFill>
                  <a:srgbClr val="E4022E"/>
                </a:solidFill>
                <a:latin typeface="Arial" pitchFamily="34" charset="0"/>
                <a:ea typeface="Arial" pitchFamily="34" charset="-122"/>
                <a:cs typeface="Arial" pitchFamily="34" charset="-120"/>
              </a:rPr>
              <a:t>Prüfung normkonform und dokumentiert.</a:t>
            </a:r>
            <a:endParaRPr lang="en-US" sz="1250" dirty="0"/>
          </a:p>
        </p:txBody>
      </p:sp>
      <p:sp>
        <p:nvSpPr>
          <p:cNvPr id="28" name="Text 26"/>
          <p:cNvSpPr/>
          <p:nvPr/>
        </p:nvSpPr>
        <p:spPr>
          <a:xfrm>
            <a:off x="566928" y="5888736"/>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Reihenfolge in jedem Text: erst den Schmerz benennen, dann die Lösung. Nie umgekehrt. Wer mit dem Produkt anfängt, wird überblättert.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ZIELGRUPPEN · 4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Grössenordnungen zum Anfassen</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16</a:t>
            </a:r>
            <a:endParaRPr lang="en-US" sz="1000" dirty="0"/>
          </a:p>
        </p:txBody>
      </p:sp>
      <p:sp>
        <p:nvSpPr>
          <p:cNvPr id="6" name="Text 4"/>
          <p:cNvSpPr/>
          <p:nvPr/>
        </p:nvSpPr>
        <p:spPr>
          <a:xfrm>
            <a:off x="566928" y="1664208"/>
            <a:ext cx="1554480" cy="51206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17 kVA</a:t>
            </a:r>
            <a:endParaRPr lang="en-US" sz="1700" dirty="0"/>
          </a:p>
        </p:txBody>
      </p:sp>
      <p:sp>
        <p:nvSpPr>
          <p:cNvPr id="7" name="Shape 5"/>
          <p:cNvSpPr/>
          <p:nvPr/>
        </p:nvSpPr>
        <p:spPr>
          <a:xfrm>
            <a:off x="2258568" y="1783080"/>
            <a:ext cx="608990" cy="274320"/>
          </a:xfrm>
          <a:prstGeom prst="roundRect">
            <a:avLst>
              <a:gd name="adj" fmla="val 13333"/>
            </a:avLst>
          </a:prstGeom>
          <a:solidFill>
            <a:srgbClr val="575756"/>
          </a:solidFill>
          <a:ln/>
        </p:spPr>
      </p:sp>
      <p:sp>
        <p:nvSpPr>
          <p:cNvPr id="8" name="Text 6"/>
          <p:cNvSpPr/>
          <p:nvPr/>
        </p:nvSpPr>
        <p:spPr>
          <a:xfrm>
            <a:off x="9253728" y="1664208"/>
            <a:ext cx="2286000" cy="512064"/>
          </a:xfrm>
          <a:prstGeom prst="rect">
            <a:avLst/>
          </a:prstGeom>
          <a:noFill/>
          <a:ln/>
        </p:spPr>
        <p:txBody>
          <a:bodyPr wrap="square" lIns="0" tIns="0" rIns="0" bIns="0" rtlCol="0" anchor="ctr"/>
          <a:lstStyle/>
          <a:p>
            <a:pPr indent="0" marL="0">
              <a:lnSpc>
                <a:spcPts val="1500"/>
              </a:lnSpc>
              <a:buNone/>
            </a:pPr>
            <a:r>
              <a:rPr lang="en-US" sz="1200" dirty="0">
                <a:solidFill>
                  <a:srgbClr val="575756"/>
                </a:solidFill>
                <a:latin typeface="Arial" pitchFamily="34" charset="0"/>
                <a:ea typeface="Arial" pitchFamily="34" charset="-122"/>
                <a:cs typeface="Arial" pitchFamily="34" charset="-120"/>
              </a:rPr>
              <a:t>Ein Einfamilienhaus</a:t>
            </a:r>
            <a:endParaRPr lang="en-US" sz="1200" dirty="0"/>
          </a:p>
        </p:txBody>
      </p:sp>
      <p:sp>
        <p:nvSpPr>
          <p:cNvPr id="9" name="Text 7"/>
          <p:cNvSpPr/>
          <p:nvPr/>
        </p:nvSpPr>
        <p:spPr>
          <a:xfrm>
            <a:off x="566928" y="2377440"/>
            <a:ext cx="1554480" cy="51206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60 kVA</a:t>
            </a:r>
            <a:endParaRPr lang="en-US" sz="1700" dirty="0"/>
          </a:p>
        </p:txBody>
      </p:sp>
      <p:sp>
        <p:nvSpPr>
          <p:cNvPr id="10" name="Shape 8"/>
          <p:cNvSpPr/>
          <p:nvPr/>
        </p:nvSpPr>
        <p:spPr>
          <a:xfrm>
            <a:off x="2258568" y="2496312"/>
            <a:ext cx="1082650" cy="274320"/>
          </a:xfrm>
          <a:prstGeom prst="roundRect">
            <a:avLst>
              <a:gd name="adj" fmla="val 13333"/>
            </a:avLst>
          </a:prstGeom>
          <a:solidFill>
            <a:srgbClr val="575756"/>
          </a:solidFill>
          <a:ln/>
        </p:spPr>
      </p:sp>
      <p:sp>
        <p:nvSpPr>
          <p:cNvPr id="11" name="Text 9"/>
          <p:cNvSpPr/>
          <p:nvPr/>
        </p:nvSpPr>
        <p:spPr>
          <a:xfrm>
            <a:off x="9253728" y="2377440"/>
            <a:ext cx="2286000" cy="512064"/>
          </a:xfrm>
          <a:prstGeom prst="rect">
            <a:avLst/>
          </a:prstGeom>
          <a:noFill/>
          <a:ln/>
        </p:spPr>
        <p:txBody>
          <a:bodyPr wrap="square" lIns="0" tIns="0" rIns="0" bIns="0" rtlCol="0" anchor="ctr"/>
          <a:lstStyle/>
          <a:p>
            <a:pPr indent="0" marL="0">
              <a:lnSpc>
                <a:spcPts val="1500"/>
              </a:lnSpc>
              <a:buNone/>
            </a:pPr>
            <a:r>
              <a:rPr lang="en-US" sz="1200" dirty="0">
                <a:solidFill>
                  <a:srgbClr val="575756"/>
                </a:solidFill>
                <a:latin typeface="Arial" pitchFamily="34" charset="0"/>
                <a:ea typeface="Arial" pitchFamily="34" charset="-122"/>
                <a:cs typeface="Arial" pitchFamily="34" charset="-120"/>
              </a:rPr>
              <a:t>Kleine Baustelle, Marktareal, Quartierfest</a:t>
            </a:r>
            <a:endParaRPr lang="en-US" sz="1200" dirty="0"/>
          </a:p>
        </p:txBody>
      </p:sp>
      <p:sp>
        <p:nvSpPr>
          <p:cNvPr id="12" name="Text 10"/>
          <p:cNvSpPr/>
          <p:nvPr/>
        </p:nvSpPr>
        <p:spPr>
          <a:xfrm>
            <a:off x="566928" y="3090672"/>
            <a:ext cx="1554480" cy="51206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300 kVA</a:t>
            </a:r>
            <a:endParaRPr lang="en-US" sz="1700" dirty="0"/>
          </a:p>
        </p:txBody>
      </p:sp>
      <p:sp>
        <p:nvSpPr>
          <p:cNvPr id="13" name="Shape 11"/>
          <p:cNvSpPr/>
          <p:nvPr/>
        </p:nvSpPr>
        <p:spPr>
          <a:xfrm>
            <a:off x="2258568" y="3209544"/>
            <a:ext cx="2435962" cy="274320"/>
          </a:xfrm>
          <a:prstGeom prst="roundRect">
            <a:avLst>
              <a:gd name="adj" fmla="val 13333"/>
            </a:avLst>
          </a:prstGeom>
          <a:solidFill>
            <a:srgbClr val="575756"/>
          </a:solidFill>
          <a:ln/>
        </p:spPr>
      </p:sp>
      <p:sp>
        <p:nvSpPr>
          <p:cNvPr id="14" name="Text 12"/>
          <p:cNvSpPr/>
          <p:nvPr/>
        </p:nvSpPr>
        <p:spPr>
          <a:xfrm>
            <a:off x="9253728" y="3090672"/>
            <a:ext cx="2286000" cy="512064"/>
          </a:xfrm>
          <a:prstGeom prst="rect">
            <a:avLst/>
          </a:prstGeom>
          <a:noFill/>
          <a:ln/>
        </p:spPr>
        <p:txBody>
          <a:bodyPr wrap="square" lIns="0" tIns="0" rIns="0" bIns="0" rtlCol="0" anchor="ctr"/>
          <a:lstStyle/>
          <a:p>
            <a:pPr indent="0" marL="0">
              <a:lnSpc>
                <a:spcPts val="1500"/>
              </a:lnSpc>
              <a:buNone/>
            </a:pPr>
            <a:r>
              <a:rPr lang="en-US" sz="1200" dirty="0">
                <a:solidFill>
                  <a:srgbClr val="575756"/>
                </a:solidFill>
                <a:latin typeface="Arial" pitchFamily="34" charset="0"/>
                <a:ea typeface="Arial" pitchFamily="34" charset="-122"/>
                <a:cs typeface="Arial" pitchFamily="34" charset="-120"/>
              </a:rPr>
              <a:t>Baustelle mit Kran und Bautrocknung</a:t>
            </a:r>
            <a:endParaRPr lang="en-US" sz="1200" dirty="0"/>
          </a:p>
        </p:txBody>
      </p:sp>
      <p:sp>
        <p:nvSpPr>
          <p:cNvPr id="15" name="Text 13"/>
          <p:cNvSpPr/>
          <p:nvPr/>
        </p:nvSpPr>
        <p:spPr>
          <a:xfrm>
            <a:off x="566928" y="3803904"/>
            <a:ext cx="1554480" cy="51206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1 000 kVA</a:t>
            </a:r>
            <a:endParaRPr lang="en-US" sz="1700" dirty="0"/>
          </a:p>
        </p:txBody>
      </p:sp>
      <p:sp>
        <p:nvSpPr>
          <p:cNvPr id="16" name="Shape 14"/>
          <p:cNvSpPr/>
          <p:nvPr/>
        </p:nvSpPr>
        <p:spPr>
          <a:xfrm>
            <a:off x="2258568" y="3922776"/>
            <a:ext cx="4195267" cy="274320"/>
          </a:xfrm>
          <a:prstGeom prst="roundRect">
            <a:avLst>
              <a:gd name="adj" fmla="val 13333"/>
            </a:avLst>
          </a:prstGeom>
          <a:solidFill>
            <a:srgbClr val="575756"/>
          </a:solidFill>
          <a:ln/>
        </p:spPr>
      </p:sp>
      <p:sp>
        <p:nvSpPr>
          <p:cNvPr id="17" name="Text 15"/>
          <p:cNvSpPr/>
          <p:nvPr/>
        </p:nvSpPr>
        <p:spPr>
          <a:xfrm>
            <a:off x="9253728" y="3803904"/>
            <a:ext cx="2286000" cy="512064"/>
          </a:xfrm>
          <a:prstGeom prst="rect">
            <a:avLst/>
          </a:prstGeom>
          <a:noFill/>
          <a:ln/>
        </p:spPr>
        <p:txBody>
          <a:bodyPr wrap="square" lIns="0" tIns="0" rIns="0" bIns="0" rtlCol="0" anchor="ctr"/>
          <a:lstStyle/>
          <a:p>
            <a:pPr indent="0" marL="0">
              <a:lnSpc>
                <a:spcPts val="1500"/>
              </a:lnSpc>
              <a:buNone/>
            </a:pPr>
            <a:r>
              <a:rPr lang="en-US" sz="1200" dirty="0">
                <a:solidFill>
                  <a:srgbClr val="575756"/>
                </a:solidFill>
                <a:latin typeface="Arial" pitchFamily="34" charset="0"/>
                <a:ea typeface="Arial" pitchFamily="34" charset="-122"/>
                <a:cs typeface="Arial" pitchFamily="34" charset="-120"/>
              </a:rPr>
              <a:t>Grosses Open-Air-Areal</a:t>
            </a:r>
            <a:endParaRPr lang="en-US" sz="1200" dirty="0"/>
          </a:p>
        </p:txBody>
      </p:sp>
      <p:sp>
        <p:nvSpPr>
          <p:cNvPr id="18" name="Text 16"/>
          <p:cNvSpPr/>
          <p:nvPr/>
        </p:nvSpPr>
        <p:spPr>
          <a:xfrm>
            <a:off x="566928" y="4517136"/>
            <a:ext cx="1554480" cy="51206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6 000 kVA</a:t>
            </a:r>
            <a:endParaRPr lang="en-US" sz="1700" dirty="0"/>
          </a:p>
        </p:txBody>
      </p:sp>
      <p:sp>
        <p:nvSpPr>
          <p:cNvPr id="19" name="Shape 17"/>
          <p:cNvSpPr/>
          <p:nvPr/>
        </p:nvSpPr>
        <p:spPr>
          <a:xfrm>
            <a:off x="2258568" y="4636008"/>
            <a:ext cx="6766560" cy="274320"/>
          </a:xfrm>
          <a:prstGeom prst="roundRect">
            <a:avLst>
              <a:gd name="adj" fmla="val 13333"/>
            </a:avLst>
          </a:prstGeom>
          <a:solidFill>
            <a:srgbClr val="E4022E"/>
          </a:solidFill>
          <a:ln/>
        </p:spPr>
      </p:sp>
      <p:sp>
        <p:nvSpPr>
          <p:cNvPr id="20" name="Text 18"/>
          <p:cNvSpPr/>
          <p:nvPr/>
        </p:nvSpPr>
        <p:spPr>
          <a:xfrm>
            <a:off x="9253728" y="4517136"/>
            <a:ext cx="2286000" cy="512064"/>
          </a:xfrm>
          <a:prstGeom prst="rect">
            <a:avLst/>
          </a:prstGeom>
          <a:noFill/>
          <a:ln/>
        </p:spPr>
        <p:txBody>
          <a:bodyPr wrap="square" lIns="0" tIns="0" rIns="0" bIns="0" rtlCol="0" anchor="ctr"/>
          <a:lstStyle/>
          <a:p>
            <a:pPr indent="0" marL="0">
              <a:lnSpc>
                <a:spcPts val="1500"/>
              </a:lnSpc>
              <a:buNone/>
            </a:pPr>
            <a:r>
              <a:rPr lang="en-US" sz="1200" dirty="0">
                <a:solidFill>
                  <a:srgbClr val="575756"/>
                </a:solidFill>
                <a:latin typeface="Arial" pitchFamily="34" charset="0"/>
                <a:ea typeface="Arial" pitchFamily="34" charset="-122"/>
                <a:cs typeface="Arial" pitchFamily="34" charset="-120"/>
              </a:rPr>
              <a:t>Belastungstest eines Rechenzentrums</a:t>
            </a:r>
            <a:endParaRPr lang="en-US" sz="1200" dirty="0"/>
          </a:p>
        </p:txBody>
      </p:sp>
      <p:sp>
        <p:nvSpPr>
          <p:cNvPr id="21" name="Shape 19"/>
          <p:cNvSpPr/>
          <p:nvPr/>
        </p:nvSpPr>
        <p:spPr>
          <a:xfrm>
            <a:off x="566928" y="5358384"/>
            <a:ext cx="11055096" cy="786384"/>
          </a:xfrm>
          <a:prstGeom prst="roundRect">
            <a:avLst>
              <a:gd name="adj" fmla="val 10465"/>
            </a:avLst>
          </a:prstGeom>
          <a:solidFill>
            <a:srgbClr val="FBE0E6"/>
          </a:solidFill>
          <a:ln/>
        </p:spPr>
      </p:sp>
      <p:sp>
        <p:nvSpPr>
          <p:cNvPr id="22" name="Text 20"/>
          <p:cNvSpPr/>
          <p:nvPr/>
        </p:nvSpPr>
        <p:spPr>
          <a:xfrm>
            <a:off x="932688" y="5468112"/>
            <a:ext cx="10323576" cy="585216"/>
          </a:xfrm>
          <a:prstGeom prst="rect">
            <a:avLst/>
          </a:prstGeom>
          <a:noFill/>
          <a:ln/>
        </p:spPr>
        <p:txBody>
          <a:bodyPr wrap="square" lIns="0" tIns="0" rIns="0" bIns="0" rtlCol="0" anchor="ctr"/>
          <a:lstStyle/>
          <a:p>
            <a:pPr indent="0" marL="0">
              <a:lnSpc>
                <a:spcPts val="1900"/>
              </a:lnSpc>
              <a:buNone/>
            </a:pPr>
            <a:r>
              <a:rPr lang="en-US" sz="1300" b="1" dirty="0">
                <a:solidFill>
                  <a:srgbClr val="575756"/>
                </a:solidFill>
                <a:latin typeface="Arial" pitchFamily="34" charset="0"/>
                <a:ea typeface="Arial" pitchFamily="34" charset="-122"/>
                <a:cs typeface="Arial" pitchFamily="34" charset="-120"/>
              </a:rPr>
              <a:t>Achtung: Das sind grobe Faustzahlen, um ein Gefühl zu bekommen. Sie taugen nicht als Auslegung und gehören nicht in ein Angebot. Die richtige Grösse rechnet immer ein Ingenieur.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ZIELGRUPPEN · 5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Der günstigste Kunde ist der, den wir schon haben</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17</a:t>
            </a:r>
            <a:endParaRPr lang="en-US" sz="1000" dirty="0"/>
          </a:p>
        </p:txBody>
      </p:sp>
      <p:sp>
        <p:nvSpPr>
          <p:cNvPr id="6" name="Shape 4"/>
          <p:cNvSpPr/>
          <p:nvPr/>
        </p:nvSpPr>
        <p:spPr>
          <a:xfrm>
            <a:off x="566928" y="1627632"/>
            <a:ext cx="5349240" cy="2651760"/>
          </a:xfrm>
          <a:prstGeom prst="roundRect">
            <a:avLst>
              <a:gd name="adj" fmla="val 3103"/>
            </a:avLst>
          </a:prstGeom>
          <a:solidFill>
            <a:srgbClr val="F4F4F4"/>
          </a:solidFill>
          <a:ln/>
        </p:spPr>
      </p:sp>
      <p:sp>
        <p:nvSpPr>
          <p:cNvPr id="7" name="Shape 5"/>
          <p:cNvSpPr/>
          <p:nvPr/>
        </p:nvSpPr>
        <p:spPr>
          <a:xfrm>
            <a:off x="896112" y="1883664"/>
            <a:ext cx="621792" cy="621792"/>
          </a:xfrm>
          <a:prstGeom prst="ellipse">
            <a:avLst/>
          </a:prstGeom>
          <a:solidFill>
            <a:srgbClr val="575756"/>
          </a:solidFill>
          <a:ln/>
        </p:spPr>
      </p:sp>
      <p:pic>
        <p:nvPicPr>
          <p:cNvPr id="8" name="Image 0" descr="/home/claude/ico/snow_w.png">    </p:cNvPr>
          <p:cNvPicPr>
            <a:picLocks noChangeAspect="1"/>
          </p:cNvPicPr>
          <p:nvPr/>
        </p:nvPicPr>
        <p:blipFill>
          <a:blip r:embed="rId1"/>
          <a:stretch>
            <a:fillRect/>
          </a:stretch>
        </p:blipFill>
        <p:spPr>
          <a:xfrm>
            <a:off x="1057778" y="2045330"/>
            <a:ext cx="298460" cy="298460"/>
          </a:xfrm>
          <a:prstGeom prst="rect">
            <a:avLst/>
          </a:prstGeom>
        </p:spPr>
      </p:pic>
      <p:sp>
        <p:nvSpPr>
          <p:cNvPr id="9" name="Shape 6"/>
          <p:cNvSpPr/>
          <p:nvPr/>
        </p:nvSpPr>
        <p:spPr>
          <a:xfrm>
            <a:off x="1764792" y="1883664"/>
            <a:ext cx="621792" cy="621792"/>
          </a:xfrm>
          <a:prstGeom prst="ellipse">
            <a:avLst/>
          </a:prstGeom>
          <a:solidFill>
            <a:srgbClr val="575756"/>
          </a:solidFill>
          <a:ln/>
        </p:spPr>
      </p:sp>
      <p:pic>
        <p:nvPicPr>
          <p:cNvPr id="10" name="Image 1" descr="/home/claude/ico/cool_w.png">    </p:cNvPr>
          <p:cNvPicPr>
            <a:picLocks noChangeAspect="1"/>
          </p:cNvPicPr>
          <p:nvPr/>
        </p:nvPicPr>
        <p:blipFill>
          <a:blip r:embed="rId2"/>
          <a:stretch>
            <a:fillRect/>
          </a:stretch>
        </p:blipFill>
        <p:spPr>
          <a:xfrm>
            <a:off x="1926458" y="2045330"/>
            <a:ext cx="298460" cy="298460"/>
          </a:xfrm>
          <a:prstGeom prst="rect">
            <a:avLst/>
          </a:prstGeom>
        </p:spPr>
      </p:pic>
      <p:sp>
        <p:nvSpPr>
          <p:cNvPr id="11" name="Text 7"/>
          <p:cNvSpPr/>
          <p:nvPr/>
        </p:nvSpPr>
        <p:spPr>
          <a:xfrm>
            <a:off x="896112" y="2670048"/>
            <a:ext cx="466344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Was wir schon haben</a:t>
            </a:r>
            <a:endParaRPr lang="en-US" sz="1800" dirty="0"/>
          </a:p>
        </p:txBody>
      </p:sp>
      <p:sp>
        <p:nvSpPr>
          <p:cNvPr id="12" name="Text 8"/>
          <p:cNvSpPr/>
          <p:nvPr/>
        </p:nvSpPr>
        <p:spPr>
          <a:xfrm>
            <a:off x="896112" y="3054096"/>
            <a:ext cx="4663440" cy="1051560"/>
          </a:xfrm>
          <a:prstGeom prst="rect">
            <a:avLst/>
          </a:prstGeom>
          <a:noFill/>
          <a:ln/>
        </p:spPr>
        <p:txBody>
          <a:bodyPr wrap="square" lIns="0" tIns="0" rIns="0" bIns="0" rtlCol="0" anchor="t"/>
          <a:lstStyle/>
          <a:p>
            <a:pPr indent="0" marL="0">
              <a:lnSpc>
                <a:spcPts val="1900"/>
              </a:lnSpc>
              <a:buNone/>
            </a:pPr>
            <a:r>
              <a:rPr lang="en-US" sz="1350" dirty="0">
                <a:solidFill>
                  <a:srgbClr val="575756"/>
                </a:solidFill>
                <a:latin typeface="Arial" pitchFamily="34" charset="0"/>
                <a:ea typeface="Arial" pitchFamily="34" charset="-122"/>
                <a:cs typeface="Arial" pitchFamily="34" charset="-120"/>
              </a:rPr>
              <a:t>Hunderte Kunden, die uns bei Wärme und Kälte bereits vertrauen. Sie kennen unsere Leute, haben uns im Lieferantensystem und wissen, dass wir liefern, wenn es eilt.</a:t>
            </a:r>
            <a:endParaRPr lang="en-US" sz="1350" dirty="0"/>
          </a:p>
        </p:txBody>
      </p:sp>
      <p:sp>
        <p:nvSpPr>
          <p:cNvPr id="13" name="Shape 9"/>
          <p:cNvSpPr/>
          <p:nvPr/>
        </p:nvSpPr>
        <p:spPr>
          <a:xfrm>
            <a:off x="6272784" y="1627632"/>
            <a:ext cx="5349240" cy="2651760"/>
          </a:xfrm>
          <a:prstGeom prst="roundRect">
            <a:avLst>
              <a:gd name="adj" fmla="val 3103"/>
            </a:avLst>
          </a:prstGeom>
          <a:solidFill>
            <a:srgbClr val="FBE0E6"/>
          </a:solidFill>
          <a:ln/>
        </p:spPr>
      </p:sp>
      <p:sp>
        <p:nvSpPr>
          <p:cNvPr id="14" name="Shape 10"/>
          <p:cNvSpPr/>
          <p:nvPr/>
        </p:nvSpPr>
        <p:spPr>
          <a:xfrm>
            <a:off x="6601968" y="1883664"/>
            <a:ext cx="621792" cy="621792"/>
          </a:xfrm>
          <a:prstGeom prst="ellipse">
            <a:avLst/>
          </a:prstGeom>
          <a:solidFill>
            <a:srgbClr val="E4022E"/>
          </a:solidFill>
          <a:ln/>
        </p:spPr>
      </p:sp>
      <p:pic>
        <p:nvPicPr>
          <p:cNvPr id="15" name="Image 2" descr="/home/claude/ico/bolt_w.png">    </p:cNvPr>
          <p:cNvPicPr>
            <a:picLocks noChangeAspect="1"/>
          </p:cNvPicPr>
          <p:nvPr/>
        </p:nvPicPr>
        <p:blipFill>
          <a:blip r:embed="rId3"/>
          <a:stretch>
            <a:fillRect/>
          </a:stretch>
        </p:blipFill>
        <p:spPr>
          <a:xfrm>
            <a:off x="6763634" y="2045330"/>
            <a:ext cx="298460" cy="298460"/>
          </a:xfrm>
          <a:prstGeom prst="rect">
            <a:avLst/>
          </a:prstGeom>
        </p:spPr>
      </p:pic>
      <p:sp>
        <p:nvSpPr>
          <p:cNvPr id="16" name="Text 11"/>
          <p:cNvSpPr/>
          <p:nvPr/>
        </p:nvSpPr>
        <p:spPr>
          <a:xfrm>
            <a:off x="6601968" y="2670048"/>
            <a:ext cx="466344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Was daraus wird</a:t>
            </a:r>
            <a:endParaRPr lang="en-US" sz="1800" dirty="0"/>
          </a:p>
        </p:txBody>
      </p:sp>
      <p:sp>
        <p:nvSpPr>
          <p:cNvPr id="17" name="Text 12"/>
          <p:cNvSpPr/>
          <p:nvPr/>
        </p:nvSpPr>
        <p:spPr>
          <a:xfrm>
            <a:off x="6601968" y="3054096"/>
            <a:ext cx="4663440" cy="1051560"/>
          </a:xfrm>
          <a:prstGeom prst="rect">
            <a:avLst/>
          </a:prstGeom>
          <a:noFill/>
          <a:ln/>
        </p:spPr>
        <p:txBody>
          <a:bodyPr wrap="square" lIns="0" tIns="0" rIns="0" bIns="0" rtlCol="0" anchor="t"/>
          <a:lstStyle/>
          <a:p>
            <a:pPr indent="0" marL="0">
              <a:lnSpc>
                <a:spcPts val="1900"/>
              </a:lnSpc>
              <a:buNone/>
            </a:pPr>
            <a:r>
              <a:rPr lang="en-US" sz="1350" dirty="0">
                <a:solidFill>
                  <a:srgbClr val="575756"/>
                </a:solidFill>
                <a:latin typeface="Arial" pitchFamily="34" charset="0"/>
                <a:ea typeface="Arial" pitchFamily="34" charset="-122"/>
                <a:cs typeface="Arial" pitchFamily="34" charset="-120"/>
              </a:rPr>
              <a:t>Jeder dieser Kunden ist ein warmer Kontakt für Strom. Kein Kaltanruf, keine Vertrauensarbeit von null, keine neue Lieferantenfreigabe.</a:t>
            </a:r>
            <a:endParaRPr lang="en-US" sz="1350" dirty="0"/>
          </a:p>
        </p:txBody>
      </p:sp>
      <p:sp>
        <p:nvSpPr>
          <p:cNvPr id="18" name="Shape 13"/>
          <p:cNvSpPr/>
          <p:nvPr/>
        </p:nvSpPr>
        <p:spPr>
          <a:xfrm>
            <a:off x="566928" y="4462272"/>
            <a:ext cx="11055096" cy="1371600"/>
          </a:xfrm>
          <a:prstGeom prst="roundRect">
            <a:avLst>
              <a:gd name="adj" fmla="val 6000"/>
            </a:avLst>
          </a:prstGeom>
          <a:solidFill>
            <a:srgbClr val="575756"/>
          </a:solidFill>
          <a:ln/>
        </p:spPr>
      </p:sp>
      <p:sp>
        <p:nvSpPr>
          <p:cNvPr id="19" name="Text 14"/>
          <p:cNvSpPr/>
          <p:nvPr/>
        </p:nvSpPr>
        <p:spPr>
          <a:xfrm>
            <a:off x="950976" y="4626864"/>
            <a:ext cx="5486400" cy="274320"/>
          </a:xfrm>
          <a:prstGeom prst="rect">
            <a:avLst/>
          </a:prstGeom>
          <a:noFill/>
          <a:ln/>
        </p:spPr>
        <p:txBody>
          <a:bodyPr wrap="square" lIns="0" tIns="0" rIns="0" bIns="0" rtlCol="0" anchor="ctr"/>
          <a:lstStyle/>
          <a:p>
            <a:pPr indent="0" marL="0">
              <a:buNone/>
            </a:pPr>
            <a:r>
              <a:rPr lang="en-US" sz="1200" b="1" spc="120" kern="0" dirty="0">
                <a:solidFill>
                  <a:srgbClr val="E4022E"/>
                </a:solidFill>
                <a:latin typeface="Arial" pitchFamily="34" charset="0"/>
                <a:ea typeface="Arial" pitchFamily="34" charset="-122"/>
                <a:cs typeface="Arial" pitchFamily="34" charset="-120"/>
              </a:rPr>
              <a:t>Der Satz, der die ganze Story trägt</a:t>
            </a:r>
            <a:endParaRPr lang="en-US" sz="1200" dirty="0"/>
          </a:p>
        </p:txBody>
      </p:sp>
      <p:sp>
        <p:nvSpPr>
          <p:cNvPr id="20" name="Text 15"/>
          <p:cNvSpPr/>
          <p:nvPr/>
        </p:nvSpPr>
        <p:spPr>
          <a:xfrm>
            <a:off x="950976" y="4956048"/>
            <a:ext cx="10287000" cy="749808"/>
          </a:xfrm>
          <a:prstGeom prst="rect">
            <a:avLst/>
          </a:prstGeom>
          <a:noFill/>
          <a:ln/>
        </p:spPr>
        <p:txBody>
          <a:bodyPr wrap="square" lIns="0" tIns="0" rIns="0" bIns="0" rtlCol="0" anchor="t"/>
          <a:lstStyle/>
          <a:p>
            <a:pPr indent="0" marL="0">
              <a:lnSpc>
                <a:spcPts val="2600"/>
              </a:lnSpc>
              <a:buNone/>
            </a:pPr>
            <a:r>
              <a:rPr lang="en-US" sz="1700" b="1" dirty="0">
                <a:solidFill>
                  <a:srgbClr val="FFFFFF"/>
                </a:solidFill>
                <a:latin typeface="Arial" pitchFamily="34" charset="0"/>
                <a:ea typeface="Arial" pitchFamily="34" charset="-122"/>
                <a:cs typeface="Arial" pitchFamily="34" charset="-120"/>
              </a:rPr>
              <a:t>"Ihr kennt uns für Wärme und Kälte. Jetzt gibt es auch den Strom dazu. Eine Nummer, ein Ansprechpartner, eine Rechnung."</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575756"/>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3C3C3B"/>
          </a:solidFill>
          <a:ln/>
        </p:spPr>
      </p:sp>
      <p:sp>
        <p:nvSpPr>
          <p:cNvPr id="3" name="Text 1"/>
          <p:cNvSpPr/>
          <p:nvPr/>
        </p:nvSpPr>
        <p:spPr>
          <a:xfrm>
            <a:off x="566928" y="1417320"/>
            <a:ext cx="2743200" cy="1737360"/>
          </a:xfrm>
          <a:prstGeom prst="rect">
            <a:avLst/>
          </a:prstGeom>
          <a:noFill/>
          <a:ln/>
        </p:spPr>
        <p:txBody>
          <a:bodyPr wrap="square" lIns="0" tIns="0" rIns="0" bIns="0" rtlCol="0" anchor="ctr"/>
          <a:lstStyle/>
          <a:p>
            <a:pPr indent="0" marL="0">
              <a:buNone/>
            </a:pPr>
            <a:r>
              <a:rPr lang="en-US" sz="9600" b="1" dirty="0">
                <a:solidFill>
                  <a:srgbClr val="E4022E"/>
                </a:solidFill>
                <a:latin typeface="Arial" pitchFamily="34" charset="0"/>
                <a:ea typeface="Arial" pitchFamily="34" charset="-122"/>
                <a:cs typeface="Arial" pitchFamily="34" charset="-120"/>
              </a:rPr>
              <a:t>03</a:t>
            </a:r>
            <a:endParaRPr lang="en-US" sz="9600" dirty="0"/>
          </a:p>
        </p:txBody>
      </p:sp>
      <p:sp>
        <p:nvSpPr>
          <p:cNvPr id="4" name="Text 2"/>
          <p:cNvSpPr/>
          <p:nvPr/>
        </p:nvSpPr>
        <p:spPr>
          <a:xfrm>
            <a:off x="566928" y="3154680"/>
            <a:ext cx="7863840" cy="100584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Anlagentypen und Unterschiede</a:t>
            </a:r>
            <a:endParaRPr lang="en-US" sz="4000" dirty="0"/>
          </a:p>
        </p:txBody>
      </p:sp>
      <p:sp>
        <p:nvSpPr>
          <p:cNvPr id="5" name="Text 3"/>
          <p:cNvSpPr/>
          <p:nvPr/>
        </p:nvSpPr>
        <p:spPr>
          <a:xfrm>
            <a:off x="566928" y="4224528"/>
            <a:ext cx="7498080" cy="822960"/>
          </a:xfrm>
          <a:prstGeom prst="rect">
            <a:avLst/>
          </a:prstGeom>
          <a:noFill/>
          <a:ln/>
        </p:spPr>
        <p:txBody>
          <a:bodyPr wrap="square" lIns="0" tIns="0" rIns="0" bIns="0" rtlCol="0" anchor="t"/>
          <a:lstStyle/>
          <a:p>
            <a:pPr indent="0" marL="0">
              <a:lnSpc>
                <a:spcPts val="2200"/>
              </a:lnSpc>
              <a:buNone/>
            </a:pPr>
            <a:r>
              <a:rPr lang="en-US" sz="1500" dirty="0">
                <a:solidFill>
                  <a:srgbClr val="E6E6E6"/>
                </a:solidFill>
                <a:latin typeface="Arial" pitchFamily="34" charset="0"/>
                <a:ea typeface="Arial" pitchFamily="34" charset="-122"/>
                <a:cs typeface="Arial" pitchFamily="34" charset="-120"/>
              </a:rPr>
              <a:t>Sechs Bausteine. Mehr gibt es nicht. Jeder hat genau eine Aufgabe.</a:t>
            </a:r>
            <a:endParaRPr lang="en-US" sz="1500" dirty="0"/>
          </a:p>
        </p:txBody>
      </p:sp>
      <p:pic>
        <p:nvPicPr>
          <p:cNvPr id="6" name="Image 0" descr="/home/claude/ico/generator_w.png">    </p:cNvPr>
          <p:cNvPicPr>
            <a:picLocks noChangeAspect="1"/>
          </p:cNvPicPr>
          <p:nvPr/>
        </p:nvPicPr>
        <p:blipFill>
          <a:blip r:embed="rId1">
            <a:alphaModFix amt="88000"/>
          </a:blip>
          <a:stretch>
            <a:fillRect/>
          </a:stretch>
        </p:blipFill>
        <p:spPr>
          <a:xfrm>
            <a:off x="10058400" y="2651760"/>
            <a:ext cx="1417320" cy="1417320"/>
          </a:xfrm>
          <a:prstGeom prst="rect">
            <a:avLst/>
          </a:prstGeom>
        </p:spPr>
      </p:pic>
      <p:sp>
        <p:nvSpPr>
          <p:cNvPr id="7" name="Text 4"/>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A6A6A6"/>
                </a:solidFill>
                <a:latin typeface="Arial" pitchFamily="34" charset="0"/>
                <a:ea typeface="Arial" pitchFamily="34" charset="-122"/>
                <a:cs typeface="Arial" pitchFamily="34" charset="-120"/>
              </a:rPr>
              <a:t>Mobil in Time AG  |  Strom Quick Dive  |  Marketing-Team</a:t>
            </a:r>
            <a:endParaRPr lang="en-US" sz="900" dirty="0"/>
          </a:p>
        </p:txBody>
      </p:sp>
      <p:sp>
        <p:nvSpPr>
          <p:cNvPr id="8" name="Text 5"/>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A6A6A6"/>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ANLAGENTYPEN · ÜBERBLICK</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Sechs Bausteine, mehr gibt es nicht</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19</a:t>
            </a:r>
            <a:endParaRPr lang="en-US" sz="1000" dirty="0"/>
          </a:p>
        </p:txBody>
      </p:sp>
      <p:sp>
        <p:nvSpPr>
          <p:cNvPr id="6" name="Shape 4"/>
          <p:cNvSpPr/>
          <p:nvPr/>
        </p:nvSpPr>
        <p:spPr>
          <a:xfrm>
            <a:off x="566928" y="1627632"/>
            <a:ext cx="3584448" cy="1883664"/>
          </a:xfrm>
          <a:prstGeom prst="roundRect">
            <a:avLst>
              <a:gd name="adj" fmla="val 4369"/>
            </a:avLst>
          </a:prstGeom>
          <a:solidFill>
            <a:srgbClr val="F4F4F4"/>
          </a:solidFill>
          <a:ln/>
        </p:spPr>
      </p:sp>
      <p:sp>
        <p:nvSpPr>
          <p:cNvPr id="7" name="Shape 5"/>
          <p:cNvSpPr/>
          <p:nvPr/>
        </p:nvSpPr>
        <p:spPr>
          <a:xfrm>
            <a:off x="841248" y="1901952"/>
            <a:ext cx="621792" cy="621792"/>
          </a:xfrm>
          <a:prstGeom prst="ellipse">
            <a:avLst/>
          </a:prstGeom>
          <a:solidFill>
            <a:srgbClr val="575756"/>
          </a:solidFill>
          <a:ln/>
        </p:spPr>
      </p:sp>
      <p:pic>
        <p:nvPicPr>
          <p:cNvPr id="8" name="Image 0" descr="/home/claude/ico/generator_w.png">    </p:cNvPr>
          <p:cNvPicPr>
            <a:picLocks noChangeAspect="1"/>
          </p:cNvPicPr>
          <p:nvPr/>
        </p:nvPicPr>
        <p:blipFill>
          <a:blip r:embed="rId1"/>
          <a:stretch>
            <a:fillRect/>
          </a:stretch>
        </p:blipFill>
        <p:spPr>
          <a:xfrm>
            <a:off x="1002914" y="2063618"/>
            <a:ext cx="298460" cy="298460"/>
          </a:xfrm>
          <a:prstGeom prst="rect">
            <a:avLst/>
          </a:prstGeom>
        </p:spPr>
      </p:pic>
      <p:sp>
        <p:nvSpPr>
          <p:cNvPr id="9" name="Text 6"/>
          <p:cNvSpPr/>
          <p:nvPr/>
        </p:nvSpPr>
        <p:spPr>
          <a:xfrm>
            <a:off x="841248" y="2615184"/>
            <a:ext cx="3035808" cy="329184"/>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Generator</a:t>
            </a:r>
            <a:endParaRPr lang="en-US" sz="1600" dirty="0"/>
          </a:p>
        </p:txBody>
      </p:sp>
      <p:sp>
        <p:nvSpPr>
          <p:cNvPr id="10" name="Text 7"/>
          <p:cNvSpPr/>
          <p:nvPr/>
        </p:nvSpPr>
        <p:spPr>
          <a:xfrm>
            <a:off x="841248" y="2962656"/>
            <a:ext cx="3035808" cy="310896"/>
          </a:xfrm>
          <a:prstGeom prst="rect">
            <a:avLst/>
          </a:prstGeom>
          <a:noFill/>
          <a:ln/>
        </p:spPr>
        <p:txBody>
          <a:bodyPr wrap="square" lIns="0" tIns="0" rIns="0" bIns="0" rtlCol="0" anchor="ctr"/>
          <a:lstStyle/>
          <a:p>
            <a:pPr indent="0" marL="0">
              <a:buNone/>
            </a:pPr>
            <a:r>
              <a:rPr lang="en-US" sz="1250" b="1" dirty="0">
                <a:solidFill>
                  <a:srgbClr val="E4022E"/>
                </a:solidFill>
                <a:latin typeface="Arial" pitchFamily="34" charset="0"/>
                <a:ea typeface="Arial" pitchFamily="34" charset="-122"/>
                <a:cs typeface="Arial" pitchFamily="34" charset="-120"/>
              </a:rPr>
              <a:t>Kraftwerk auf Rädern</a:t>
            </a:r>
            <a:endParaRPr lang="en-US" sz="1250" dirty="0"/>
          </a:p>
        </p:txBody>
      </p:sp>
      <p:sp>
        <p:nvSpPr>
          <p:cNvPr id="11" name="Shape 8"/>
          <p:cNvSpPr/>
          <p:nvPr/>
        </p:nvSpPr>
        <p:spPr>
          <a:xfrm>
            <a:off x="4535424" y="1627632"/>
            <a:ext cx="3584448" cy="1883664"/>
          </a:xfrm>
          <a:prstGeom prst="roundRect">
            <a:avLst>
              <a:gd name="adj" fmla="val 4369"/>
            </a:avLst>
          </a:prstGeom>
          <a:solidFill>
            <a:srgbClr val="F4F4F4"/>
          </a:solidFill>
          <a:ln/>
        </p:spPr>
      </p:sp>
      <p:sp>
        <p:nvSpPr>
          <p:cNvPr id="12" name="Shape 9"/>
          <p:cNvSpPr/>
          <p:nvPr/>
        </p:nvSpPr>
        <p:spPr>
          <a:xfrm>
            <a:off x="4809744" y="1901952"/>
            <a:ext cx="621792" cy="621792"/>
          </a:xfrm>
          <a:prstGeom prst="ellipse">
            <a:avLst/>
          </a:prstGeom>
          <a:solidFill>
            <a:srgbClr val="575756"/>
          </a:solidFill>
          <a:ln/>
        </p:spPr>
      </p:sp>
      <p:pic>
        <p:nvPicPr>
          <p:cNvPr id="13" name="Image 1" descr="/home/claude/ico/battery_w.png">    </p:cNvPr>
          <p:cNvPicPr>
            <a:picLocks noChangeAspect="1"/>
          </p:cNvPicPr>
          <p:nvPr/>
        </p:nvPicPr>
        <p:blipFill>
          <a:blip r:embed="rId2"/>
          <a:stretch>
            <a:fillRect/>
          </a:stretch>
        </p:blipFill>
        <p:spPr>
          <a:xfrm>
            <a:off x="4971410" y="2063618"/>
            <a:ext cx="298460" cy="298460"/>
          </a:xfrm>
          <a:prstGeom prst="rect">
            <a:avLst/>
          </a:prstGeom>
        </p:spPr>
      </p:pic>
      <p:sp>
        <p:nvSpPr>
          <p:cNvPr id="14" name="Text 10"/>
          <p:cNvSpPr/>
          <p:nvPr/>
        </p:nvSpPr>
        <p:spPr>
          <a:xfrm>
            <a:off x="4809744" y="2615184"/>
            <a:ext cx="3035808" cy="329184"/>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Batteriespeicher</a:t>
            </a:r>
            <a:endParaRPr lang="en-US" sz="1600" dirty="0"/>
          </a:p>
        </p:txBody>
      </p:sp>
      <p:sp>
        <p:nvSpPr>
          <p:cNvPr id="15" name="Text 11"/>
          <p:cNvSpPr/>
          <p:nvPr/>
        </p:nvSpPr>
        <p:spPr>
          <a:xfrm>
            <a:off x="4809744" y="2962656"/>
            <a:ext cx="3035808" cy="310896"/>
          </a:xfrm>
          <a:prstGeom prst="rect">
            <a:avLst/>
          </a:prstGeom>
          <a:noFill/>
          <a:ln/>
        </p:spPr>
        <p:txBody>
          <a:bodyPr wrap="square" lIns="0" tIns="0" rIns="0" bIns="0" rtlCol="0" anchor="ctr"/>
          <a:lstStyle/>
          <a:p>
            <a:pPr indent="0" marL="0">
              <a:buNone/>
            </a:pPr>
            <a:r>
              <a:rPr lang="en-US" sz="1250" b="1" dirty="0">
                <a:solidFill>
                  <a:srgbClr val="E4022E"/>
                </a:solidFill>
                <a:latin typeface="Arial" pitchFamily="34" charset="0"/>
                <a:ea typeface="Arial" pitchFamily="34" charset="-122"/>
                <a:cs typeface="Arial" pitchFamily="34" charset="-120"/>
              </a:rPr>
              <a:t>Riesige Powerbank</a:t>
            </a:r>
            <a:endParaRPr lang="en-US" sz="1250" dirty="0"/>
          </a:p>
        </p:txBody>
      </p:sp>
      <p:sp>
        <p:nvSpPr>
          <p:cNvPr id="16" name="Shape 12"/>
          <p:cNvSpPr/>
          <p:nvPr/>
        </p:nvSpPr>
        <p:spPr>
          <a:xfrm>
            <a:off x="8503920" y="1627632"/>
            <a:ext cx="3584448" cy="1883664"/>
          </a:xfrm>
          <a:prstGeom prst="roundRect">
            <a:avLst>
              <a:gd name="adj" fmla="val 4369"/>
            </a:avLst>
          </a:prstGeom>
          <a:solidFill>
            <a:srgbClr val="F4F4F4"/>
          </a:solidFill>
          <a:ln/>
        </p:spPr>
      </p:sp>
      <p:sp>
        <p:nvSpPr>
          <p:cNvPr id="17" name="Shape 13"/>
          <p:cNvSpPr/>
          <p:nvPr/>
        </p:nvSpPr>
        <p:spPr>
          <a:xfrm>
            <a:off x="8778240" y="1901952"/>
            <a:ext cx="621792" cy="621792"/>
          </a:xfrm>
          <a:prstGeom prst="ellipse">
            <a:avLst/>
          </a:prstGeom>
          <a:solidFill>
            <a:srgbClr val="575756"/>
          </a:solidFill>
          <a:ln/>
        </p:spPr>
      </p:sp>
      <p:pic>
        <p:nvPicPr>
          <p:cNvPr id="18" name="Image 2" descr="/home/claude/ico/hybrid_w.png">    </p:cNvPr>
          <p:cNvPicPr>
            <a:picLocks noChangeAspect="1"/>
          </p:cNvPicPr>
          <p:nvPr/>
        </p:nvPicPr>
        <p:blipFill>
          <a:blip r:embed="rId3"/>
          <a:stretch>
            <a:fillRect/>
          </a:stretch>
        </p:blipFill>
        <p:spPr>
          <a:xfrm>
            <a:off x="8939906" y="2063618"/>
            <a:ext cx="298460" cy="298460"/>
          </a:xfrm>
          <a:prstGeom prst="rect">
            <a:avLst/>
          </a:prstGeom>
        </p:spPr>
      </p:pic>
      <p:sp>
        <p:nvSpPr>
          <p:cNvPr id="19" name="Text 14"/>
          <p:cNvSpPr/>
          <p:nvPr/>
        </p:nvSpPr>
        <p:spPr>
          <a:xfrm>
            <a:off x="8778240" y="2615184"/>
            <a:ext cx="3035808" cy="329184"/>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Hybrid</a:t>
            </a:r>
            <a:endParaRPr lang="en-US" sz="1600" dirty="0"/>
          </a:p>
        </p:txBody>
      </p:sp>
      <p:sp>
        <p:nvSpPr>
          <p:cNvPr id="20" name="Text 15"/>
          <p:cNvSpPr/>
          <p:nvPr/>
        </p:nvSpPr>
        <p:spPr>
          <a:xfrm>
            <a:off x="8778240" y="2962656"/>
            <a:ext cx="3035808" cy="310896"/>
          </a:xfrm>
          <a:prstGeom prst="rect">
            <a:avLst/>
          </a:prstGeom>
          <a:noFill/>
          <a:ln/>
        </p:spPr>
        <p:txBody>
          <a:bodyPr wrap="square" lIns="0" tIns="0" rIns="0" bIns="0" rtlCol="0" anchor="ctr"/>
          <a:lstStyle/>
          <a:p>
            <a:pPr indent="0" marL="0">
              <a:buNone/>
            </a:pPr>
            <a:r>
              <a:rPr lang="en-US" sz="1250" b="1" dirty="0">
                <a:solidFill>
                  <a:srgbClr val="E4022E"/>
                </a:solidFill>
                <a:latin typeface="Arial" pitchFamily="34" charset="0"/>
                <a:ea typeface="Arial" pitchFamily="34" charset="-122"/>
                <a:cs typeface="Arial" pitchFamily="34" charset="-120"/>
              </a:rPr>
              <a:t>Beides kombiniert</a:t>
            </a:r>
            <a:endParaRPr lang="en-US" sz="1250" dirty="0"/>
          </a:p>
        </p:txBody>
      </p:sp>
      <p:sp>
        <p:nvSpPr>
          <p:cNvPr id="21" name="Shape 16"/>
          <p:cNvSpPr/>
          <p:nvPr/>
        </p:nvSpPr>
        <p:spPr>
          <a:xfrm>
            <a:off x="566928" y="3822192"/>
            <a:ext cx="3584448" cy="1883664"/>
          </a:xfrm>
          <a:prstGeom prst="roundRect">
            <a:avLst>
              <a:gd name="adj" fmla="val 4369"/>
            </a:avLst>
          </a:prstGeom>
          <a:solidFill>
            <a:srgbClr val="F4F4F4"/>
          </a:solidFill>
          <a:ln/>
        </p:spPr>
      </p:sp>
      <p:sp>
        <p:nvSpPr>
          <p:cNvPr id="22" name="Shape 17"/>
          <p:cNvSpPr/>
          <p:nvPr/>
        </p:nvSpPr>
        <p:spPr>
          <a:xfrm>
            <a:off x="841248" y="4096512"/>
            <a:ext cx="621792" cy="621792"/>
          </a:xfrm>
          <a:prstGeom prst="ellipse">
            <a:avLst/>
          </a:prstGeom>
          <a:solidFill>
            <a:srgbClr val="575756"/>
          </a:solidFill>
          <a:ln/>
        </p:spPr>
      </p:sp>
      <p:pic>
        <p:nvPicPr>
          <p:cNvPr id="23" name="Image 3" descr="/home/claude/ico/ups_w.png">    </p:cNvPr>
          <p:cNvPicPr>
            <a:picLocks noChangeAspect="1"/>
          </p:cNvPicPr>
          <p:nvPr/>
        </p:nvPicPr>
        <p:blipFill>
          <a:blip r:embed="rId4"/>
          <a:stretch>
            <a:fillRect/>
          </a:stretch>
        </p:blipFill>
        <p:spPr>
          <a:xfrm>
            <a:off x="1002914" y="4258178"/>
            <a:ext cx="298460" cy="298460"/>
          </a:xfrm>
          <a:prstGeom prst="rect">
            <a:avLst/>
          </a:prstGeom>
        </p:spPr>
      </p:pic>
      <p:sp>
        <p:nvSpPr>
          <p:cNvPr id="24" name="Text 18"/>
          <p:cNvSpPr/>
          <p:nvPr/>
        </p:nvSpPr>
        <p:spPr>
          <a:xfrm>
            <a:off x="841248" y="4809744"/>
            <a:ext cx="3035808" cy="329184"/>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USV</a:t>
            </a:r>
            <a:endParaRPr lang="en-US" sz="1600" dirty="0"/>
          </a:p>
        </p:txBody>
      </p:sp>
      <p:sp>
        <p:nvSpPr>
          <p:cNvPr id="25" name="Text 19"/>
          <p:cNvSpPr/>
          <p:nvPr/>
        </p:nvSpPr>
        <p:spPr>
          <a:xfrm>
            <a:off x="841248" y="5157216"/>
            <a:ext cx="3035808" cy="310896"/>
          </a:xfrm>
          <a:prstGeom prst="rect">
            <a:avLst/>
          </a:prstGeom>
          <a:noFill/>
          <a:ln/>
        </p:spPr>
        <p:txBody>
          <a:bodyPr wrap="square" lIns="0" tIns="0" rIns="0" bIns="0" rtlCol="0" anchor="ctr"/>
          <a:lstStyle/>
          <a:p>
            <a:pPr indent="0" marL="0">
              <a:buNone/>
            </a:pPr>
            <a:r>
              <a:rPr lang="en-US" sz="1250" b="1" dirty="0">
                <a:solidFill>
                  <a:srgbClr val="E4022E"/>
                </a:solidFill>
                <a:latin typeface="Arial" pitchFamily="34" charset="0"/>
                <a:ea typeface="Arial" pitchFamily="34" charset="-122"/>
                <a:cs typeface="Arial" pitchFamily="34" charset="-120"/>
              </a:rPr>
              <a:t>Der Fallschirm</a:t>
            </a:r>
            <a:endParaRPr lang="en-US" sz="1250" dirty="0"/>
          </a:p>
        </p:txBody>
      </p:sp>
      <p:sp>
        <p:nvSpPr>
          <p:cNvPr id="26" name="Shape 20"/>
          <p:cNvSpPr/>
          <p:nvPr/>
        </p:nvSpPr>
        <p:spPr>
          <a:xfrm>
            <a:off x="4535424" y="3822192"/>
            <a:ext cx="3584448" cy="1883664"/>
          </a:xfrm>
          <a:prstGeom prst="roundRect">
            <a:avLst>
              <a:gd name="adj" fmla="val 4369"/>
            </a:avLst>
          </a:prstGeom>
          <a:solidFill>
            <a:srgbClr val="F4F4F4"/>
          </a:solidFill>
          <a:ln/>
        </p:spPr>
      </p:sp>
      <p:sp>
        <p:nvSpPr>
          <p:cNvPr id="27" name="Shape 21"/>
          <p:cNvSpPr/>
          <p:nvPr/>
        </p:nvSpPr>
        <p:spPr>
          <a:xfrm>
            <a:off x="4809744" y="4096512"/>
            <a:ext cx="621792" cy="621792"/>
          </a:xfrm>
          <a:prstGeom prst="ellipse">
            <a:avLst/>
          </a:prstGeom>
          <a:solidFill>
            <a:srgbClr val="575756"/>
          </a:solidFill>
          <a:ln/>
        </p:spPr>
      </p:sp>
      <p:pic>
        <p:nvPicPr>
          <p:cNvPr id="28" name="Image 4" descr="/home/claude/ico/trafo_w.png">    </p:cNvPr>
          <p:cNvPicPr>
            <a:picLocks noChangeAspect="1"/>
          </p:cNvPicPr>
          <p:nvPr/>
        </p:nvPicPr>
        <p:blipFill>
          <a:blip r:embed="rId5"/>
          <a:stretch>
            <a:fillRect/>
          </a:stretch>
        </p:blipFill>
        <p:spPr>
          <a:xfrm>
            <a:off x="4971410" y="4258178"/>
            <a:ext cx="298460" cy="298460"/>
          </a:xfrm>
          <a:prstGeom prst="rect">
            <a:avLst/>
          </a:prstGeom>
        </p:spPr>
      </p:pic>
      <p:sp>
        <p:nvSpPr>
          <p:cNvPr id="29" name="Text 22"/>
          <p:cNvSpPr/>
          <p:nvPr/>
        </p:nvSpPr>
        <p:spPr>
          <a:xfrm>
            <a:off x="4809744" y="4809744"/>
            <a:ext cx="3035808" cy="329184"/>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Transformator</a:t>
            </a:r>
            <a:endParaRPr lang="en-US" sz="1600" dirty="0"/>
          </a:p>
        </p:txBody>
      </p:sp>
      <p:sp>
        <p:nvSpPr>
          <p:cNvPr id="30" name="Text 23"/>
          <p:cNvSpPr/>
          <p:nvPr/>
        </p:nvSpPr>
        <p:spPr>
          <a:xfrm>
            <a:off x="4809744" y="5157216"/>
            <a:ext cx="3035808" cy="310896"/>
          </a:xfrm>
          <a:prstGeom prst="rect">
            <a:avLst/>
          </a:prstGeom>
          <a:noFill/>
          <a:ln/>
        </p:spPr>
        <p:txBody>
          <a:bodyPr wrap="square" lIns="0" tIns="0" rIns="0" bIns="0" rtlCol="0" anchor="ctr"/>
          <a:lstStyle/>
          <a:p>
            <a:pPr indent="0" marL="0">
              <a:buNone/>
            </a:pPr>
            <a:r>
              <a:rPr lang="en-US" sz="1250" b="1" dirty="0">
                <a:solidFill>
                  <a:srgbClr val="E4022E"/>
                </a:solidFill>
                <a:latin typeface="Arial" pitchFamily="34" charset="0"/>
                <a:ea typeface="Arial" pitchFamily="34" charset="-122"/>
                <a:cs typeface="Arial" pitchFamily="34" charset="-120"/>
              </a:rPr>
              <a:t>Der Übersetzer</a:t>
            </a:r>
            <a:endParaRPr lang="en-US" sz="1250" dirty="0"/>
          </a:p>
        </p:txBody>
      </p:sp>
      <p:sp>
        <p:nvSpPr>
          <p:cNvPr id="31" name="Shape 24"/>
          <p:cNvSpPr/>
          <p:nvPr/>
        </p:nvSpPr>
        <p:spPr>
          <a:xfrm>
            <a:off x="8503920" y="3822192"/>
            <a:ext cx="3584448" cy="1883664"/>
          </a:xfrm>
          <a:prstGeom prst="roundRect">
            <a:avLst>
              <a:gd name="adj" fmla="val 4369"/>
            </a:avLst>
          </a:prstGeom>
          <a:solidFill>
            <a:srgbClr val="F4F4F4"/>
          </a:solidFill>
          <a:ln/>
        </p:spPr>
      </p:sp>
      <p:sp>
        <p:nvSpPr>
          <p:cNvPr id="32" name="Shape 25"/>
          <p:cNvSpPr/>
          <p:nvPr/>
        </p:nvSpPr>
        <p:spPr>
          <a:xfrm>
            <a:off x="8778240" y="4096512"/>
            <a:ext cx="621792" cy="621792"/>
          </a:xfrm>
          <a:prstGeom prst="ellipse">
            <a:avLst/>
          </a:prstGeom>
          <a:solidFill>
            <a:srgbClr val="575756"/>
          </a:solidFill>
          <a:ln/>
        </p:spPr>
      </p:sp>
      <p:pic>
        <p:nvPicPr>
          <p:cNvPr id="33" name="Image 5" descr="/home/claude/ico/distro_w.png">    </p:cNvPr>
          <p:cNvPicPr>
            <a:picLocks noChangeAspect="1"/>
          </p:cNvPicPr>
          <p:nvPr/>
        </p:nvPicPr>
        <p:blipFill>
          <a:blip r:embed="rId6"/>
          <a:stretch>
            <a:fillRect/>
          </a:stretch>
        </p:blipFill>
        <p:spPr>
          <a:xfrm>
            <a:off x="8939906" y="4258178"/>
            <a:ext cx="298460" cy="298460"/>
          </a:xfrm>
          <a:prstGeom prst="rect">
            <a:avLst/>
          </a:prstGeom>
        </p:spPr>
      </p:pic>
      <p:sp>
        <p:nvSpPr>
          <p:cNvPr id="34" name="Text 26"/>
          <p:cNvSpPr/>
          <p:nvPr/>
        </p:nvSpPr>
        <p:spPr>
          <a:xfrm>
            <a:off x="8778240" y="4809744"/>
            <a:ext cx="3035808" cy="329184"/>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Verteilung &amp; Kabel</a:t>
            </a:r>
            <a:endParaRPr lang="en-US" sz="1600" dirty="0"/>
          </a:p>
        </p:txBody>
      </p:sp>
      <p:sp>
        <p:nvSpPr>
          <p:cNvPr id="35" name="Text 27"/>
          <p:cNvSpPr/>
          <p:nvPr/>
        </p:nvSpPr>
        <p:spPr>
          <a:xfrm>
            <a:off x="8778240" y="5157216"/>
            <a:ext cx="3035808" cy="310896"/>
          </a:xfrm>
          <a:prstGeom prst="rect">
            <a:avLst/>
          </a:prstGeom>
          <a:noFill/>
          <a:ln/>
        </p:spPr>
        <p:txBody>
          <a:bodyPr wrap="square" lIns="0" tIns="0" rIns="0" bIns="0" rtlCol="0" anchor="ctr"/>
          <a:lstStyle/>
          <a:p>
            <a:pPr indent="0" marL="0">
              <a:buNone/>
            </a:pPr>
            <a:r>
              <a:rPr lang="en-US" sz="1250" b="1" dirty="0">
                <a:solidFill>
                  <a:srgbClr val="E4022E"/>
                </a:solidFill>
                <a:latin typeface="Arial" pitchFamily="34" charset="0"/>
                <a:ea typeface="Arial" pitchFamily="34" charset="-122"/>
                <a:cs typeface="Arial" pitchFamily="34" charset="-120"/>
              </a:rPr>
              <a:t>Die Steckdosenleiste</a:t>
            </a:r>
            <a:endParaRPr lang="en-US" sz="1250" dirty="0"/>
          </a:p>
        </p:txBody>
      </p:sp>
      <p:sp>
        <p:nvSpPr>
          <p:cNvPr id="36" name="Text 28"/>
          <p:cNvSpPr/>
          <p:nvPr/>
        </p:nvSpPr>
        <p:spPr>
          <a:xfrm>
            <a:off x="566928" y="5870448"/>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Plus ein Sonderfall, den ihr kennen solltet: die Lastbank. Dazu kommen wir am Ende dieses Blocks.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ANLAGENTYPEN · 1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Generator: das Kraftwerk auf Rädern</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20</a:t>
            </a:r>
            <a:endParaRPr lang="en-US" sz="1000" dirty="0"/>
          </a:p>
        </p:txBody>
      </p:sp>
      <p:sp>
        <p:nvSpPr>
          <p:cNvPr id="6" name="Shape 4"/>
          <p:cNvSpPr/>
          <p:nvPr/>
        </p:nvSpPr>
        <p:spPr>
          <a:xfrm>
            <a:off x="566928" y="1591056"/>
            <a:ext cx="11055096" cy="1024128"/>
          </a:xfrm>
          <a:prstGeom prst="roundRect">
            <a:avLst>
              <a:gd name="adj" fmla="val 8036"/>
            </a:avLst>
          </a:prstGeom>
          <a:solidFill>
            <a:srgbClr val="575756"/>
          </a:solidFill>
          <a:ln/>
        </p:spPr>
      </p:sp>
      <p:sp>
        <p:nvSpPr>
          <p:cNvPr id="7" name="Shape 5"/>
          <p:cNvSpPr/>
          <p:nvPr/>
        </p:nvSpPr>
        <p:spPr>
          <a:xfrm>
            <a:off x="859536" y="1773936"/>
            <a:ext cx="658368" cy="658368"/>
          </a:xfrm>
          <a:prstGeom prst="ellipse">
            <a:avLst/>
          </a:prstGeom>
          <a:solidFill>
            <a:srgbClr val="E4022E"/>
          </a:solidFill>
          <a:ln/>
        </p:spPr>
      </p:sp>
      <p:pic>
        <p:nvPicPr>
          <p:cNvPr id="8" name="Image 0" descr="/home/claude/ico/generator_w.png">    </p:cNvPr>
          <p:cNvPicPr>
            <a:picLocks noChangeAspect="1"/>
          </p:cNvPicPr>
          <p:nvPr/>
        </p:nvPicPr>
        <p:blipFill>
          <a:blip r:embed="rId1"/>
          <a:stretch>
            <a:fillRect/>
          </a:stretch>
        </p:blipFill>
        <p:spPr>
          <a:xfrm>
            <a:off x="1030712" y="1945112"/>
            <a:ext cx="316017" cy="316017"/>
          </a:xfrm>
          <a:prstGeom prst="rect">
            <a:avLst/>
          </a:prstGeom>
        </p:spPr>
      </p:pic>
      <p:sp>
        <p:nvSpPr>
          <p:cNvPr id="9" name="Text 6"/>
          <p:cNvSpPr/>
          <p:nvPr/>
        </p:nvSpPr>
        <p:spPr>
          <a:xfrm>
            <a:off x="1719072" y="1591056"/>
            <a:ext cx="9500616" cy="1024128"/>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Arial" pitchFamily="34" charset="0"/>
                <a:ea typeface="Arial" pitchFamily="34" charset="-122"/>
                <a:cs typeface="Arial" pitchFamily="34" charset="-120"/>
              </a:rPr>
              <a:t>Ein Dieselmotor treibt einen Stromerzeuger an. Rein geht Treibstoff, raus kommt Strom.</a:t>
            </a:r>
            <a:endParaRPr lang="en-US" sz="1800" dirty="0"/>
          </a:p>
        </p:txBody>
      </p:sp>
      <p:sp>
        <p:nvSpPr>
          <p:cNvPr id="10" name="Shape 7"/>
          <p:cNvSpPr/>
          <p:nvPr/>
        </p:nvSpPr>
        <p:spPr>
          <a:xfrm>
            <a:off x="566928" y="2761488"/>
            <a:ext cx="11055096" cy="932688"/>
          </a:xfrm>
          <a:prstGeom prst="roundRect">
            <a:avLst>
              <a:gd name="adj" fmla="val 8824"/>
            </a:avLst>
          </a:prstGeom>
          <a:solidFill>
            <a:srgbClr val="F4F4F4"/>
          </a:solidFill>
          <a:ln/>
        </p:spPr>
      </p:sp>
      <p:sp>
        <p:nvSpPr>
          <p:cNvPr id="11" name="Text 8"/>
          <p:cNvSpPr/>
          <p:nvPr/>
        </p:nvSpPr>
        <p:spPr>
          <a:xfrm>
            <a:off x="877824" y="2907792"/>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Wofür</a:t>
            </a:r>
            <a:endParaRPr lang="en-US" sz="1300" dirty="0"/>
          </a:p>
        </p:txBody>
      </p:sp>
      <p:sp>
        <p:nvSpPr>
          <p:cNvPr id="12" name="Text 9"/>
          <p:cNvSpPr/>
          <p:nvPr/>
        </p:nvSpPr>
        <p:spPr>
          <a:xfrm>
            <a:off x="877824" y="3236976"/>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Überall, wo über Stunden, Wochen oder Monate Strom gebraucht wird. Das Arbeitspferd, rund 80 Prozent unserer Aufträge.</a:t>
            </a:r>
            <a:endParaRPr lang="en-US" sz="1300" dirty="0"/>
          </a:p>
        </p:txBody>
      </p:sp>
      <p:sp>
        <p:nvSpPr>
          <p:cNvPr id="13" name="Shape 10"/>
          <p:cNvSpPr/>
          <p:nvPr/>
        </p:nvSpPr>
        <p:spPr>
          <a:xfrm>
            <a:off x="566928" y="3840480"/>
            <a:ext cx="11055096" cy="932688"/>
          </a:xfrm>
          <a:prstGeom prst="roundRect">
            <a:avLst>
              <a:gd name="adj" fmla="val 8824"/>
            </a:avLst>
          </a:prstGeom>
          <a:solidFill>
            <a:srgbClr val="F4F4F4"/>
          </a:solidFill>
          <a:ln/>
        </p:spPr>
      </p:sp>
      <p:sp>
        <p:nvSpPr>
          <p:cNvPr id="14" name="Text 11"/>
          <p:cNvSpPr/>
          <p:nvPr/>
        </p:nvSpPr>
        <p:spPr>
          <a:xfrm>
            <a:off x="877824" y="3986784"/>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Was man wissen muss</a:t>
            </a:r>
            <a:endParaRPr lang="en-US" sz="1300" dirty="0"/>
          </a:p>
        </p:txBody>
      </p:sp>
      <p:sp>
        <p:nvSpPr>
          <p:cNvPr id="15" name="Text 12"/>
          <p:cNvSpPr/>
          <p:nvPr/>
        </p:nvSpPr>
        <p:spPr>
          <a:xfrm>
            <a:off x="877824" y="4315968"/>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Braucht Treibstoff, macht Geräusch, macht Abgase, braucht Platz und eine Zufahrt für den Lastwagen.</a:t>
            </a:r>
            <a:endParaRPr lang="en-US" sz="1300" dirty="0"/>
          </a:p>
        </p:txBody>
      </p:sp>
      <p:sp>
        <p:nvSpPr>
          <p:cNvPr id="16" name="Shape 13"/>
          <p:cNvSpPr/>
          <p:nvPr/>
        </p:nvSpPr>
        <p:spPr>
          <a:xfrm>
            <a:off x="566928" y="4919472"/>
            <a:ext cx="11055096" cy="932688"/>
          </a:xfrm>
          <a:prstGeom prst="roundRect">
            <a:avLst>
              <a:gd name="adj" fmla="val 8824"/>
            </a:avLst>
          </a:prstGeom>
          <a:solidFill>
            <a:srgbClr val="F4F4F4"/>
          </a:solidFill>
          <a:ln/>
        </p:spPr>
      </p:sp>
      <p:sp>
        <p:nvSpPr>
          <p:cNvPr id="17" name="Text 14"/>
          <p:cNvSpPr/>
          <p:nvPr/>
        </p:nvSpPr>
        <p:spPr>
          <a:xfrm>
            <a:off x="877824" y="5065776"/>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Stichwort Stage V</a:t>
            </a:r>
            <a:endParaRPr lang="en-US" sz="1300" dirty="0"/>
          </a:p>
        </p:txBody>
      </p:sp>
      <p:sp>
        <p:nvSpPr>
          <p:cNvPr id="18" name="Text 15"/>
          <p:cNvSpPr/>
          <p:nvPr/>
        </p:nvSpPr>
        <p:spPr>
          <a:xfrm>
            <a:off x="877824" y="5394960"/>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Die strengste Abgasnorm der EU für solche Motoren. In Städten und bei öffentlichen Bauherren zunehmend Pflicht.</a:t>
            </a:r>
            <a:endParaRPr lang="en-US" sz="1300" dirty="0"/>
          </a:p>
        </p:txBody>
      </p:sp>
      <p:sp>
        <p:nvSpPr>
          <p:cNvPr id="19" name="Shape 16"/>
          <p:cNvSpPr/>
          <p:nvPr/>
        </p:nvSpPr>
        <p:spPr>
          <a:xfrm>
            <a:off x="566928" y="5998464"/>
            <a:ext cx="11055096" cy="932688"/>
          </a:xfrm>
          <a:prstGeom prst="roundRect">
            <a:avLst>
              <a:gd name="adj" fmla="val 8824"/>
            </a:avLst>
          </a:prstGeom>
          <a:solidFill>
            <a:srgbClr val="F4F4F4"/>
          </a:solidFill>
          <a:ln/>
        </p:spPr>
      </p:sp>
      <p:sp>
        <p:nvSpPr>
          <p:cNvPr id="20" name="Text 17"/>
          <p:cNvSpPr/>
          <p:nvPr/>
        </p:nvSpPr>
        <p:spPr>
          <a:xfrm>
            <a:off x="877824" y="6144768"/>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Stichwort HVO</a:t>
            </a:r>
            <a:endParaRPr lang="en-US" sz="1300" dirty="0"/>
          </a:p>
        </p:txBody>
      </p:sp>
      <p:sp>
        <p:nvSpPr>
          <p:cNvPr id="21" name="Text 18"/>
          <p:cNvSpPr/>
          <p:nvPr/>
        </p:nvSpPr>
        <p:spPr>
          <a:xfrm>
            <a:off x="877824" y="6473952"/>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Treibstoff aus Rest- und Abfallstoffen statt aus Erdöl. Gleiche Maschine, gleiche Leistung, deutlich weniger CO2.</a:t>
            </a:r>
            <a:endParaRPr lang="en-US" sz="1300" dirty="0"/>
          </a:p>
        </p:txBody>
      </p:sp>
      <p:sp>
        <p:nvSpPr>
          <p:cNvPr id="22" name="Text 19"/>
          <p:cNvSpPr/>
          <p:nvPr/>
        </p:nvSpPr>
        <p:spPr>
          <a:xfrm>
            <a:off x="566928" y="5888736"/>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Merke: Stage V und HVO sind zwei verschiedene Dinge. Stage V betrifft den Motor, HVO den Treibstoff. Beides zusammen ist unsere sauberste Variante.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ANLAGENTYPEN · 2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Batteriespeicher: die riesige Powerbank</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21</a:t>
            </a:r>
            <a:endParaRPr lang="en-US" sz="1000" dirty="0"/>
          </a:p>
        </p:txBody>
      </p:sp>
      <p:sp>
        <p:nvSpPr>
          <p:cNvPr id="6" name="Shape 4"/>
          <p:cNvSpPr/>
          <p:nvPr/>
        </p:nvSpPr>
        <p:spPr>
          <a:xfrm>
            <a:off x="566928" y="1591056"/>
            <a:ext cx="11055096" cy="1024128"/>
          </a:xfrm>
          <a:prstGeom prst="roundRect">
            <a:avLst>
              <a:gd name="adj" fmla="val 8036"/>
            </a:avLst>
          </a:prstGeom>
          <a:solidFill>
            <a:srgbClr val="575756"/>
          </a:solidFill>
          <a:ln/>
        </p:spPr>
      </p:sp>
      <p:sp>
        <p:nvSpPr>
          <p:cNvPr id="7" name="Shape 5"/>
          <p:cNvSpPr/>
          <p:nvPr/>
        </p:nvSpPr>
        <p:spPr>
          <a:xfrm>
            <a:off x="859536" y="1773936"/>
            <a:ext cx="658368" cy="658368"/>
          </a:xfrm>
          <a:prstGeom prst="ellipse">
            <a:avLst/>
          </a:prstGeom>
          <a:solidFill>
            <a:srgbClr val="E4022E"/>
          </a:solidFill>
          <a:ln/>
        </p:spPr>
      </p:sp>
      <p:pic>
        <p:nvPicPr>
          <p:cNvPr id="8" name="Image 0" descr="/home/claude/ico/battery_w.png">    </p:cNvPr>
          <p:cNvPicPr>
            <a:picLocks noChangeAspect="1"/>
          </p:cNvPicPr>
          <p:nvPr/>
        </p:nvPicPr>
        <p:blipFill>
          <a:blip r:embed="rId1"/>
          <a:stretch>
            <a:fillRect/>
          </a:stretch>
        </p:blipFill>
        <p:spPr>
          <a:xfrm>
            <a:off x="1030712" y="1945112"/>
            <a:ext cx="316017" cy="316017"/>
          </a:xfrm>
          <a:prstGeom prst="rect">
            <a:avLst/>
          </a:prstGeom>
        </p:spPr>
      </p:pic>
      <p:sp>
        <p:nvSpPr>
          <p:cNvPr id="9" name="Text 6"/>
          <p:cNvSpPr/>
          <p:nvPr/>
        </p:nvSpPr>
        <p:spPr>
          <a:xfrm>
            <a:off x="1719072" y="1591056"/>
            <a:ext cx="9500616" cy="1024128"/>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Arial" pitchFamily="34" charset="0"/>
                <a:ea typeface="Arial" pitchFamily="34" charset="-122"/>
                <a:cs typeface="Arial" pitchFamily="34" charset="-120"/>
              </a:rPr>
              <a:t>Ein grosser Akku im Container. Wird geladen, gibt Strom ab. Fachbegriff: BESS.</a:t>
            </a:r>
            <a:endParaRPr lang="en-US" sz="1800" dirty="0"/>
          </a:p>
        </p:txBody>
      </p:sp>
      <p:sp>
        <p:nvSpPr>
          <p:cNvPr id="10" name="Shape 7"/>
          <p:cNvSpPr/>
          <p:nvPr/>
        </p:nvSpPr>
        <p:spPr>
          <a:xfrm>
            <a:off x="566928" y="2761488"/>
            <a:ext cx="11055096" cy="932688"/>
          </a:xfrm>
          <a:prstGeom prst="roundRect">
            <a:avLst>
              <a:gd name="adj" fmla="val 8824"/>
            </a:avLst>
          </a:prstGeom>
          <a:solidFill>
            <a:srgbClr val="F4F4F4"/>
          </a:solidFill>
          <a:ln/>
        </p:spPr>
      </p:sp>
      <p:sp>
        <p:nvSpPr>
          <p:cNvPr id="11" name="Text 8"/>
          <p:cNvSpPr/>
          <p:nvPr/>
        </p:nvSpPr>
        <p:spPr>
          <a:xfrm>
            <a:off x="877824" y="2907792"/>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Stärken</a:t>
            </a:r>
            <a:endParaRPr lang="en-US" sz="1300" dirty="0"/>
          </a:p>
        </p:txBody>
      </p:sp>
      <p:sp>
        <p:nvSpPr>
          <p:cNvPr id="12" name="Text 9"/>
          <p:cNvSpPr/>
          <p:nvPr/>
        </p:nvSpPr>
        <p:spPr>
          <a:xfrm>
            <a:off x="877824" y="3236976"/>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Absolut leise, keine Abgase, keine Vibration. Reagiert in Sekundenbruchteilen. Darf dort stehen, wo ein Motor nicht hindarf.</a:t>
            </a:r>
            <a:endParaRPr lang="en-US" sz="1300" dirty="0"/>
          </a:p>
        </p:txBody>
      </p:sp>
      <p:sp>
        <p:nvSpPr>
          <p:cNvPr id="13" name="Shape 10"/>
          <p:cNvSpPr/>
          <p:nvPr/>
        </p:nvSpPr>
        <p:spPr>
          <a:xfrm>
            <a:off x="566928" y="3840480"/>
            <a:ext cx="11055096" cy="932688"/>
          </a:xfrm>
          <a:prstGeom prst="roundRect">
            <a:avLst>
              <a:gd name="adj" fmla="val 8824"/>
            </a:avLst>
          </a:prstGeom>
          <a:solidFill>
            <a:srgbClr val="F4F4F4"/>
          </a:solidFill>
          <a:ln/>
        </p:spPr>
      </p:sp>
      <p:sp>
        <p:nvSpPr>
          <p:cNvPr id="14" name="Text 11"/>
          <p:cNvSpPr/>
          <p:nvPr/>
        </p:nvSpPr>
        <p:spPr>
          <a:xfrm>
            <a:off x="877824" y="3986784"/>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Die Grenze</a:t>
            </a:r>
            <a:endParaRPr lang="en-US" sz="1300" dirty="0"/>
          </a:p>
        </p:txBody>
      </p:sp>
      <p:sp>
        <p:nvSpPr>
          <p:cNvPr id="15" name="Text 12"/>
          <p:cNvSpPr/>
          <p:nvPr/>
        </p:nvSpPr>
        <p:spPr>
          <a:xfrm>
            <a:off x="877824" y="4315968"/>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Er hat ein Ende. Ist er leer, ist er leer. Für tagelangen Dauerbetrieb allein nicht wirtschaftlich.</a:t>
            </a:r>
            <a:endParaRPr lang="en-US" sz="1300" dirty="0"/>
          </a:p>
        </p:txBody>
      </p:sp>
      <p:sp>
        <p:nvSpPr>
          <p:cNvPr id="16" name="Shape 13"/>
          <p:cNvSpPr/>
          <p:nvPr/>
        </p:nvSpPr>
        <p:spPr>
          <a:xfrm>
            <a:off x="566928" y="4919472"/>
            <a:ext cx="11055096" cy="932688"/>
          </a:xfrm>
          <a:prstGeom prst="roundRect">
            <a:avLst>
              <a:gd name="adj" fmla="val 8824"/>
            </a:avLst>
          </a:prstGeom>
          <a:solidFill>
            <a:srgbClr val="F4F4F4"/>
          </a:solidFill>
          <a:ln/>
        </p:spPr>
      </p:sp>
      <p:sp>
        <p:nvSpPr>
          <p:cNvPr id="17" name="Text 14"/>
          <p:cNvSpPr/>
          <p:nvPr/>
        </p:nvSpPr>
        <p:spPr>
          <a:xfrm>
            <a:off x="877824" y="5065776"/>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Wofür</a:t>
            </a:r>
            <a:endParaRPr lang="en-US" sz="1300" dirty="0"/>
          </a:p>
        </p:txBody>
      </p:sp>
      <p:sp>
        <p:nvSpPr>
          <p:cNvPr id="18" name="Text 15"/>
          <p:cNvSpPr/>
          <p:nvPr/>
        </p:nvSpPr>
        <p:spPr>
          <a:xfrm>
            <a:off x="877824" y="5394960"/>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Nachtbetrieb an lärmempfindlichen Orten, Innenräume, kurze Überbrückungen und das Abfangen von Lastspitzen.</a:t>
            </a:r>
            <a:endParaRPr lang="en-US" sz="1300" dirty="0"/>
          </a:p>
        </p:txBody>
      </p:sp>
      <p:sp>
        <p:nvSpPr>
          <p:cNvPr id="19" name="Shape 16"/>
          <p:cNvSpPr/>
          <p:nvPr/>
        </p:nvSpPr>
        <p:spPr>
          <a:xfrm>
            <a:off x="566928" y="5998464"/>
            <a:ext cx="11055096" cy="932688"/>
          </a:xfrm>
          <a:prstGeom prst="roundRect">
            <a:avLst>
              <a:gd name="adj" fmla="val 8824"/>
            </a:avLst>
          </a:prstGeom>
          <a:solidFill>
            <a:srgbClr val="F4F4F4"/>
          </a:solidFill>
          <a:ln/>
        </p:spPr>
      </p:sp>
      <p:sp>
        <p:nvSpPr>
          <p:cNvPr id="20" name="Text 17"/>
          <p:cNvSpPr/>
          <p:nvPr/>
        </p:nvSpPr>
        <p:spPr>
          <a:xfrm>
            <a:off x="877824" y="6144768"/>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Für Texte</a:t>
            </a:r>
            <a:endParaRPr lang="en-US" sz="1300" dirty="0"/>
          </a:p>
        </p:txBody>
      </p:sp>
      <p:sp>
        <p:nvSpPr>
          <p:cNvPr id="21" name="Text 18"/>
          <p:cNvSpPr/>
          <p:nvPr/>
        </p:nvSpPr>
        <p:spPr>
          <a:xfrm>
            <a:off x="877824" y="6473952"/>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Das ist unsere sichtbarste Nachhaltigkeitsgeschichte. Leise und emissionsfrei versteht jeder sofort.</a:t>
            </a:r>
            <a:endParaRPr lang="en-US" sz="1300" dirty="0"/>
          </a:p>
        </p:txBody>
      </p:sp>
      <p:sp>
        <p:nvSpPr>
          <p:cNvPr id="22" name="Text 19"/>
          <p:cNvSpPr/>
          <p:nvPr/>
        </p:nvSpPr>
        <p:spPr>
          <a:xfrm>
            <a:off x="566928" y="5888736"/>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Ehrlich bleiben: Eine Batterie ersetzt keinen Generator über Wochen. Wer das behauptet, wird beim ersten technischen Gespräch zerlegt.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ANLAGENTYPEN · 3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Hybrid: das Beste aus beidem</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22</a:t>
            </a:r>
            <a:endParaRPr lang="en-US" sz="1000" dirty="0"/>
          </a:p>
        </p:txBody>
      </p:sp>
      <p:sp>
        <p:nvSpPr>
          <p:cNvPr id="6" name="Shape 4"/>
          <p:cNvSpPr/>
          <p:nvPr/>
        </p:nvSpPr>
        <p:spPr>
          <a:xfrm>
            <a:off x="566928" y="1591056"/>
            <a:ext cx="11055096" cy="1024128"/>
          </a:xfrm>
          <a:prstGeom prst="roundRect">
            <a:avLst>
              <a:gd name="adj" fmla="val 8036"/>
            </a:avLst>
          </a:prstGeom>
          <a:solidFill>
            <a:srgbClr val="575756"/>
          </a:solidFill>
          <a:ln/>
        </p:spPr>
      </p:sp>
      <p:sp>
        <p:nvSpPr>
          <p:cNvPr id="7" name="Shape 5"/>
          <p:cNvSpPr/>
          <p:nvPr/>
        </p:nvSpPr>
        <p:spPr>
          <a:xfrm>
            <a:off x="859536" y="1773936"/>
            <a:ext cx="658368" cy="658368"/>
          </a:xfrm>
          <a:prstGeom prst="ellipse">
            <a:avLst/>
          </a:prstGeom>
          <a:solidFill>
            <a:srgbClr val="E4022E"/>
          </a:solidFill>
          <a:ln/>
        </p:spPr>
      </p:sp>
      <p:pic>
        <p:nvPicPr>
          <p:cNvPr id="8" name="Image 0" descr="/home/claude/ico/hybrid_w.png">    </p:cNvPr>
          <p:cNvPicPr>
            <a:picLocks noChangeAspect="1"/>
          </p:cNvPicPr>
          <p:nvPr/>
        </p:nvPicPr>
        <p:blipFill>
          <a:blip r:embed="rId1"/>
          <a:stretch>
            <a:fillRect/>
          </a:stretch>
        </p:blipFill>
        <p:spPr>
          <a:xfrm>
            <a:off x="1030712" y="1945112"/>
            <a:ext cx="316017" cy="316017"/>
          </a:xfrm>
          <a:prstGeom prst="rect">
            <a:avLst/>
          </a:prstGeom>
        </p:spPr>
      </p:pic>
      <p:sp>
        <p:nvSpPr>
          <p:cNvPr id="9" name="Text 6"/>
          <p:cNvSpPr/>
          <p:nvPr/>
        </p:nvSpPr>
        <p:spPr>
          <a:xfrm>
            <a:off x="1719072" y="1591056"/>
            <a:ext cx="9500616" cy="1024128"/>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Arial" pitchFamily="34" charset="0"/>
                <a:ea typeface="Arial" pitchFamily="34" charset="-122"/>
                <a:cs typeface="Arial" pitchFamily="34" charset="-120"/>
              </a:rPr>
              <a:t>Generator und Batterie arbeiten zusammen und teilen sich die Schicht.</a:t>
            </a:r>
            <a:endParaRPr lang="en-US" sz="1800" dirty="0"/>
          </a:p>
        </p:txBody>
      </p:sp>
      <p:sp>
        <p:nvSpPr>
          <p:cNvPr id="10" name="Shape 7"/>
          <p:cNvSpPr/>
          <p:nvPr/>
        </p:nvSpPr>
        <p:spPr>
          <a:xfrm>
            <a:off x="566928" y="2761488"/>
            <a:ext cx="11055096" cy="932688"/>
          </a:xfrm>
          <a:prstGeom prst="roundRect">
            <a:avLst>
              <a:gd name="adj" fmla="val 8824"/>
            </a:avLst>
          </a:prstGeom>
          <a:solidFill>
            <a:srgbClr val="F4F4F4"/>
          </a:solidFill>
          <a:ln/>
        </p:spPr>
      </p:sp>
      <p:sp>
        <p:nvSpPr>
          <p:cNvPr id="11" name="Text 8"/>
          <p:cNvSpPr/>
          <p:nvPr/>
        </p:nvSpPr>
        <p:spPr>
          <a:xfrm>
            <a:off x="877824" y="2907792"/>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Wie es funktioniert</a:t>
            </a:r>
            <a:endParaRPr lang="en-US" sz="1300" dirty="0"/>
          </a:p>
        </p:txBody>
      </p:sp>
      <p:sp>
        <p:nvSpPr>
          <p:cNvPr id="12" name="Text 9"/>
          <p:cNvSpPr/>
          <p:nvPr/>
        </p:nvSpPr>
        <p:spPr>
          <a:xfrm>
            <a:off x="877824" y="3236976"/>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Die Batterie übernimmt die ruhigen Stunden. Wird mehr gebraucht, springt der Generator an und lädt dabei gleich die Batterie mit.</a:t>
            </a:r>
            <a:endParaRPr lang="en-US" sz="1300" dirty="0"/>
          </a:p>
        </p:txBody>
      </p:sp>
      <p:sp>
        <p:nvSpPr>
          <p:cNvPr id="13" name="Shape 10"/>
          <p:cNvSpPr/>
          <p:nvPr/>
        </p:nvSpPr>
        <p:spPr>
          <a:xfrm>
            <a:off x="566928" y="3840480"/>
            <a:ext cx="11055096" cy="932688"/>
          </a:xfrm>
          <a:prstGeom prst="roundRect">
            <a:avLst>
              <a:gd name="adj" fmla="val 8824"/>
            </a:avLst>
          </a:prstGeom>
          <a:solidFill>
            <a:srgbClr val="F4F4F4"/>
          </a:solidFill>
          <a:ln/>
        </p:spPr>
      </p:sp>
      <p:sp>
        <p:nvSpPr>
          <p:cNvPr id="14" name="Text 11"/>
          <p:cNvSpPr/>
          <p:nvPr/>
        </p:nvSpPr>
        <p:spPr>
          <a:xfrm>
            <a:off x="877824" y="3986784"/>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Das Ergebnis</a:t>
            </a:r>
            <a:endParaRPr lang="en-US" sz="1300" dirty="0"/>
          </a:p>
        </p:txBody>
      </p:sp>
      <p:sp>
        <p:nvSpPr>
          <p:cNvPr id="15" name="Text 12"/>
          <p:cNvSpPr/>
          <p:nvPr/>
        </p:nvSpPr>
        <p:spPr>
          <a:xfrm>
            <a:off x="877824" y="4315968"/>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Weniger Motorlaufstunden, weniger Treibstoff, weniger Abgase. Und nachts ist es auf dem Platz still.</a:t>
            </a:r>
            <a:endParaRPr lang="en-US" sz="1300" dirty="0"/>
          </a:p>
        </p:txBody>
      </p:sp>
      <p:sp>
        <p:nvSpPr>
          <p:cNvPr id="16" name="Shape 13"/>
          <p:cNvSpPr/>
          <p:nvPr/>
        </p:nvSpPr>
        <p:spPr>
          <a:xfrm>
            <a:off x="566928" y="4919472"/>
            <a:ext cx="11055096" cy="932688"/>
          </a:xfrm>
          <a:prstGeom prst="roundRect">
            <a:avLst>
              <a:gd name="adj" fmla="val 8824"/>
            </a:avLst>
          </a:prstGeom>
          <a:solidFill>
            <a:srgbClr val="F4F4F4"/>
          </a:solidFill>
          <a:ln/>
        </p:spPr>
      </p:sp>
      <p:sp>
        <p:nvSpPr>
          <p:cNvPr id="17" name="Text 14"/>
          <p:cNvSpPr/>
          <p:nvPr/>
        </p:nvSpPr>
        <p:spPr>
          <a:xfrm>
            <a:off x="877824" y="5065776"/>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Typischer Einsatz</a:t>
            </a:r>
            <a:endParaRPr lang="en-US" sz="1300" dirty="0"/>
          </a:p>
        </p:txBody>
      </p:sp>
      <p:sp>
        <p:nvSpPr>
          <p:cNvPr id="18" name="Text 15"/>
          <p:cNvSpPr/>
          <p:nvPr/>
        </p:nvSpPr>
        <p:spPr>
          <a:xfrm>
            <a:off x="877824" y="5394960"/>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Baustellen im Wohngebiet, Festivals mit Nachtruhe, Projekte mit ökologischen Auflagen der Gemeinde.</a:t>
            </a:r>
            <a:endParaRPr lang="en-US" sz="1300" dirty="0"/>
          </a:p>
        </p:txBody>
      </p:sp>
      <p:sp>
        <p:nvSpPr>
          <p:cNvPr id="19" name="Shape 16"/>
          <p:cNvSpPr/>
          <p:nvPr/>
        </p:nvSpPr>
        <p:spPr>
          <a:xfrm>
            <a:off x="566928" y="5998464"/>
            <a:ext cx="11055096" cy="932688"/>
          </a:xfrm>
          <a:prstGeom prst="roundRect">
            <a:avLst>
              <a:gd name="adj" fmla="val 8824"/>
            </a:avLst>
          </a:prstGeom>
          <a:solidFill>
            <a:srgbClr val="F4F4F4"/>
          </a:solidFill>
          <a:ln/>
        </p:spPr>
      </p:sp>
      <p:sp>
        <p:nvSpPr>
          <p:cNvPr id="20" name="Text 17"/>
          <p:cNvSpPr/>
          <p:nvPr/>
        </p:nvSpPr>
        <p:spPr>
          <a:xfrm>
            <a:off x="877824" y="6144768"/>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Für Texte</a:t>
            </a:r>
            <a:endParaRPr lang="en-US" sz="1300" dirty="0"/>
          </a:p>
        </p:txBody>
      </p:sp>
      <p:sp>
        <p:nvSpPr>
          <p:cNvPr id="21" name="Text 18"/>
          <p:cNvSpPr/>
          <p:nvPr/>
        </p:nvSpPr>
        <p:spPr>
          <a:xfrm>
            <a:off x="877824" y="6473952"/>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Unsere beste Nachhaltigkeitsstory, weil echte Zahlen dahinterstehen und nicht nur ein grünes Bild.</a:t>
            </a:r>
            <a:endParaRPr lang="en-US" sz="1300" dirty="0"/>
          </a:p>
        </p:txBody>
      </p:sp>
      <p:sp>
        <p:nvSpPr>
          <p:cNvPr id="22" name="Text 19"/>
          <p:cNvSpPr/>
          <p:nvPr/>
        </p:nvSpPr>
        <p:spPr>
          <a:xfrm>
            <a:off x="566928" y="5888736"/>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Wenn eine Ausschreibung von Lärm- oder CO2-Auflagen spricht, ist Hybrid fast immer die Antwort.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ANLAGENTYPEN · 4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USV: der Fallschirm</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23</a:t>
            </a:r>
            <a:endParaRPr lang="en-US" sz="1000" dirty="0"/>
          </a:p>
        </p:txBody>
      </p:sp>
      <p:sp>
        <p:nvSpPr>
          <p:cNvPr id="6" name="Shape 4"/>
          <p:cNvSpPr/>
          <p:nvPr/>
        </p:nvSpPr>
        <p:spPr>
          <a:xfrm>
            <a:off x="566928" y="1591056"/>
            <a:ext cx="11055096" cy="1024128"/>
          </a:xfrm>
          <a:prstGeom prst="roundRect">
            <a:avLst>
              <a:gd name="adj" fmla="val 8036"/>
            </a:avLst>
          </a:prstGeom>
          <a:solidFill>
            <a:srgbClr val="575756"/>
          </a:solidFill>
          <a:ln/>
        </p:spPr>
      </p:sp>
      <p:sp>
        <p:nvSpPr>
          <p:cNvPr id="7" name="Shape 5"/>
          <p:cNvSpPr/>
          <p:nvPr/>
        </p:nvSpPr>
        <p:spPr>
          <a:xfrm>
            <a:off x="859536" y="1773936"/>
            <a:ext cx="658368" cy="658368"/>
          </a:xfrm>
          <a:prstGeom prst="ellipse">
            <a:avLst/>
          </a:prstGeom>
          <a:solidFill>
            <a:srgbClr val="E4022E"/>
          </a:solidFill>
          <a:ln/>
        </p:spPr>
      </p:sp>
      <p:pic>
        <p:nvPicPr>
          <p:cNvPr id="8" name="Image 0" descr="/home/claude/ico/ups_w.png">    </p:cNvPr>
          <p:cNvPicPr>
            <a:picLocks noChangeAspect="1"/>
          </p:cNvPicPr>
          <p:nvPr/>
        </p:nvPicPr>
        <p:blipFill>
          <a:blip r:embed="rId1"/>
          <a:stretch>
            <a:fillRect/>
          </a:stretch>
        </p:blipFill>
        <p:spPr>
          <a:xfrm>
            <a:off x="1030712" y="1945112"/>
            <a:ext cx="316017" cy="316017"/>
          </a:xfrm>
          <a:prstGeom prst="rect">
            <a:avLst/>
          </a:prstGeom>
        </p:spPr>
      </p:pic>
      <p:sp>
        <p:nvSpPr>
          <p:cNvPr id="9" name="Text 6"/>
          <p:cNvSpPr/>
          <p:nvPr/>
        </p:nvSpPr>
        <p:spPr>
          <a:xfrm>
            <a:off x="1719072" y="1591056"/>
            <a:ext cx="9500616" cy="1024128"/>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Arial" pitchFamily="34" charset="0"/>
                <a:ea typeface="Arial" pitchFamily="34" charset="-122"/>
                <a:cs typeface="Arial" pitchFamily="34" charset="-120"/>
              </a:rPr>
              <a:t>Ein Generator braucht etwa zehn bis fünfzehn Sekunden zum Hochlaufen. Für einen Server ist das eine Ewigkeit.</a:t>
            </a:r>
            <a:endParaRPr lang="en-US" sz="1800" dirty="0"/>
          </a:p>
        </p:txBody>
      </p:sp>
      <p:sp>
        <p:nvSpPr>
          <p:cNvPr id="10" name="Shape 7"/>
          <p:cNvSpPr/>
          <p:nvPr/>
        </p:nvSpPr>
        <p:spPr>
          <a:xfrm>
            <a:off x="566928" y="2761488"/>
            <a:ext cx="11055096" cy="932688"/>
          </a:xfrm>
          <a:prstGeom prst="roundRect">
            <a:avLst>
              <a:gd name="adj" fmla="val 8824"/>
            </a:avLst>
          </a:prstGeom>
          <a:solidFill>
            <a:srgbClr val="F4F4F4"/>
          </a:solidFill>
          <a:ln/>
        </p:spPr>
      </p:sp>
      <p:sp>
        <p:nvSpPr>
          <p:cNvPr id="11" name="Text 8"/>
          <p:cNvSpPr/>
          <p:nvPr/>
        </p:nvSpPr>
        <p:spPr>
          <a:xfrm>
            <a:off x="877824" y="2907792"/>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Was sie macht</a:t>
            </a:r>
            <a:endParaRPr lang="en-US" sz="1300" dirty="0"/>
          </a:p>
        </p:txBody>
      </p:sp>
      <p:sp>
        <p:nvSpPr>
          <p:cNvPr id="12" name="Text 9"/>
          <p:cNvSpPr/>
          <p:nvPr/>
        </p:nvSpPr>
        <p:spPr>
          <a:xfrm>
            <a:off x="877824" y="3236976"/>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Sie hängt dauerhaft zwischen Netz und Verbraucher und überbrückt den Ausfall völlig unterbrechungsfrei. Null Lücke, nicht "fast null".</a:t>
            </a:r>
            <a:endParaRPr lang="en-US" sz="1300" dirty="0"/>
          </a:p>
        </p:txBody>
      </p:sp>
      <p:sp>
        <p:nvSpPr>
          <p:cNvPr id="13" name="Shape 10"/>
          <p:cNvSpPr/>
          <p:nvPr/>
        </p:nvSpPr>
        <p:spPr>
          <a:xfrm>
            <a:off x="566928" y="3840480"/>
            <a:ext cx="11055096" cy="932688"/>
          </a:xfrm>
          <a:prstGeom prst="roundRect">
            <a:avLst>
              <a:gd name="adj" fmla="val 8824"/>
            </a:avLst>
          </a:prstGeom>
          <a:solidFill>
            <a:srgbClr val="F4F4F4"/>
          </a:solidFill>
          <a:ln/>
        </p:spPr>
      </p:sp>
      <p:sp>
        <p:nvSpPr>
          <p:cNvPr id="14" name="Text 11"/>
          <p:cNvSpPr/>
          <p:nvPr/>
        </p:nvSpPr>
        <p:spPr>
          <a:xfrm>
            <a:off x="877824" y="3986784"/>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Das Bild</a:t>
            </a:r>
            <a:endParaRPr lang="en-US" sz="1300" dirty="0"/>
          </a:p>
        </p:txBody>
      </p:sp>
      <p:sp>
        <p:nvSpPr>
          <p:cNvPr id="15" name="Text 12"/>
          <p:cNvSpPr/>
          <p:nvPr/>
        </p:nvSpPr>
        <p:spPr>
          <a:xfrm>
            <a:off x="877824" y="4315968"/>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Ein Fallschirm. Er ist immer dabei und meistens nutzlos. An dem einen Tag, an dem man ihn braucht, ist er alles.</a:t>
            </a:r>
            <a:endParaRPr lang="en-US" sz="1300" dirty="0"/>
          </a:p>
        </p:txBody>
      </p:sp>
      <p:sp>
        <p:nvSpPr>
          <p:cNvPr id="16" name="Shape 13"/>
          <p:cNvSpPr/>
          <p:nvPr/>
        </p:nvSpPr>
        <p:spPr>
          <a:xfrm>
            <a:off x="566928" y="4919472"/>
            <a:ext cx="11055096" cy="932688"/>
          </a:xfrm>
          <a:prstGeom prst="roundRect">
            <a:avLst>
              <a:gd name="adj" fmla="val 8824"/>
            </a:avLst>
          </a:prstGeom>
          <a:solidFill>
            <a:srgbClr val="F4F4F4"/>
          </a:solidFill>
          <a:ln/>
        </p:spPr>
      </p:sp>
      <p:sp>
        <p:nvSpPr>
          <p:cNvPr id="17" name="Text 14"/>
          <p:cNvSpPr/>
          <p:nvPr/>
        </p:nvSpPr>
        <p:spPr>
          <a:xfrm>
            <a:off x="877824" y="5065776"/>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Wofür</a:t>
            </a:r>
            <a:endParaRPr lang="en-US" sz="1300" dirty="0"/>
          </a:p>
        </p:txBody>
      </p:sp>
      <p:sp>
        <p:nvSpPr>
          <p:cNvPr id="18" name="Text 15"/>
          <p:cNvSpPr/>
          <p:nvPr/>
        </p:nvSpPr>
        <p:spPr>
          <a:xfrm>
            <a:off x="877824" y="5394960"/>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Rechenzentren, Serverräume, medizinische Geräte, Steuerungen in der Produktion, überall wo ein Neustart teuer ist.</a:t>
            </a:r>
            <a:endParaRPr lang="en-US" sz="1300" dirty="0"/>
          </a:p>
        </p:txBody>
      </p:sp>
      <p:sp>
        <p:nvSpPr>
          <p:cNvPr id="19" name="Shape 16"/>
          <p:cNvSpPr/>
          <p:nvPr/>
        </p:nvSpPr>
        <p:spPr>
          <a:xfrm>
            <a:off x="566928" y="5998464"/>
            <a:ext cx="11055096" cy="932688"/>
          </a:xfrm>
          <a:prstGeom prst="roundRect">
            <a:avLst>
              <a:gd name="adj" fmla="val 8824"/>
            </a:avLst>
          </a:prstGeom>
          <a:solidFill>
            <a:srgbClr val="F4F4F4"/>
          </a:solidFill>
          <a:ln/>
        </p:spPr>
      </p:sp>
      <p:sp>
        <p:nvSpPr>
          <p:cNvPr id="20" name="Text 17"/>
          <p:cNvSpPr/>
          <p:nvPr/>
        </p:nvSpPr>
        <p:spPr>
          <a:xfrm>
            <a:off x="877824" y="6144768"/>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Für Texte</a:t>
            </a:r>
            <a:endParaRPr lang="en-US" sz="1300" dirty="0"/>
          </a:p>
        </p:txBody>
      </p:sp>
      <p:sp>
        <p:nvSpPr>
          <p:cNvPr id="21" name="Text 18"/>
          <p:cNvSpPr/>
          <p:nvPr/>
        </p:nvSpPr>
        <p:spPr>
          <a:xfrm>
            <a:off x="877824" y="6473952"/>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Nicht über die Technik schreiben, sondern über die Folge: kein Datenverlust, kein Produktionsabbruch, kein Neustart.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ANLAGENTYPEN · 5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Transformator: der Übersetzer</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24</a:t>
            </a:r>
            <a:endParaRPr lang="en-US" sz="1000" dirty="0"/>
          </a:p>
        </p:txBody>
      </p:sp>
      <p:sp>
        <p:nvSpPr>
          <p:cNvPr id="6" name="Shape 4"/>
          <p:cNvSpPr/>
          <p:nvPr/>
        </p:nvSpPr>
        <p:spPr>
          <a:xfrm>
            <a:off x="566928" y="1591056"/>
            <a:ext cx="11055096" cy="1024128"/>
          </a:xfrm>
          <a:prstGeom prst="roundRect">
            <a:avLst>
              <a:gd name="adj" fmla="val 8036"/>
            </a:avLst>
          </a:prstGeom>
          <a:solidFill>
            <a:srgbClr val="575756"/>
          </a:solidFill>
          <a:ln/>
        </p:spPr>
      </p:sp>
      <p:sp>
        <p:nvSpPr>
          <p:cNvPr id="7" name="Shape 5"/>
          <p:cNvSpPr/>
          <p:nvPr/>
        </p:nvSpPr>
        <p:spPr>
          <a:xfrm>
            <a:off x="859536" y="1773936"/>
            <a:ext cx="658368" cy="658368"/>
          </a:xfrm>
          <a:prstGeom prst="ellipse">
            <a:avLst/>
          </a:prstGeom>
          <a:solidFill>
            <a:srgbClr val="E4022E"/>
          </a:solidFill>
          <a:ln/>
        </p:spPr>
      </p:sp>
      <p:pic>
        <p:nvPicPr>
          <p:cNvPr id="8" name="Image 0" descr="/home/claude/ico/trafo_w.png">    </p:cNvPr>
          <p:cNvPicPr>
            <a:picLocks noChangeAspect="1"/>
          </p:cNvPicPr>
          <p:nvPr/>
        </p:nvPicPr>
        <p:blipFill>
          <a:blip r:embed="rId1"/>
          <a:stretch>
            <a:fillRect/>
          </a:stretch>
        </p:blipFill>
        <p:spPr>
          <a:xfrm>
            <a:off x="1030712" y="1945112"/>
            <a:ext cx="316017" cy="316017"/>
          </a:xfrm>
          <a:prstGeom prst="rect">
            <a:avLst/>
          </a:prstGeom>
        </p:spPr>
      </p:pic>
      <p:sp>
        <p:nvSpPr>
          <p:cNvPr id="9" name="Text 6"/>
          <p:cNvSpPr/>
          <p:nvPr/>
        </p:nvSpPr>
        <p:spPr>
          <a:xfrm>
            <a:off x="1719072" y="1591056"/>
            <a:ext cx="9500616" cy="1024128"/>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Arial" pitchFamily="34" charset="0"/>
                <a:ea typeface="Arial" pitchFamily="34" charset="-122"/>
                <a:cs typeface="Arial" pitchFamily="34" charset="-120"/>
              </a:rPr>
              <a:t>Das Netz liefert Mittelspannung, zum Beispiel 16 000 Volt. Maschinen wollen 400 Volt. Der Trafo übersetzt.</a:t>
            </a:r>
            <a:endParaRPr lang="en-US" sz="1800" dirty="0"/>
          </a:p>
        </p:txBody>
      </p:sp>
      <p:sp>
        <p:nvSpPr>
          <p:cNvPr id="10" name="Shape 7"/>
          <p:cNvSpPr/>
          <p:nvPr/>
        </p:nvSpPr>
        <p:spPr>
          <a:xfrm>
            <a:off x="566928" y="2761488"/>
            <a:ext cx="11055096" cy="932688"/>
          </a:xfrm>
          <a:prstGeom prst="roundRect">
            <a:avLst>
              <a:gd name="adj" fmla="val 8824"/>
            </a:avLst>
          </a:prstGeom>
          <a:solidFill>
            <a:srgbClr val="F4F4F4"/>
          </a:solidFill>
          <a:ln/>
        </p:spPr>
      </p:sp>
      <p:sp>
        <p:nvSpPr>
          <p:cNvPr id="11" name="Text 8"/>
          <p:cNvSpPr/>
          <p:nvPr/>
        </p:nvSpPr>
        <p:spPr>
          <a:xfrm>
            <a:off x="877824" y="2907792"/>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Wie er arbeitet</a:t>
            </a:r>
            <a:endParaRPr lang="en-US" sz="1300" dirty="0"/>
          </a:p>
        </p:txBody>
      </p:sp>
      <p:sp>
        <p:nvSpPr>
          <p:cNvPr id="12" name="Text 9"/>
          <p:cNvSpPr/>
          <p:nvPr/>
        </p:nvSpPr>
        <p:spPr>
          <a:xfrm>
            <a:off x="877824" y="3236976"/>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Keine Elektronik, keine beweglichen Teile. Nur Kupfer und Eisen. Deshalb extrem zuverlässig und wartungsarm.</a:t>
            </a:r>
            <a:endParaRPr lang="en-US" sz="1300" dirty="0"/>
          </a:p>
        </p:txBody>
      </p:sp>
      <p:sp>
        <p:nvSpPr>
          <p:cNvPr id="13" name="Shape 10"/>
          <p:cNvSpPr/>
          <p:nvPr/>
        </p:nvSpPr>
        <p:spPr>
          <a:xfrm>
            <a:off x="566928" y="3840480"/>
            <a:ext cx="11055096" cy="932688"/>
          </a:xfrm>
          <a:prstGeom prst="roundRect">
            <a:avLst>
              <a:gd name="adj" fmla="val 8824"/>
            </a:avLst>
          </a:prstGeom>
          <a:solidFill>
            <a:srgbClr val="F4F4F4"/>
          </a:solidFill>
          <a:ln/>
        </p:spPr>
      </p:sp>
      <p:sp>
        <p:nvSpPr>
          <p:cNvPr id="14" name="Text 11"/>
          <p:cNvSpPr/>
          <p:nvPr/>
        </p:nvSpPr>
        <p:spPr>
          <a:xfrm>
            <a:off x="877824" y="3986784"/>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Wofür</a:t>
            </a:r>
            <a:endParaRPr lang="en-US" sz="1300" dirty="0"/>
          </a:p>
        </p:txBody>
      </p:sp>
      <p:sp>
        <p:nvSpPr>
          <p:cNvPr id="15" name="Text 12"/>
          <p:cNvSpPr/>
          <p:nvPr/>
        </p:nvSpPr>
        <p:spPr>
          <a:xfrm>
            <a:off x="877824" y="4315968"/>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Überall, wo direkt an der Mittelspannung angezapft wird: grosse Baustellen, Industrieareale, Rechenzentren, Netzarbeiten.</a:t>
            </a:r>
            <a:endParaRPr lang="en-US" sz="1300" dirty="0"/>
          </a:p>
        </p:txBody>
      </p:sp>
      <p:sp>
        <p:nvSpPr>
          <p:cNvPr id="16" name="Shape 13"/>
          <p:cNvSpPr/>
          <p:nvPr/>
        </p:nvSpPr>
        <p:spPr>
          <a:xfrm>
            <a:off x="566928" y="4919472"/>
            <a:ext cx="11055096" cy="932688"/>
          </a:xfrm>
          <a:prstGeom prst="roundRect">
            <a:avLst>
              <a:gd name="adj" fmla="val 8824"/>
            </a:avLst>
          </a:prstGeom>
          <a:solidFill>
            <a:srgbClr val="F4F4F4"/>
          </a:solidFill>
          <a:ln/>
        </p:spPr>
      </p:sp>
      <p:sp>
        <p:nvSpPr>
          <p:cNvPr id="17" name="Text 14"/>
          <p:cNvSpPr/>
          <p:nvPr/>
        </p:nvSpPr>
        <p:spPr>
          <a:xfrm>
            <a:off x="877824" y="5065776"/>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Warum das wichtig ist</a:t>
            </a:r>
            <a:endParaRPr lang="en-US" sz="1300" dirty="0"/>
          </a:p>
        </p:txBody>
      </p:sp>
      <p:sp>
        <p:nvSpPr>
          <p:cNvPr id="18" name="Text 15"/>
          <p:cNvSpPr/>
          <p:nvPr/>
        </p:nvSpPr>
        <p:spPr>
          <a:xfrm>
            <a:off x="877824" y="5394960"/>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Ohne Trafo kein Zugang zu grossen Leistungen. Ab etwa einem Megawatt geht praktisch nichts mehr ohne.</a:t>
            </a:r>
            <a:endParaRPr lang="en-US" sz="1300" dirty="0"/>
          </a:p>
        </p:txBody>
      </p:sp>
      <p:sp>
        <p:nvSpPr>
          <p:cNvPr id="19" name="Shape 16"/>
          <p:cNvSpPr/>
          <p:nvPr/>
        </p:nvSpPr>
        <p:spPr>
          <a:xfrm>
            <a:off x="566928" y="5998464"/>
            <a:ext cx="11055096" cy="932688"/>
          </a:xfrm>
          <a:prstGeom prst="roundRect">
            <a:avLst>
              <a:gd name="adj" fmla="val 8824"/>
            </a:avLst>
          </a:prstGeom>
          <a:solidFill>
            <a:srgbClr val="F4F4F4"/>
          </a:solidFill>
          <a:ln/>
        </p:spPr>
      </p:sp>
      <p:sp>
        <p:nvSpPr>
          <p:cNvPr id="20" name="Text 17"/>
          <p:cNvSpPr/>
          <p:nvPr/>
        </p:nvSpPr>
        <p:spPr>
          <a:xfrm>
            <a:off x="877824" y="6144768"/>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Für Texte</a:t>
            </a:r>
            <a:endParaRPr lang="en-US" sz="1300" dirty="0"/>
          </a:p>
        </p:txBody>
      </p:sp>
      <p:sp>
        <p:nvSpPr>
          <p:cNvPr id="21" name="Text 18"/>
          <p:cNvSpPr/>
          <p:nvPr/>
        </p:nvSpPr>
        <p:spPr>
          <a:xfrm>
            <a:off x="877824" y="6473952"/>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Ein unspektakuläres Bauteil mit hoher Hebelwirkung. Nicht ins Zentrum stellen, aber nie vergessen zu erwähnen.</a:t>
            </a:r>
            <a:endParaRPr lang="en-US" sz="1300" dirty="0"/>
          </a:p>
        </p:txBody>
      </p:sp>
      <p:sp>
        <p:nvSpPr>
          <p:cNvPr id="22" name="Text 19"/>
          <p:cNvSpPr/>
          <p:nvPr/>
        </p:nvSpPr>
        <p:spPr>
          <a:xfrm>
            <a:off x="566928" y="5888736"/>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Achtung beim Wort Spannung: Mittelspannung ist Lebensgefahr. Daran arbeitet ausschliesslich speziell ausgebildetes Personal.</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ANLAGENTYPEN · 6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Verteilung und Kabel: die Steckdosenleiste</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25</a:t>
            </a:r>
            <a:endParaRPr lang="en-US" sz="1000" dirty="0"/>
          </a:p>
        </p:txBody>
      </p:sp>
      <p:sp>
        <p:nvSpPr>
          <p:cNvPr id="6" name="Shape 4"/>
          <p:cNvSpPr/>
          <p:nvPr/>
        </p:nvSpPr>
        <p:spPr>
          <a:xfrm>
            <a:off x="566928" y="1591056"/>
            <a:ext cx="11055096" cy="1024128"/>
          </a:xfrm>
          <a:prstGeom prst="roundRect">
            <a:avLst>
              <a:gd name="adj" fmla="val 8036"/>
            </a:avLst>
          </a:prstGeom>
          <a:solidFill>
            <a:srgbClr val="575756"/>
          </a:solidFill>
          <a:ln/>
        </p:spPr>
      </p:sp>
      <p:sp>
        <p:nvSpPr>
          <p:cNvPr id="7" name="Shape 5"/>
          <p:cNvSpPr/>
          <p:nvPr/>
        </p:nvSpPr>
        <p:spPr>
          <a:xfrm>
            <a:off x="859536" y="1773936"/>
            <a:ext cx="658368" cy="658368"/>
          </a:xfrm>
          <a:prstGeom prst="ellipse">
            <a:avLst/>
          </a:prstGeom>
          <a:solidFill>
            <a:srgbClr val="E4022E"/>
          </a:solidFill>
          <a:ln/>
        </p:spPr>
      </p:sp>
      <p:pic>
        <p:nvPicPr>
          <p:cNvPr id="8" name="Image 0" descr="/home/claude/ico/distro_w.png">    </p:cNvPr>
          <p:cNvPicPr>
            <a:picLocks noChangeAspect="1"/>
          </p:cNvPicPr>
          <p:nvPr/>
        </p:nvPicPr>
        <p:blipFill>
          <a:blip r:embed="rId1"/>
          <a:stretch>
            <a:fillRect/>
          </a:stretch>
        </p:blipFill>
        <p:spPr>
          <a:xfrm>
            <a:off x="1030712" y="1945112"/>
            <a:ext cx="316017" cy="316017"/>
          </a:xfrm>
          <a:prstGeom prst="rect">
            <a:avLst/>
          </a:prstGeom>
        </p:spPr>
      </p:pic>
      <p:sp>
        <p:nvSpPr>
          <p:cNvPr id="9" name="Text 6"/>
          <p:cNvSpPr/>
          <p:nvPr/>
        </p:nvSpPr>
        <p:spPr>
          <a:xfrm>
            <a:off x="1719072" y="1591056"/>
            <a:ext cx="9500616" cy="1024128"/>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Arial" pitchFamily="34" charset="0"/>
                <a:ea typeface="Arial" pitchFamily="34" charset="-122"/>
                <a:cs typeface="Arial" pitchFamily="34" charset="-120"/>
              </a:rPr>
              <a:t>Aus einem dicken Kabel werden viele kleine. Verteilerkästen, Kabel, Steckverbindungen.</a:t>
            </a:r>
            <a:endParaRPr lang="en-US" sz="1800" dirty="0"/>
          </a:p>
        </p:txBody>
      </p:sp>
      <p:sp>
        <p:nvSpPr>
          <p:cNvPr id="10" name="Shape 7"/>
          <p:cNvSpPr/>
          <p:nvPr/>
        </p:nvSpPr>
        <p:spPr>
          <a:xfrm>
            <a:off x="566928" y="2761488"/>
            <a:ext cx="11055096" cy="932688"/>
          </a:xfrm>
          <a:prstGeom prst="roundRect">
            <a:avLst>
              <a:gd name="adj" fmla="val 8824"/>
            </a:avLst>
          </a:prstGeom>
          <a:solidFill>
            <a:srgbClr val="F4F4F4"/>
          </a:solidFill>
          <a:ln/>
        </p:spPr>
      </p:sp>
      <p:sp>
        <p:nvSpPr>
          <p:cNvPr id="11" name="Text 8"/>
          <p:cNvSpPr/>
          <p:nvPr/>
        </p:nvSpPr>
        <p:spPr>
          <a:xfrm>
            <a:off x="877824" y="2907792"/>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Klingt banal</a:t>
            </a:r>
            <a:endParaRPr lang="en-US" sz="1300" dirty="0"/>
          </a:p>
        </p:txBody>
      </p:sp>
      <p:sp>
        <p:nvSpPr>
          <p:cNvPr id="12" name="Text 9"/>
          <p:cNvSpPr/>
          <p:nvPr/>
        </p:nvSpPr>
        <p:spPr>
          <a:xfrm>
            <a:off x="877824" y="3236976"/>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Ist es nicht. Der Kabelweg entscheidet oft über Preis und Machbarkeit eines ganzen Projekts.</a:t>
            </a:r>
            <a:endParaRPr lang="en-US" sz="1300" dirty="0"/>
          </a:p>
        </p:txBody>
      </p:sp>
      <p:sp>
        <p:nvSpPr>
          <p:cNvPr id="13" name="Shape 10"/>
          <p:cNvSpPr/>
          <p:nvPr/>
        </p:nvSpPr>
        <p:spPr>
          <a:xfrm>
            <a:off x="566928" y="3840480"/>
            <a:ext cx="11055096" cy="932688"/>
          </a:xfrm>
          <a:prstGeom prst="roundRect">
            <a:avLst>
              <a:gd name="adj" fmla="val 8824"/>
            </a:avLst>
          </a:prstGeom>
          <a:solidFill>
            <a:srgbClr val="F4F4F4"/>
          </a:solidFill>
          <a:ln/>
        </p:spPr>
      </p:sp>
      <p:sp>
        <p:nvSpPr>
          <p:cNvPr id="14" name="Text 11"/>
          <p:cNvSpPr/>
          <p:nvPr/>
        </p:nvSpPr>
        <p:spPr>
          <a:xfrm>
            <a:off x="877824" y="3986784"/>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Der Kostentreiber</a:t>
            </a:r>
            <a:endParaRPr lang="en-US" sz="1300" dirty="0"/>
          </a:p>
        </p:txBody>
      </p:sp>
      <p:sp>
        <p:nvSpPr>
          <p:cNvPr id="15" name="Text 12"/>
          <p:cNvSpPr/>
          <p:nvPr/>
        </p:nvSpPr>
        <p:spPr>
          <a:xfrm>
            <a:off x="877824" y="4315968"/>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Zweihundert Meter Kabel können mehr kosten als der halbe Generator. Und je länger der Weg, desto dicker muss das Kabel sein.</a:t>
            </a:r>
            <a:endParaRPr lang="en-US" sz="1300" dirty="0"/>
          </a:p>
        </p:txBody>
      </p:sp>
      <p:sp>
        <p:nvSpPr>
          <p:cNvPr id="16" name="Shape 13"/>
          <p:cNvSpPr/>
          <p:nvPr/>
        </p:nvSpPr>
        <p:spPr>
          <a:xfrm>
            <a:off x="566928" y="4919472"/>
            <a:ext cx="11055096" cy="932688"/>
          </a:xfrm>
          <a:prstGeom prst="roundRect">
            <a:avLst>
              <a:gd name="adj" fmla="val 8824"/>
            </a:avLst>
          </a:prstGeom>
          <a:solidFill>
            <a:srgbClr val="F4F4F4"/>
          </a:solidFill>
          <a:ln/>
        </p:spPr>
      </p:sp>
      <p:sp>
        <p:nvSpPr>
          <p:cNvPr id="17" name="Text 14"/>
          <p:cNvSpPr/>
          <p:nvPr/>
        </p:nvSpPr>
        <p:spPr>
          <a:xfrm>
            <a:off x="877824" y="5065776"/>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Die eine Frage</a:t>
            </a:r>
            <a:endParaRPr lang="en-US" sz="1300" dirty="0"/>
          </a:p>
        </p:txBody>
      </p:sp>
      <p:sp>
        <p:nvSpPr>
          <p:cNvPr id="18" name="Text 15"/>
          <p:cNvSpPr/>
          <p:nvPr/>
        </p:nvSpPr>
        <p:spPr>
          <a:xfrm>
            <a:off x="877824" y="5394960"/>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Fragt bei jeder Anfrage: Wie weit ist es vom Aufstellort bis zum Verbraucher? Diese Antwort spart uns später Stunden.</a:t>
            </a:r>
            <a:endParaRPr lang="en-US" sz="1300" dirty="0"/>
          </a:p>
        </p:txBody>
      </p:sp>
      <p:sp>
        <p:nvSpPr>
          <p:cNvPr id="19" name="Shape 16"/>
          <p:cNvSpPr/>
          <p:nvPr/>
        </p:nvSpPr>
        <p:spPr>
          <a:xfrm>
            <a:off x="566928" y="5998464"/>
            <a:ext cx="11055096" cy="932688"/>
          </a:xfrm>
          <a:prstGeom prst="roundRect">
            <a:avLst>
              <a:gd name="adj" fmla="val 8824"/>
            </a:avLst>
          </a:prstGeom>
          <a:solidFill>
            <a:srgbClr val="F4F4F4"/>
          </a:solidFill>
          <a:ln/>
        </p:spPr>
      </p:sp>
      <p:sp>
        <p:nvSpPr>
          <p:cNvPr id="20" name="Text 17"/>
          <p:cNvSpPr/>
          <p:nvPr/>
        </p:nvSpPr>
        <p:spPr>
          <a:xfrm>
            <a:off x="877824" y="6144768"/>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Für Texte</a:t>
            </a:r>
            <a:endParaRPr lang="en-US" sz="1300" dirty="0"/>
          </a:p>
        </p:txBody>
      </p:sp>
      <p:sp>
        <p:nvSpPr>
          <p:cNvPr id="21" name="Text 18"/>
          <p:cNvSpPr/>
          <p:nvPr/>
        </p:nvSpPr>
        <p:spPr>
          <a:xfrm>
            <a:off x="877824" y="6473952"/>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Das ist der unsichtbare Teil unserer Leistung. In Referenzstories lohnt es sich, ihn sichtbar zu machen.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ANLAGENTYPEN · 7 VON 7</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Lastbank: der Hometrainer</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26</a:t>
            </a:r>
            <a:endParaRPr lang="en-US" sz="1000" dirty="0"/>
          </a:p>
        </p:txBody>
      </p:sp>
      <p:sp>
        <p:nvSpPr>
          <p:cNvPr id="6" name="Shape 4"/>
          <p:cNvSpPr/>
          <p:nvPr/>
        </p:nvSpPr>
        <p:spPr>
          <a:xfrm>
            <a:off x="566928" y="1591056"/>
            <a:ext cx="11055096" cy="1024128"/>
          </a:xfrm>
          <a:prstGeom prst="roundRect">
            <a:avLst>
              <a:gd name="adj" fmla="val 8036"/>
            </a:avLst>
          </a:prstGeom>
          <a:solidFill>
            <a:srgbClr val="575756"/>
          </a:solidFill>
          <a:ln/>
        </p:spPr>
      </p:sp>
      <p:sp>
        <p:nvSpPr>
          <p:cNvPr id="7" name="Shape 5"/>
          <p:cNvSpPr/>
          <p:nvPr/>
        </p:nvSpPr>
        <p:spPr>
          <a:xfrm>
            <a:off x="859536" y="1773936"/>
            <a:ext cx="658368" cy="658368"/>
          </a:xfrm>
          <a:prstGeom prst="ellipse">
            <a:avLst/>
          </a:prstGeom>
          <a:solidFill>
            <a:srgbClr val="E4022E"/>
          </a:solidFill>
          <a:ln/>
        </p:spPr>
      </p:sp>
      <p:pic>
        <p:nvPicPr>
          <p:cNvPr id="8" name="Image 0" descr="/home/claude/ico/loadbank_w.png">    </p:cNvPr>
          <p:cNvPicPr>
            <a:picLocks noChangeAspect="1"/>
          </p:cNvPicPr>
          <p:nvPr/>
        </p:nvPicPr>
        <p:blipFill>
          <a:blip r:embed="rId1"/>
          <a:stretch>
            <a:fillRect/>
          </a:stretch>
        </p:blipFill>
        <p:spPr>
          <a:xfrm>
            <a:off x="1030712" y="1945112"/>
            <a:ext cx="316017" cy="316017"/>
          </a:xfrm>
          <a:prstGeom prst="rect">
            <a:avLst/>
          </a:prstGeom>
        </p:spPr>
      </p:pic>
      <p:sp>
        <p:nvSpPr>
          <p:cNvPr id="9" name="Text 6"/>
          <p:cNvSpPr/>
          <p:nvPr/>
        </p:nvSpPr>
        <p:spPr>
          <a:xfrm>
            <a:off x="1719072" y="1591056"/>
            <a:ext cx="9500616" cy="1024128"/>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Arial" pitchFamily="34" charset="0"/>
                <a:ea typeface="Arial" pitchFamily="34" charset="-122"/>
                <a:cs typeface="Arial" pitchFamily="34" charset="-120"/>
              </a:rPr>
              <a:t>Eine Maschine, die Strom in Wärme umwandelt. Sie tut so, als wäre sie ein echter Verbraucher.</a:t>
            </a:r>
            <a:endParaRPr lang="en-US" sz="1800" dirty="0"/>
          </a:p>
        </p:txBody>
      </p:sp>
      <p:sp>
        <p:nvSpPr>
          <p:cNvPr id="10" name="Shape 7"/>
          <p:cNvSpPr/>
          <p:nvPr/>
        </p:nvSpPr>
        <p:spPr>
          <a:xfrm>
            <a:off x="566928" y="2761488"/>
            <a:ext cx="11055096" cy="932688"/>
          </a:xfrm>
          <a:prstGeom prst="roundRect">
            <a:avLst>
              <a:gd name="adj" fmla="val 8824"/>
            </a:avLst>
          </a:prstGeom>
          <a:solidFill>
            <a:srgbClr val="F4F4F4"/>
          </a:solidFill>
          <a:ln/>
        </p:spPr>
      </p:sp>
      <p:sp>
        <p:nvSpPr>
          <p:cNvPr id="11" name="Text 8"/>
          <p:cNvSpPr/>
          <p:nvPr/>
        </p:nvSpPr>
        <p:spPr>
          <a:xfrm>
            <a:off x="877824" y="2907792"/>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Wofür</a:t>
            </a:r>
            <a:endParaRPr lang="en-US" sz="1300" dirty="0"/>
          </a:p>
        </p:txBody>
      </p:sp>
      <p:sp>
        <p:nvSpPr>
          <p:cNvPr id="12" name="Text 9"/>
          <p:cNvSpPr/>
          <p:nvPr/>
        </p:nvSpPr>
        <p:spPr>
          <a:xfrm>
            <a:off x="877824" y="3236976"/>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Um eine Notstromanlage oder ein neues Rechenzentrum unter voller Last zu testen, bevor echte Kunden dranhängen.</a:t>
            </a:r>
            <a:endParaRPr lang="en-US" sz="1300" dirty="0"/>
          </a:p>
        </p:txBody>
      </p:sp>
      <p:sp>
        <p:nvSpPr>
          <p:cNvPr id="13" name="Shape 10"/>
          <p:cNvSpPr/>
          <p:nvPr/>
        </p:nvSpPr>
        <p:spPr>
          <a:xfrm>
            <a:off x="566928" y="3840480"/>
            <a:ext cx="11055096" cy="932688"/>
          </a:xfrm>
          <a:prstGeom prst="roundRect">
            <a:avLst>
              <a:gd name="adj" fmla="val 8824"/>
            </a:avLst>
          </a:prstGeom>
          <a:solidFill>
            <a:srgbClr val="F4F4F4"/>
          </a:solidFill>
          <a:ln/>
        </p:spPr>
      </p:sp>
      <p:sp>
        <p:nvSpPr>
          <p:cNvPr id="14" name="Text 11"/>
          <p:cNvSpPr/>
          <p:nvPr/>
        </p:nvSpPr>
        <p:spPr>
          <a:xfrm>
            <a:off x="877824" y="3986784"/>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Der zweite Zweck</a:t>
            </a:r>
            <a:endParaRPr lang="en-US" sz="1300" dirty="0"/>
          </a:p>
        </p:txBody>
      </p:sp>
      <p:sp>
        <p:nvSpPr>
          <p:cNvPr id="15" name="Text 12"/>
          <p:cNvSpPr/>
          <p:nvPr/>
        </p:nvSpPr>
        <p:spPr>
          <a:xfrm>
            <a:off x="877824" y="4315968"/>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Generatoren, die dauernd zu wenig zu tun haben, verrussen von innen. Die Lastbank hält sie gesund.</a:t>
            </a:r>
            <a:endParaRPr lang="en-US" sz="1300" dirty="0"/>
          </a:p>
        </p:txBody>
      </p:sp>
      <p:sp>
        <p:nvSpPr>
          <p:cNvPr id="16" name="Shape 13"/>
          <p:cNvSpPr/>
          <p:nvPr/>
        </p:nvSpPr>
        <p:spPr>
          <a:xfrm>
            <a:off x="566928" y="4919472"/>
            <a:ext cx="11055096" cy="932688"/>
          </a:xfrm>
          <a:prstGeom prst="roundRect">
            <a:avLst>
              <a:gd name="adj" fmla="val 8824"/>
            </a:avLst>
          </a:prstGeom>
          <a:solidFill>
            <a:srgbClr val="F4F4F4"/>
          </a:solidFill>
          <a:ln/>
        </p:spPr>
      </p:sp>
      <p:sp>
        <p:nvSpPr>
          <p:cNvPr id="17" name="Text 14"/>
          <p:cNvSpPr/>
          <p:nvPr/>
        </p:nvSpPr>
        <p:spPr>
          <a:xfrm>
            <a:off x="877824" y="5065776"/>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Warum wichtig für uns</a:t>
            </a:r>
            <a:endParaRPr lang="en-US" sz="1300" dirty="0"/>
          </a:p>
        </p:txBody>
      </p:sp>
      <p:sp>
        <p:nvSpPr>
          <p:cNvPr id="18" name="Text 15"/>
          <p:cNvSpPr/>
          <p:nvPr/>
        </p:nvSpPr>
        <p:spPr>
          <a:xfrm>
            <a:off x="877824" y="5394960"/>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Das ist unser Türöffner in den Rechenzentrumsmarkt. Wer den Test macht, ist beim nächsten Projekt schon im Haus.</a:t>
            </a:r>
            <a:endParaRPr lang="en-US" sz="1300" dirty="0"/>
          </a:p>
        </p:txBody>
      </p:sp>
      <p:sp>
        <p:nvSpPr>
          <p:cNvPr id="19" name="Shape 16"/>
          <p:cNvSpPr/>
          <p:nvPr/>
        </p:nvSpPr>
        <p:spPr>
          <a:xfrm>
            <a:off x="566928" y="5998464"/>
            <a:ext cx="11055096" cy="932688"/>
          </a:xfrm>
          <a:prstGeom prst="roundRect">
            <a:avLst>
              <a:gd name="adj" fmla="val 8824"/>
            </a:avLst>
          </a:prstGeom>
          <a:solidFill>
            <a:srgbClr val="F4F4F4"/>
          </a:solidFill>
          <a:ln/>
        </p:spPr>
      </p:sp>
      <p:sp>
        <p:nvSpPr>
          <p:cNvPr id="20" name="Text 17"/>
          <p:cNvSpPr/>
          <p:nvPr/>
        </p:nvSpPr>
        <p:spPr>
          <a:xfrm>
            <a:off x="877824" y="6144768"/>
            <a:ext cx="2377440" cy="310896"/>
          </a:xfrm>
          <a:prstGeom prst="rect">
            <a:avLst/>
          </a:prstGeom>
          <a:noFill/>
          <a:ln/>
        </p:spPr>
        <p:txBody>
          <a:bodyPr wrap="square" lIns="0" tIns="0" rIns="0" bIns="0" rtlCol="0" anchor="ctr"/>
          <a:lstStyle/>
          <a:p>
            <a:pPr indent="0" marL="0">
              <a:buNone/>
            </a:pPr>
            <a:r>
              <a:rPr lang="en-US" sz="1300" b="1" dirty="0">
                <a:solidFill>
                  <a:srgbClr val="E4022E"/>
                </a:solidFill>
                <a:latin typeface="Arial" pitchFamily="34" charset="0"/>
                <a:ea typeface="Arial" pitchFamily="34" charset="-122"/>
                <a:cs typeface="Arial" pitchFamily="34" charset="-120"/>
              </a:rPr>
              <a:t>Für Texte</a:t>
            </a:r>
            <a:endParaRPr lang="en-US" sz="1300" dirty="0"/>
          </a:p>
        </p:txBody>
      </p:sp>
      <p:sp>
        <p:nvSpPr>
          <p:cNvPr id="21" name="Text 18"/>
          <p:cNvSpPr/>
          <p:nvPr/>
        </p:nvSpPr>
        <p:spPr>
          <a:xfrm>
            <a:off x="877824" y="6473952"/>
            <a:ext cx="10323576" cy="402336"/>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Ein sehr erklärungsbedürftiges Produkt. Am besten über die Frage: Woher weisst du, dass dein Notstrom wirklich funktioniert?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ANLAGENTYPEN · ZUSAMMENFASSUNG</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Wann was: die Kurzfassung</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27</a:t>
            </a:r>
            <a:endParaRPr lang="en-US" sz="1000" dirty="0"/>
          </a:p>
        </p:txBody>
      </p:sp>
      <p:sp>
        <p:nvSpPr>
          <p:cNvPr id="6" name="Shape 4"/>
          <p:cNvSpPr/>
          <p:nvPr/>
        </p:nvSpPr>
        <p:spPr>
          <a:xfrm>
            <a:off x="566928" y="1645920"/>
            <a:ext cx="11055096" cy="658368"/>
          </a:xfrm>
          <a:prstGeom prst="roundRect">
            <a:avLst>
              <a:gd name="adj" fmla="val 6944"/>
            </a:avLst>
          </a:prstGeom>
          <a:solidFill>
            <a:srgbClr val="F4F4F4"/>
          </a:solidFill>
          <a:ln/>
        </p:spPr>
      </p:sp>
      <p:pic>
        <p:nvPicPr>
          <p:cNvPr id="7" name="Image 0" descr="/home/claude/ico/generator_o.png">    </p:cNvPr>
          <p:cNvPicPr>
            <a:picLocks noChangeAspect="1"/>
          </p:cNvPicPr>
          <p:nvPr/>
        </p:nvPicPr>
        <p:blipFill>
          <a:blip r:embed="rId1"/>
          <a:stretch>
            <a:fillRect/>
          </a:stretch>
        </p:blipFill>
        <p:spPr>
          <a:xfrm>
            <a:off x="877824" y="1819656"/>
            <a:ext cx="310896" cy="310896"/>
          </a:xfrm>
          <a:prstGeom prst="rect">
            <a:avLst/>
          </a:prstGeom>
        </p:spPr>
      </p:pic>
      <p:sp>
        <p:nvSpPr>
          <p:cNvPr id="8" name="Text 5"/>
          <p:cNvSpPr/>
          <p:nvPr/>
        </p:nvSpPr>
        <p:spPr>
          <a:xfrm>
            <a:off x="1481328" y="1645920"/>
            <a:ext cx="6400800" cy="658368"/>
          </a:xfrm>
          <a:prstGeom prst="rect">
            <a:avLst/>
          </a:prstGeom>
          <a:noFill/>
          <a:ln/>
        </p:spPr>
        <p:txBody>
          <a:bodyPr wrap="square" lIns="0" tIns="0" rIns="0" bIns="0" rtlCol="0" anchor="ctr"/>
          <a:lstStyle/>
          <a:p>
            <a:pPr indent="0" marL="0">
              <a:buNone/>
            </a:pPr>
            <a:r>
              <a:rPr lang="en-US" sz="1400" dirty="0">
                <a:solidFill>
                  <a:srgbClr val="575756"/>
                </a:solidFill>
                <a:latin typeface="Arial" pitchFamily="34" charset="0"/>
                <a:ea typeface="Arial" pitchFamily="34" charset="-122"/>
                <a:cs typeface="Arial" pitchFamily="34" charset="-120"/>
              </a:rPr>
              <a:t>Strom über Wochen, egal wo</a:t>
            </a:r>
            <a:endParaRPr lang="en-US" sz="1400" dirty="0"/>
          </a:p>
        </p:txBody>
      </p:sp>
      <p:sp>
        <p:nvSpPr>
          <p:cNvPr id="9" name="Shape 6"/>
          <p:cNvSpPr/>
          <p:nvPr/>
        </p:nvSpPr>
        <p:spPr>
          <a:xfrm>
            <a:off x="8019288" y="1828800"/>
            <a:ext cx="18288" cy="292608"/>
          </a:xfrm>
          <a:prstGeom prst="rect">
            <a:avLst/>
          </a:prstGeom>
          <a:solidFill>
            <a:srgbClr val="D6D6D6"/>
          </a:solidFill>
          <a:ln/>
        </p:spPr>
      </p:sp>
      <p:sp>
        <p:nvSpPr>
          <p:cNvPr id="10" name="Text 7"/>
          <p:cNvSpPr/>
          <p:nvPr/>
        </p:nvSpPr>
        <p:spPr>
          <a:xfrm>
            <a:off x="8293608" y="1645920"/>
            <a:ext cx="3108960" cy="658368"/>
          </a:xfrm>
          <a:prstGeom prst="rect">
            <a:avLst/>
          </a:prstGeom>
          <a:noFill/>
          <a:ln/>
        </p:spPr>
        <p:txBody>
          <a:bodyPr wrap="square" lIns="0" tIns="0" rIns="0" bIns="0" rtlCol="0" anchor="ctr"/>
          <a:lstStyle/>
          <a:p>
            <a:pPr indent="0" marL="0">
              <a:buNone/>
            </a:pPr>
            <a:r>
              <a:rPr lang="en-US" sz="1450" b="1" dirty="0">
                <a:solidFill>
                  <a:srgbClr val="575756"/>
                </a:solidFill>
                <a:latin typeface="Arial" pitchFamily="34" charset="0"/>
                <a:ea typeface="Arial" pitchFamily="34" charset="-122"/>
                <a:cs typeface="Arial" pitchFamily="34" charset="-120"/>
              </a:rPr>
              <a:t>Generator</a:t>
            </a:r>
            <a:endParaRPr lang="en-US" sz="1450" dirty="0"/>
          </a:p>
        </p:txBody>
      </p:sp>
      <p:pic>
        <p:nvPicPr>
          <p:cNvPr id="11" name="Image 1" descr="/home/claude/ico/hybrid_o.png">    </p:cNvPr>
          <p:cNvPicPr>
            <a:picLocks noChangeAspect="1"/>
          </p:cNvPicPr>
          <p:nvPr/>
        </p:nvPicPr>
        <p:blipFill>
          <a:blip r:embed="rId2"/>
          <a:stretch>
            <a:fillRect/>
          </a:stretch>
        </p:blipFill>
        <p:spPr>
          <a:xfrm>
            <a:off x="877824" y="2569464"/>
            <a:ext cx="310896" cy="310896"/>
          </a:xfrm>
          <a:prstGeom prst="rect">
            <a:avLst/>
          </a:prstGeom>
        </p:spPr>
      </p:pic>
      <p:sp>
        <p:nvSpPr>
          <p:cNvPr id="12" name="Text 8"/>
          <p:cNvSpPr/>
          <p:nvPr/>
        </p:nvSpPr>
        <p:spPr>
          <a:xfrm>
            <a:off x="1481328" y="2395728"/>
            <a:ext cx="6400800" cy="658368"/>
          </a:xfrm>
          <a:prstGeom prst="rect">
            <a:avLst/>
          </a:prstGeom>
          <a:noFill/>
          <a:ln/>
        </p:spPr>
        <p:txBody>
          <a:bodyPr wrap="square" lIns="0" tIns="0" rIns="0" bIns="0" rtlCol="0" anchor="ctr"/>
          <a:lstStyle/>
          <a:p>
            <a:pPr indent="0" marL="0">
              <a:buNone/>
            </a:pPr>
            <a:r>
              <a:rPr lang="en-US" sz="1400" dirty="0">
                <a:solidFill>
                  <a:srgbClr val="575756"/>
                </a:solidFill>
                <a:latin typeface="Arial" pitchFamily="34" charset="0"/>
                <a:ea typeface="Arial" pitchFamily="34" charset="-122"/>
                <a:cs typeface="Arial" pitchFamily="34" charset="-120"/>
              </a:rPr>
              <a:t>Tagsüber Vollgas, nachts still</a:t>
            </a:r>
            <a:endParaRPr lang="en-US" sz="1400" dirty="0"/>
          </a:p>
        </p:txBody>
      </p:sp>
      <p:sp>
        <p:nvSpPr>
          <p:cNvPr id="13" name="Shape 9"/>
          <p:cNvSpPr/>
          <p:nvPr/>
        </p:nvSpPr>
        <p:spPr>
          <a:xfrm>
            <a:off x="8019288" y="2578608"/>
            <a:ext cx="18288" cy="292608"/>
          </a:xfrm>
          <a:prstGeom prst="rect">
            <a:avLst/>
          </a:prstGeom>
          <a:solidFill>
            <a:srgbClr val="D6D6D6"/>
          </a:solidFill>
          <a:ln/>
        </p:spPr>
      </p:sp>
      <p:sp>
        <p:nvSpPr>
          <p:cNvPr id="14" name="Text 10"/>
          <p:cNvSpPr/>
          <p:nvPr/>
        </p:nvSpPr>
        <p:spPr>
          <a:xfrm>
            <a:off x="8293608" y="2395728"/>
            <a:ext cx="3108960" cy="658368"/>
          </a:xfrm>
          <a:prstGeom prst="rect">
            <a:avLst/>
          </a:prstGeom>
          <a:noFill/>
          <a:ln/>
        </p:spPr>
        <p:txBody>
          <a:bodyPr wrap="square" lIns="0" tIns="0" rIns="0" bIns="0" rtlCol="0" anchor="ctr"/>
          <a:lstStyle/>
          <a:p>
            <a:pPr indent="0" marL="0">
              <a:buNone/>
            </a:pPr>
            <a:r>
              <a:rPr lang="en-US" sz="1450" b="1" dirty="0">
                <a:solidFill>
                  <a:srgbClr val="575756"/>
                </a:solidFill>
                <a:latin typeface="Arial" pitchFamily="34" charset="0"/>
                <a:ea typeface="Arial" pitchFamily="34" charset="-122"/>
                <a:cs typeface="Arial" pitchFamily="34" charset="-120"/>
              </a:rPr>
              <a:t>Hybrid</a:t>
            </a:r>
            <a:endParaRPr lang="en-US" sz="1450" dirty="0"/>
          </a:p>
        </p:txBody>
      </p:sp>
      <p:sp>
        <p:nvSpPr>
          <p:cNvPr id="15" name="Shape 11"/>
          <p:cNvSpPr/>
          <p:nvPr/>
        </p:nvSpPr>
        <p:spPr>
          <a:xfrm>
            <a:off x="566928" y="3145536"/>
            <a:ext cx="11055096" cy="658368"/>
          </a:xfrm>
          <a:prstGeom prst="roundRect">
            <a:avLst>
              <a:gd name="adj" fmla="val 6944"/>
            </a:avLst>
          </a:prstGeom>
          <a:solidFill>
            <a:srgbClr val="F4F4F4"/>
          </a:solidFill>
          <a:ln/>
        </p:spPr>
      </p:sp>
      <p:pic>
        <p:nvPicPr>
          <p:cNvPr id="16" name="Image 2" descr="/home/claude/ico/battery_o.png">    </p:cNvPr>
          <p:cNvPicPr>
            <a:picLocks noChangeAspect="1"/>
          </p:cNvPicPr>
          <p:nvPr/>
        </p:nvPicPr>
        <p:blipFill>
          <a:blip r:embed="rId3"/>
          <a:stretch>
            <a:fillRect/>
          </a:stretch>
        </p:blipFill>
        <p:spPr>
          <a:xfrm>
            <a:off x="877824" y="3319272"/>
            <a:ext cx="310896" cy="310896"/>
          </a:xfrm>
          <a:prstGeom prst="rect">
            <a:avLst/>
          </a:prstGeom>
        </p:spPr>
      </p:pic>
      <p:sp>
        <p:nvSpPr>
          <p:cNvPr id="17" name="Text 12"/>
          <p:cNvSpPr/>
          <p:nvPr/>
        </p:nvSpPr>
        <p:spPr>
          <a:xfrm>
            <a:off x="1481328" y="3145536"/>
            <a:ext cx="6400800" cy="658368"/>
          </a:xfrm>
          <a:prstGeom prst="rect">
            <a:avLst/>
          </a:prstGeom>
          <a:noFill/>
          <a:ln/>
        </p:spPr>
        <p:txBody>
          <a:bodyPr wrap="square" lIns="0" tIns="0" rIns="0" bIns="0" rtlCol="0" anchor="ctr"/>
          <a:lstStyle/>
          <a:p>
            <a:pPr indent="0" marL="0">
              <a:buNone/>
            </a:pPr>
            <a:r>
              <a:rPr lang="en-US" sz="1400" dirty="0">
                <a:solidFill>
                  <a:srgbClr val="575756"/>
                </a:solidFill>
                <a:latin typeface="Arial" pitchFamily="34" charset="0"/>
                <a:ea typeface="Arial" pitchFamily="34" charset="-122"/>
                <a:cs typeface="Arial" pitchFamily="34" charset="-120"/>
              </a:rPr>
              <a:t>Kurz, leise, drinnen oder im Wohngebiet</a:t>
            </a:r>
            <a:endParaRPr lang="en-US" sz="1400" dirty="0"/>
          </a:p>
        </p:txBody>
      </p:sp>
      <p:sp>
        <p:nvSpPr>
          <p:cNvPr id="18" name="Shape 13"/>
          <p:cNvSpPr/>
          <p:nvPr/>
        </p:nvSpPr>
        <p:spPr>
          <a:xfrm>
            <a:off x="8019288" y="3328416"/>
            <a:ext cx="18288" cy="292608"/>
          </a:xfrm>
          <a:prstGeom prst="rect">
            <a:avLst/>
          </a:prstGeom>
          <a:solidFill>
            <a:srgbClr val="D6D6D6"/>
          </a:solidFill>
          <a:ln/>
        </p:spPr>
      </p:sp>
      <p:sp>
        <p:nvSpPr>
          <p:cNvPr id="19" name="Text 14"/>
          <p:cNvSpPr/>
          <p:nvPr/>
        </p:nvSpPr>
        <p:spPr>
          <a:xfrm>
            <a:off x="8293608" y="3145536"/>
            <a:ext cx="3108960" cy="658368"/>
          </a:xfrm>
          <a:prstGeom prst="rect">
            <a:avLst/>
          </a:prstGeom>
          <a:noFill/>
          <a:ln/>
        </p:spPr>
        <p:txBody>
          <a:bodyPr wrap="square" lIns="0" tIns="0" rIns="0" bIns="0" rtlCol="0" anchor="ctr"/>
          <a:lstStyle/>
          <a:p>
            <a:pPr indent="0" marL="0">
              <a:buNone/>
            </a:pPr>
            <a:r>
              <a:rPr lang="en-US" sz="1450" b="1" dirty="0">
                <a:solidFill>
                  <a:srgbClr val="575756"/>
                </a:solidFill>
                <a:latin typeface="Arial" pitchFamily="34" charset="0"/>
                <a:ea typeface="Arial" pitchFamily="34" charset="-122"/>
                <a:cs typeface="Arial" pitchFamily="34" charset="-120"/>
              </a:rPr>
              <a:t>Batteriespeicher</a:t>
            </a:r>
            <a:endParaRPr lang="en-US" sz="1450" dirty="0"/>
          </a:p>
        </p:txBody>
      </p:sp>
      <p:pic>
        <p:nvPicPr>
          <p:cNvPr id="20" name="Image 3" descr="/home/claude/ico/ups_o.png">    </p:cNvPr>
          <p:cNvPicPr>
            <a:picLocks noChangeAspect="1"/>
          </p:cNvPicPr>
          <p:nvPr/>
        </p:nvPicPr>
        <p:blipFill>
          <a:blip r:embed="rId4"/>
          <a:stretch>
            <a:fillRect/>
          </a:stretch>
        </p:blipFill>
        <p:spPr>
          <a:xfrm>
            <a:off x="877824" y="4069080"/>
            <a:ext cx="310896" cy="310896"/>
          </a:xfrm>
          <a:prstGeom prst="rect">
            <a:avLst/>
          </a:prstGeom>
        </p:spPr>
      </p:pic>
      <p:sp>
        <p:nvSpPr>
          <p:cNvPr id="21" name="Text 15"/>
          <p:cNvSpPr/>
          <p:nvPr/>
        </p:nvSpPr>
        <p:spPr>
          <a:xfrm>
            <a:off x="1481328" y="3895344"/>
            <a:ext cx="6400800" cy="658368"/>
          </a:xfrm>
          <a:prstGeom prst="rect">
            <a:avLst/>
          </a:prstGeom>
          <a:noFill/>
          <a:ln/>
        </p:spPr>
        <p:txBody>
          <a:bodyPr wrap="square" lIns="0" tIns="0" rIns="0" bIns="0" rtlCol="0" anchor="ctr"/>
          <a:lstStyle/>
          <a:p>
            <a:pPr indent="0" marL="0">
              <a:buNone/>
            </a:pPr>
            <a:r>
              <a:rPr lang="en-US" sz="1400" dirty="0">
                <a:solidFill>
                  <a:srgbClr val="575756"/>
                </a:solidFill>
                <a:latin typeface="Arial" pitchFamily="34" charset="0"/>
                <a:ea typeface="Arial" pitchFamily="34" charset="-122"/>
                <a:cs typeface="Arial" pitchFamily="34" charset="-120"/>
              </a:rPr>
              <a:t>Keine einzige Millisekunde Lücke</a:t>
            </a:r>
            <a:endParaRPr lang="en-US" sz="1400" dirty="0"/>
          </a:p>
        </p:txBody>
      </p:sp>
      <p:sp>
        <p:nvSpPr>
          <p:cNvPr id="22" name="Shape 16"/>
          <p:cNvSpPr/>
          <p:nvPr/>
        </p:nvSpPr>
        <p:spPr>
          <a:xfrm>
            <a:off x="8019288" y="4078224"/>
            <a:ext cx="18288" cy="292608"/>
          </a:xfrm>
          <a:prstGeom prst="rect">
            <a:avLst/>
          </a:prstGeom>
          <a:solidFill>
            <a:srgbClr val="D6D6D6"/>
          </a:solidFill>
          <a:ln/>
        </p:spPr>
      </p:sp>
      <p:sp>
        <p:nvSpPr>
          <p:cNvPr id="23" name="Text 17"/>
          <p:cNvSpPr/>
          <p:nvPr/>
        </p:nvSpPr>
        <p:spPr>
          <a:xfrm>
            <a:off x="8293608" y="3895344"/>
            <a:ext cx="3108960" cy="658368"/>
          </a:xfrm>
          <a:prstGeom prst="rect">
            <a:avLst/>
          </a:prstGeom>
          <a:noFill/>
          <a:ln/>
        </p:spPr>
        <p:txBody>
          <a:bodyPr wrap="square" lIns="0" tIns="0" rIns="0" bIns="0" rtlCol="0" anchor="ctr"/>
          <a:lstStyle/>
          <a:p>
            <a:pPr indent="0" marL="0">
              <a:buNone/>
            </a:pPr>
            <a:r>
              <a:rPr lang="en-US" sz="1450" b="1" dirty="0">
                <a:solidFill>
                  <a:srgbClr val="575756"/>
                </a:solidFill>
                <a:latin typeface="Arial" pitchFamily="34" charset="0"/>
                <a:ea typeface="Arial" pitchFamily="34" charset="-122"/>
                <a:cs typeface="Arial" pitchFamily="34" charset="-120"/>
              </a:rPr>
              <a:t>USV</a:t>
            </a:r>
            <a:endParaRPr lang="en-US" sz="1450" dirty="0"/>
          </a:p>
        </p:txBody>
      </p:sp>
      <p:sp>
        <p:nvSpPr>
          <p:cNvPr id="24" name="Shape 18"/>
          <p:cNvSpPr/>
          <p:nvPr/>
        </p:nvSpPr>
        <p:spPr>
          <a:xfrm>
            <a:off x="566928" y="4645152"/>
            <a:ext cx="11055096" cy="658368"/>
          </a:xfrm>
          <a:prstGeom prst="roundRect">
            <a:avLst>
              <a:gd name="adj" fmla="val 6944"/>
            </a:avLst>
          </a:prstGeom>
          <a:solidFill>
            <a:srgbClr val="F4F4F4"/>
          </a:solidFill>
          <a:ln/>
        </p:spPr>
      </p:sp>
      <p:pic>
        <p:nvPicPr>
          <p:cNvPr id="25" name="Image 4" descr="/home/claude/ico/trafo_o.png">    </p:cNvPr>
          <p:cNvPicPr>
            <a:picLocks noChangeAspect="1"/>
          </p:cNvPicPr>
          <p:nvPr/>
        </p:nvPicPr>
        <p:blipFill>
          <a:blip r:embed="rId5"/>
          <a:stretch>
            <a:fillRect/>
          </a:stretch>
        </p:blipFill>
        <p:spPr>
          <a:xfrm>
            <a:off x="877824" y="4818888"/>
            <a:ext cx="310896" cy="310896"/>
          </a:xfrm>
          <a:prstGeom prst="rect">
            <a:avLst/>
          </a:prstGeom>
        </p:spPr>
      </p:pic>
      <p:sp>
        <p:nvSpPr>
          <p:cNvPr id="26" name="Text 19"/>
          <p:cNvSpPr/>
          <p:nvPr/>
        </p:nvSpPr>
        <p:spPr>
          <a:xfrm>
            <a:off x="1481328" y="4645152"/>
            <a:ext cx="6400800" cy="658368"/>
          </a:xfrm>
          <a:prstGeom prst="rect">
            <a:avLst/>
          </a:prstGeom>
          <a:noFill/>
          <a:ln/>
        </p:spPr>
        <p:txBody>
          <a:bodyPr wrap="square" lIns="0" tIns="0" rIns="0" bIns="0" rtlCol="0" anchor="ctr"/>
          <a:lstStyle/>
          <a:p>
            <a:pPr indent="0" marL="0">
              <a:buNone/>
            </a:pPr>
            <a:r>
              <a:rPr lang="en-US" sz="1400" dirty="0">
                <a:solidFill>
                  <a:srgbClr val="575756"/>
                </a:solidFill>
                <a:latin typeface="Arial" pitchFamily="34" charset="0"/>
                <a:ea typeface="Arial" pitchFamily="34" charset="-122"/>
                <a:cs typeface="Arial" pitchFamily="34" charset="-120"/>
              </a:rPr>
              <a:t>Die Spannung passt nicht zusammen</a:t>
            </a:r>
            <a:endParaRPr lang="en-US" sz="1400" dirty="0"/>
          </a:p>
        </p:txBody>
      </p:sp>
      <p:sp>
        <p:nvSpPr>
          <p:cNvPr id="27" name="Shape 20"/>
          <p:cNvSpPr/>
          <p:nvPr/>
        </p:nvSpPr>
        <p:spPr>
          <a:xfrm>
            <a:off x="8019288" y="4828032"/>
            <a:ext cx="18288" cy="292608"/>
          </a:xfrm>
          <a:prstGeom prst="rect">
            <a:avLst/>
          </a:prstGeom>
          <a:solidFill>
            <a:srgbClr val="D6D6D6"/>
          </a:solidFill>
          <a:ln/>
        </p:spPr>
      </p:sp>
      <p:sp>
        <p:nvSpPr>
          <p:cNvPr id="28" name="Text 21"/>
          <p:cNvSpPr/>
          <p:nvPr/>
        </p:nvSpPr>
        <p:spPr>
          <a:xfrm>
            <a:off x="8293608" y="4645152"/>
            <a:ext cx="3108960" cy="658368"/>
          </a:xfrm>
          <a:prstGeom prst="rect">
            <a:avLst/>
          </a:prstGeom>
          <a:noFill/>
          <a:ln/>
        </p:spPr>
        <p:txBody>
          <a:bodyPr wrap="square" lIns="0" tIns="0" rIns="0" bIns="0" rtlCol="0" anchor="ctr"/>
          <a:lstStyle/>
          <a:p>
            <a:pPr indent="0" marL="0">
              <a:buNone/>
            </a:pPr>
            <a:r>
              <a:rPr lang="en-US" sz="1450" b="1" dirty="0">
                <a:solidFill>
                  <a:srgbClr val="575756"/>
                </a:solidFill>
                <a:latin typeface="Arial" pitchFamily="34" charset="0"/>
                <a:ea typeface="Arial" pitchFamily="34" charset="-122"/>
                <a:cs typeface="Arial" pitchFamily="34" charset="-120"/>
              </a:rPr>
              <a:t>Transformator</a:t>
            </a:r>
            <a:endParaRPr lang="en-US" sz="1450" dirty="0"/>
          </a:p>
        </p:txBody>
      </p:sp>
      <p:pic>
        <p:nvPicPr>
          <p:cNvPr id="29" name="Image 5" descr="/home/claude/ico/loadbank_o.png">    </p:cNvPr>
          <p:cNvPicPr>
            <a:picLocks noChangeAspect="1"/>
          </p:cNvPicPr>
          <p:nvPr/>
        </p:nvPicPr>
        <p:blipFill>
          <a:blip r:embed="rId6"/>
          <a:stretch>
            <a:fillRect/>
          </a:stretch>
        </p:blipFill>
        <p:spPr>
          <a:xfrm>
            <a:off x="877824" y="5568696"/>
            <a:ext cx="310896" cy="310896"/>
          </a:xfrm>
          <a:prstGeom prst="rect">
            <a:avLst/>
          </a:prstGeom>
        </p:spPr>
      </p:pic>
      <p:sp>
        <p:nvSpPr>
          <p:cNvPr id="30" name="Text 22"/>
          <p:cNvSpPr/>
          <p:nvPr/>
        </p:nvSpPr>
        <p:spPr>
          <a:xfrm>
            <a:off x="1481328" y="5394960"/>
            <a:ext cx="6400800" cy="658368"/>
          </a:xfrm>
          <a:prstGeom prst="rect">
            <a:avLst/>
          </a:prstGeom>
          <a:noFill/>
          <a:ln/>
        </p:spPr>
        <p:txBody>
          <a:bodyPr wrap="square" lIns="0" tIns="0" rIns="0" bIns="0" rtlCol="0" anchor="ctr"/>
          <a:lstStyle/>
          <a:p>
            <a:pPr indent="0" marL="0">
              <a:buNone/>
            </a:pPr>
            <a:r>
              <a:rPr lang="en-US" sz="1400" dirty="0">
                <a:solidFill>
                  <a:srgbClr val="575756"/>
                </a:solidFill>
                <a:latin typeface="Arial" pitchFamily="34" charset="0"/>
                <a:ea typeface="Arial" pitchFamily="34" charset="-122"/>
                <a:cs typeface="Arial" pitchFamily="34" charset="-120"/>
              </a:rPr>
              <a:t>Anlage testen, bevor sie scharf geht</a:t>
            </a:r>
            <a:endParaRPr lang="en-US" sz="1400" dirty="0"/>
          </a:p>
        </p:txBody>
      </p:sp>
      <p:sp>
        <p:nvSpPr>
          <p:cNvPr id="31" name="Shape 23"/>
          <p:cNvSpPr/>
          <p:nvPr/>
        </p:nvSpPr>
        <p:spPr>
          <a:xfrm>
            <a:off x="8019288" y="5577840"/>
            <a:ext cx="18288" cy="292608"/>
          </a:xfrm>
          <a:prstGeom prst="rect">
            <a:avLst/>
          </a:prstGeom>
          <a:solidFill>
            <a:srgbClr val="D6D6D6"/>
          </a:solidFill>
          <a:ln/>
        </p:spPr>
      </p:sp>
      <p:sp>
        <p:nvSpPr>
          <p:cNvPr id="32" name="Text 24"/>
          <p:cNvSpPr/>
          <p:nvPr/>
        </p:nvSpPr>
        <p:spPr>
          <a:xfrm>
            <a:off x="8293608" y="5394960"/>
            <a:ext cx="3108960" cy="658368"/>
          </a:xfrm>
          <a:prstGeom prst="rect">
            <a:avLst/>
          </a:prstGeom>
          <a:noFill/>
          <a:ln/>
        </p:spPr>
        <p:txBody>
          <a:bodyPr wrap="square" lIns="0" tIns="0" rIns="0" bIns="0" rtlCol="0" anchor="ctr"/>
          <a:lstStyle/>
          <a:p>
            <a:pPr indent="0" marL="0">
              <a:buNone/>
            </a:pPr>
            <a:r>
              <a:rPr lang="en-US" sz="1450" b="1" dirty="0">
                <a:solidFill>
                  <a:srgbClr val="575756"/>
                </a:solidFill>
                <a:latin typeface="Arial" pitchFamily="34" charset="0"/>
                <a:ea typeface="Arial" pitchFamily="34" charset="-122"/>
                <a:cs typeface="Arial" pitchFamily="34" charset="-120"/>
              </a:rPr>
              <a:t>Lastbank</a:t>
            </a:r>
            <a:endParaRPr lang="en-US" sz="1450" dirty="0"/>
          </a:p>
        </p:txBody>
      </p:sp>
      <p:sp>
        <p:nvSpPr>
          <p:cNvPr id="33" name="Shape 25"/>
          <p:cNvSpPr/>
          <p:nvPr/>
        </p:nvSpPr>
        <p:spPr>
          <a:xfrm>
            <a:off x="566928" y="5541264"/>
            <a:ext cx="11055096" cy="658368"/>
          </a:xfrm>
          <a:prstGeom prst="roundRect">
            <a:avLst>
              <a:gd name="adj" fmla="val 12500"/>
            </a:avLst>
          </a:prstGeom>
          <a:solidFill>
            <a:srgbClr val="FBE0E6"/>
          </a:solidFill>
          <a:ln/>
        </p:spPr>
      </p:sp>
      <p:sp>
        <p:nvSpPr>
          <p:cNvPr id="34" name="Text 26"/>
          <p:cNvSpPr/>
          <p:nvPr/>
        </p:nvSpPr>
        <p:spPr>
          <a:xfrm>
            <a:off x="932688" y="5541264"/>
            <a:ext cx="10323576" cy="658368"/>
          </a:xfrm>
          <a:prstGeom prst="rect">
            <a:avLst/>
          </a:prstGeom>
          <a:noFill/>
          <a:ln/>
        </p:spPr>
        <p:txBody>
          <a:bodyPr wrap="square" lIns="0" tIns="0" rIns="0" bIns="0" rtlCol="0" anchor="ctr"/>
          <a:lstStyle/>
          <a:p>
            <a:pPr indent="0" marL="0">
              <a:buNone/>
            </a:pPr>
            <a:r>
              <a:rPr lang="en-US" sz="1350" b="1" dirty="0">
                <a:solidFill>
                  <a:srgbClr val="575756"/>
                </a:solidFill>
                <a:latin typeface="Arial" pitchFamily="34" charset="0"/>
                <a:ea typeface="Arial" pitchFamily="34" charset="-122"/>
                <a:cs typeface="Arial" pitchFamily="34" charset="-120"/>
              </a:rPr>
              <a:t>In der Praxis ist es fast immer eine Kombination. Genau das ist unsere Arbeit: die richtigen Teile zusammenstellen.</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575756"/>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3C3C3B"/>
          </a:solidFill>
          <a:ln/>
        </p:spPr>
      </p:sp>
      <p:sp>
        <p:nvSpPr>
          <p:cNvPr id="3" name="Text 1"/>
          <p:cNvSpPr/>
          <p:nvPr/>
        </p:nvSpPr>
        <p:spPr>
          <a:xfrm>
            <a:off x="566928" y="1417320"/>
            <a:ext cx="2743200" cy="1737360"/>
          </a:xfrm>
          <a:prstGeom prst="rect">
            <a:avLst/>
          </a:prstGeom>
          <a:noFill/>
          <a:ln/>
        </p:spPr>
        <p:txBody>
          <a:bodyPr wrap="square" lIns="0" tIns="0" rIns="0" bIns="0" rtlCol="0" anchor="ctr"/>
          <a:lstStyle/>
          <a:p>
            <a:pPr indent="0" marL="0">
              <a:buNone/>
            </a:pPr>
            <a:r>
              <a:rPr lang="en-US" sz="9600" b="1" dirty="0">
                <a:solidFill>
                  <a:srgbClr val="E4022E"/>
                </a:solidFill>
                <a:latin typeface="Arial" pitchFamily="34" charset="0"/>
                <a:ea typeface="Arial" pitchFamily="34" charset="-122"/>
                <a:cs typeface="Arial" pitchFamily="34" charset="-120"/>
              </a:rPr>
              <a:t>04</a:t>
            </a:r>
            <a:endParaRPr lang="en-US" sz="9600" dirty="0"/>
          </a:p>
        </p:txBody>
      </p:sp>
      <p:sp>
        <p:nvSpPr>
          <p:cNvPr id="4" name="Text 2"/>
          <p:cNvSpPr/>
          <p:nvPr/>
        </p:nvSpPr>
        <p:spPr>
          <a:xfrm>
            <a:off x="566928" y="3154680"/>
            <a:ext cx="7863840" cy="100584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Aufstellung auf der Baustelle</a:t>
            </a:r>
            <a:endParaRPr lang="en-US" sz="4000" dirty="0"/>
          </a:p>
        </p:txBody>
      </p:sp>
      <p:sp>
        <p:nvSpPr>
          <p:cNvPr id="5" name="Text 3"/>
          <p:cNvSpPr/>
          <p:nvPr/>
        </p:nvSpPr>
        <p:spPr>
          <a:xfrm>
            <a:off x="566928" y="4224528"/>
            <a:ext cx="7498080" cy="822960"/>
          </a:xfrm>
          <a:prstGeom prst="rect">
            <a:avLst/>
          </a:prstGeom>
          <a:noFill/>
          <a:ln/>
        </p:spPr>
        <p:txBody>
          <a:bodyPr wrap="square" lIns="0" tIns="0" rIns="0" bIns="0" rtlCol="0" anchor="t"/>
          <a:lstStyle/>
          <a:p>
            <a:pPr indent="0" marL="0">
              <a:lnSpc>
                <a:spcPts val="2200"/>
              </a:lnSpc>
              <a:buNone/>
            </a:pPr>
            <a:r>
              <a:rPr lang="en-US" sz="1500" dirty="0">
                <a:solidFill>
                  <a:srgbClr val="E6E6E6"/>
                </a:solidFill>
                <a:latin typeface="Arial" pitchFamily="34" charset="0"/>
                <a:ea typeface="Arial" pitchFamily="34" charset="-122"/>
                <a:cs typeface="Arial" pitchFamily="34" charset="-120"/>
              </a:rPr>
              <a:t>Wo die Maschine steht, entscheidet über Kosten, Termin und Bewilligung.</a:t>
            </a:r>
            <a:endParaRPr lang="en-US" sz="1500" dirty="0"/>
          </a:p>
        </p:txBody>
      </p:sp>
      <p:pic>
        <p:nvPicPr>
          <p:cNvPr id="6" name="Image 0" descr="/home/claude/ico/build_w.png">    </p:cNvPr>
          <p:cNvPicPr>
            <a:picLocks noChangeAspect="1"/>
          </p:cNvPicPr>
          <p:nvPr/>
        </p:nvPicPr>
        <p:blipFill>
          <a:blip r:embed="rId1">
            <a:alphaModFix amt="88000"/>
          </a:blip>
          <a:stretch>
            <a:fillRect/>
          </a:stretch>
        </p:blipFill>
        <p:spPr>
          <a:xfrm>
            <a:off x="10058400" y="2651760"/>
            <a:ext cx="1417320" cy="1417320"/>
          </a:xfrm>
          <a:prstGeom prst="rect">
            <a:avLst/>
          </a:prstGeom>
        </p:spPr>
      </p:pic>
      <p:sp>
        <p:nvSpPr>
          <p:cNvPr id="7" name="Text 4"/>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A6A6A6"/>
                </a:solidFill>
                <a:latin typeface="Arial" pitchFamily="34" charset="0"/>
                <a:ea typeface="Arial" pitchFamily="34" charset="-122"/>
                <a:cs typeface="Arial" pitchFamily="34" charset="-120"/>
              </a:rPr>
              <a:t>Mobil in Time AG  |  Strom Quick Dive  |  Marketing-Team</a:t>
            </a:r>
            <a:endParaRPr lang="en-US" sz="900" dirty="0"/>
          </a:p>
        </p:txBody>
      </p:sp>
      <p:sp>
        <p:nvSpPr>
          <p:cNvPr id="8" name="Text 5"/>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A6A6A6"/>
                </a:solidFill>
                <a:latin typeface="Arial" pitchFamily="34" charset="0"/>
                <a:ea typeface="Arial" pitchFamily="34" charset="-122"/>
                <a:cs typeface="Arial"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BAUSTELLE · 1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Sechs Fragen vor jeder Aufstellung</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29</a:t>
            </a:r>
            <a:endParaRPr lang="en-US" sz="1000" dirty="0"/>
          </a:p>
        </p:txBody>
      </p:sp>
      <p:sp>
        <p:nvSpPr>
          <p:cNvPr id="6" name="Shape 4"/>
          <p:cNvSpPr/>
          <p:nvPr/>
        </p:nvSpPr>
        <p:spPr>
          <a:xfrm>
            <a:off x="566928" y="1609344"/>
            <a:ext cx="3584448" cy="1956816"/>
          </a:xfrm>
          <a:prstGeom prst="roundRect">
            <a:avLst>
              <a:gd name="adj" fmla="val 4206"/>
            </a:avLst>
          </a:prstGeom>
          <a:solidFill>
            <a:srgbClr val="F4F4F4"/>
          </a:solidFill>
          <a:ln/>
        </p:spPr>
      </p:sp>
      <p:sp>
        <p:nvSpPr>
          <p:cNvPr id="7" name="Shape 5"/>
          <p:cNvSpPr/>
          <p:nvPr/>
        </p:nvSpPr>
        <p:spPr>
          <a:xfrm>
            <a:off x="841248" y="1847088"/>
            <a:ext cx="457200" cy="457200"/>
          </a:xfrm>
          <a:prstGeom prst="ellipse">
            <a:avLst/>
          </a:prstGeom>
          <a:solidFill>
            <a:srgbClr val="E4022E"/>
          </a:solidFill>
          <a:ln/>
        </p:spPr>
      </p:sp>
      <p:sp>
        <p:nvSpPr>
          <p:cNvPr id="8" name="Text 6"/>
          <p:cNvSpPr/>
          <p:nvPr/>
        </p:nvSpPr>
        <p:spPr>
          <a:xfrm>
            <a:off x="841248" y="18470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pic>
        <p:nvPicPr>
          <p:cNvPr id="9" name="Image 0" descr="/home/claude/ico/road_n.png">    </p:cNvPr>
          <p:cNvPicPr>
            <a:picLocks noChangeAspect="1"/>
          </p:cNvPicPr>
          <p:nvPr/>
        </p:nvPicPr>
        <p:blipFill>
          <a:blip r:embed="rId1"/>
          <a:stretch>
            <a:fillRect/>
          </a:stretch>
        </p:blipFill>
        <p:spPr>
          <a:xfrm>
            <a:off x="3438144" y="1883664"/>
            <a:ext cx="384048" cy="384048"/>
          </a:xfrm>
          <a:prstGeom prst="rect">
            <a:avLst/>
          </a:prstGeom>
        </p:spPr>
      </p:pic>
      <p:sp>
        <p:nvSpPr>
          <p:cNvPr id="10" name="Text 7"/>
          <p:cNvSpPr/>
          <p:nvPr/>
        </p:nvSpPr>
        <p:spPr>
          <a:xfrm>
            <a:off x="841248" y="2395728"/>
            <a:ext cx="3035808" cy="365760"/>
          </a:xfrm>
          <a:prstGeom prst="rect">
            <a:avLst/>
          </a:prstGeom>
          <a:noFill/>
          <a:ln/>
        </p:spPr>
        <p:txBody>
          <a:bodyPr wrap="square" lIns="0" tIns="0" rIns="0" bIns="0" rtlCol="0" anchor="ctr"/>
          <a:lstStyle/>
          <a:p>
            <a:pPr indent="0" marL="0">
              <a:buNone/>
            </a:pPr>
            <a:r>
              <a:rPr lang="en-US" sz="1500" b="1" dirty="0">
                <a:solidFill>
                  <a:srgbClr val="575756"/>
                </a:solidFill>
                <a:latin typeface="Arial" pitchFamily="34" charset="0"/>
                <a:ea typeface="Arial" pitchFamily="34" charset="-122"/>
                <a:cs typeface="Arial" pitchFamily="34" charset="-120"/>
              </a:rPr>
              <a:t>Kommt der Lastwagen hin?</a:t>
            </a:r>
            <a:endParaRPr lang="en-US" sz="1500" dirty="0"/>
          </a:p>
        </p:txBody>
      </p:sp>
      <p:sp>
        <p:nvSpPr>
          <p:cNvPr id="11" name="Text 8"/>
          <p:cNvSpPr/>
          <p:nvPr/>
        </p:nvSpPr>
        <p:spPr>
          <a:xfrm>
            <a:off x="841248" y="2761488"/>
            <a:ext cx="3035808" cy="658368"/>
          </a:xfrm>
          <a:prstGeom prst="rect">
            <a:avLst/>
          </a:prstGeom>
          <a:noFill/>
          <a:ln/>
        </p:spPr>
        <p:txBody>
          <a:bodyPr wrap="square" lIns="0" tIns="0" rIns="0" bIns="0" rtlCol="0" anchor="ctr"/>
          <a:lstStyle/>
          <a:p>
            <a:pPr indent="0" marL="0">
              <a:lnSpc>
                <a:spcPts val="1550"/>
              </a:lnSpc>
              <a:buNone/>
            </a:pPr>
            <a:r>
              <a:rPr lang="en-US" sz="1150" dirty="0">
                <a:solidFill>
                  <a:srgbClr val="575756"/>
                </a:solidFill>
                <a:latin typeface="Arial" pitchFamily="34" charset="0"/>
                <a:ea typeface="Arial" pitchFamily="34" charset="-122"/>
                <a:cs typeface="Arial" pitchFamily="34" charset="-120"/>
              </a:rPr>
              <a:t>Zufahrt, Engstellen, Torbreite, Tragfähigkeit. Braucht es einen Kran zum Abladen?</a:t>
            </a:r>
            <a:endParaRPr lang="en-US" sz="1150" dirty="0"/>
          </a:p>
        </p:txBody>
      </p:sp>
      <p:sp>
        <p:nvSpPr>
          <p:cNvPr id="12" name="Shape 9"/>
          <p:cNvSpPr/>
          <p:nvPr/>
        </p:nvSpPr>
        <p:spPr>
          <a:xfrm>
            <a:off x="4535424" y="1609344"/>
            <a:ext cx="3584448" cy="1956816"/>
          </a:xfrm>
          <a:prstGeom prst="roundRect">
            <a:avLst>
              <a:gd name="adj" fmla="val 4206"/>
            </a:avLst>
          </a:prstGeom>
          <a:solidFill>
            <a:srgbClr val="F4F4F4"/>
          </a:solidFill>
          <a:ln/>
        </p:spPr>
      </p:sp>
      <p:sp>
        <p:nvSpPr>
          <p:cNvPr id="13" name="Shape 10"/>
          <p:cNvSpPr/>
          <p:nvPr/>
        </p:nvSpPr>
        <p:spPr>
          <a:xfrm>
            <a:off x="4809744" y="1847088"/>
            <a:ext cx="457200" cy="457200"/>
          </a:xfrm>
          <a:prstGeom prst="ellipse">
            <a:avLst/>
          </a:prstGeom>
          <a:solidFill>
            <a:srgbClr val="E4022E"/>
          </a:solidFill>
          <a:ln/>
        </p:spPr>
      </p:sp>
      <p:sp>
        <p:nvSpPr>
          <p:cNvPr id="14" name="Text 11"/>
          <p:cNvSpPr/>
          <p:nvPr/>
        </p:nvSpPr>
        <p:spPr>
          <a:xfrm>
            <a:off x="4809744" y="18470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pic>
        <p:nvPicPr>
          <p:cNvPr id="15" name="Image 1" descr="/home/claude/ico/ground_n.png">    </p:cNvPr>
          <p:cNvPicPr>
            <a:picLocks noChangeAspect="1"/>
          </p:cNvPicPr>
          <p:nvPr/>
        </p:nvPicPr>
        <p:blipFill>
          <a:blip r:embed="rId2"/>
          <a:stretch>
            <a:fillRect/>
          </a:stretch>
        </p:blipFill>
        <p:spPr>
          <a:xfrm>
            <a:off x="7406640" y="1883664"/>
            <a:ext cx="384048" cy="384048"/>
          </a:xfrm>
          <a:prstGeom prst="rect">
            <a:avLst/>
          </a:prstGeom>
        </p:spPr>
      </p:pic>
      <p:sp>
        <p:nvSpPr>
          <p:cNvPr id="16" name="Text 12"/>
          <p:cNvSpPr/>
          <p:nvPr/>
        </p:nvSpPr>
        <p:spPr>
          <a:xfrm>
            <a:off x="4809744" y="2395728"/>
            <a:ext cx="3035808" cy="365760"/>
          </a:xfrm>
          <a:prstGeom prst="rect">
            <a:avLst/>
          </a:prstGeom>
          <a:noFill/>
          <a:ln/>
        </p:spPr>
        <p:txBody>
          <a:bodyPr wrap="square" lIns="0" tIns="0" rIns="0" bIns="0" rtlCol="0" anchor="ctr"/>
          <a:lstStyle/>
          <a:p>
            <a:pPr indent="0" marL="0">
              <a:buNone/>
            </a:pPr>
            <a:r>
              <a:rPr lang="en-US" sz="1500" b="1" dirty="0">
                <a:solidFill>
                  <a:srgbClr val="575756"/>
                </a:solidFill>
                <a:latin typeface="Arial" pitchFamily="34" charset="0"/>
                <a:ea typeface="Arial" pitchFamily="34" charset="-122"/>
                <a:cs typeface="Arial" pitchFamily="34" charset="-120"/>
              </a:rPr>
              <a:t>Hält der Boden?</a:t>
            </a:r>
            <a:endParaRPr lang="en-US" sz="1500" dirty="0"/>
          </a:p>
        </p:txBody>
      </p:sp>
      <p:sp>
        <p:nvSpPr>
          <p:cNvPr id="17" name="Text 13"/>
          <p:cNvSpPr/>
          <p:nvPr/>
        </p:nvSpPr>
        <p:spPr>
          <a:xfrm>
            <a:off x="4809744" y="2761488"/>
            <a:ext cx="3035808" cy="658368"/>
          </a:xfrm>
          <a:prstGeom prst="rect">
            <a:avLst/>
          </a:prstGeom>
          <a:noFill/>
          <a:ln/>
        </p:spPr>
        <p:txBody>
          <a:bodyPr wrap="square" lIns="0" tIns="0" rIns="0" bIns="0" rtlCol="0" anchor="ctr"/>
          <a:lstStyle/>
          <a:p>
            <a:pPr indent="0" marL="0">
              <a:lnSpc>
                <a:spcPts val="1550"/>
              </a:lnSpc>
              <a:buNone/>
            </a:pPr>
            <a:r>
              <a:rPr lang="en-US" sz="1150" dirty="0">
                <a:solidFill>
                  <a:srgbClr val="575756"/>
                </a:solidFill>
                <a:latin typeface="Arial" pitchFamily="34" charset="0"/>
                <a:ea typeface="Arial" pitchFamily="34" charset="-122"/>
                <a:cs typeface="Arial" pitchFamily="34" charset="-120"/>
              </a:rPr>
              <a:t>Ein grosses Aggregat wiegt mehrere Tonnen. Schlamm, Rasen oder eine Tiefgaragendecke gehen nicht.</a:t>
            </a:r>
            <a:endParaRPr lang="en-US" sz="1150" dirty="0"/>
          </a:p>
        </p:txBody>
      </p:sp>
      <p:sp>
        <p:nvSpPr>
          <p:cNvPr id="18" name="Shape 14"/>
          <p:cNvSpPr/>
          <p:nvPr/>
        </p:nvSpPr>
        <p:spPr>
          <a:xfrm>
            <a:off x="8503920" y="1609344"/>
            <a:ext cx="3584448" cy="1956816"/>
          </a:xfrm>
          <a:prstGeom prst="roundRect">
            <a:avLst>
              <a:gd name="adj" fmla="val 4206"/>
            </a:avLst>
          </a:prstGeom>
          <a:solidFill>
            <a:srgbClr val="F4F4F4"/>
          </a:solidFill>
          <a:ln/>
        </p:spPr>
      </p:sp>
      <p:sp>
        <p:nvSpPr>
          <p:cNvPr id="19" name="Shape 15"/>
          <p:cNvSpPr/>
          <p:nvPr/>
        </p:nvSpPr>
        <p:spPr>
          <a:xfrm>
            <a:off x="8778240" y="1847088"/>
            <a:ext cx="457200" cy="457200"/>
          </a:xfrm>
          <a:prstGeom prst="ellipse">
            <a:avLst/>
          </a:prstGeom>
          <a:solidFill>
            <a:srgbClr val="E4022E"/>
          </a:solidFill>
          <a:ln/>
        </p:spPr>
      </p:sp>
      <p:sp>
        <p:nvSpPr>
          <p:cNvPr id="20" name="Text 16"/>
          <p:cNvSpPr/>
          <p:nvPr/>
        </p:nvSpPr>
        <p:spPr>
          <a:xfrm>
            <a:off x="8778240" y="18470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pic>
        <p:nvPicPr>
          <p:cNvPr id="21" name="Image 2" descr="/home/claude/ico/ruler_n.png">    </p:cNvPr>
          <p:cNvPicPr>
            <a:picLocks noChangeAspect="1"/>
          </p:cNvPicPr>
          <p:nvPr/>
        </p:nvPicPr>
        <p:blipFill>
          <a:blip r:embed="rId3"/>
          <a:stretch>
            <a:fillRect/>
          </a:stretch>
        </p:blipFill>
        <p:spPr>
          <a:xfrm>
            <a:off x="11375136" y="1883664"/>
            <a:ext cx="384048" cy="384048"/>
          </a:xfrm>
          <a:prstGeom prst="rect">
            <a:avLst/>
          </a:prstGeom>
        </p:spPr>
      </p:pic>
      <p:sp>
        <p:nvSpPr>
          <p:cNvPr id="22" name="Text 17"/>
          <p:cNvSpPr/>
          <p:nvPr/>
        </p:nvSpPr>
        <p:spPr>
          <a:xfrm>
            <a:off x="8778240" y="2395728"/>
            <a:ext cx="3035808" cy="365760"/>
          </a:xfrm>
          <a:prstGeom prst="rect">
            <a:avLst/>
          </a:prstGeom>
          <a:noFill/>
          <a:ln/>
        </p:spPr>
        <p:txBody>
          <a:bodyPr wrap="square" lIns="0" tIns="0" rIns="0" bIns="0" rtlCol="0" anchor="ctr"/>
          <a:lstStyle/>
          <a:p>
            <a:pPr indent="0" marL="0">
              <a:buNone/>
            </a:pPr>
            <a:r>
              <a:rPr lang="en-US" sz="1500" b="1" dirty="0">
                <a:solidFill>
                  <a:srgbClr val="575756"/>
                </a:solidFill>
                <a:latin typeface="Arial" pitchFamily="34" charset="0"/>
                <a:ea typeface="Arial" pitchFamily="34" charset="-122"/>
                <a:cs typeface="Arial" pitchFamily="34" charset="-120"/>
              </a:rPr>
              <a:t>Ist genug Platz?</a:t>
            </a:r>
            <a:endParaRPr lang="en-US" sz="1500" dirty="0"/>
          </a:p>
        </p:txBody>
      </p:sp>
      <p:sp>
        <p:nvSpPr>
          <p:cNvPr id="23" name="Text 18"/>
          <p:cNvSpPr/>
          <p:nvPr/>
        </p:nvSpPr>
        <p:spPr>
          <a:xfrm>
            <a:off x="8778240" y="2761488"/>
            <a:ext cx="3035808" cy="658368"/>
          </a:xfrm>
          <a:prstGeom prst="rect">
            <a:avLst/>
          </a:prstGeom>
          <a:noFill/>
          <a:ln/>
        </p:spPr>
        <p:txBody>
          <a:bodyPr wrap="square" lIns="0" tIns="0" rIns="0" bIns="0" rtlCol="0" anchor="ctr"/>
          <a:lstStyle/>
          <a:p>
            <a:pPr indent="0" marL="0">
              <a:lnSpc>
                <a:spcPts val="1550"/>
              </a:lnSpc>
              <a:buNone/>
            </a:pPr>
            <a:r>
              <a:rPr lang="en-US" sz="1150" dirty="0">
                <a:solidFill>
                  <a:srgbClr val="575756"/>
                </a:solidFill>
                <a:latin typeface="Arial" pitchFamily="34" charset="0"/>
                <a:ea typeface="Arial" pitchFamily="34" charset="-122"/>
                <a:cs typeface="Arial" pitchFamily="34" charset="-120"/>
              </a:rPr>
              <a:t>Nicht nur die Maschine selbst. Rundherum braucht es Platz zum Arbeiten und freie Luft zum Kühlen.</a:t>
            </a:r>
            <a:endParaRPr lang="en-US" sz="1150" dirty="0"/>
          </a:p>
        </p:txBody>
      </p:sp>
      <p:sp>
        <p:nvSpPr>
          <p:cNvPr id="24" name="Shape 19"/>
          <p:cNvSpPr/>
          <p:nvPr/>
        </p:nvSpPr>
        <p:spPr>
          <a:xfrm>
            <a:off x="566928" y="3840480"/>
            <a:ext cx="3584448" cy="1956816"/>
          </a:xfrm>
          <a:prstGeom prst="roundRect">
            <a:avLst>
              <a:gd name="adj" fmla="val 4206"/>
            </a:avLst>
          </a:prstGeom>
          <a:solidFill>
            <a:srgbClr val="F4F4F4"/>
          </a:solidFill>
          <a:ln/>
        </p:spPr>
      </p:sp>
      <p:sp>
        <p:nvSpPr>
          <p:cNvPr id="25" name="Shape 20"/>
          <p:cNvSpPr/>
          <p:nvPr/>
        </p:nvSpPr>
        <p:spPr>
          <a:xfrm>
            <a:off x="841248" y="4078224"/>
            <a:ext cx="457200" cy="457200"/>
          </a:xfrm>
          <a:prstGeom prst="ellipse">
            <a:avLst/>
          </a:prstGeom>
          <a:solidFill>
            <a:srgbClr val="E4022E"/>
          </a:solidFill>
          <a:ln/>
        </p:spPr>
      </p:sp>
      <p:sp>
        <p:nvSpPr>
          <p:cNvPr id="26" name="Text 21"/>
          <p:cNvSpPr/>
          <p:nvPr/>
        </p:nvSpPr>
        <p:spPr>
          <a:xfrm>
            <a:off x="841248" y="40782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pic>
        <p:nvPicPr>
          <p:cNvPr id="27" name="Image 3" descr="/home/claude/ico/cable_n.png">    </p:cNvPr>
          <p:cNvPicPr>
            <a:picLocks noChangeAspect="1"/>
          </p:cNvPicPr>
          <p:nvPr/>
        </p:nvPicPr>
        <p:blipFill>
          <a:blip r:embed="rId4"/>
          <a:stretch>
            <a:fillRect/>
          </a:stretch>
        </p:blipFill>
        <p:spPr>
          <a:xfrm>
            <a:off x="3438144" y="4114800"/>
            <a:ext cx="384048" cy="384048"/>
          </a:xfrm>
          <a:prstGeom prst="rect">
            <a:avLst/>
          </a:prstGeom>
        </p:spPr>
      </p:pic>
      <p:sp>
        <p:nvSpPr>
          <p:cNvPr id="28" name="Text 22"/>
          <p:cNvSpPr/>
          <p:nvPr/>
        </p:nvSpPr>
        <p:spPr>
          <a:xfrm>
            <a:off x="841248" y="4626864"/>
            <a:ext cx="3035808" cy="365760"/>
          </a:xfrm>
          <a:prstGeom prst="rect">
            <a:avLst/>
          </a:prstGeom>
          <a:noFill/>
          <a:ln/>
        </p:spPr>
        <p:txBody>
          <a:bodyPr wrap="square" lIns="0" tIns="0" rIns="0" bIns="0" rtlCol="0" anchor="ctr"/>
          <a:lstStyle/>
          <a:p>
            <a:pPr indent="0" marL="0">
              <a:buNone/>
            </a:pPr>
            <a:r>
              <a:rPr lang="en-US" sz="1500" b="1" dirty="0">
                <a:solidFill>
                  <a:srgbClr val="575756"/>
                </a:solidFill>
                <a:latin typeface="Arial" pitchFamily="34" charset="0"/>
                <a:ea typeface="Arial" pitchFamily="34" charset="-122"/>
                <a:cs typeface="Arial" pitchFamily="34" charset="-120"/>
              </a:rPr>
              <a:t>Wie weit zum Verbraucher?</a:t>
            </a:r>
            <a:endParaRPr lang="en-US" sz="1500" dirty="0"/>
          </a:p>
        </p:txBody>
      </p:sp>
      <p:sp>
        <p:nvSpPr>
          <p:cNvPr id="29" name="Text 23"/>
          <p:cNvSpPr/>
          <p:nvPr/>
        </p:nvSpPr>
        <p:spPr>
          <a:xfrm>
            <a:off x="841248" y="4992624"/>
            <a:ext cx="3035808" cy="658368"/>
          </a:xfrm>
          <a:prstGeom prst="rect">
            <a:avLst/>
          </a:prstGeom>
          <a:noFill/>
          <a:ln/>
        </p:spPr>
        <p:txBody>
          <a:bodyPr wrap="square" lIns="0" tIns="0" rIns="0" bIns="0" rtlCol="0" anchor="ctr"/>
          <a:lstStyle/>
          <a:p>
            <a:pPr indent="0" marL="0">
              <a:lnSpc>
                <a:spcPts val="1550"/>
              </a:lnSpc>
              <a:buNone/>
            </a:pPr>
            <a:r>
              <a:rPr lang="en-US" sz="1150" dirty="0">
                <a:solidFill>
                  <a:srgbClr val="575756"/>
                </a:solidFill>
                <a:latin typeface="Arial" pitchFamily="34" charset="0"/>
                <a:ea typeface="Arial" pitchFamily="34" charset="-122"/>
                <a:cs typeface="Arial" pitchFamily="34" charset="-120"/>
              </a:rPr>
              <a:t>Der Kabelweg. Je länger, desto teurer und desto dicker das Kabel. Immer in Metern erfragen.</a:t>
            </a:r>
            <a:endParaRPr lang="en-US" sz="1150" dirty="0"/>
          </a:p>
        </p:txBody>
      </p:sp>
      <p:sp>
        <p:nvSpPr>
          <p:cNvPr id="30" name="Shape 24"/>
          <p:cNvSpPr/>
          <p:nvPr/>
        </p:nvSpPr>
        <p:spPr>
          <a:xfrm>
            <a:off x="4535424" y="3840480"/>
            <a:ext cx="3584448" cy="1956816"/>
          </a:xfrm>
          <a:prstGeom prst="roundRect">
            <a:avLst>
              <a:gd name="adj" fmla="val 4206"/>
            </a:avLst>
          </a:prstGeom>
          <a:solidFill>
            <a:srgbClr val="F4F4F4"/>
          </a:solidFill>
          <a:ln/>
        </p:spPr>
      </p:sp>
      <p:sp>
        <p:nvSpPr>
          <p:cNvPr id="31" name="Shape 25"/>
          <p:cNvSpPr/>
          <p:nvPr/>
        </p:nvSpPr>
        <p:spPr>
          <a:xfrm>
            <a:off x="4809744" y="4078224"/>
            <a:ext cx="457200" cy="457200"/>
          </a:xfrm>
          <a:prstGeom prst="ellipse">
            <a:avLst/>
          </a:prstGeom>
          <a:solidFill>
            <a:srgbClr val="E4022E"/>
          </a:solidFill>
          <a:ln/>
        </p:spPr>
      </p:sp>
      <p:sp>
        <p:nvSpPr>
          <p:cNvPr id="32" name="Text 26"/>
          <p:cNvSpPr/>
          <p:nvPr/>
        </p:nvSpPr>
        <p:spPr>
          <a:xfrm>
            <a:off x="4809744" y="40782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pic>
        <p:nvPicPr>
          <p:cNvPr id="33" name="Image 4" descr="/home/claude/ico/noise_n.png">    </p:cNvPr>
          <p:cNvPicPr>
            <a:picLocks noChangeAspect="1"/>
          </p:cNvPicPr>
          <p:nvPr/>
        </p:nvPicPr>
        <p:blipFill>
          <a:blip r:embed="rId5"/>
          <a:stretch>
            <a:fillRect/>
          </a:stretch>
        </p:blipFill>
        <p:spPr>
          <a:xfrm>
            <a:off x="7406640" y="4114800"/>
            <a:ext cx="384048" cy="384048"/>
          </a:xfrm>
          <a:prstGeom prst="rect">
            <a:avLst/>
          </a:prstGeom>
        </p:spPr>
      </p:pic>
      <p:sp>
        <p:nvSpPr>
          <p:cNvPr id="34" name="Text 27"/>
          <p:cNvSpPr/>
          <p:nvPr/>
        </p:nvSpPr>
        <p:spPr>
          <a:xfrm>
            <a:off x="4809744" y="4626864"/>
            <a:ext cx="3035808" cy="365760"/>
          </a:xfrm>
          <a:prstGeom prst="rect">
            <a:avLst/>
          </a:prstGeom>
          <a:noFill/>
          <a:ln/>
        </p:spPr>
        <p:txBody>
          <a:bodyPr wrap="square" lIns="0" tIns="0" rIns="0" bIns="0" rtlCol="0" anchor="ctr"/>
          <a:lstStyle/>
          <a:p>
            <a:pPr indent="0" marL="0">
              <a:buNone/>
            </a:pPr>
            <a:r>
              <a:rPr lang="en-US" sz="1500" b="1" dirty="0">
                <a:solidFill>
                  <a:srgbClr val="575756"/>
                </a:solidFill>
                <a:latin typeface="Arial" pitchFamily="34" charset="0"/>
                <a:ea typeface="Arial" pitchFamily="34" charset="-122"/>
                <a:cs typeface="Arial" pitchFamily="34" charset="-120"/>
              </a:rPr>
              <a:t>Wer ist der Nachbar?</a:t>
            </a:r>
            <a:endParaRPr lang="en-US" sz="1500" dirty="0"/>
          </a:p>
        </p:txBody>
      </p:sp>
      <p:sp>
        <p:nvSpPr>
          <p:cNvPr id="35" name="Text 28"/>
          <p:cNvSpPr/>
          <p:nvPr/>
        </p:nvSpPr>
        <p:spPr>
          <a:xfrm>
            <a:off x="4809744" y="4992624"/>
            <a:ext cx="3035808" cy="658368"/>
          </a:xfrm>
          <a:prstGeom prst="rect">
            <a:avLst/>
          </a:prstGeom>
          <a:noFill/>
          <a:ln/>
        </p:spPr>
        <p:txBody>
          <a:bodyPr wrap="square" lIns="0" tIns="0" rIns="0" bIns="0" rtlCol="0" anchor="ctr"/>
          <a:lstStyle/>
          <a:p>
            <a:pPr indent="0" marL="0">
              <a:lnSpc>
                <a:spcPts val="1550"/>
              </a:lnSpc>
              <a:buNone/>
            </a:pPr>
            <a:r>
              <a:rPr lang="en-US" sz="1150" dirty="0">
                <a:solidFill>
                  <a:srgbClr val="575756"/>
                </a:solidFill>
                <a:latin typeface="Arial" pitchFamily="34" charset="0"/>
                <a:ea typeface="Arial" pitchFamily="34" charset="-122"/>
                <a:cs typeface="Arial" pitchFamily="34" charset="-120"/>
              </a:rPr>
              <a:t>Lärm und Abgase. Ein Wohnhaus in zwanzig Metern verändert die ganze Lösung.</a:t>
            </a:r>
            <a:endParaRPr lang="en-US" sz="1150" dirty="0"/>
          </a:p>
        </p:txBody>
      </p:sp>
      <p:sp>
        <p:nvSpPr>
          <p:cNvPr id="36" name="Shape 29"/>
          <p:cNvSpPr/>
          <p:nvPr/>
        </p:nvSpPr>
        <p:spPr>
          <a:xfrm>
            <a:off x="8503920" y="3840480"/>
            <a:ext cx="3584448" cy="1956816"/>
          </a:xfrm>
          <a:prstGeom prst="roundRect">
            <a:avLst>
              <a:gd name="adj" fmla="val 4206"/>
            </a:avLst>
          </a:prstGeom>
          <a:solidFill>
            <a:srgbClr val="F4F4F4"/>
          </a:solidFill>
          <a:ln/>
        </p:spPr>
      </p:sp>
      <p:sp>
        <p:nvSpPr>
          <p:cNvPr id="37" name="Shape 30"/>
          <p:cNvSpPr/>
          <p:nvPr/>
        </p:nvSpPr>
        <p:spPr>
          <a:xfrm>
            <a:off x="8778240" y="4078224"/>
            <a:ext cx="457200" cy="457200"/>
          </a:xfrm>
          <a:prstGeom prst="ellipse">
            <a:avLst/>
          </a:prstGeom>
          <a:solidFill>
            <a:srgbClr val="E4022E"/>
          </a:solidFill>
          <a:ln/>
        </p:spPr>
      </p:sp>
      <p:sp>
        <p:nvSpPr>
          <p:cNvPr id="38" name="Text 31"/>
          <p:cNvSpPr/>
          <p:nvPr/>
        </p:nvSpPr>
        <p:spPr>
          <a:xfrm>
            <a:off x="8778240" y="40782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pic>
        <p:nvPicPr>
          <p:cNvPr id="39" name="Image 5" descr="/home/claude/ico/fuel_n.png">    </p:cNvPr>
          <p:cNvPicPr>
            <a:picLocks noChangeAspect="1"/>
          </p:cNvPicPr>
          <p:nvPr/>
        </p:nvPicPr>
        <p:blipFill>
          <a:blip r:embed="rId6"/>
          <a:stretch>
            <a:fillRect/>
          </a:stretch>
        </p:blipFill>
        <p:spPr>
          <a:xfrm>
            <a:off x="11375136" y="4114800"/>
            <a:ext cx="384048" cy="384048"/>
          </a:xfrm>
          <a:prstGeom prst="rect">
            <a:avLst/>
          </a:prstGeom>
        </p:spPr>
      </p:pic>
      <p:sp>
        <p:nvSpPr>
          <p:cNvPr id="40" name="Text 32"/>
          <p:cNvSpPr/>
          <p:nvPr/>
        </p:nvSpPr>
        <p:spPr>
          <a:xfrm>
            <a:off x="8778240" y="4626864"/>
            <a:ext cx="3035808" cy="365760"/>
          </a:xfrm>
          <a:prstGeom prst="rect">
            <a:avLst/>
          </a:prstGeom>
          <a:noFill/>
          <a:ln/>
        </p:spPr>
        <p:txBody>
          <a:bodyPr wrap="square" lIns="0" tIns="0" rIns="0" bIns="0" rtlCol="0" anchor="ctr"/>
          <a:lstStyle/>
          <a:p>
            <a:pPr indent="0" marL="0">
              <a:buNone/>
            </a:pPr>
            <a:r>
              <a:rPr lang="en-US" sz="1500" b="1" dirty="0">
                <a:solidFill>
                  <a:srgbClr val="575756"/>
                </a:solidFill>
                <a:latin typeface="Arial" pitchFamily="34" charset="0"/>
                <a:ea typeface="Arial" pitchFamily="34" charset="-122"/>
                <a:cs typeface="Arial" pitchFamily="34" charset="-120"/>
              </a:rPr>
              <a:t>Wo steht der Tank?</a:t>
            </a:r>
            <a:endParaRPr lang="en-US" sz="1500" dirty="0"/>
          </a:p>
        </p:txBody>
      </p:sp>
      <p:sp>
        <p:nvSpPr>
          <p:cNvPr id="41" name="Text 33"/>
          <p:cNvSpPr/>
          <p:nvPr/>
        </p:nvSpPr>
        <p:spPr>
          <a:xfrm>
            <a:off x="8778240" y="4992624"/>
            <a:ext cx="3035808" cy="658368"/>
          </a:xfrm>
          <a:prstGeom prst="rect">
            <a:avLst/>
          </a:prstGeom>
          <a:noFill/>
          <a:ln/>
        </p:spPr>
        <p:txBody>
          <a:bodyPr wrap="square" lIns="0" tIns="0" rIns="0" bIns="0" rtlCol="0" anchor="ctr"/>
          <a:lstStyle/>
          <a:p>
            <a:pPr indent="0" marL="0">
              <a:lnSpc>
                <a:spcPts val="1550"/>
              </a:lnSpc>
              <a:buNone/>
            </a:pPr>
            <a:r>
              <a:rPr lang="en-US" sz="1150" dirty="0">
                <a:solidFill>
                  <a:srgbClr val="575756"/>
                </a:solidFill>
                <a:latin typeface="Arial" pitchFamily="34" charset="0"/>
                <a:ea typeface="Arial" pitchFamily="34" charset="-122"/>
                <a:cs typeface="Arial" pitchFamily="34" charset="-120"/>
              </a:rPr>
              <a:t>Treibstoffmenge, Auffangwanne, Zufahrt für den Tankwagen, Abstand zu Gewässern.</a:t>
            </a:r>
            <a:endParaRPr lang="en-US" sz="1150" dirty="0"/>
          </a:p>
        </p:txBody>
      </p:sp>
      <p:sp>
        <p:nvSpPr>
          <p:cNvPr id="42" name="Text 34"/>
          <p:cNvSpPr/>
          <p:nvPr/>
        </p:nvSpPr>
        <p:spPr>
          <a:xfrm>
            <a:off x="566928" y="5907024"/>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Diese sechs Fragen kann jeder von euch stellen. Sie kosten zwei Minuten am Telefon und sparen uns später ganze Tage.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BAUSTELLE · 2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Lärm und Abgase: die häufigsten Stolpersteine</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30</a:t>
            </a:r>
            <a:endParaRPr lang="en-US" sz="1000" dirty="0"/>
          </a:p>
        </p:txBody>
      </p:sp>
      <p:sp>
        <p:nvSpPr>
          <p:cNvPr id="6" name="Shape 4"/>
          <p:cNvSpPr/>
          <p:nvPr/>
        </p:nvSpPr>
        <p:spPr>
          <a:xfrm>
            <a:off x="566928" y="1627632"/>
            <a:ext cx="5349240" cy="2487168"/>
          </a:xfrm>
          <a:prstGeom prst="roundRect">
            <a:avLst>
              <a:gd name="adj" fmla="val 3309"/>
            </a:avLst>
          </a:prstGeom>
          <a:solidFill>
            <a:srgbClr val="F4F4F4"/>
          </a:solidFill>
          <a:ln/>
        </p:spPr>
      </p:sp>
      <p:sp>
        <p:nvSpPr>
          <p:cNvPr id="7" name="Shape 5"/>
          <p:cNvSpPr/>
          <p:nvPr/>
        </p:nvSpPr>
        <p:spPr>
          <a:xfrm>
            <a:off x="896112" y="1883664"/>
            <a:ext cx="585216" cy="585216"/>
          </a:xfrm>
          <a:prstGeom prst="ellipse">
            <a:avLst/>
          </a:prstGeom>
          <a:solidFill>
            <a:srgbClr val="575756"/>
          </a:solidFill>
          <a:ln/>
        </p:spPr>
      </p:sp>
      <p:pic>
        <p:nvPicPr>
          <p:cNvPr id="8" name="Image 0" descr="/home/claude/ico/noise_w.png">    </p:cNvPr>
          <p:cNvPicPr>
            <a:picLocks noChangeAspect="1"/>
          </p:cNvPicPr>
          <p:nvPr/>
        </p:nvPicPr>
        <p:blipFill>
          <a:blip r:embed="rId1"/>
          <a:stretch>
            <a:fillRect/>
          </a:stretch>
        </p:blipFill>
        <p:spPr>
          <a:xfrm>
            <a:off x="1048268" y="2035820"/>
            <a:ext cx="280904" cy="280904"/>
          </a:xfrm>
          <a:prstGeom prst="rect">
            <a:avLst/>
          </a:prstGeom>
        </p:spPr>
      </p:pic>
      <p:sp>
        <p:nvSpPr>
          <p:cNvPr id="9" name="Text 6"/>
          <p:cNvSpPr/>
          <p:nvPr/>
        </p:nvSpPr>
        <p:spPr>
          <a:xfrm>
            <a:off x="1609344" y="1938528"/>
            <a:ext cx="274320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Lärm</a:t>
            </a:r>
            <a:endParaRPr lang="en-US" sz="1800" dirty="0"/>
          </a:p>
        </p:txBody>
      </p:sp>
      <p:sp>
        <p:nvSpPr>
          <p:cNvPr id="10" name="Text 7"/>
          <p:cNvSpPr/>
          <p:nvPr/>
        </p:nvSpPr>
        <p:spPr>
          <a:xfrm>
            <a:off x="896112" y="2615184"/>
            <a:ext cx="4663440" cy="105156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Ein modernes gekapseltes Aggregat liegt typischerweise um 70 Dezibel in sieben Metern Abstand. Das ist etwa wie ein Staubsauger im Nebenzimmer. Doppelter Abstand bedeutet deutlich leiser.</a:t>
            </a:r>
            <a:endParaRPr lang="en-US" sz="1300" dirty="0"/>
          </a:p>
        </p:txBody>
      </p:sp>
      <p:sp>
        <p:nvSpPr>
          <p:cNvPr id="11" name="Text 8"/>
          <p:cNvSpPr/>
          <p:nvPr/>
        </p:nvSpPr>
        <p:spPr>
          <a:xfrm>
            <a:off x="896112" y="3712464"/>
            <a:ext cx="4663440" cy="274320"/>
          </a:xfrm>
          <a:prstGeom prst="rect">
            <a:avLst/>
          </a:prstGeom>
          <a:noFill/>
          <a:ln/>
        </p:spPr>
        <p:txBody>
          <a:bodyPr wrap="square" lIns="0" tIns="0" rIns="0" bIns="0" rtlCol="0" anchor="ctr"/>
          <a:lstStyle/>
          <a:p>
            <a:pPr indent="0" marL="0">
              <a:buNone/>
            </a:pPr>
            <a:r>
              <a:rPr lang="en-US" sz="1150" b="1" dirty="0">
                <a:solidFill>
                  <a:srgbClr val="E4022E"/>
                </a:solidFill>
                <a:latin typeface="Arial" pitchFamily="34" charset="0"/>
                <a:ea typeface="Arial" pitchFamily="34" charset="-122"/>
                <a:cs typeface="Arial" pitchFamily="34" charset="-120"/>
              </a:rPr>
              <a:t>Regelwerk: Lärmschutz-Verordnung (LSV)</a:t>
            </a:r>
            <a:endParaRPr lang="en-US" sz="1150" dirty="0"/>
          </a:p>
        </p:txBody>
      </p:sp>
      <p:sp>
        <p:nvSpPr>
          <p:cNvPr id="12" name="Shape 9"/>
          <p:cNvSpPr/>
          <p:nvPr/>
        </p:nvSpPr>
        <p:spPr>
          <a:xfrm>
            <a:off x="6272784" y="1627632"/>
            <a:ext cx="5349240" cy="2487168"/>
          </a:xfrm>
          <a:prstGeom prst="roundRect">
            <a:avLst>
              <a:gd name="adj" fmla="val 3309"/>
            </a:avLst>
          </a:prstGeom>
          <a:solidFill>
            <a:srgbClr val="F4F4F4"/>
          </a:solidFill>
          <a:ln/>
        </p:spPr>
      </p:sp>
      <p:sp>
        <p:nvSpPr>
          <p:cNvPr id="13" name="Shape 10"/>
          <p:cNvSpPr/>
          <p:nvPr/>
        </p:nvSpPr>
        <p:spPr>
          <a:xfrm>
            <a:off x="6601968" y="1883664"/>
            <a:ext cx="585216" cy="585216"/>
          </a:xfrm>
          <a:prstGeom prst="ellipse">
            <a:avLst/>
          </a:prstGeom>
          <a:solidFill>
            <a:srgbClr val="575756"/>
          </a:solidFill>
          <a:ln/>
        </p:spPr>
      </p:sp>
      <p:pic>
        <p:nvPicPr>
          <p:cNvPr id="14" name="Image 1" descr="/home/claude/ico/smoke_w.png">    </p:cNvPr>
          <p:cNvPicPr>
            <a:picLocks noChangeAspect="1"/>
          </p:cNvPicPr>
          <p:nvPr/>
        </p:nvPicPr>
        <p:blipFill>
          <a:blip r:embed="rId2"/>
          <a:stretch>
            <a:fillRect/>
          </a:stretch>
        </p:blipFill>
        <p:spPr>
          <a:xfrm>
            <a:off x="6754124" y="2035820"/>
            <a:ext cx="280904" cy="280904"/>
          </a:xfrm>
          <a:prstGeom prst="rect">
            <a:avLst/>
          </a:prstGeom>
        </p:spPr>
      </p:pic>
      <p:sp>
        <p:nvSpPr>
          <p:cNvPr id="15" name="Text 11"/>
          <p:cNvSpPr/>
          <p:nvPr/>
        </p:nvSpPr>
        <p:spPr>
          <a:xfrm>
            <a:off x="7315200" y="1938528"/>
            <a:ext cx="2743200" cy="329184"/>
          </a:xfrm>
          <a:prstGeom prst="rect">
            <a:avLst/>
          </a:prstGeom>
          <a:noFill/>
          <a:ln/>
        </p:spPr>
        <p:txBody>
          <a:bodyPr wrap="square" lIns="0" tIns="0" rIns="0" bIns="0" rtlCol="0" anchor="ctr"/>
          <a:lstStyle/>
          <a:p>
            <a:pPr indent="0" marL="0">
              <a:buNone/>
            </a:pPr>
            <a:r>
              <a:rPr lang="en-US" sz="1800" b="1" dirty="0">
                <a:solidFill>
                  <a:srgbClr val="575756"/>
                </a:solidFill>
                <a:latin typeface="Arial" pitchFamily="34" charset="0"/>
                <a:ea typeface="Arial" pitchFamily="34" charset="-122"/>
                <a:cs typeface="Arial" pitchFamily="34" charset="-120"/>
              </a:rPr>
              <a:t>Abgase</a:t>
            </a:r>
            <a:endParaRPr lang="en-US" sz="1800" dirty="0"/>
          </a:p>
        </p:txBody>
      </p:sp>
      <p:sp>
        <p:nvSpPr>
          <p:cNvPr id="16" name="Text 12"/>
          <p:cNvSpPr/>
          <p:nvPr/>
        </p:nvSpPr>
        <p:spPr>
          <a:xfrm>
            <a:off x="6601968" y="2615184"/>
            <a:ext cx="4663440" cy="105156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Stage V ist die strengste Abgasstufe. In Städten, bei öffentlichen Bauherren und in Wohnquartieren wird sie zunehmend verlangt. Wer sie nicht liefern kann, ist raus aus der Ausschreibung.</a:t>
            </a:r>
            <a:endParaRPr lang="en-US" sz="1300" dirty="0"/>
          </a:p>
        </p:txBody>
      </p:sp>
      <p:sp>
        <p:nvSpPr>
          <p:cNvPr id="17" name="Text 13"/>
          <p:cNvSpPr/>
          <p:nvPr/>
        </p:nvSpPr>
        <p:spPr>
          <a:xfrm>
            <a:off x="6601968" y="3712464"/>
            <a:ext cx="4663440" cy="274320"/>
          </a:xfrm>
          <a:prstGeom prst="rect">
            <a:avLst/>
          </a:prstGeom>
          <a:noFill/>
          <a:ln/>
        </p:spPr>
        <p:txBody>
          <a:bodyPr wrap="square" lIns="0" tIns="0" rIns="0" bIns="0" rtlCol="0" anchor="ctr"/>
          <a:lstStyle/>
          <a:p>
            <a:pPr indent="0" marL="0">
              <a:buNone/>
            </a:pPr>
            <a:r>
              <a:rPr lang="en-US" sz="1150" b="1" dirty="0">
                <a:solidFill>
                  <a:srgbClr val="E4022E"/>
                </a:solidFill>
                <a:latin typeface="Arial" pitchFamily="34" charset="0"/>
                <a:ea typeface="Arial" pitchFamily="34" charset="-122"/>
                <a:cs typeface="Arial" pitchFamily="34" charset="-120"/>
              </a:rPr>
              <a:t>Regelwerk: Luftreinhalte-Verordnung (LRV)</a:t>
            </a:r>
            <a:endParaRPr lang="en-US" sz="1150" dirty="0"/>
          </a:p>
        </p:txBody>
      </p:sp>
      <p:sp>
        <p:nvSpPr>
          <p:cNvPr id="18" name="Shape 14"/>
          <p:cNvSpPr/>
          <p:nvPr/>
        </p:nvSpPr>
        <p:spPr>
          <a:xfrm>
            <a:off x="566928" y="4315968"/>
            <a:ext cx="11055096" cy="1517904"/>
          </a:xfrm>
          <a:prstGeom prst="roundRect">
            <a:avLst>
              <a:gd name="adj" fmla="val 5422"/>
            </a:avLst>
          </a:prstGeom>
          <a:solidFill>
            <a:srgbClr val="FBE0E6"/>
          </a:solidFill>
          <a:ln/>
        </p:spPr>
      </p:sp>
      <p:sp>
        <p:nvSpPr>
          <p:cNvPr id="19" name="Shape 15"/>
          <p:cNvSpPr/>
          <p:nvPr/>
        </p:nvSpPr>
        <p:spPr>
          <a:xfrm>
            <a:off x="877824" y="4626864"/>
            <a:ext cx="548640" cy="548640"/>
          </a:xfrm>
          <a:prstGeom prst="ellipse">
            <a:avLst/>
          </a:prstGeom>
          <a:solidFill>
            <a:srgbClr val="E4022E"/>
          </a:solidFill>
          <a:ln/>
        </p:spPr>
      </p:sp>
      <p:pic>
        <p:nvPicPr>
          <p:cNvPr id="20" name="Image 2" descr="/home/claude/ico/chat_w.png">    </p:cNvPr>
          <p:cNvPicPr>
            <a:picLocks noChangeAspect="1"/>
          </p:cNvPicPr>
          <p:nvPr/>
        </p:nvPicPr>
        <p:blipFill>
          <a:blip r:embed="rId3"/>
          <a:stretch>
            <a:fillRect/>
          </a:stretch>
        </p:blipFill>
        <p:spPr>
          <a:xfrm>
            <a:off x="1020470" y="4769510"/>
            <a:ext cx="263347" cy="263347"/>
          </a:xfrm>
          <a:prstGeom prst="rect">
            <a:avLst/>
          </a:prstGeom>
        </p:spPr>
      </p:pic>
      <p:sp>
        <p:nvSpPr>
          <p:cNvPr id="21" name="Text 16"/>
          <p:cNvSpPr/>
          <p:nvPr/>
        </p:nvSpPr>
        <p:spPr>
          <a:xfrm>
            <a:off x="1609344" y="4498848"/>
            <a:ext cx="5486400" cy="292608"/>
          </a:xfrm>
          <a:prstGeom prst="rect">
            <a:avLst/>
          </a:prstGeom>
          <a:noFill/>
          <a:ln/>
        </p:spPr>
        <p:txBody>
          <a:bodyPr wrap="square" lIns="0" tIns="0" rIns="0" bIns="0" rtlCol="0" anchor="ctr"/>
          <a:lstStyle/>
          <a:p>
            <a:pPr indent="0" marL="0">
              <a:buNone/>
            </a:pPr>
            <a:r>
              <a:rPr lang="en-US" sz="1350" b="1" dirty="0">
                <a:solidFill>
                  <a:srgbClr val="E4022E"/>
                </a:solidFill>
                <a:latin typeface="Arial" pitchFamily="34" charset="0"/>
                <a:ea typeface="Arial" pitchFamily="34" charset="-122"/>
                <a:cs typeface="Arial" pitchFamily="34" charset="-120"/>
              </a:rPr>
              <a:t>Regel für alle Texte und Angebote</a:t>
            </a:r>
            <a:endParaRPr lang="en-US" sz="1350" dirty="0"/>
          </a:p>
        </p:txBody>
      </p:sp>
      <p:sp>
        <p:nvSpPr>
          <p:cNvPr id="22" name="Text 17"/>
          <p:cNvSpPr/>
          <p:nvPr/>
        </p:nvSpPr>
        <p:spPr>
          <a:xfrm>
            <a:off x="1609344" y="4828032"/>
            <a:ext cx="9500616" cy="822960"/>
          </a:xfrm>
          <a:prstGeom prst="rect">
            <a:avLst/>
          </a:prstGeom>
          <a:noFill/>
          <a:ln/>
        </p:spPr>
        <p:txBody>
          <a:bodyPr wrap="square" lIns="0" tIns="0" rIns="0" bIns="0" rtlCol="0" anchor="t"/>
          <a:lstStyle/>
          <a:p>
            <a:pPr indent="0" marL="0">
              <a:lnSpc>
                <a:spcPts val="1900"/>
              </a:lnSpc>
              <a:buNone/>
            </a:pPr>
            <a:r>
              <a:rPr lang="en-US" sz="1350" dirty="0">
                <a:solidFill>
                  <a:srgbClr val="575756"/>
                </a:solidFill>
                <a:latin typeface="Arial" pitchFamily="34" charset="0"/>
                <a:ea typeface="Arial" pitchFamily="34" charset="-122"/>
                <a:cs typeface="Arial" pitchFamily="34" charset="-120"/>
              </a:rPr>
              <a:t>Eine Dezibel-Zahl ohne Abstandsangabe ist wertlos. "72 Dezibel" sagt nichts. "72 Dezibel in sieben Metern" ist eine Aussage. Wenn ihr keine Abstandsangabe habt, lasst die Zahl weg.</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BAUSTELLE · 3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Treibstoff: mehr Regelwerk als erwartet</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31</a:t>
            </a:r>
            <a:endParaRPr lang="en-US" sz="1000" dirty="0"/>
          </a:p>
        </p:txBody>
      </p:sp>
      <p:sp>
        <p:nvSpPr>
          <p:cNvPr id="6" name="Shape 4"/>
          <p:cNvSpPr/>
          <p:nvPr/>
        </p:nvSpPr>
        <p:spPr>
          <a:xfrm>
            <a:off x="566928" y="1645920"/>
            <a:ext cx="11055096" cy="1207008"/>
          </a:xfrm>
          <a:prstGeom prst="roundRect">
            <a:avLst>
              <a:gd name="adj" fmla="val 6818"/>
            </a:avLst>
          </a:prstGeom>
          <a:solidFill>
            <a:srgbClr val="F4F4F4"/>
          </a:solidFill>
          <a:ln/>
        </p:spPr>
      </p:sp>
      <p:sp>
        <p:nvSpPr>
          <p:cNvPr id="7" name="Shape 5"/>
          <p:cNvSpPr/>
          <p:nvPr/>
        </p:nvSpPr>
        <p:spPr>
          <a:xfrm>
            <a:off x="877824" y="1929384"/>
            <a:ext cx="640080" cy="640080"/>
          </a:xfrm>
          <a:prstGeom prst="ellipse">
            <a:avLst/>
          </a:prstGeom>
          <a:solidFill>
            <a:srgbClr val="575756"/>
          </a:solidFill>
          <a:ln/>
        </p:spPr>
      </p:sp>
      <p:pic>
        <p:nvPicPr>
          <p:cNvPr id="8" name="Image 0" descr="/home/claude/ico/fuel_w.png">    </p:cNvPr>
          <p:cNvPicPr>
            <a:picLocks noChangeAspect="1"/>
          </p:cNvPicPr>
          <p:nvPr/>
        </p:nvPicPr>
        <p:blipFill>
          <a:blip r:embed="rId1"/>
          <a:stretch>
            <a:fillRect/>
          </a:stretch>
        </p:blipFill>
        <p:spPr>
          <a:xfrm>
            <a:off x="1044245" y="2095805"/>
            <a:ext cx="307238" cy="307238"/>
          </a:xfrm>
          <a:prstGeom prst="rect">
            <a:avLst/>
          </a:prstGeom>
        </p:spPr>
      </p:pic>
      <p:sp>
        <p:nvSpPr>
          <p:cNvPr id="9" name="Text 6"/>
          <p:cNvSpPr/>
          <p:nvPr/>
        </p:nvSpPr>
        <p:spPr>
          <a:xfrm>
            <a:off x="1737360" y="1828800"/>
            <a:ext cx="5486400" cy="32918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Doppelwandig und aufgefangen</a:t>
            </a:r>
            <a:endParaRPr lang="en-US" sz="1700" dirty="0"/>
          </a:p>
        </p:txBody>
      </p:sp>
      <p:sp>
        <p:nvSpPr>
          <p:cNvPr id="10" name="Text 7"/>
          <p:cNvSpPr/>
          <p:nvPr/>
        </p:nvSpPr>
        <p:spPr>
          <a:xfrm>
            <a:off x="1737360" y="2194560"/>
            <a:ext cx="9454896" cy="54864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Tanks sind doppelwandig, haben eine Überfüllsicherung und stehen in einer Auffangwanne. Das ist kein Extra, das ist Gesetz.</a:t>
            </a:r>
            <a:endParaRPr lang="en-US" sz="1300" dirty="0"/>
          </a:p>
        </p:txBody>
      </p:sp>
      <p:sp>
        <p:nvSpPr>
          <p:cNvPr id="11" name="Shape 8"/>
          <p:cNvSpPr/>
          <p:nvPr/>
        </p:nvSpPr>
        <p:spPr>
          <a:xfrm>
            <a:off x="566928" y="3017520"/>
            <a:ext cx="11055096" cy="1207008"/>
          </a:xfrm>
          <a:prstGeom prst="roundRect">
            <a:avLst>
              <a:gd name="adj" fmla="val 6818"/>
            </a:avLst>
          </a:prstGeom>
          <a:solidFill>
            <a:srgbClr val="F4F4F4"/>
          </a:solidFill>
          <a:ln/>
        </p:spPr>
      </p:sp>
      <p:sp>
        <p:nvSpPr>
          <p:cNvPr id="12" name="Shape 9"/>
          <p:cNvSpPr/>
          <p:nvPr/>
        </p:nvSpPr>
        <p:spPr>
          <a:xfrm>
            <a:off x="877824" y="3300984"/>
            <a:ext cx="640080" cy="640080"/>
          </a:xfrm>
          <a:prstGeom prst="ellipse">
            <a:avLst/>
          </a:prstGeom>
          <a:solidFill>
            <a:srgbClr val="575756"/>
          </a:solidFill>
          <a:ln/>
        </p:spPr>
      </p:sp>
      <p:pic>
        <p:nvPicPr>
          <p:cNvPr id="13" name="Image 1" descr="/home/claude/ico/shield_w.png">    </p:cNvPr>
          <p:cNvPicPr>
            <a:picLocks noChangeAspect="1"/>
          </p:cNvPicPr>
          <p:nvPr/>
        </p:nvPicPr>
        <p:blipFill>
          <a:blip r:embed="rId2"/>
          <a:stretch>
            <a:fillRect/>
          </a:stretch>
        </p:blipFill>
        <p:spPr>
          <a:xfrm>
            <a:off x="1044245" y="3467405"/>
            <a:ext cx="307238" cy="307238"/>
          </a:xfrm>
          <a:prstGeom prst="rect">
            <a:avLst/>
          </a:prstGeom>
        </p:spPr>
      </p:pic>
      <p:sp>
        <p:nvSpPr>
          <p:cNvPr id="14" name="Text 10"/>
          <p:cNvSpPr/>
          <p:nvPr/>
        </p:nvSpPr>
        <p:spPr>
          <a:xfrm>
            <a:off x="1737360" y="3200400"/>
            <a:ext cx="5486400" cy="32918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Gewässerschutz ist ernst</a:t>
            </a:r>
            <a:endParaRPr lang="en-US" sz="1700" dirty="0"/>
          </a:p>
        </p:txBody>
      </p:sp>
      <p:sp>
        <p:nvSpPr>
          <p:cNvPr id="15" name="Text 11"/>
          <p:cNvSpPr/>
          <p:nvPr/>
        </p:nvSpPr>
        <p:spPr>
          <a:xfrm>
            <a:off x="1737360" y="3566160"/>
            <a:ext cx="9454896" cy="54864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Bei einem Ölunfall haftet auch die Person vor Ort persönlich, nicht nur die Firma. Deshalb wird hier nichts improvisiert.</a:t>
            </a:r>
            <a:endParaRPr lang="en-US" sz="1300" dirty="0"/>
          </a:p>
        </p:txBody>
      </p:sp>
      <p:sp>
        <p:nvSpPr>
          <p:cNvPr id="16" name="Shape 12"/>
          <p:cNvSpPr/>
          <p:nvPr/>
        </p:nvSpPr>
        <p:spPr>
          <a:xfrm>
            <a:off x="566928" y="4389120"/>
            <a:ext cx="11055096" cy="1207008"/>
          </a:xfrm>
          <a:prstGeom prst="roundRect">
            <a:avLst>
              <a:gd name="adj" fmla="val 6818"/>
            </a:avLst>
          </a:prstGeom>
          <a:solidFill>
            <a:srgbClr val="F4F4F4"/>
          </a:solidFill>
          <a:ln/>
        </p:spPr>
      </p:sp>
      <p:sp>
        <p:nvSpPr>
          <p:cNvPr id="17" name="Shape 13"/>
          <p:cNvSpPr/>
          <p:nvPr/>
        </p:nvSpPr>
        <p:spPr>
          <a:xfrm>
            <a:off x="877824" y="4672584"/>
            <a:ext cx="640080" cy="640080"/>
          </a:xfrm>
          <a:prstGeom prst="ellipse">
            <a:avLst/>
          </a:prstGeom>
          <a:solidFill>
            <a:srgbClr val="575756"/>
          </a:solidFill>
          <a:ln/>
        </p:spPr>
      </p:sp>
      <p:pic>
        <p:nvPicPr>
          <p:cNvPr id="18" name="Image 2" descr="/home/claude/ico/clock_w.png">    </p:cNvPr>
          <p:cNvPicPr>
            <a:picLocks noChangeAspect="1"/>
          </p:cNvPicPr>
          <p:nvPr/>
        </p:nvPicPr>
        <p:blipFill>
          <a:blip r:embed="rId3"/>
          <a:stretch>
            <a:fillRect/>
          </a:stretch>
        </p:blipFill>
        <p:spPr>
          <a:xfrm>
            <a:off x="1044245" y="4839005"/>
            <a:ext cx="307238" cy="307238"/>
          </a:xfrm>
          <a:prstGeom prst="rect">
            <a:avLst/>
          </a:prstGeom>
        </p:spPr>
      </p:pic>
      <p:sp>
        <p:nvSpPr>
          <p:cNvPr id="19" name="Text 14"/>
          <p:cNvSpPr/>
          <p:nvPr/>
        </p:nvSpPr>
        <p:spPr>
          <a:xfrm>
            <a:off x="1737360" y="4572000"/>
            <a:ext cx="5486400" cy="32918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Autonomie planen</a:t>
            </a:r>
            <a:endParaRPr lang="en-US" sz="1700" dirty="0"/>
          </a:p>
        </p:txBody>
      </p:sp>
      <p:sp>
        <p:nvSpPr>
          <p:cNvPr id="20" name="Text 15"/>
          <p:cNvSpPr/>
          <p:nvPr/>
        </p:nvSpPr>
        <p:spPr>
          <a:xfrm>
            <a:off x="1737360" y="4937760"/>
            <a:ext cx="9454896" cy="54864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Die Leitfrage lautet: Wie viele Stunden soll die Anlage ohne Nachtanken laufen? Daraus ergibt sich die Tankgrösse und der Tankrhythmus.</a:t>
            </a:r>
            <a:endParaRPr lang="en-US" sz="1300" dirty="0"/>
          </a:p>
        </p:txBody>
      </p:sp>
      <p:sp>
        <p:nvSpPr>
          <p:cNvPr id="21" name="Shape 16"/>
          <p:cNvSpPr/>
          <p:nvPr/>
        </p:nvSpPr>
        <p:spPr>
          <a:xfrm>
            <a:off x="566928" y="5742432"/>
            <a:ext cx="11055096" cy="548640"/>
          </a:xfrm>
          <a:prstGeom prst="roundRect">
            <a:avLst>
              <a:gd name="adj" fmla="val 15000"/>
            </a:avLst>
          </a:prstGeom>
          <a:solidFill>
            <a:srgbClr val="575756"/>
          </a:solidFill>
          <a:ln/>
        </p:spPr>
      </p:sp>
      <p:sp>
        <p:nvSpPr>
          <p:cNvPr id="22" name="Text 17"/>
          <p:cNvSpPr/>
          <p:nvPr/>
        </p:nvSpPr>
        <p:spPr>
          <a:xfrm>
            <a:off x="932688" y="5742432"/>
            <a:ext cx="10323576"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Für Texte: Tankservice und Gewässerschutz sind kein Kleingedrucktes, sondern ein Verkaufsargument. Der Kunde muss sich um nichts kümmern.</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BAUSTELLE · 4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Sicherheit auf dem Platz</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32</a:t>
            </a:r>
            <a:endParaRPr lang="en-US" sz="1000" dirty="0"/>
          </a:p>
        </p:txBody>
      </p:sp>
      <p:sp>
        <p:nvSpPr>
          <p:cNvPr id="6" name="Shape 4"/>
          <p:cNvSpPr/>
          <p:nvPr/>
        </p:nvSpPr>
        <p:spPr>
          <a:xfrm>
            <a:off x="566928" y="1645920"/>
            <a:ext cx="5349240" cy="1792224"/>
          </a:xfrm>
          <a:prstGeom prst="roundRect">
            <a:avLst>
              <a:gd name="adj" fmla="val 4592"/>
            </a:avLst>
          </a:prstGeom>
          <a:solidFill>
            <a:srgbClr val="F4F4F4"/>
          </a:solidFill>
          <a:ln/>
        </p:spPr>
      </p:sp>
      <p:sp>
        <p:nvSpPr>
          <p:cNvPr id="7" name="Shape 5"/>
          <p:cNvSpPr/>
          <p:nvPr/>
        </p:nvSpPr>
        <p:spPr>
          <a:xfrm>
            <a:off x="859536" y="1920240"/>
            <a:ext cx="585216" cy="585216"/>
          </a:xfrm>
          <a:prstGeom prst="ellipse">
            <a:avLst/>
          </a:prstGeom>
          <a:solidFill>
            <a:srgbClr val="575756"/>
          </a:solidFill>
          <a:ln/>
        </p:spPr>
      </p:sp>
      <p:pic>
        <p:nvPicPr>
          <p:cNvPr id="8" name="Image 0" descr="/home/claude/ico/shield_w.png">    </p:cNvPr>
          <p:cNvPicPr>
            <a:picLocks noChangeAspect="1"/>
          </p:cNvPicPr>
          <p:nvPr/>
        </p:nvPicPr>
        <p:blipFill>
          <a:blip r:embed="rId1"/>
          <a:stretch>
            <a:fillRect/>
          </a:stretch>
        </p:blipFill>
        <p:spPr>
          <a:xfrm>
            <a:off x="1011692" y="2072396"/>
            <a:ext cx="280904" cy="280904"/>
          </a:xfrm>
          <a:prstGeom prst="rect">
            <a:avLst/>
          </a:prstGeom>
        </p:spPr>
      </p:pic>
      <p:sp>
        <p:nvSpPr>
          <p:cNvPr id="9" name="Text 6"/>
          <p:cNvSpPr/>
          <p:nvPr/>
        </p:nvSpPr>
        <p:spPr>
          <a:xfrm>
            <a:off x="1591056" y="1975104"/>
            <a:ext cx="3931920" cy="32918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Absperrung</a:t>
            </a:r>
            <a:endParaRPr lang="en-US" sz="1700" dirty="0"/>
          </a:p>
        </p:txBody>
      </p:sp>
      <p:sp>
        <p:nvSpPr>
          <p:cNvPr id="10" name="Text 7"/>
          <p:cNvSpPr/>
          <p:nvPr/>
        </p:nvSpPr>
        <p:spPr>
          <a:xfrm>
            <a:off x="859536" y="2633472"/>
            <a:ext cx="4764024" cy="658368"/>
          </a:xfrm>
          <a:prstGeom prst="rect">
            <a:avLst/>
          </a:prstGeom>
          <a:noFill/>
          <a:ln/>
        </p:spPr>
        <p:txBody>
          <a:bodyPr wrap="square" lIns="0" tIns="0" rIns="0" bIns="0" rtlCol="0" anchor="t"/>
          <a:lstStyle/>
          <a:p>
            <a:pPr indent="0" marL="0">
              <a:lnSpc>
                <a:spcPts val="1900"/>
              </a:lnSpc>
              <a:buNone/>
            </a:pPr>
            <a:r>
              <a:rPr lang="en-US" sz="1250" dirty="0">
                <a:solidFill>
                  <a:srgbClr val="575756"/>
                </a:solidFill>
                <a:latin typeface="Arial" pitchFamily="34" charset="0"/>
                <a:ea typeface="Arial" pitchFamily="34" charset="-122"/>
                <a:cs typeface="Arial" pitchFamily="34" charset="-120"/>
              </a:rPr>
              <a:t>Niemand steht ungeschützt neben der Anlage. Heisse Teile, drehende Teile, Spannung.</a:t>
            </a:r>
            <a:endParaRPr lang="en-US" sz="1250" dirty="0"/>
          </a:p>
        </p:txBody>
      </p:sp>
      <p:sp>
        <p:nvSpPr>
          <p:cNvPr id="11" name="Shape 8"/>
          <p:cNvSpPr/>
          <p:nvPr/>
        </p:nvSpPr>
        <p:spPr>
          <a:xfrm>
            <a:off x="6272784" y="1645920"/>
            <a:ext cx="5349240" cy="1792224"/>
          </a:xfrm>
          <a:prstGeom prst="roundRect">
            <a:avLst>
              <a:gd name="adj" fmla="val 4592"/>
            </a:avLst>
          </a:prstGeom>
          <a:solidFill>
            <a:srgbClr val="F4F4F4"/>
          </a:solidFill>
          <a:ln/>
        </p:spPr>
      </p:sp>
      <p:sp>
        <p:nvSpPr>
          <p:cNvPr id="12" name="Shape 9"/>
          <p:cNvSpPr/>
          <p:nvPr/>
        </p:nvSpPr>
        <p:spPr>
          <a:xfrm>
            <a:off x="6565392" y="1920240"/>
            <a:ext cx="585216" cy="585216"/>
          </a:xfrm>
          <a:prstGeom prst="ellipse">
            <a:avLst/>
          </a:prstGeom>
          <a:solidFill>
            <a:srgbClr val="575756"/>
          </a:solidFill>
          <a:ln/>
        </p:spPr>
      </p:sp>
      <p:pic>
        <p:nvPicPr>
          <p:cNvPr id="13" name="Image 1" descr="/home/claude/ico/fire_w.png">    </p:cNvPr>
          <p:cNvPicPr>
            <a:picLocks noChangeAspect="1"/>
          </p:cNvPicPr>
          <p:nvPr/>
        </p:nvPicPr>
        <p:blipFill>
          <a:blip r:embed="rId2"/>
          <a:stretch>
            <a:fillRect/>
          </a:stretch>
        </p:blipFill>
        <p:spPr>
          <a:xfrm>
            <a:off x="6717548" y="2072396"/>
            <a:ext cx="280904" cy="280904"/>
          </a:xfrm>
          <a:prstGeom prst="rect">
            <a:avLst/>
          </a:prstGeom>
        </p:spPr>
      </p:pic>
      <p:sp>
        <p:nvSpPr>
          <p:cNvPr id="14" name="Text 10"/>
          <p:cNvSpPr/>
          <p:nvPr/>
        </p:nvSpPr>
        <p:spPr>
          <a:xfrm>
            <a:off x="7296912" y="1975104"/>
            <a:ext cx="3931920" cy="32918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Feuerlöscher</a:t>
            </a:r>
            <a:endParaRPr lang="en-US" sz="1700" dirty="0"/>
          </a:p>
        </p:txBody>
      </p:sp>
      <p:sp>
        <p:nvSpPr>
          <p:cNvPr id="15" name="Text 11"/>
          <p:cNvSpPr/>
          <p:nvPr/>
        </p:nvSpPr>
        <p:spPr>
          <a:xfrm>
            <a:off x="6565392" y="2633472"/>
            <a:ext cx="4764024" cy="658368"/>
          </a:xfrm>
          <a:prstGeom prst="rect">
            <a:avLst/>
          </a:prstGeom>
          <a:noFill/>
          <a:ln/>
        </p:spPr>
        <p:txBody>
          <a:bodyPr wrap="square" lIns="0" tIns="0" rIns="0" bIns="0" rtlCol="0" anchor="t"/>
          <a:lstStyle/>
          <a:p>
            <a:pPr indent="0" marL="0">
              <a:lnSpc>
                <a:spcPts val="1900"/>
              </a:lnSpc>
              <a:buNone/>
            </a:pPr>
            <a:r>
              <a:rPr lang="en-US" sz="1250" dirty="0">
                <a:solidFill>
                  <a:srgbClr val="575756"/>
                </a:solidFill>
                <a:latin typeface="Arial" pitchFamily="34" charset="0"/>
                <a:ea typeface="Arial" pitchFamily="34" charset="-122"/>
                <a:cs typeface="Arial" pitchFamily="34" charset="-120"/>
              </a:rPr>
              <a:t>Griffbereit, geprüft und für jeden erreichbar. Fluchtwege bleiben frei.</a:t>
            </a:r>
            <a:endParaRPr lang="en-US" sz="1250" dirty="0"/>
          </a:p>
        </p:txBody>
      </p:sp>
      <p:sp>
        <p:nvSpPr>
          <p:cNvPr id="16" name="Shape 12"/>
          <p:cNvSpPr/>
          <p:nvPr/>
        </p:nvSpPr>
        <p:spPr>
          <a:xfrm>
            <a:off x="566928" y="3730752"/>
            <a:ext cx="5349240" cy="1792224"/>
          </a:xfrm>
          <a:prstGeom prst="roundRect">
            <a:avLst>
              <a:gd name="adj" fmla="val 4592"/>
            </a:avLst>
          </a:prstGeom>
          <a:solidFill>
            <a:srgbClr val="F4F4F4"/>
          </a:solidFill>
          <a:ln/>
        </p:spPr>
      </p:sp>
      <p:sp>
        <p:nvSpPr>
          <p:cNvPr id="17" name="Shape 13"/>
          <p:cNvSpPr/>
          <p:nvPr/>
        </p:nvSpPr>
        <p:spPr>
          <a:xfrm>
            <a:off x="859536" y="4005072"/>
            <a:ext cx="585216" cy="585216"/>
          </a:xfrm>
          <a:prstGeom prst="ellipse">
            <a:avLst/>
          </a:prstGeom>
          <a:solidFill>
            <a:srgbClr val="575756"/>
          </a:solidFill>
          <a:ln/>
        </p:spPr>
      </p:sp>
      <p:pic>
        <p:nvPicPr>
          <p:cNvPr id="18" name="Image 2" descr="/home/claude/ico/ground_w.png">    </p:cNvPr>
          <p:cNvPicPr>
            <a:picLocks noChangeAspect="1"/>
          </p:cNvPicPr>
          <p:nvPr/>
        </p:nvPicPr>
        <p:blipFill>
          <a:blip r:embed="rId3"/>
          <a:stretch>
            <a:fillRect/>
          </a:stretch>
        </p:blipFill>
        <p:spPr>
          <a:xfrm>
            <a:off x="1011692" y="4157228"/>
            <a:ext cx="280904" cy="280904"/>
          </a:xfrm>
          <a:prstGeom prst="rect">
            <a:avLst/>
          </a:prstGeom>
        </p:spPr>
      </p:pic>
      <p:sp>
        <p:nvSpPr>
          <p:cNvPr id="19" name="Text 14"/>
          <p:cNvSpPr/>
          <p:nvPr/>
        </p:nvSpPr>
        <p:spPr>
          <a:xfrm>
            <a:off x="1591056" y="4059936"/>
            <a:ext cx="3931920" cy="32918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Erdung</a:t>
            </a:r>
            <a:endParaRPr lang="en-US" sz="1700" dirty="0"/>
          </a:p>
        </p:txBody>
      </p:sp>
      <p:sp>
        <p:nvSpPr>
          <p:cNvPr id="20" name="Text 15"/>
          <p:cNvSpPr/>
          <p:nvPr/>
        </p:nvSpPr>
        <p:spPr>
          <a:xfrm>
            <a:off x="859536" y="4718304"/>
            <a:ext cx="4764024" cy="658368"/>
          </a:xfrm>
          <a:prstGeom prst="rect">
            <a:avLst/>
          </a:prstGeom>
          <a:noFill/>
          <a:ln/>
        </p:spPr>
        <p:txBody>
          <a:bodyPr wrap="square" lIns="0" tIns="0" rIns="0" bIns="0" rtlCol="0" anchor="t"/>
          <a:lstStyle/>
          <a:p>
            <a:pPr indent="0" marL="0">
              <a:lnSpc>
                <a:spcPts val="1900"/>
              </a:lnSpc>
              <a:buNone/>
            </a:pPr>
            <a:r>
              <a:rPr lang="en-US" sz="1250" dirty="0">
                <a:solidFill>
                  <a:srgbClr val="575756"/>
                </a:solidFill>
                <a:latin typeface="Arial" pitchFamily="34" charset="0"/>
                <a:ea typeface="Arial" pitchFamily="34" charset="-122"/>
                <a:cs typeface="Arial" pitchFamily="34" charset="-120"/>
              </a:rPr>
              <a:t>Eine Verbindung in den Boden. Damit im Fehlerfall der Schutzschalter auslöst statt eines Menschen.</a:t>
            </a:r>
            <a:endParaRPr lang="en-US" sz="1250" dirty="0"/>
          </a:p>
        </p:txBody>
      </p:sp>
      <p:sp>
        <p:nvSpPr>
          <p:cNvPr id="21" name="Shape 16"/>
          <p:cNvSpPr/>
          <p:nvPr/>
        </p:nvSpPr>
        <p:spPr>
          <a:xfrm>
            <a:off x="6272784" y="3730752"/>
            <a:ext cx="5349240" cy="1792224"/>
          </a:xfrm>
          <a:prstGeom prst="roundRect">
            <a:avLst>
              <a:gd name="adj" fmla="val 4592"/>
            </a:avLst>
          </a:prstGeom>
          <a:solidFill>
            <a:srgbClr val="F4F4F4"/>
          </a:solidFill>
          <a:ln/>
        </p:spPr>
      </p:sp>
      <p:sp>
        <p:nvSpPr>
          <p:cNvPr id="22" name="Shape 17"/>
          <p:cNvSpPr/>
          <p:nvPr/>
        </p:nvSpPr>
        <p:spPr>
          <a:xfrm>
            <a:off x="6565392" y="4005072"/>
            <a:ext cx="585216" cy="585216"/>
          </a:xfrm>
          <a:prstGeom prst="ellipse">
            <a:avLst/>
          </a:prstGeom>
          <a:solidFill>
            <a:srgbClr val="575756"/>
          </a:solidFill>
          <a:ln/>
        </p:spPr>
      </p:sp>
      <p:pic>
        <p:nvPicPr>
          <p:cNvPr id="23" name="Image 3" descr="/home/claude/ico/clip_w.png">    </p:cNvPr>
          <p:cNvPicPr>
            <a:picLocks noChangeAspect="1"/>
          </p:cNvPicPr>
          <p:nvPr/>
        </p:nvPicPr>
        <p:blipFill>
          <a:blip r:embed="rId4"/>
          <a:stretch>
            <a:fillRect/>
          </a:stretch>
        </p:blipFill>
        <p:spPr>
          <a:xfrm>
            <a:off x="6717548" y="4157228"/>
            <a:ext cx="280904" cy="280904"/>
          </a:xfrm>
          <a:prstGeom prst="rect">
            <a:avLst/>
          </a:prstGeom>
        </p:spPr>
      </p:pic>
      <p:sp>
        <p:nvSpPr>
          <p:cNvPr id="24" name="Text 18"/>
          <p:cNvSpPr/>
          <p:nvPr/>
        </p:nvSpPr>
        <p:spPr>
          <a:xfrm>
            <a:off x="7296912" y="4059936"/>
            <a:ext cx="3931920" cy="32918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Nur Fachpersonal</a:t>
            </a:r>
            <a:endParaRPr lang="en-US" sz="1700" dirty="0"/>
          </a:p>
        </p:txBody>
      </p:sp>
      <p:sp>
        <p:nvSpPr>
          <p:cNvPr id="25" name="Text 19"/>
          <p:cNvSpPr/>
          <p:nvPr/>
        </p:nvSpPr>
        <p:spPr>
          <a:xfrm>
            <a:off x="6565392" y="4718304"/>
            <a:ext cx="4764024" cy="658368"/>
          </a:xfrm>
          <a:prstGeom prst="rect">
            <a:avLst/>
          </a:prstGeom>
          <a:noFill/>
          <a:ln/>
        </p:spPr>
        <p:txBody>
          <a:bodyPr wrap="square" lIns="0" tIns="0" rIns="0" bIns="0" rtlCol="0" anchor="t"/>
          <a:lstStyle/>
          <a:p>
            <a:pPr indent="0" marL="0">
              <a:lnSpc>
                <a:spcPts val="1900"/>
              </a:lnSpc>
              <a:buNone/>
            </a:pPr>
            <a:r>
              <a:rPr lang="en-US" sz="1250" dirty="0">
                <a:solidFill>
                  <a:srgbClr val="575756"/>
                </a:solidFill>
                <a:latin typeface="Arial" pitchFamily="34" charset="0"/>
                <a:ea typeface="Arial" pitchFamily="34" charset="-122"/>
                <a:cs typeface="Arial" pitchFamily="34" charset="-120"/>
              </a:rPr>
              <a:t>Anschluss und Inbetriebnahme macht immer eine ausgebildete Fachperson. Nie der Kunde, nie schnell selbst.</a:t>
            </a:r>
            <a:endParaRPr lang="en-US" sz="1250" dirty="0"/>
          </a:p>
        </p:txBody>
      </p:sp>
      <p:sp>
        <p:nvSpPr>
          <p:cNvPr id="26" name="Shape 20"/>
          <p:cNvSpPr/>
          <p:nvPr/>
        </p:nvSpPr>
        <p:spPr>
          <a:xfrm>
            <a:off x="566928" y="5596128"/>
            <a:ext cx="11055096" cy="621792"/>
          </a:xfrm>
          <a:prstGeom prst="roundRect">
            <a:avLst>
              <a:gd name="adj" fmla="val 13235"/>
            </a:avLst>
          </a:prstGeom>
          <a:solidFill>
            <a:srgbClr val="FBE0E6"/>
          </a:solidFill>
          <a:ln/>
        </p:spPr>
      </p:sp>
      <p:sp>
        <p:nvSpPr>
          <p:cNvPr id="27" name="Text 21"/>
          <p:cNvSpPr/>
          <p:nvPr/>
        </p:nvSpPr>
        <p:spPr>
          <a:xfrm>
            <a:off x="932688" y="5596128"/>
            <a:ext cx="10323576" cy="621792"/>
          </a:xfrm>
          <a:prstGeom prst="rect">
            <a:avLst/>
          </a:prstGeom>
          <a:noFill/>
          <a:ln/>
        </p:spPr>
        <p:txBody>
          <a:bodyPr wrap="square" lIns="0" tIns="0" rIns="0" bIns="0" rtlCol="0" anchor="ctr"/>
          <a:lstStyle/>
          <a:p>
            <a:pPr indent="0" marL="0">
              <a:buNone/>
            </a:pPr>
            <a:r>
              <a:rPr lang="en-US" sz="1350" b="1" dirty="0">
                <a:solidFill>
                  <a:srgbClr val="575756"/>
                </a:solidFill>
                <a:latin typeface="Arial" pitchFamily="34" charset="0"/>
                <a:ea typeface="Arial" pitchFamily="34" charset="-122"/>
                <a:cs typeface="Arial" pitchFamily="34" charset="-120"/>
              </a:rPr>
              <a:t>Bei Fotos für Social Media immer prüfen: Absperrung sichtbar, Helm auf, keine offenen Schaltschränke im Bild.</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BAUSTELLE · 5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So läuft ein Auftrag ab</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33</a:t>
            </a:r>
            <a:endParaRPr lang="en-US" sz="1000" dirty="0"/>
          </a:p>
        </p:txBody>
      </p:sp>
      <p:sp>
        <p:nvSpPr>
          <p:cNvPr id="6" name="Shape 4"/>
          <p:cNvSpPr/>
          <p:nvPr/>
        </p:nvSpPr>
        <p:spPr>
          <a:xfrm>
            <a:off x="1417320" y="2253996"/>
            <a:ext cx="9235440" cy="27432"/>
          </a:xfrm>
          <a:prstGeom prst="rect">
            <a:avLst/>
          </a:prstGeom>
          <a:solidFill>
            <a:srgbClr val="D6D6D6"/>
          </a:solidFill>
          <a:ln/>
        </p:spPr>
      </p:sp>
      <p:sp>
        <p:nvSpPr>
          <p:cNvPr id="7" name="Shape 5"/>
          <p:cNvSpPr/>
          <p:nvPr/>
        </p:nvSpPr>
        <p:spPr>
          <a:xfrm>
            <a:off x="566928" y="2514600"/>
            <a:ext cx="1700784" cy="2331720"/>
          </a:xfrm>
          <a:prstGeom prst="roundRect">
            <a:avLst>
              <a:gd name="adj" fmla="val 4301"/>
            </a:avLst>
          </a:prstGeom>
          <a:solidFill>
            <a:srgbClr val="F4F4F4"/>
          </a:solidFill>
          <a:ln/>
        </p:spPr>
      </p:sp>
      <p:sp>
        <p:nvSpPr>
          <p:cNvPr id="8" name="Shape 6"/>
          <p:cNvSpPr/>
          <p:nvPr/>
        </p:nvSpPr>
        <p:spPr>
          <a:xfrm>
            <a:off x="1161288" y="2011680"/>
            <a:ext cx="512064" cy="512064"/>
          </a:xfrm>
          <a:prstGeom prst="ellipse">
            <a:avLst/>
          </a:prstGeom>
          <a:solidFill>
            <a:srgbClr val="575756"/>
          </a:solidFill>
          <a:ln/>
        </p:spPr>
      </p:sp>
      <p:sp>
        <p:nvSpPr>
          <p:cNvPr id="9" name="Text 7"/>
          <p:cNvSpPr/>
          <p:nvPr/>
        </p:nvSpPr>
        <p:spPr>
          <a:xfrm>
            <a:off x="1161288" y="201168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676656" y="2724912"/>
            <a:ext cx="1481328" cy="457200"/>
          </a:xfrm>
          <a:prstGeom prst="rect">
            <a:avLst/>
          </a:prstGeom>
          <a:noFill/>
          <a:ln/>
        </p:spPr>
        <p:txBody>
          <a:bodyPr wrap="square" lIns="0" tIns="0" rIns="0" bIns="0" rtlCol="0" anchor="t"/>
          <a:lstStyle/>
          <a:p>
            <a:pPr algn="ctr" indent="0" marL="0">
              <a:buNone/>
            </a:pPr>
            <a:r>
              <a:rPr lang="en-US" sz="1400" b="1" dirty="0">
                <a:solidFill>
                  <a:srgbClr val="575756"/>
                </a:solidFill>
                <a:latin typeface="Arial" pitchFamily="34" charset="0"/>
                <a:ea typeface="Arial" pitchFamily="34" charset="-122"/>
                <a:cs typeface="Arial" pitchFamily="34" charset="-120"/>
              </a:rPr>
              <a:t>Anfrage</a:t>
            </a:r>
            <a:endParaRPr lang="en-US" sz="1400" dirty="0"/>
          </a:p>
        </p:txBody>
      </p:sp>
      <p:sp>
        <p:nvSpPr>
          <p:cNvPr id="11" name="Text 9"/>
          <p:cNvSpPr/>
          <p:nvPr/>
        </p:nvSpPr>
        <p:spPr>
          <a:xfrm>
            <a:off x="694944" y="3200400"/>
            <a:ext cx="1444752" cy="1508760"/>
          </a:xfrm>
          <a:prstGeom prst="rect">
            <a:avLst/>
          </a:prstGeom>
          <a:noFill/>
          <a:ln/>
        </p:spPr>
        <p:txBody>
          <a:bodyPr wrap="square" lIns="0" tIns="0" rIns="0" bIns="0" rtlCol="0" anchor="ctr"/>
          <a:lstStyle/>
          <a:p>
            <a:pPr algn="ctr" indent="0" marL="0">
              <a:lnSpc>
                <a:spcPts val="1500"/>
              </a:lnSpc>
              <a:buNone/>
            </a:pPr>
            <a:r>
              <a:rPr lang="en-US" sz="1100" dirty="0">
                <a:solidFill>
                  <a:srgbClr val="575756"/>
                </a:solidFill>
                <a:latin typeface="Arial" pitchFamily="34" charset="0"/>
                <a:ea typeface="Arial" pitchFamily="34" charset="-122"/>
                <a:cs typeface="Arial" pitchFamily="34" charset="-120"/>
              </a:rPr>
              <a:t>Kunde meldet sich, wir erfassen die Eckdaten</a:t>
            </a:r>
            <a:endParaRPr lang="en-US" sz="1100" dirty="0"/>
          </a:p>
        </p:txBody>
      </p:sp>
      <p:sp>
        <p:nvSpPr>
          <p:cNvPr id="12" name="Shape 10"/>
          <p:cNvSpPr/>
          <p:nvPr/>
        </p:nvSpPr>
        <p:spPr>
          <a:xfrm>
            <a:off x="2414016" y="2514600"/>
            <a:ext cx="1700784" cy="2331720"/>
          </a:xfrm>
          <a:prstGeom prst="roundRect">
            <a:avLst>
              <a:gd name="adj" fmla="val 4301"/>
            </a:avLst>
          </a:prstGeom>
          <a:solidFill>
            <a:srgbClr val="F4F4F4"/>
          </a:solidFill>
          <a:ln/>
        </p:spPr>
      </p:sp>
      <p:sp>
        <p:nvSpPr>
          <p:cNvPr id="13" name="Shape 11"/>
          <p:cNvSpPr/>
          <p:nvPr/>
        </p:nvSpPr>
        <p:spPr>
          <a:xfrm>
            <a:off x="3008376" y="2011680"/>
            <a:ext cx="512064" cy="512064"/>
          </a:xfrm>
          <a:prstGeom prst="ellipse">
            <a:avLst/>
          </a:prstGeom>
          <a:solidFill>
            <a:srgbClr val="575756"/>
          </a:solidFill>
          <a:ln/>
        </p:spPr>
      </p:sp>
      <p:sp>
        <p:nvSpPr>
          <p:cNvPr id="14" name="Text 12"/>
          <p:cNvSpPr/>
          <p:nvPr/>
        </p:nvSpPr>
        <p:spPr>
          <a:xfrm>
            <a:off x="3008376" y="201168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5" name="Text 13"/>
          <p:cNvSpPr/>
          <p:nvPr/>
        </p:nvSpPr>
        <p:spPr>
          <a:xfrm>
            <a:off x="2523744" y="2724912"/>
            <a:ext cx="1481328" cy="457200"/>
          </a:xfrm>
          <a:prstGeom prst="rect">
            <a:avLst/>
          </a:prstGeom>
          <a:noFill/>
          <a:ln/>
        </p:spPr>
        <p:txBody>
          <a:bodyPr wrap="square" lIns="0" tIns="0" rIns="0" bIns="0" rtlCol="0" anchor="t"/>
          <a:lstStyle/>
          <a:p>
            <a:pPr algn="ctr" indent="0" marL="0">
              <a:buNone/>
            </a:pPr>
            <a:r>
              <a:rPr lang="en-US" sz="1400" b="1" dirty="0">
                <a:solidFill>
                  <a:srgbClr val="575756"/>
                </a:solidFill>
                <a:latin typeface="Arial" pitchFamily="34" charset="0"/>
                <a:ea typeface="Arial" pitchFamily="34" charset="-122"/>
                <a:cs typeface="Arial" pitchFamily="34" charset="-120"/>
              </a:rPr>
              <a:t>Klärung</a:t>
            </a:r>
            <a:endParaRPr lang="en-US" sz="1400" dirty="0"/>
          </a:p>
        </p:txBody>
      </p:sp>
      <p:sp>
        <p:nvSpPr>
          <p:cNvPr id="16" name="Text 14"/>
          <p:cNvSpPr/>
          <p:nvPr/>
        </p:nvSpPr>
        <p:spPr>
          <a:xfrm>
            <a:off x="2542032" y="3200400"/>
            <a:ext cx="1444752" cy="1508760"/>
          </a:xfrm>
          <a:prstGeom prst="rect">
            <a:avLst/>
          </a:prstGeom>
          <a:noFill/>
          <a:ln/>
        </p:spPr>
        <p:txBody>
          <a:bodyPr wrap="square" lIns="0" tIns="0" rIns="0" bIns="0" rtlCol="0" anchor="ctr"/>
          <a:lstStyle/>
          <a:p>
            <a:pPr algn="ctr" indent="0" marL="0">
              <a:lnSpc>
                <a:spcPts val="1500"/>
              </a:lnSpc>
              <a:buNone/>
            </a:pPr>
            <a:r>
              <a:rPr lang="en-US" sz="1100" dirty="0">
                <a:solidFill>
                  <a:srgbClr val="575756"/>
                </a:solidFill>
                <a:latin typeface="Arial" pitchFamily="34" charset="0"/>
                <a:ea typeface="Arial" pitchFamily="34" charset="-122"/>
                <a:cs typeface="Arial" pitchFamily="34" charset="-120"/>
              </a:rPr>
              <a:t>Rückfragen, oft ein Termin vor Ort</a:t>
            </a:r>
            <a:endParaRPr lang="en-US" sz="1100" dirty="0"/>
          </a:p>
        </p:txBody>
      </p:sp>
      <p:sp>
        <p:nvSpPr>
          <p:cNvPr id="17" name="Shape 15"/>
          <p:cNvSpPr/>
          <p:nvPr/>
        </p:nvSpPr>
        <p:spPr>
          <a:xfrm>
            <a:off x="4261104" y="2514600"/>
            <a:ext cx="1700784" cy="2331720"/>
          </a:xfrm>
          <a:prstGeom prst="roundRect">
            <a:avLst>
              <a:gd name="adj" fmla="val 4301"/>
            </a:avLst>
          </a:prstGeom>
          <a:solidFill>
            <a:srgbClr val="F4F4F4"/>
          </a:solidFill>
          <a:ln/>
        </p:spPr>
      </p:sp>
      <p:sp>
        <p:nvSpPr>
          <p:cNvPr id="18" name="Shape 16"/>
          <p:cNvSpPr/>
          <p:nvPr/>
        </p:nvSpPr>
        <p:spPr>
          <a:xfrm>
            <a:off x="4855464" y="2011680"/>
            <a:ext cx="512064" cy="512064"/>
          </a:xfrm>
          <a:prstGeom prst="ellipse">
            <a:avLst/>
          </a:prstGeom>
          <a:solidFill>
            <a:srgbClr val="575756"/>
          </a:solidFill>
          <a:ln/>
        </p:spPr>
      </p:sp>
      <p:sp>
        <p:nvSpPr>
          <p:cNvPr id="19" name="Text 17"/>
          <p:cNvSpPr/>
          <p:nvPr/>
        </p:nvSpPr>
        <p:spPr>
          <a:xfrm>
            <a:off x="4855464" y="201168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0" name="Text 18"/>
          <p:cNvSpPr/>
          <p:nvPr/>
        </p:nvSpPr>
        <p:spPr>
          <a:xfrm>
            <a:off x="4370832" y="2724912"/>
            <a:ext cx="1481328" cy="457200"/>
          </a:xfrm>
          <a:prstGeom prst="rect">
            <a:avLst/>
          </a:prstGeom>
          <a:noFill/>
          <a:ln/>
        </p:spPr>
        <p:txBody>
          <a:bodyPr wrap="square" lIns="0" tIns="0" rIns="0" bIns="0" rtlCol="0" anchor="t"/>
          <a:lstStyle/>
          <a:p>
            <a:pPr algn="ctr" indent="0" marL="0">
              <a:buNone/>
            </a:pPr>
            <a:r>
              <a:rPr lang="en-US" sz="1400" b="1" dirty="0">
                <a:solidFill>
                  <a:srgbClr val="575756"/>
                </a:solidFill>
                <a:latin typeface="Arial" pitchFamily="34" charset="0"/>
                <a:ea typeface="Arial" pitchFamily="34" charset="-122"/>
                <a:cs typeface="Arial" pitchFamily="34" charset="-120"/>
              </a:rPr>
              <a:t>Auslegung</a:t>
            </a:r>
            <a:endParaRPr lang="en-US" sz="1400" dirty="0"/>
          </a:p>
        </p:txBody>
      </p:sp>
      <p:sp>
        <p:nvSpPr>
          <p:cNvPr id="21" name="Text 19"/>
          <p:cNvSpPr/>
          <p:nvPr/>
        </p:nvSpPr>
        <p:spPr>
          <a:xfrm>
            <a:off x="4389120" y="3200400"/>
            <a:ext cx="1444752" cy="1508760"/>
          </a:xfrm>
          <a:prstGeom prst="rect">
            <a:avLst/>
          </a:prstGeom>
          <a:noFill/>
          <a:ln/>
        </p:spPr>
        <p:txBody>
          <a:bodyPr wrap="square" lIns="0" tIns="0" rIns="0" bIns="0" rtlCol="0" anchor="ctr"/>
          <a:lstStyle/>
          <a:p>
            <a:pPr algn="ctr" indent="0" marL="0">
              <a:lnSpc>
                <a:spcPts val="1500"/>
              </a:lnSpc>
              <a:buNone/>
            </a:pPr>
            <a:r>
              <a:rPr lang="en-US" sz="1100" dirty="0">
                <a:solidFill>
                  <a:srgbClr val="575756"/>
                </a:solidFill>
                <a:latin typeface="Arial" pitchFamily="34" charset="0"/>
                <a:ea typeface="Arial" pitchFamily="34" charset="-122"/>
                <a:cs typeface="Arial" pitchFamily="34" charset="-120"/>
              </a:rPr>
              <a:t>Ingenieur rechnet, Offerte geht raus</a:t>
            </a:r>
            <a:endParaRPr lang="en-US" sz="1100" dirty="0"/>
          </a:p>
        </p:txBody>
      </p:sp>
      <p:sp>
        <p:nvSpPr>
          <p:cNvPr id="22" name="Shape 20"/>
          <p:cNvSpPr/>
          <p:nvPr/>
        </p:nvSpPr>
        <p:spPr>
          <a:xfrm>
            <a:off x="6108192" y="2514600"/>
            <a:ext cx="1700784" cy="2331720"/>
          </a:xfrm>
          <a:prstGeom prst="roundRect">
            <a:avLst>
              <a:gd name="adj" fmla="val 4301"/>
            </a:avLst>
          </a:prstGeom>
          <a:solidFill>
            <a:srgbClr val="F4F4F4"/>
          </a:solidFill>
          <a:ln/>
        </p:spPr>
      </p:sp>
      <p:sp>
        <p:nvSpPr>
          <p:cNvPr id="23" name="Shape 21"/>
          <p:cNvSpPr/>
          <p:nvPr/>
        </p:nvSpPr>
        <p:spPr>
          <a:xfrm>
            <a:off x="6702552" y="2011680"/>
            <a:ext cx="512064" cy="512064"/>
          </a:xfrm>
          <a:prstGeom prst="ellipse">
            <a:avLst/>
          </a:prstGeom>
          <a:solidFill>
            <a:srgbClr val="575756"/>
          </a:solidFill>
          <a:ln/>
        </p:spPr>
      </p:sp>
      <p:sp>
        <p:nvSpPr>
          <p:cNvPr id="24" name="Text 22"/>
          <p:cNvSpPr/>
          <p:nvPr/>
        </p:nvSpPr>
        <p:spPr>
          <a:xfrm>
            <a:off x="6702552" y="201168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5" name="Text 23"/>
          <p:cNvSpPr/>
          <p:nvPr/>
        </p:nvSpPr>
        <p:spPr>
          <a:xfrm>
            <a:off x="6217920" y="2724912"/>
            <a:ext cx="1481328" cy="457200"/>
          </a:xfrm>
          <a:prstGeom prst="rect">
            <a:avLst/>
          </a:prstGeom>
          <a:noFill/>
          <a:ln/>
        </p:spPr>
        <p:txBody>
          <a:bodyPr wrap="square" lIns="0" tIns="0" rIns="0" bIns="0" rtlCol="0" anchor="t"/>
          <a:lstStyle/>
          <a:p>
            <a:pPr algn="ctr" indent="0" marL="0">
              <a:buNone/>
            </a:pPr>
            <a:r>
              <a:rPr lang="en-US" sz="1400" b="1" dirty="0">
                <a:solidFill>
                  <a:srgbClr val="575756"/>
                </a:solidFill>
                <a:latin typeface="Arial" pitchFamily="34" charset="0"/>
                <a:ea typeface="Arial" pitchFamily="34" charset="-122"/>
                <a:cs typeface="Arial" pitchFamily="34" charset="-120"/>
              </a:rPr>
              <a:t>Anlieferung</a:t>
            </a:r>
            <a:endParaRPr lang="en-US" sz="1400" dirty="0"/>
          </a:p>
        </p:txBody>
      </p:sp>
      <p:sp>
        <p:nvSpPr>
          <p:cNvPr id="26" name="Text 24"/>
          <p:cNvSpPr/>
          <p:nvPr/>
        </p:nvSpPr>
        <p:spPr>
          <a:xfrm>
            <a:off x="6236208" y="3200400"/>
            <a:ext cx="1444752" cy="1508760"/>
          </a:xfrm>
          <a:prstGeom prst="rect">
            <a:avLst/>
          </a:prstGeom>
          <a:noFill/>
          <a:ln/>
        </p:spPr>
        <p:txBody>
          <a:bodyPr wrap="square" lIns="0" tIns="0" rIns="0" bIns="0" rtlCol="0" anchor="ctr"/>
          <a:lstStyle/>
          <a:p>
            <a:pPr algn="ctr" indent="0" marL="0">
              <a:lnSpc>
                <a:spcPts val="1500"/>
              </a:lnSpc>
              <a:buNone/>
            </a:pPr>
            <a:r>
              <a:rPr lang="en-US" sz="1100" dirty="0">
                <a:solidFill>
                  <a:srgbClr val="575756"/>
                </a:solidFill>
                <a:latin typeface="Arial" pitchFamily="34" charset="0"/>
                <a:ea typeface="Arial" pitchFamily="34" charset="-122"/>
                <a:cs typeface="Arial" pitchFamily="34" charset="-120"/>
              </a:rPr>
              <a:t>Transport, Aufstellung, Inbetriebnahme</a:t>
            </a:r>
            <a:endParaRPr lang="en-US" sz="1100" dirty="0"/>
          </a:p>
        </p:txBody>
      </p:sp>
      <p:sp>
        <p:nvSpPr>
          <p:cNvPr id="27" name="Shape 25"/>
          <p:cNvSpPr/>
          <p:nvPr/>
        </p:nvSpPr>
        <p:spPr>
          <a:xfrm>
            <a:off x="7955280" y="2514600"/>
            <a:ext cx="1700784" cy="2331720"/>
          </a:xfrm>
          <a:prstGeom prst="roundRect">
            <a:avLst>
              <a:gd name="adj" fmla="val 4301"/>
            </a:avLst>
          </a:prstGeom>
          <a:solidFill>
            <a:srgbClr val="F4F4F4"/>
          </a:solidFill>
          <a:ln/>
        </p:spPr>
      </p:sp>
      <p:sp>
        <p:nvSpPr>
          <p:cNvPr id="28" name="Shape 26"/>
          <p:cNvSpPr/>
          <p:nvPr/>
        </p:nvSpPr>
        <p:spPr>
          <a:xfrm>
            <a:off x="8549640" y="2011680"/>
            <a:ext cx="512064" cy="512064"/>
          </a:xfrm>
          <a:prstGeom prst="ellipse">
            <a:avLst/>
          </a:prstGeom>
          <a:solidFill>
            <a:srgbClr val="575756"/>
          </a:solidFill>
          <a:ln/>
        </p:spPr>
      </p:sp>
      <p:sp>
        <p:nvSpPr>
          <p:cNvPr id="29" name="Text 27"/>
          <p:cNvSpPr/>
          <p:nvPr/>
        </p:nvSpPr>
        <p:spPr>
          <a:xfrm>
            <a:off x="8549640" y="201168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0" name="Text 28"/>
          <p:cNvSpPr/>
          <p:nvPr/>
        </p:nvSpPr>
        <p:spPr>
          <a:xfrm>
            <a:off x="8065008" y="2724912"/>
            <a:ext cx="1481328" cy="457200"/>
          </a:xfrm>
          <a:prstGeom prst="rect">
            <a:avLst/>
          </a:prstGeom>
          <a:noFill/>
          <a:ln/>
        </p:spPr>
        <p:txBody>
          <a:bodyPr wrap="square" lIns="0" tIns="0" rIns="0" bIns="0" rtlCol="0" anchor="t"/>
          <a:lstStyle/>
          <a:p>
            <a:pPr algn="ctr" indent="0" marL="0">
              <a:buNone/>
            </a:pPr>
            <a:r>
              <a:rPr lang="en-US" sz="1400" b="1" dirty="0">
                <a:solidFill>
                  <a:srgbClr val="575756"/>
                </a:solidFill>
                <a:latin typeface="Arial" pitchFamily="34" charset="0"/>
                <a:ea typeface="Arial" pitchFamily="34" charset="-122"/>
                <a:cs typeface="Arial" pitchFamily="34" charset="-120"/>
              </a:rPr>
              <a:t>Betrieb</a:t>
            </a:r>
            <a:endParaRPr lang="en-US" sz="1400" dirty="0"/>
          </a:p>
        </p:txBody>
      </p:sp>
      <p:sp>
        <p:nvSpPr>
          <p:cNvPr id="31" name="Text 29"/>
          <p:cNvSpPr/>
          <p:nvPr/>
        </p:nvSpPr>
        <p:spPr>
          <a:xfrm>
            <a:off x="8083296" y="3200400"/>
            <a:ext cx="1444752" cy="1508760"/>
          </a:xfrm>
          <a:prstGeom prst="rect">
            <a:avLst/>
          </a:prstGeom>
          <a:noFill/>
          <a:ln/>
        </p:spPr>
        <p:txBody>
          <a:bodyPr wrap="square" lIns="0" tIns="0" rIns="0" bIns="0" rtlCol="0" anchor="ctr"/>
          <a:lstStyle/>
          <a:p>
            <a:pPr algn="ctr" indent="0" marL="0">
              <a:lnSpc>
                <a:spcPts val="1500"/>
              </a:lnSpc>
              <a:buNone/>
            </a:pPr>
            <a:r>
              <a:rPr lang="en-US" sz="1100" dirty="0">
                <a:solidFill>
                  <a:srgbClr val="575756"/>
                </a:solidFill>
                <a:latin typeface="Arial" pitchFamily="34" charset="0"/>
                <a:ea typeface="Arial" pitchFamily="34" charset="-122"/>
                <a:cs typeface="Arial" pitchFamily="34" charset="-120"/>
              </a:rPr>
              <a:t>Service, Tankung, Überwachung</a:t>
            </a:r>
            <a:endParaRPr lang="en-US" sz="1100" dirty="0"/>
          </a:p>
        </p:txBody>
      </p:sp>
      <p:sp>
        <p:nvSpPr>
          <p:cNvPr id="32" name="Shape 30"/>
          <p:cNvSpPr/>
          <p:nvPr/>
        </p:nvSpPr>
        <p:spPr>
          <a:xfrm>
            <a:off x="9802368" y="2514600"/>
            <a:ext cx="1700784" cy="2331720"/>
          </a:xfrm>
          <a:prstGeom prst="roundRect">
            <a:avLst>
              <a:gd name="adj" fmla="val 4301"/>
            </a:avLst>
          </a:prstGeom>
          <a:solidFill>
            <a:srgbClr val="FBE0E6"/>
          </a:solidFill>
          <a:ln/>
        </p:spPr>
      </p:sp>
      <p:sp>
        <p:nvSpPr>
          <p:cNvPr id="33" name="Shape 31"/>
          <p:cNvSpPr/>
          <p:nvPr/>
        </p:nvSpPr>
        <p:spPr>
          <a:xfrm>
            <a:off x="10396728" y="2011680"/>
            <a:ext cx="512064" cy="512064"/>
          </a:xfrm>
          <a:prstGeom prst="ellipse">
            <a:avLst/>
          </a:prstGeom>
          <a:solidFill>
            <a:srgbClr val="E4022E"/>
          </a:solidFill>
          <a:ln/>
        </p:spPr>
      </p:sp>
      <p:sp>
        <p:nvSpPr>
          <p:cNvPr id="34" name="Text 32"/>
          <p:cNvSpPr/>
          <p:nvPr/>
        </p:nvSpPr>
        <p:spPr>
          <a:xfrm>
            <a:off x="10396728" y="201168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5" name="Text 33"/>
          <p:cNvSpPr/>
          <p:nvPr/>
        </p:nvSpPr>
        <p:spPr>
          <a:xfrm>
            <a:off x="9912096" y="2724912"/>
            <a:ext cx="1481328" cy="457200"/>
          </a:xfrm>
          <a:prstGeom prst="rect">
            <a:avLst/>
          </a:prstGeom>
          <a:noFill/>
          <a:ln/>
        </p:spPr>
        <p:txBody>
          <a:bodyPr wrap="square" lIns="0" tIns="0" rIns="0" bIns="0" rtlCol="0" anchor="t"/>
          <a:lstStyle/>
          <a:p>
            <a:pPr algn="ctr" indent="0" marL="0">
              <a:buNone/>
            </a:pPr>
            <a:r>
              <a:rPr lang="en-US" sz="1400" b="1" dirty="0">
                <a:solidFill>
                  <a:srgbClr val="575756"/>
                </a:solidFill>
                <a:latin typeface="Arial" pitchFamily="34" charset="0"/>
                <a:ea typeface="Arial" pitchFamily="34" charset="-122"/>
                <a:cs typeface="Arial" pitchFamily="34" charset="-120"/>
              </a:rPr>
              <a:t>Rückbau</a:t>
            </a:r>
            <a:endParaRPr lang="en-US" sz="1400" dirty="0"/>
          </a:p>
        </p:txBody>
      </p:sp>
      <p:sp>
        <p:nvSpPr>
          <p:cNvPr id="36" name="Text 34"/>
          <p:cNvSpPr/>
          <p:nvPr/>
        </p:nvSpPr>
        <p:spPr>
          <a:xfrm>
            <a:off x="9930384" y="3200400"/>
            <a:ext cx="1444752" cy="1508760"/>
          </a:xfrm>
          <a:prstGeom prst="rect">
            <a:avLst/>
          </a:prstGeom>
          <a:noFill/>
          <a:ln/>
        </p:spPr>
        <p:txBody>
          <a:bodyPr wrap="square" lIns="0" tIns="0" rIns="0" bIns="0" rtlCol="0" anchor="ctr"/>
          <a:lstStyle/>
          <a:p>
            <a:pPr algn="ctr" indent="0" marL="0">
              <a:lnSpc>
                <a:spcPts val="1500"/>
              </a:lnSpc>
              <a:buNone/>
            </a:pPr>
            <a:r>
              <a:rPr lang="en-US" sz="1100" dirty="0">
                <a:solidFill>
                  <a:srgbClr val="575756"/>
                </a:solidFill>
                <a:latin typeface="Arial" pitchFamily="34" charset="0"/>
                <a:ea typeface="Arial" pitchFamily="34" charset="-122"/>
                <a:cs typeface="Arial" pitchFamily="34" charset="-120"/>
              </a:rPr>
              <a:t>Abholung und Bericht zur Netzqualität</a:t>
            </a:r>
            <a:endParaRPr lang="en-US" sz="1100" dirty="0"/>
          </a:p>
        </p:txBody>
      </p:sp>
      <p:sp>
        <p:nvSpPr>
          <p:cNvPr id="37" name="Shape 35"/>
          <p:cNvSpPr/>
          <p:nvPr/>
        </p:nvSpPr>
        <p:spPr>
          <a:xfrm>
            <a:off x="566928" y="5120640"/>
            <a:ext cx="11055096" cy="1024128"/>
          </a:xfrm>
          <a:prstGeom prst="roundRect">
            <a:avLst>
              <a:gd name="adj" fmla="val 8036"/>
            </a:avLst>
          </a:prstGeom>
          <a:solidFill>
            <a:srgbClr val="575756"/>
          </a:solidFill>
          <a:ln/>
        </p:spPr>
      </p:sp>
      <p:sp>
        <p:nvSpPr>
          <p:cNvPr id="38" name="Text 36"/>
          <p:cNvSpPr/>
          <p:nvPr/>
        </p:nvSpPr>
        <p:spPr>
          <a:xfrm>
            <a:off x="950976" y="5120640"/>
            <a:ext cx="10287000" cy="1024128"/>
          </a:xfrm>
          <a:prstGeom prst="rect">
            <a:avLst/>
          </a:prstGeom>
          <a:noFill/>
          <a:ln/>
        </p:spPr>
        <p:txBody>
          <a:bodyPr wrap="square" lIns="0" tIns="0" rIns="0" bIns="0" rtlCol="0" anchor="ctr"/>
          <a:lstStyle/>
          <a:p>
            <a:pPr indent="0" marL="0">
              <a:lnSpc>
                <a:spcPts val="2200"/>
              </a:lnSpc>
              <a:buNone/>
            </a:pPr>
            <a:r>
              <a:rPr lang="en-US" sz="1400" b="1" dirty="0">
                <a:solidFill>
                  <a:srgbClr val="FFFFFF"/>
                </a:solidFill>
                <a:latin typeface="Arial" pitchFamily="34" charset="0"/>
                <a:ea typeface="Arial" pitchFamily="34" charset="-122"/>
                <a:cs typeface="Arial" pitchFamily="34" charset="-120"/>
              </a:rPr>
              <a:t>Zwischen Anfrage und Anlieferung liegen im Normalfall Tage bis Wochen. Notfälle gehen deutlich schneller — kosten aber mehr und binden das ganze Team. Bitte nie am Telefon einen Termin zusagen.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575756"/>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3C3C3B"/>
          </a:solidFill>
          <a:ln/>
        </p:spPr>
      </p:sp>
      <p:sp>
        <p:nvSpPr>
          <p:cNvPr id="3" name="Text 1"/>
          <p:cNvSpPr/>
          <p:nvPr/>
        </p:nvSpPr>
        <p:spPr>
          <a:xfrm>
            <a:off x="566928" y="1417320"/>
            <a:ext cx="2743200" cy="1737360"/>
          </a:xfrm>
          <a:prstGeom prst="rect">
            <a:avLst/>
          </a:prstGeom>
          <a:noFill/>
          <a:ln/>
        </p:spPr>
        <p:txBody>
          <a:bodyPr wrap="square" lIns="0" tIns="0" rIns="0" bIns="0" rtlCol="0" anchor="ctr"/>
          <a:lstStyle/>
          <a:p>
            <a:pPr indent="0" marL="0">
              <a:buNone/>
            </a:pPr>
            <a:r>
              <a:rPr lang="en-US" sz="9600" b="1" dirty="0">
                <a:solidFill>
                  <a:srgbClr val="E4022E"/>
                </a:solidFill>
                <a:latin typeface="Arial" pitchFamily="34" charset="0"/>
                <a:ea typeface="Arial" pitchFamily="34" charset="-122"/>
                <a:cs typeface="Arial" pitchFamily="34" charset="-120"/>
              </a:rPr>
              <a:t>05</a:t>
            </a:r>
            <a:endParaRPr lang="en-US" sz="9600" dirty="0"/>
          </a:p>
        </p:txBody>
      </p:sp>
      <p:sp>
        <p:nvSpPr>
          <p:cNvPr id="4" name="Text 2"/>
          <p:cNvSpPr/>
          <p:nvPr/>
        </p:nvSpPr>
        <p:spPr>
          <a:xfrm>
            <a:off x="566928" y="3154680"/>
            <a:ext cx="7863840" cy="100584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Was das fürs Marketing heisst</a:t>
            </a:r>
            <a:endParaRPr lang="en-US" sz="4000" dirty="0"/>
          </a:p>
        </p:txBody>
      </p:sp>
      <p:sp>
        <p:nvSpPr>
          <p:cNvPr id="5" name="Text 3"/>
          <p:cNvSpPr/>
          <p:nvPr/>
        </p:nvSpPr>
        <p:spPr>
          <a:xfrm>
            <a:off x="566928" y="4224528"/>
            <a:ext cx="7498080" cy="822960"/>
          </a:xfrm>
          <a:prstGeom prst="rect">
            <a:avLst/>
          </a:prstGeom>
          <a:noFill/>
          <a:ln/>
        </p:spPr>
        <p:txBody>
          <a:bodyPr wrap="square" lIns="0" tIns="0" rIns="0" bIns="0" rtlCol="0" anchor="t"/>
          <a:lstStyle/>
          <a:p>
            <a:pPr indent="0" marL="0">
              <a:lnSpc>
                <a:spcPts val="2200"/>
              </a:lnSpc>
              <a:buNone/>
            </a:pPr>
            <a:r>
              <a:rPr lang="en-US" sz="1500" dirty="0">
                <a:solidFill>
                  <a:srgbClr val="E6E6E6"/>
                </a:solidFill>
                <a:latin typeface="Arial" pitchFamily="34" charset="0"/>
                <a:ea typeface="Arial" pitchFamily="34" charset="-122"/>
                <a:cs typeface="Arial" pitchFamily="34" charset="-120"/>
              </a:rPr>
              <a:t>Wörter, Bilder, Pitch und die Fallen, in die man nur einmal tritt.</a:t>
            </a:r>
            <a:endParaRPr lang="en-US" sz="1500" dirty="0"/>
          </a:p>
        </p:txBody>
      </p:sp>
      <p:pic>
        <p:nvPicPr>
          <p:cNvPr id="6" name="Image 0" descr="/home/claude/ico/chat_w.png">    </p:cNvPr>
          <p:cNvPicPr>
            <a:picLocks noChangeAspect="1"/>
          </p:cNvPicPr>
          <p:nvPr/>
        </p:nvPicPr>
        <p:blipFill>
          <a:blip r:embed="rId1">
            <a:alphaModFix amt="88000"/>
          </a:blip>
          <a:stretch>
            <a:fillRect/>
          </a:stretch>
        </p:blipFill>
        <p:spPr>
          <a:xfrm>
            <a:off x="10058400" y="2651760"/>
            <a:ext cx="1417320" cy="1417320"/>
          </a:xfrm>
          <a:prstGeom prst="rect">
            <a:avLst/>
          </a:prstGeom>
        </p:spPr>
      </p:pic>
      <p:sp>
        <p:nvSpPr>
          <p:cNvPr id="7" name="Text 4"/>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A6A6A6"/>
                </a:solidFill>
                <a:latin typeface="Arial" pitchFamily="34" charset="0"/>
                <a:ea typeface="Arial" pitchFamily="34" charset="-122"/>
                <a:cs typeface="Arial" pitchFamily="34" charset="-120"/>
              </a:rPr>
              <a:t>Mobil in Time AG  |  Strom Quick Dive  |  Marketing-Team</a:t>
            </a:r>
            <a:endParaRPr lang="en-US" sz="900" dirty="0"/>
          </a:p>
        </p:txBody>
      </p:sp>
      <p:sp>
        <p:nvSpPr>
          <p:cNvPr id="8" name="Text 5"/>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A6A6A6"/>
                </a:solidFill>
                <a:latin typeface="Arial" pitchFamily="34" charset="0"/>
                <a:ea typeface="Arial" pitchFamily="34" charset="-122"/>
                <a:cs typeface="Arial"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MARKETING · 1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Wörter, die funktionieren — und Wörter, die schaden</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35</a:t>
            </a:r>
            <a:endParaRPr lang="en-US" sz="1000" dirty="0"/>
          </a:p>
        </p:txBody>
      </p:sp>
      <p:sp>
        <p:nvSpPr>
          <p:cNvPr id="6" name="Shape 4"/>
          <p:cNvSpPr/>
          <p:nvPr/>
        </p:nvSpPr>
        <p:spPr>
          <a:xfrm>
            <a:off x="566928" y="1627632"/>
            <a:ext cx="5349240" cy="3749040"/>
          </a:xfrm>
          <a:prstGeom prst="roundRect">
            <a:avLst>
              <a:gd name="adj" fmla="val 2195"/>
            </a:avLst>
          </a:prstGeom>
          <a:solidFill>
            <a:srgbClr val="F4F4F4"/>
          </a:solidFill>
          <a:ln/>
        </p:spPr>
      </p:sp>
      <p:sp>
        <p:nvSpPr>
          <p:cNvPr id="7" name="Shape 5"/>
          <p:cNvSpPr/>
          <p:nvPr/>
        </p:nvSpPr>
        <p:spPr>
          <a:xfrm>
            <a:off x="896112" y="1883664"/>
            <a:ext cx="548640" cy="548640"/>
          </a:xfrm>
          <a:prstGeom prst="ellipse">
            <a:avLst/>
          </a:prstGeom>
          <a:solidFill>
            <a:srgbClr val="575756"/>
          </a:solidFill>
          <a:ln/>
        </p:spPr>
      </p:sp>
      <p:pic>
        <p:nvPicPr>
          <p:cNvPr id="8" name="Image 0" descr="/home/claude/ico/check_w.png">    </p:cNvPr>
          <p:cNvPicPr>
            <a:picLocks noChangeAspect="1"/>
          </p:cNvPicPr>
          <p:nvPr/>
        </p:nvPicPr>
        <p:blipFill>
          <a:blip r:embed="rId1"/>
          <a:stretch>
            <a:fillRect/>
          </a:stretch>
        </p:blipFill>
        <p:spPr>
          <a:xfrm>
            <a:off x="1038758" y="2026310"/>
            <a:ext cx="263347" cy="263347"/>
          </a:xfrm>
          <a:prstGeom prst="rect">
            <a:avLst/>
          </a:prstGeom>
        </p:spPr>
      </p:pic>
      <p:sp>
        <p:nvSpPr>
          <p:cNvPr id="9" name="Text 6"/>
          <p:cNvSpPr/>
          <p:nvPr/>
        </p:nvSpPr>
        <p:spPr>
          <a:xfrm>
            <a:off x="1572768" y="1920240"/>
            <a:ext cx="2743200" cy="310896"/>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Verwenden</a:t>
            </a:r>
            <a:endParaRPr lang="en-US" sz="1700" dirty="0"/>
          </a:p>
        </p:txBody>
      </p:sp>
      <p:sp>
        <p:nvSpPr>
          <p:cNvPr id="10" name="Text 7"/>
          <p:cNvSpPr/>
          <p:nvPr/>
        </p:nvSpPr>
        <p:spPr>
          <a:xfrm>
            <a:off x="932688" y="2523744"/>
            <a:ext cx="4663440" cy="265176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Versorgungssicherheit</a:t>
            </a:r>
            <a:endParaRPr lang="en-US" sz="1300" dirty="0"/>
          </a:p>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Kein Produktionsstopp</a:t>
            </a:r>
            <a:endParaRPr lang="en-US" sz="1300" dirty="0"/>
          </a:p>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Planbar und dokumentiert</a:t>
            </a:r>
            <a:endParaRPr lang="en-US" sz="1300" dirty="0"/>
          </a:p>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Leise, emissionsarm, HVO</a:t>
            </a:r>
            <a:endParaRPr lang="en-US" sz="1300" dirty="0"/>
          </a:p>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Aus einer Hand</a:t>
            </a:r>
            <a:endParaRPr lang="en-US" sz="1300" dirty="0"/>
          </a:p>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Kurzfristig verfügbar</a:t>
            </a:r>
            <a:endParaRPr lang="en-US" sz="1300" dirty="0"/>
          </a:p>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Nachweis der Netzqualität</a:t>
            </a:r>
            <a:endParaRPr lang="en-US" sz="1300" dirty="0"/>
          </a:p>
        </p:txBody>
      </p:sp>
      <p:sp>
        <p:nvSpPr>
          <p:cNvPr id="11" name="Shape 8"/>
          <p:cNvSpPr/>
          <p:nvPr/>
        </p:nvSpPr>
        <p:spPr>
          <a:xfrm>
            <a:off x="6272784" y="1627632"/>
            <a:ext cx="5349240" cy="3749040"/>
          </a:xfrm>
          <a:prstGeom prst="roundRect">
            <a:avLst>
              <a:gd name="adj" fmla="val 2195"/>
            </a:avLst>
          </a:prstGeom>
          <a:solidFill>
            <a:srgbClr val="F4F4F4"/>
          </a:solidFill>
          <a:ln/>
        </p:spPr>
      </p:sp>
      <p:sp>
        <p:nvSpPr>
          <p:cNvPr id="12" name="Shape 9"/>
          <p:cNvSpPr/>
          <p:nvPr/>
        </p:nvSpPr>
        <p:spPr>
          <a:xfrm>
            <a:off x="6601968" y="1883664"/>
            <a:ext cx="548640" cy="548640"/>
          </a:xfrm>
          <a:prstGeom prst="ellipse">
            <a:avLst/>
          </a:prstGeom>
          <a:solidFill>
            <a:srgbClr val="E4022E"/>
          </a:solidFill>
          <a:ln/>
        </p:spPr>
      </p:sp>
      <p:pic>
        <p:nvPicPr>
          <p:cNvPr id="13" name="Image 1" descr="/home/claude/ico/cross_w.png">    </p:cNvPr>
          <p:cNvPicPr>
            <a:picLocks noChangeAspect="1"/>
          </p:cNvPicPr>
          <p:nvPr/>
        </p:nvPicPr>
        <p:blipFill>
          <a:blip r:embed="rId2"/>
          <a:stretch>
            <a:fillRect/>
          </a:stretch>
        </p:blipFill>
        <p:spPr>
          <a:xfrm>
            <a:off x="6744614" y="2026310"/>
            <a:ext cx="263347" cy="263347"/>
          </a:xfrm>
          <a:prstGeom prst="rect">
            <a:avLst/>
          </a:prstGeom>
        </p:spPr>
      </p:pic>
      <p:sp>
        <p:nvSpPr>
          <p:cNvPr id="14" name="Text 10"/>
          <p:cNvSpPr/>
          <p:nvPr/>
        </p:nvSpPr>
        <p:spPr>
          <a:xfrm>
            <a:off x="7278624" y="1920240"/>
            <a:ext cx="2743200" cy="310896"/>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Vermeiden</a:t>
            </a:r>
            <a:endParaRPr lang="en-US" sz="1700" dirty="0"/>
          </a:p>
        </p:txBody>
      </p:sp>
      <p:sp>
        <p:nvSpPr>
          <p:cNvPr id="15" name="Text 11"/>
          <p:cNvSpPr/>
          <p:nvPr/>
        </p:nvSpPr>
        <p:spPr>
          <a:xfrm>
            <a:off x="6638544" y="2523744"/>
            <a:ext cx="4663440" cy="265176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Günstig, billig, Schnäppchen</a:t>
            </a:r>
            <a:endParaRPr lang="en-US" sz="1300" dirty="0"/>
          </a:p>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Weltmarktführer und andere Superlative</a:t>
            </a:r>
            <a:endParaRPr lang="en-US" sz="1300" dirty="0"/>
          </a:p>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Notstrom (klingt nach Panik statt Planung)</a:t>
            </a:r>
            <a:endParaRPr lang="en-US" sz="1300" dirty="0"/>
          </a:p>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Lösungen ohne konkretes Bild dahinter</a:t>
            </a:r>
            <a:endParaRPr lang="en-US" sz="1300" dirty="0"/>
          </a:p>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Abkürzungen ohne Erklärung beim ersten Mal</a:t>
            </a:r>
            <a:endParaRPr lang="en-US" sz="1300" dirty="0"/>
          </a:p>
          <a:p>
            <a:pPr marL="342900" indent="-342900">
              <a:spcAft>
                <a:spcPts val="800"/>
              </a:spcAft>
              <a:buSzPct val="100000"/>
              <a:buChar char="•"/>
            </a:pPr>
            <a:r>
              <a:rPr lang="en-US" sz="1300" dirty="0">
                <a:solidFill>
                  <a:srgbClr val="575756"/>
                </a:solidFill>
                <a:latin typeface="Arial" pitchFamily="34" charset="0"/>
                <a:ea typeface="Arial" pitchFamily="34" charset="-122"/>
                <a:cs typeface="Arial" pitchFamily="34" charset="-120"/>
              </a:rPr>
              <a:t>Zahlen ohne Bezugsgrösse</a:t>
            </a:r>
            <a:endParaRPr lang="en-US" sz="1300" dirty="0"/>
          </a:p>
        </p:txBody>
      </p:sp>
      <p:sp>
        <p:nvSpPr>
          <p:cNvPr id="16" name="Text 12"/>
          <p:cNvSpPr/>
          <p:nvPr/>
        </p:nvSpPr>
        <p:spPr>
          <a:xfrm>
            <a:off x="566928" y="5632704"/>
            <a:ext cx="11055096" cy="457200"/>
          </a:xfrm>
          <a:prstGeom prst="rect">
            <a:avLst/>
          </a:prstGeom>
          <a:noFill/>
          <a:ln/>
        </p:spPr>
        <p:txBody>
          <a:bodyPr wrap="square" lIns="0" tIns="0" rIns="0" bIns="0" rtlCol="0" anchor="ctr"/>
          <a:lstStyle/>
          <a:p>
            <a:pPr indent="0" marL="0">
              <a:buNone/>
            </a:pPr>
            <a:r>
              <a:rPr lang="en-US" sz="1250" i="1" dirty="0">
                <a:solidFill>
                  <a:srgbClr val="8A8A8C"/>
                </a:solidFill>
                <a:latin typeface="Arial" pitchFamily="34" charset="0"/>
                <a:ea typeface="Arial" pitchFamily="34" charset="-122"/>
                <a:cs typeface="Arial" pitchFamily="34" charset="-120"/>
              </a:rPr>
              <a:t>Schweizer Kunden reagieren auf Superlative mit Misstrauen. Understatement mit Belegen wirkt hier stärker als jeder Ausrufezeichen-Satz.</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MARKETING · 2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Bildsprache: was funktioniert</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36</a:t>
            </a:r>
            <a:endParaRPr lang="en-US" sz="1000" dirty="0"/>
          </a:p>
        </p:txBody>
      </p:sp>
      <p:sp>
        <p:nvSpPr>
          <p:cNvPr id="6" name="Shape 4"/>
          <p:cNvSpPr/>
          <p:nvPr/>
        </p:nvSpPr>
        <p:spPr>
          <a:xfrm>
            <a:off x="566928" y="1645920"/>
            <a:ext cx="11055096" cy="1298448"/>
          </a:xfrm>
          <a:prstGeom prst="roundRect">
            <a:avLst>
              <a:gd name="adj" fmla="val 6338"/>
            </a:avLst>
          </a:prstGeom>
          <a:solidFill>
            <a:srgbClr val="F4F4F4"/>
          </a:solidFill>
          <a:ln/>
        </p:spPr>
      </p:sp>
      <p:sp>
        <p:nvSpPr>
          <p:cNvPr id="7" name="Shape 5"/>
          <p:cNvSpPr/>
          <p:nvPr/>
        </p:nvSpPr>
        <p:spPr>
          <a:xfrm>
            <a:off x="877824" y="1975104"/>
            <a:ext cx="640080" cy="640080"/>
          </a:xfrm>
          <a:prstGeom prst="ellipse">
            <a:avLst/>
          </a:prstGeom>
          <a:solidFill>
            <a:srgbClr val="575756"/>
          </a:solidFill>
          <a:ln/>
        </p:spPr>
      </p:sp>
      <p:pic>
        <p:nvPicPr>
          <p:cNvPr id="8" name="Image 0" descr="/home/claude/ico/camera_w.png">    </p:cNvPr>
          <p:cNvPicPr>
            <a:picLocks noChangeAspect="1"/>
          </p:cNvPicPr>
          <p:nvPr/>
        </p:nvPicPr>
        <p:blipFill>
          <a:blip r:embed="rId1"/>
          <a:stretch>
            <a:fillRect/>
          </a:stretch>
        </p:blipFill>
        <p:spPr>
          <a:xfrm>
            <a:off x="1044245" y="2141525"/>
            <a:ext cx="307238" cy="307238"/>
          </a:xfrm>
          <a:prstGeom prst="rect">
            <a:avLst/>
          </a:prstGeom>
        </p:spPr>
      </p:pic>
      <p:sp>
        <p:nvSpPr>
          <p:cNvPr id="9" name="Text 6"/>
          <p:cNvSpPr/>
          <p:nvPr/>
        </p:nvSpPr>
        <p:spPr>
          <a:xfrm>
            <a:off x="1737360" y="1865376"/>
            <a:ext cx="5486400" cy="32918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Zeigt das</a:t>
            </a:r>
            <a:endParaRPr lang="en-US" sz="1700" dirty="0"/>
          </a:p>
        </p:txBody>
      </p:sp>
      <p:sp>
        <p:nvSpPr>
          <p:cNvPr id="10" name="Text 7"/>
          <p:cNvSpPr/>
          <p:nvPr/>
        </p:nvSpPr>
        <p:spPr>
          <a:xfrm>
            <a:off x="1737360" y="2231136"/>
            <a:ext cx="9454896" cy="64008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Maschinen im echten Einsatz mit Umgebung drumherum. Menschen im Bild. Kabelwege, Verteiler, eine Baustelle bei Nacht mit Licht.</a:t>
            </a:r>
            <a:endParaRPr lang="en-US" sz="1300" dirty="0"/>
          </a:p>
        </p:txBody>
      </p:sp>
      <p:sp>
        <p:nvSpPr>
          <p:cNvPr id="11" name="Shape 8"/>
          <p:cNvSpPr/>
          <p:nvPr/>
        </p:nvSpPr>
        <p:spPr>
          <a:xfrm>
            <a:off x="566928" y="3108960"/>
            <a:ext cx="11055096" cy="1298448"/>
          </a:xfrm>
          <a:prstGeom prst="roundRect">
            <a:avLst>
              <a:gd name="adj" fmla="val 6338"/>
            </a:avLst>
          </a:prstGeom>
          <a:solidFill>
            <a:srgbClr val="F4F4F4"/>
          </a:solidFill>
          <a:ln/>
        </p:spPr>
      </p:sp>
      <p:sp>
        <p:nvSpPr>
          <p:cNvPr id="12" name="Shape 9"/>
          <p:cNvSpPr/>
          <p:nvPr/>
        </p:nvSpPr>
        <p:spPr>
          <a:xfrm>
            <a:off x="877824" y="3438144"/>
            <a:ext cx="640080" cy="640080"/>
          </a:xfrm>
          <a:prstGeom prst="ellipse">
            <a:avLst/>
          </a:prstGeom>
          <a:solidFill>
            <a:srgbClr val="E4022E"/>
          </a:solidFill>
          <a:ln/>
        </p:spPr>
      </p:sp>
      <p:pic>
        <p:nvPicPr>
          <p:cNvPr id="13" name="Image 1" descr="/home/claude/ico/cross_w.png">    </p:cNvPr>
          <p:cNvPicPr>
            <a:picLocks noChangeAspect="1"/>
          </p:cNvPicPr>
          <p:nvPr/>
        </p:nvPicPr>
        <p:blipFill>
          <a:blip r:embed="rId2"/>
          <a:stretch>
            <a:fillRect/>
          </a:stretch>
        </p:blipFill>
        <p:spPr>
          <a:xfrm>
            <a:off x="1044245" y="3604565"/>
            <a:ext cx="307238" cy="307238"/>
          </a:xfrm>
          <a:prstGeom prst="rect">
            <a:avLst/>
          </a:prstGeom>
        </p:spPr>
      </p:pic>
      <p:sp>
        <p:nvSpPr>
          <p:cNvPr id="14" name="Text 10"/>
          <p:cNvSpPr/>
          <p:nvPr/>
        </p:nvSpPr>
        <p:spPr>
          <a:xfrm>
            <a:off x="1737360" y="3328416"/>
            <a:ext cx="5486400" cy="32918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Zeigt das nicht</a:t>
            </a:r>
            <a:endParaRPr lang="en-US" sz="1700" dirty="0"/>
          </a:p>
        </p:txBody>
      </p:sp>
      <p:sp>
        <p:nvSpPr>
          <p:cNvPr id="15" name="Text 11"/>
          <p:cNvSpPr/>
          <p:nvPr/>
        </p:nvSpPr>
        <p:spPr>
          <a:xfrm>
            <a:off x="1737360" y="3694176"/>
            <a:ext cx="9454896" cy="64008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Freigestellte Maschinen auf weissem Hintergrund. Stockfotos mit Glühbirnen. Steckdosen-Klischees. Blitze im Himmel.</a:t>
            </a:r>
            <a:endParaRPr lang="en-US" sz="1300" dirty="0"/>
          </a:p>
        </p:txBody>
      </p:sp>
      <p:sp>
        <p:nvSpPr>
          <p:cNvPr id="16" name="Shape 12"/>
          <p:cNvSpPr/>
          <p:nvPr/>
        </p:nvSpPr>
        <p:spPr>
          <a:xfrm>
            <a:off x="566928" y="4572000"/>
            <a:ext cx="11055096" cy="1298448"/>
          </a:xfrm>
          <a:prstGeom prst="roundRect">
            <a:avLst>
              <a:gd name="adj" fmla="val 6338"/>
            </a:avLst>
          </a:prstGeom>
          <a:solidFill>
            <a:srgbClr val="F4F4F4"/>
          </a:solidFill>
          <a:ln/>
        </p:spPr>
      </p:sp>
      <p:sp>
        <p:nvSpPr>
          <p:cNvPr id="17" name="Shape 13"/>
          <p:cNvSpPr/>
          <p:nvPr/>
        </p:nvSpPr>
        <p:spPr>
          <a:xfrm>
            <a:off x="877824" y="4901184"/>
            <a:ext cx="640080" cy="640080"/>
          </a:xfrm>
          <a:prstGeom prst="ellipse">
            <a:avLst/>
          </a:prstGeom>
          <a:solidFill>
            <a:srgbClr val="575756"/>
          </a:solidFill>
          <a:ln/>
        </p:spPr>
      </p:sp>
      <p:pic>
        <p:nvPicPr>
          <p:cNvPr id="18" name="Image 2" descr="/home/claude/ico/clip_w.png">    </p:cNvPr>
          <p:cNvPicPr>
            <a:picLocks noChangeAspect="1"/>
          </p:cNvPicPr>
          <p:nvPr/>
        </p:nvPicPr>
        <p:blipFill>
          <a:blip r:embed="rId3"/>
          <a:stretch>
            <a:fillRect/>
          </a:stretch>
        </p:blipFill>
        <p:spPr>
          <a:xfrm>
            <a:off x="1044245" y="5067605"/>
            <a:ext cx="307238" cy="307238"/>
          </a:xfrm>
          <a:prstGeom prst="rect">
            <a:avLst/>
          </a:prstGeom>
        </p:spPr>
      </p:pic>
      <p:sp>
        <p:nvSpPr>
          <p:cNvPr id="19" name="Text 14"/>
          <p:cNvSpPr/>
          <p:nvPr/>
        </p:nvSpPr>
        <p:spPr>
          <a:xfrm>
            <a:off x="1737360" y="4791456"/>
            <a:ext cx="5486400" cy="329184"/>
          </a:xfrm>
          <a:prstGeom prst="rect">
            <a:avLst/>
          </a:prstGeom>
          <a:noFill/>
          <a:ln/>
        </p:spPr>
        <p:txBody>
          <a:bodyPr wrap="square" lIns="0" tIns="0" rIns="0" bIns="0" rtlCol="0" anchor="ctr"/>
          <a:lstStyle/>
          <a:p>
            <a:pPr indent="0" marL="0">
              <a:buNone/>
            </a:pPr>
            <a:r>
              <a:rPr lang="en-US" sz="1700" b="1" dirty="0">
                <a:solidFill>
                  <a:srgbClr val="575756"/>
                </a:solidFill>
                <a:latin typeface="Arial" pitchFamily="34" charset="0"/>
                <a:ea typeface="Arial" pitchFamily="34" charset="-122"/>
                <a:cs typeface="Arial" pitchFamily="34" charset="-120"/>
              </a:rPr>
              <a:t>Immer zuerst klären</a:t>
            </a:r>
            <a:endParaRPr lang="en-US" sz="1700" dirty="0"/>
          </a:p>
        </p:txBody>
      </p:sp>
      <p:sp>
        <p:nvSpPr>
          <p:cNvPr id="20" name="Text 15"/>
          <p:cNvSpPr/>
          <p:nvPr/>
        </p:nvSpPr>
        <p:spPr>
          <a:xfrm>
            <a:off x="1737360" y="5157216"/>
            <a:ext cx="9454896" cy="640080"/>
          </a:xfrm>
          <a:prstGeom prst="rect">
            <a:avLst/>
          </a:prstGeom>
          <a:noFill/>
          <a:ln/>
        </p:spPr>
        <p:txBody>
          <a:bodyPr wrap="square" lIns="0" tIns="0" rIns="0" bIns="0" rtlCol="0" anchor="t"/>
          <a:lstStyle/>
          <a:p>
            <a:pPr indent="0" marL="0">
              <a:lnSpc>
                <a:spcPts val="1900"/>
              </a:lnSpc>
              <a:buNone/>
            </a:pPr>
            <a:r>
              <a:rPr lang="en-US" sz="1300" dirty="0">
                <a:solidFill>
                  <a:srgbClr val="575756"/>
                </a:solidFill>
                <a:latin typeface="Arial" pitchFamily="34" charset="0"/>
                <a:ea typeface="Arial" pitchFamily="34" charset="-122"/>
                <a:cs typeface="Arial" pitchFamily="34" charset="-120"/>
              </a:rPr>
              <a:t>Freigabe des Kunden vor jeder Veröffentlichung. Ohne Ausnahme, auch bei einem harmlosen Bild. Bei Sicherheitsstandorten gilt oft ein generelles Fotoverbot.</a:t>
            </a:r>
            <a:endParaRPr lang="en-US" sz="1300" dirty="0"/>
          </a:p>
        </p:txBody>
      </p:sp>
      <p:sp>
        <p:nvSpPr>
          <p:cNvPr id="21" name="Shape 16"/>
          <p:cNvSpPr/>
          <p:nvPr/>
        </p:nvSpPr>
        <p:spPr>
          <a:xfrm>
            <a:off x="566928" y="5614416"/>
            <a:ext cx="11055096" cy="603504"/>
          </a:xfrm>
          <a:prstGeom prst="roundRect">
            <a:avLst>
              <a:gd name="adj" fmla="val 13636"/>
            </a:avLst>
          </a:prstGeom>
          <a:solidFill>
            <a:srgbClr val="575756"/>
          </a:solidFill>
          <a:ln/>
        </p:spPr>
      </p:sp>
      <p:sp>
        <p:nvSpPr>
          <p:cNvPr id="22" name="Text 17"/>
          <p:cNvSpPr/>
          <p:nvPr/>
        </p:nvSpPr>
        <p:spPr>
          <a:xfrm>
            <a:off x="932688" y="5614416"/>
            <a:ext cx="10323576" cy="603504"/>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Ein echtes Bild von einer echten Baustelle schlägt jedes Stockfoto. Auch wenn es weniger perfekt aussieht.</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MARKETING · 3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Fünf Sätze, die immer stimmen</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37</a:t>
            </a:r>
            <a:endParaRPr lang="en-US" sz="1000" dirty="0"/>
          </a:p>
        </p:txBody>
      </p:sp>
      <p:sp>
        <p:nvSpPr>
          <p:cNvPr id="6" name="Shape 4"/>
          <p:cNvSpPr/>
          <p:nvPr/>
        </p:nvSpPr>
        <p:spPr>
          <a:xfrm>
            <a:off x="566928" y="1664208"/>
            <a:ext cx="11055096" cy="768096"/>
          </a:xfrm>
          <a:prstGeom prst="roundRect">
            <a:avLst>
              <a:gd name="adj" fmla="val 10714"/>
            </a:avLst>
          </a:prstGeom>
          <a:solidFill>
            <a:srgbClr val="F4F4F4"/>
          </a:solidFill>
          <a:ln/>
        </p:spPr>
      </p:sp>
      <p:sp>
        <p:nvSpPr>
          <p:cNvPr id="7" name="Shape 5"/>
          <p:cNvSpPr/>
          <p:nvPr/>
        </p:nvSpPr>
        <p:spPr>
          <a:xfrm>
            <a:off x="859536" y="1810512"/>
            <a:ext cx="475488" cy="475488"/>
          </a:xfrm>
          <a:prstGeom prst="ellipse">
            <a:avLst/>
          </a:prstGeom>
          <a:solidFill>
            <a:srgbClr val="575756"/>
          </a:solidFill>
          <a:ln/>
        </p:spPr>
      </p:sp>
      <p:sp>
        <p:nvSpPr>
          <p:cNvPr id="8" name="Text 6"/>
          <p:cNvSpPr/>
          <p:nvPr/>
        </p:nvSpPr>
        <p:spPr>
          <a:xfrm>
            <a:off x="859536" y="181051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1572768" y="1664208"/>
            <a:ext cx="9683496" cy="768096"/>
          </a:xfrm>
          <a:prstGeom prst="rect">
            <a:avLst/>
          </a:prstGeom>
          <a:noFill/>
          <a:ln/>
        </p:spPr>
        <p:txBody>
          <a:bodyPr wrap="square" lIns="0" tIns="0" rIns="0" bIns="0" rtlCol="0" anchor="ctr"/>
          <a:lstStyle/>
          <a:p>
            <a:pPr indent="0" marL="0">
              <a:buNone/>
            </a:pPr>
            <a:r>
              <a:rPr lang="en-US" sz="1500" dirty="0">
                <a:solidFill>
                  <a:srgbClr val="575756"/>
                </a:solidFill>
                <a:latin typeface="Arial" pitchFamily="34" charset="0"/>
                <a:ea typeface="Arial" pitchFamily="34" charset="-122"/>
                <a:cs typeface="Arial" pitchFamily="34" charset="-120"/>
              </a:rPr>
              <a:t>Wir vermieten mobile Stromversorgung: von der Baustellensteckdose bis zum Megawatt.</a:t>
            </a:r>
            <a:endParaRPr lang="en-US" sz="1500" dirty="0"/>
          </a:p>
        </p:txBody>
      </p:sp>
      <p:sp>
        <p:nvSpPr>
          <p:cNvPr id="10" name="Shape 8"/>
          <p:cNvSpPr/>
          <p:nvPr/>
        </p:nvSpPr>
        <p:spPr>
          <a:xfrm>
            <a:off x="566928" y="2560320"/>
            <a:ext cx="11055096" cy="768096"/>
          </a:xfrm>
          <a:prstGeom prst="roundRect">
            <a:avLst>
              <a:gd name="adj" fmla="val 10714"/>
            </a:avLst>
          </a:prstGeom>
          <a:solidFill>
            <a:srgbClr val="F4F4F4"/>
          </a:solidFill>
          <a:ln/>
        </p:spPr>
      </p:sp>
      <p:sp>
        <p:nvSpPr>
          <p:cNvPr id="11" name="Shape 9"/>
          <p:cNvSpPr/>
          <p:nvPr/>
        </p:nvSpPr>
        <p:spPr>
          <a:xfrm>
            <a:off x="859536" y="2706624"/>
            <a:ext cx="475488" cy="475488"/>
          </a:xfrm>
          <a:prstGeom prst="ellipse">
            <a:avLst/>
          </a:prstGeom>
          <a:solidFill>
            <a:srgbClr val="575756"/>
          </a:solidFill>
          <a:ln/>
        </p:spPr>
      </p:sp>
      <p:sp>
        <p:nvSpPr>
          <p:cNvPr id="12" name="Text 10"/>
          <p:cNvSpPr/>
          <p:nvPr/>
        </p:nvSpPr>
        <p:spPr>
          <a:xfrm>
            <a:off x="859536" y="270662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1572768" y="2560320"/>
            <a:ext cx="9683496" cy="768096"/>
          </a:xfrm>
          <a:prstGeom prst="rect">
            <a:avLst/>
          </a:prstGeom>
          <a:noFill/>
          <a:ln/>
        </p:spPr>
        <p:txBody>
          <a:bodyPr wrap="square" lIns="0" tIns="0" rIns="0" bIns="0" rtlCol="0" anchor="ctr"/>
          <a:lstStyle/>
          <a:p>
            <a:pPr indent="0" marL="0">
              <a:buNone/>
            </a:pPr>
            <a:r>
              <a:rPr lang="en-US" sz="1500" dirty="0">
                <a:solidFill>
                  <a:srgbClr val="575756"/>
                </a:solidFill>
                <a:latin typeface="Arial" pitchFamily="34" charset="0"/>
                <a:ea typeface="Arial" pitchFamily="34" charset="-122"/>
                <a:cs typeface="Arial" pitchFamily="34" charset="-120"/>
              </a:rPr>
              <a:t>Alles aus einer Hand: Wärme, Kälte und Strom. Ein Ansprechpartner, eine Nummer.</a:t>
            </a:r>
            <a:endParaRPr lang="en-US" sz="1500" dirty="0"/>
          </a:p>
        </p:txBody>
      </p:sp>
      <p:sp>
        <p:nvSpPr>
          <p:cNvPr id="14" name="Shape 12"/>
          <p:cNvSpPr/>
          <p:nvPr/>
        </p:nvSpPr>
        <p:spPr>
          <a:xfrm>
            <a:off x="566928" y="3456432"/>
            <a:ext cx="11055096" cy="768096"/>
          </a:xfrm>
          <a:prstGeom prst="roundRect">
            <a:avLst>
              <a:gd name="adj" fmla="val 10714"/>
            </a:avLst>
          </a:prstGeom>
          <a:solidFill>
            <a:srgbClr val="FBE0E6"/>
          </a:solidFill>
          <a:ln/>
        </p:spPr>
      </p:sp>
      <p:sp>
        <p:nvSpPr>
          <p:cNvPr id="15" name="Shape 13"/>
          <p:cNvSpPr/>
          <p:nvPr/>
        </p:nvSpPr>
        <p:spPr>
          <a:xfrm>
            <a:off x="859536" y="3602736"/>
            <a:ext cx="475488" cy="475488"/>
          </a:xfrm>
          <a:prstGeom prst="ellipse">
            <a:avLst/>
          </a:prstGeom>
          <a:solidFill>
            <a:srgbClr val="E4022E"/>
          </a:solidFill>
          <a:ln/>
        </p:spPr>
      </p:sp>
      <p:sp>
        <p:nvSpPr>
          <p:cNvPr id="16" name="Text 14"/>
          <p:cNvSpPr/>
          <p:nvPr/>
        </p:nvSpPr>
        <p:spPr>
          <a:xfrm>
            <a:off x="859536" y="360273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572768" y="3456432"/>
            <a:ext cx="9683496" cy="768096"/>
          </a:xfrm>
          <a:prstGeom prst="rect">
            <a:avLst/>
          </a:prstGeom>
          <a:noFill/>
          <a:ln/>
        </p:spPr>
        <p:txBody>
          <a:bodyPr wrap="square" lIns="0" tIns="0" rIns="0" bIns="0" rtlCol="0" anchor="ctr"/>
          <a:lstStyle/>
          <a:p>
            <a:pPr indent="0" marL="0">
              <a:buNone/>
            </a:pPr>
            <a:r>
              <a:rPr lang="en-US" sz="1500" b="1" dirty="0">
                <a:solidFill>
                  <a:srgbClr val="575756"/>
                </a:solidFill>
                <a:latin typeface="Arial" pitchFamily="34" charset="0"/>
                <a:ea typeface="Arial" pitchFamily="34" charset="-122"/>
                <a:cs typeface="Arial" pitchFamily="34" charset="-120"/>
              </a:rPr>
              <a:t>Wir liefern nicht nur Strom, wir weisen nach, dass er sauber war.</a:t>
            </a:r>
            <a:endParaRPr lang="en-US" sz="1500" dirty="0"/>
          </a:p>
        </p:txBody>
      </p:sp>
      <p:sp>
        <p:nvSpPr>
          <p:cNvPr id="18" name="Shape 16"/>
          <p:cNvSpPr/>
          <p:nvPr/>
        </p:nvSpPr>
        <p:spPr>
          <a:xfrm>
            <a:off x="566928" y="4352544"/>
            <a:ext cx="11055096" cy="768096"/>
          </a:xfrm>
          <a:prstGeom prst="roundRect">
            <a:avLst>
              <a:gd name="adj" fmla="val 10714"/>
            </a:avLst>
          </a:prstGeom>
          <a:solidFill>
            <a:srgbClr val="F4F4F4"/>
          </a:solidFill>
          <a:ln/>
        </p:spPr>
      </p:sp>
      <p:sp>
        <p:nvSpPr>
          <p:cNvPr id="19" name="Shape 17"/>
          <p:cNvSpPr/>
          <p:nvPr/>
        </p:nvSpPr>
        <p:spPr>
          <a:xfrm>
            <a:off x="859536" y="4498848"/>
            <a:ext cx="475488" cy="475488"/>
          </a:xfrm>
          <a:prstGeom prst="ellipse">
            <a:avLst/>
          </a:prstGeom>
          <a:solidFill>
            <a:srgbClr val="575756"/>
          </a:solidFill>
          <a:ln/>
        </p:spPr>
      </p:sp>
      <p:sp>
        <p:nvSpPr>
          <p:cNvPr id="20" name="Text 18"/>
          <p:cNvSpPr/>
          <p:nvPr/>
        </p:nvSpPr>
        <p:spPr>
          <a:xfrm>
            <a:off x="859536" y="44988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Text 19"/>
          <p:cNvSpPr/>
          <p:nvPr/>
        </p:nvSpPr>
        <p:spPr>
          <a:xfrm>
            <a:off x="1572768" y="4352544"/>
            <a:ext cx="9683496" cy="768096"/>
          </a:xfrm>
          <a:prstGeom prst="rect">
            <a:avLst/>
          </a:prstGeom>
          <a:noFill/>
          <a:ln/>
        </p:spPr>
        <p:txBody>
          <a:bodyPr wrap="square" lIns="0" tIns="0" rIns="0" bIns="0" rtlCol="0" anchor="ctr"/>
          <a:lstStyle/>
          <a:p>
            <a:pPr indent="0" marL="0">
              <a:buNone/>
            </a:pPr>
            <a:r>
              <a:rPr lang="en-US" sz="1500" dirty="0">
                <a:solidFill>
                  <a:srgbClr val="575756"/>
                </a:solidFill>
                <a:latin typeface="Arial" pitchFamily="34" charset="0"/>
                <a:ea typeface="Arial" pitchFamily="34" charset="-122"/>
                <a:cs typeface="Arial" pitchFamily="34" charset="-120"/>
              </a:rPr>
              <a:t>Die Aggreko-Flotte im Rücken, ein Schweizer Team davor.</a:t>
            </a:r>
            <a:endParaRPr lang="en-US" sz="1500" dirty="0"/>
          </a:p>
        </p:txBody>
      </p:sp>
      <p:sp>
        <p:nvSpPr>
          <p:cNvPr id="22" name="Shape 20"/>
          <p:cNvSpPr/>
          <p:nvPr/>
        </p:nvSpPr>
        <p:spPr>
          <a:xfrm>
            <a:off x="566928" y="5248656"/>
            <a:ext cx="11055096" cy="768096"/>
          </a:xfrm>
          <a:prstGeom prst="roundRect">
            <a:avLst>
              <a:gd name="adj" fmla="val 10714"/>
            </a:avLst>
          </a:prstGeom>
          <a:solidFill>
            <a:srgbClr val="F4F4F4"/>
          </a:solidFill>
          <a:ln/>
        </p:spPr>
      </p:sp>
      <p:sp>
        <p:nvSpPr>
          <p:cNvPr id="23" name="Shape 21"/>
          <p:cNvSpPr/>
          <p:nvPr/>
        </p:nvSpPr>
        <p:spPr>
          <a:xfrm>
            <a:off x="859536" y="5394960"/>
            <a:ext cx="475488" cy="475488"/>
          </a:xfrm>
          <a:prstGeom prst="ellipse">
            <a:avLst/>
          </a:prstGeom>
          <a:solidFill>
            <a:srgbClr val="575756"/>
          </a:solidFill>
          <a:ln/>
        </p:spPr>
      </p:sp>
      <p:sp>
        <p:nvSpPr>
          <p:cNvPr id="24" name="Text 22"/>
          <p:cNvSpPr/>
          <p:nvPr/>
        </p:nvSpPr>
        <p:spPr>
          <a:xfrm>
            <a:off x="859536" y="539496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5" name="Text 23"/>
          <p:cNvSpPr/>
          <p:nvPr/>
        </p:nvSpPr>
        <p:spPr>
          <a:xfrm>
            <a:off x="1572768" y="5248656"/>
            <a:ext cx="9683496" cy="768096"/>
          </a:xfrm>
          <a:prstGeom prst="rect">
            <a:avLst/>
          </a:prstGeom>
          <a:noFill/>
          <a:ln/>
        </p:spPr>
        <p:txBody>
          <a:bodyPr wrap="square" lIns="0" tIns="0" rIns="0" bIns="0" rtlCol="0" anchor="ctr"/>
          <a:lstStyle/>
          <a:p>
            <a:pPr indent="0" marL="0">
              <a:buNone/>
            </a:pPr>
            <a:r>
              <a:rPr lang="en-US" sz="1500" dirty="0">
                <a:solidFill>
                  <a:srgbClr val="575756"/>
                </a:solidFill>
                <a:latin typeface="Arial" pitchFamily="34" charset="0"/>
                <a:ea typeface="Arial" pitchFamily="34" charset="-122"/>
                <a:cs typeface="Arial" pitchFamily="34" charset="-120"/>
              </a:rPr>
              <a:t>Wenn es schnell gehen muss, geht es schnell.</a:t>
            </a:r>
            <a:endParaRPr lang="en-US" sz="1500" dirty="0"/>
          </a:p>
        </p:txBody>
      </p:sp>
      <p:sp>
        <p:nvSpPr>
          <p:cNvPr id="26" name="Text 24"/>
          <p:cNvSpPr/>
          <p:nvPr/>
        </p:nvSpPr>
        <p:spPr>
          <a:xfrm>
            <a:off x="566928" y="5888736"/>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Satz 3 ist der einzige, den kein Wettbewerber in der Schweiz sagen kann. Er gehört in jeden längeren Text.</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MARKETING · 4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Die fünf Fragen, die euch gestellt werden</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38</a:t>
            </a:r>
            <a:endParaRPr lang="en-US" sz="1000" dirty="0"/>
          </a:p>
        </p:txBody>
      </p:sp>
      <p:sp>
        <p:nvSpPr>
          <p:cNvPr id="6" name="Shape 4"/>
          <p:cNvSpPr/>
          <p:nvPr/>
        </p:nvSpPr>
        <p:spPr>
          <a:xfrm>
            <a:off x="566928" y="1645920"/>
            <a:ext cx="11055096" cy="749808"/>
          </a:xfrm>
          <a:prstGeom prst="roundRect">
            <a:avLst>
              <a:gd name="adj" fmla="val 6098"/>
            </a:avLst>
          </a:prstGeom>
          <a:solidFill>
            <a:srgbClr val="F4F4F4"/>
          </a:solidFill>
          <a:ln/>
        </p:spPr>
      </p:sp>
      <p:sp>
        <p:nvSpPr>
          <p:cNvPr id="7" name="Text 5"/>
          <p:cNvSpPr/>
          <p:nvPr/>
        </p:nvSpPr>
        <p:spPr>
          <a:xfrm>
            <a:off x="877824" y="1645920"/>
            <a:ext cx="4114800" cy="749808"/>
          </a:xfrm>
          <a:prstGeom prst="rect">
            <a:avLst/>
          </a:prstGeom>
          <a:noFill/>
          <a:ln/>
        </p:spPr>
        <p:txBody>
          <a:bodyPr wrap="square" lIns="0" tIns="0" rIns="0" bIns="0" rtlCol="0" anchor="ctr"/>
          <a:lstStyle/>
          <a:p>
            <a:pPr indent="0" marL="0">
              <a:buNone/>
            </a:pPr>
            <a:r>
              <a:rPr lang="en-US" sz="1350" b="1" dirty="0">
                <a:solidFill>
                  <a:srgbClr val="575756"/>
                </a:solidFill>
                <a:latin typeface="Arial" pitchFamily="34" charset="0"/>
                <a:ea typeface="Arial" pitchFamily="34" charset="-122"/>
                <a:cs typeface="Arial" pitchFamily="34" charset="-120"/>
              </a:rPr>
              <a:t>"Was kostet so ein Generator?"</a:t>
            </a:r>
            <a:endParaRPr lang="en-US" sz="1350" dirty="0"/>
          </a:p>
        </p:txBody>
      </p:sp>
      <p:sp>
        <p:nvSpPr>
          <p:cNvPr id="8" name="Text 6"/>
          <p:cNvSpPr/>
          <p:nvPr/>
        </p:nvSpPr>
        <p:spPr>
          <a:xfrm>
            <a:off x="5138928" y="1645920"/>
            <a:ext cx="6117336" cy="749808"/>
          </a:xfrm>
          <a:prstGeom prst="rect">
            <a:avLst/>
          </a:prstGeom>
          <a:noFill/>
          <a:ln/>
        </p:spPr>
        <p:txBody>
          <a:bodyPr wrap="square" lIns="0" tIns="0" rIns="0" bIns="0" rtlCol="0" anchor="ctr"/>
          <a:lstStyle/>
          <a:p>
            <a:pPr indent="0" marL="0">
              <a:lnSpc>
                <a:spcPts val="1700"/>
              </a:lnSpc>
              <a:buNone/>
            </a:pPr>
            <a:r>
              <a:rPr lang="en-US" sz="1250" dirty="0">
                <a:solidFill>
                  <a:srgbClr val="575756"/>
                </a:solidFill>
                <a:latin typeface="Arial" pitchFamily="34" charset="0"/>
                <a:ea typeface="Arial" pitchFamily="34" charset="-122"/>
                <a:cs typeface="Arial" pitchFamily="34" charset="-120"/>
              </a:rPr>
              <a:t>Kommt auf Leistung, Dauer und Ort an. Sammle diese drei Angaben und gib sie weiter.</a:t>
            </a:r>
            <a:endParaRPr lang="en-US" sz="1250" dirty="0"/>
          </a:p>
        </p:txBody>
      </p:sp>
      <p:sp>
        <p:nvSpPr>
          <p:cNvPr id="9" name="Text 7"/>
          <p:cNvSpPr/>
          <p:nvPr/>
        </p:nvSpPr>
        <p:spPr>
          <a:xfrm>
            <a:off x="877824" y="2487168"/>
            <a:ext cx="4114800" cy="749808"/>
          </a:xfrm>
          <a:prstGeom prst="rect">
            <a:avLst/>
          </a:prstGeom>
          <a:noFill/>
          <a:ln/>
        </p:spPr>
        <p:txBody>
          <a:bodyPr wrap="square" lIns="0" tIns="0" rIns="0" bIns="0" rtlCol="0" anchor="ctr"/>
          <a:lstStyle/>
          <a:p>
            <a:pPr indent="0" marL="0">
              <a:buNone/>
            </a:pPr>
            <a:r>
              <a:rPr lang="en-US" sz="1350" b="1" dirty="0">
                <a:solidFill>
                  <a:srgbClr val="575756"/>
                </a:solidFill>
                <a:latin typeface="Arial" pitchFamily="34" charset="0"/>
                <a:ea typeface="Arial" pitchFamily="34" charset="-122"/>
                <a:cs typeface="Arial" pitchFamily="34" charset="-120"/>
              </a:rPr>
              <a:t>"Habt ihr das morgen verfügbar?"</a:t>
            </a:r>
            <a:endParaRPr lang="en-US" sz="1350" dirty="0"/>
          </a:p>
        </p:txBody>
      </p:sp>
      <p:sp>
        <p:nvSpPr>
          <p:cNvPr id="10" name="Text 8"/>
          <p:cNvSpPr/>
          <p:nvPr/>
        </p:nvSpPr>
        <p:spPr>
          <a:xfrm>
            <a:off x="5138928" y="2487168"/>
            <a:ext cx="6117336" cy="749808"/>
          </a:xfrm>
          <a:prstGeom prst="rect">
            <a:avLst/>
          </a:prstGeom>
          <a:noFill/>
          <a:ln/>
        </p:spPr>
        <p:txBody>
          <a:bodyPr wrap="square" lIns="0" tIns="0" rIns="0" bIns="0" rtlCol="0" anchor="ctr"/>
          <a:lstStyle/>
          <a:p>
            <a:pPr indent="0" marL="0">
              <a:lnSpc>
                <a:spcPts val="1700"/>
              </a:lnSpc>
              <a:buNone/>
            </a:pPr>
            <a:r>
              <a:rPr lang="en-US" sz="1250" dirty="0">
                <a:solidFill>
                  <a:srgbClr val="575756"/>
                </a:solidFill>
                <a:latin typeface="Arial" pitchFamily="34" charset="0"/>
                <a:ea typeface="Arial" pitchFamily="34" charset="-122"/>
                <a:cs typeface="Arial" pitchFamily="34" charset="-120"/>
              </a:rPr>
              <a:t>Das prüft immer die Disposition. Nie selbst zusagen, auch nicht ungefähr.</a:t>
            </a:r>
            <a:endParaRPr lang="en-US" sz="1250" dirty="0"/>
          </a:p>
        </p:txBody>
      </p:sp>
      <p:sp>
        <p:nvSpPr>
          <p:cNvPr id="11" name="Shape 9"/>
          <p:cNvSpPr/>
          <p:nvPr/>
        </p:nvSpPr>
        <p:spPr>
          <a:xfrm>
            <a:off x="566928" y="3328416"/>
            <a:ext cx="11055096" cy="749808"/>
          </a:xfrm>
          <a:prstGeom prst="roundRect">
            <a:avLst>
              <a:gd name="adj" fmla="val 6098"/>
            </a:avLst>
          </a:prstGeom>
          <a:solidFill>
            <a:srgbClr val="F4F4F4"/>
          </a:solidFill>
          <a:ln/>
        </p:spPr>
      </p:sp>
      <p:sp>
        <p:nvSpPr>
          <p:cNvPr id="12" name="Text 10"/>
          <p:cNvSpPr/>
          <p:nvPr/>
        </p:nvSpPr>
        <p:spPr>
          <a:xfrm>
            <a:off x="877824" y="3328416"/>
            <a:ext cx="4114800" cy="749808"/>
          </a:xfrm>
          <a:prstGeom prst="rect">
            <a:avLst/>
          </a:prstGeom>
          <a:noFill/>
          <a:ln/>
        </p:spPr>
        <p:txBody>
          <a:bodyPr wrap="square" lIns="0" tIns="0" rIns="0" bIns="0" rtlCol="0" anchor="ctr"/>
          <a:lstStyle/>
          <a:p>
            <a:pPr indent="0" marL="0">
              <a:buNone/>
            </a:pPr>
            <a:r>
              <a:rPr lang="en-US" sz="1350" b="1" dirty="0">
                <a:solidFill>
                  <a:srgbClr val="575756"/>
                </a:solidFill>
                <a:latin typeface="Arial" pitchFamily="34" charset="0"/>
                <a:ea typeface="Arial" pitchFamily="34" charset="-122"/>
                <a:cs typeface="Arial" pitchFamily="34" charset="-120"/>
              </a:rPr>
              <a:t>"Ist das nicht sehr laut?"</a:t>
            </a:r>
            <a:endParaRPr lang="en-US" sz="1350" dirty="0"/>
          </a:p>
        </p:txBody>
      </p:sp>
      <p:sp>
        <p:nvSpPr>
          <p:cNvPr id="13" name="Text 11"/>
          <p:cNvSpPr/>
          <p:nvPr/>
        </p:nvSpPr>
        <p:spPr>
          <a:xfrm>
            <a:off x="5138928" y="3328416"/>
            <a:ext cx="6117336" cy="749808"/>
          </a:xfrm>
          <a:prstGeom prst="rect">
            <a:avLst/>
          </a:prstGeom>
          <a:noFill/>
          <a:ln/>
        </p:spPr>
        <p:txBody>
          <a:bodyPr wrap="square" lIns="0" tIns="0" rIns="0" bIns="0" rtlCol="0" anchor="ctr"/>
          <a:lstStyle/>
          <a:p>
            <a:pPr indent="0" marL="0">
              <a:lnSpc>
                <a:spcPts val="1700"/>
              </a:lnSpc>
              <a:buNone/>
            </a:pPr>
            <a:r>
              <a:rPr lang="en-US" sz="1250" dirty="0">
                <a:solidFill>
                  <a:srgbClr val="575756"/>
                </a:solidFill>
                <a:latin typeface="Arial" pitchFamily="34" charset="0"/>
                <a:ea typeface="Arial" pitchFamily="34" charset="-122"/>
                <a:cs typeface="Arial" pitchFamily="34" charset="-120"/>
              </a:rPr>
              <a:t>Moderne Anlagen sind gekapselt und mit Abstand unproblematisch. Die genaue Zahl kommt aus dem Datenblatt.</a:t>
            </a:r>
            <a:endParaRPr lang="en-US" sz="1250" dirty="0"/>
          </a:p>
        </p:txBody>
      </p:sp>
      <p:sp>
        <p:nvSpPr>
          <p:cNvPr id="14" name="Text 12"/>
          <p:cNvSpPr/>
          <p:nvPr/>
        </p:nvSpPr>
        <p:spPr>
          <a:xfrm>
            <a:off x="877824" y="4169664"/>
            <a:ext cx="4114800" cy="749808"/>
          </a:xfrm>
          <a:prstGeom prst="rect">
            <a:avLst/>
          </a:prstGeom>
          <a:noFill/>
          <a:ln/>
        </p:spPr>
        <p:txBody>
          <a:bodyPr wrap="square" lIns="0" tIns="0" rIns="0" bIns="0" rtlCol="0" anchor="ctr"/>
          <a:lstStyle/>
          <a:p>
            <a:pPr indent="0" marL="0">
              <a:buNone/>
            </a:pPr>
            <a:r>
              <a:rPr lang="en-US" sz="1350" b="1" dirty="0">
                <a:solidFill>
                  <a:srgbClr val="575756"/>
                </a:solidFill>
                <a:latin typeface="Arial" pitchFamily="34" charset="0"/>
                <a:ea typeface="Arial" pitchFamily="34" charset="-122"/>
                <a:cs typeface="Arial" pitchFamily="34" charset="-120"/>
              </a:rPr>
              <a:t>"Ist das umweltfreundlich?"</a:t>
            </a:r>
            <a:endParaRPr lang="en-US" sz="1350" dirty="0"/>
          </a:p>
        </p:txBody>
      </p:sp>
      <p:sp>
        <p:nvSpPr>
          <p:cNvPr id="15" name="Text 13"/>
          <p:cNvSpPr/>
          <p:nvPr/>
        </p:nvSpPr>
        <p:spPr>
          <a:xfrm>
            <a:off x="5138928" y="4169664"/>
            <a:ext cx="6117336" cy="749808"/>
          </a:xfrm>
          <a:prstGeom prst="rect">
            <a:avLst/>
          </a:prstGeom>
          <a:noFill/>
          <a:ln/>
        </p:spPr>
        <p:txBody>
          <a:bodyPr wrap="square" lIns="0" tIns="0" rIns="0" bIns="0" rtlCol="0" anchor="ctr"/>
          <a:lstStyle/>
          <a:p>
            <a:pPr indent="0" marL="0">
              <a:lnSpc>
                <a:spcPts val="1700"/>
              </a:lnSpc>
              <a:buNone/>
            </a:pPr>
            <a:r>
              <a:rPr lang="en-US" sz="1250" dirty="0">
                <a:solidFill>
                  <a:srgbClr val="575756"/>
                </a:solidFill>
                <a:latin typeface="Arial" pitchFamily="34" charset="0"/>
                <a:ea typeface="Arial" pitchFamily="34" charset="-122"/>
                <a:cs typeface="Arial" pitchFamily="34" charset="-120"/>
              </a:rPr>
              <a:t>Mit HVO und Hybrid deutlich, ja. Konkrete Einsparzahlen liefert das Projektteam mit Zertifikat.</a:t>
            </a:r>
            <a:endParaRPr lang="en-US" sz="1250" dirty="0"/>
          </a:p>
        </p:txBody>
      </p:sp>
      <p:sp>
        <p:nvSpPr>
          <p:cNvPr id="16" name="Shape 14"/>
          <p:cNvSpPr/>
          <p:nvPr/>
        </p:nvSpPr>
        <p:spPr>
          <a:xfrm>
            <a:off x="566928" y="5010912"/>
            <a:ext cx="11055096" cy="749808"/>
          </a:xfrm>
          <a:prstGeom prst="roundRect">
            <a:avLst>
              <a:gd name="adj" fmla="val 6098"/>
            </a:avLst>
          </a:prstGeom>
          <a:solidFill>
            <a:srgbClr val="F4F4F4"/>
          </a:solidFill>
          <a:ln/>
        </p:spPr>
      </p:sp>
      <p:sp>
        <p:nvSpPr>
          <p:cNvPr id="17" name="Text 15"/>
          <p:cNvSpPr/>
          <p:nvPr/>
        </p:nvSpPr>
        <p:spPr>
          <a:xfrm>
            <a:off x="877824" y="5010912"/>
            <a:ext cx="4114800" cy="749808"/>
          </a:xfrm>
          <a:prstGeom prst="rect">
            <a:avLst/>
          </a:prstGeom>
          <a:noFill/>
          <a:ln/>
        </p:spPr>
        <p:txBody>
          <a:bodyPr wrap="square" lIns="0" tIns="0" rIns="0" bIns="0" rtlCol="0" anchor="ctr"/>
          <a:lstStyle/>
          <a:p>
            <a:pPr indent="0" marL="0">
              <a:buNone/>
            </a:pPr>
            <a:r>
              <a:rPr lang="en-US" sz="1350" b="1" dirty="0">
                <a:solidFill>
                  <a:srgbClr val="575756"/>
                </a:solidFill>
                <a:latin typeface="Arial" pitchFamily="34" charset="0"/>
                <a:ea typeface="Arial" pitchFamily="34" charset="-122"/>
                <a:cs typeface="Arial" pitchFamily="34" charset="-120"/>
              </a:rPr>
              <a:t>"Wie gross muss die Anlage sein?"</a:t>
            </a:r>
            <a:endParaRPr lang="en-US" sz="1350" dirty="0"/>
          </a:p>
        </p:txBody>
      </p:sp>
      <p:sp>
        <p:nvSpPr>
          <p:cNvPr id="18" name="Text 16"/>
          <p:cNvSpPr/>
          <p:nvPr/>
        </p:nvSpPr>
        <p:spPr>
          <a:xfrm>
            <a:off x="5138928" y="5010912"/>
            <a:ext cx="6117336" cy="749808"/>
          </a:xfrm>
          <a:prstGeom prst="rect">
            <a:avLst/>
          </a:prstGeom>
          <a:noFill/>
          <a:ln/>
        </p:spPr>
        <p:txBody>
          <a:bodyPr wrap="square" lIns="0" tIns="0" rIns="0" bIns="0" rtlCol="0" anchor="ctr"/>
          <a:lstStyle/>
          <a:p>
            <a:pPr indent="0" marL="0">
              <a:lnSpc>
                <a:spcPts val="1700"/>
              </a:lnSpc>
              <a:buNone/>
            </a:pPr>
            <a:r>
              <a:rPr lang="en-US" sz="1250" dirty="0">
                <a:solidFill>
                  <a:srgbClr val="575756"/>
                </a:solidFill>
                <a:latin typeface="Arial" pitchFamily="34" charset="0"/>
                <a:ea typeface="Arial" pitchFamily="34" charset="-122"/>
                <a:cs typeface="Arial" pitchFamily="34" charset="-120"/>
              </a:rPr>
              <a:t>Das rechnet ein Ingenieur anhand einer Lastliste. Niemals schätzen, auch nicht als Hausnummer.</a:t>
            </a:r>
            <a:endParaRPr lang="en-US" sz="1250" dirty="0"/>
          </a:p>
        </p:txBody>
      </p:sp>
      <p:sp>
        <p:nvSpPr>
          <p:cNvPr id="19" name="Shape 17"/>
          <p:cNvSpPr/>
          <p:nvPr/>
        </p:nvSpPr>
        <p:spPr>
          <a:xfrm>
            <a:off x="566928" y="5870448"/>
            <a:ext cx="11055096" cy="566928"/>
          </a:xfrm>
          <a:prstGeom prst="roundRect">
            <a:avLst>
              <a:gd name="adj" fmla="val 14516"/>
            </a:avLst>
          </a:prstGeom>
          <a:solidFill>
            <a:srgbClr val="575756"/>
          </a:solidFill>
          <a:ln/>
        </p:spPr>
      </p:sp>
      <p:sp>
        <p:nvSpPr>
          <p:cNvPr id="20" name="Text 18"/>
          <p:cNvSpPr/>
          <p:nvPr/>
        </p:nvSpPr>
        <p:spPr>
          <a:xfrm>
            <a:off x="932688" y="5870448"/>
            <a:ext cx="10323576" cy="56692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Goldene Regel: Im Zweifel keine Zahl nennen. Eine sauber weitergegebene Frage ist besser als eine falsche Antwort.</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5096" cy="237744"/>
          </a:xfrm>
          <a:prstGeom prst="rect">
            <a:avLst/>
          </a:prstGeom>
          <a:noFill/>
          <a:ln/>
        </p:spPr>
        <p:txBody>
          <a:bodyPr wrap="square" lIns="0" tIns="0" rIns="0" bIns="0" rtlCol="0" anchor="ctr"/>
          <a:lstStyle/>
          <a:p>
            <a:pPr indent="0" marL="0">
              <a:buNone/>
            </a:pPr>
            <a:r>
              <a:rPr lang="en-US" sz="1100" b="1" spc="160" kern="0" dirty="0">
                <a:solidFill>
                  <a:srgbClr val="E4022E"/>
                </a:solidFill>
                <a:latin typeface="Arial" pitchFamily="34" charset="0"/>
                <a:ea typeface="Arial" pitchFamily="34" charset="-122"/>
                <a:cs typeface="Arial" pitchFamily="34" charset="-120"/>
              </a:rPr>
              <a:t>MARKETING · 5 VON 5</a:t>
            </a:r>
            <a:endParaRPr lang="en-US" sz="1100" dirty="0"/>
          </a:p>
        </p:txBody>
      </p:sp>
      <p:sp>
        <p:nvSpPr>
          <p:cNvPr id="3" name="Text 1"/>
          <p:cNvSpPr/>
          <p:nvPr/>
        </p:nvSpPr>
        <p:spPr>
          <a:xfrm>
            <a:off x="566928" y="621792"/>
            <a:ext cx="11055096" cy="694944"/>
          </a:xfrm>
          <a:prstGeom prst="rect">
            <a:avLst/>
          </a:prstGeom>
          <a:noFill/>
          <a:ln/>
        </p:spPr>
        <p:txBody>
          <a:bodyPr wrap="square" lIns="0" tIns="0" rIns="0" bIns="0" rtlCol="0" anchor="t"/>
          <a:lstStyle/>
          <a:p>
            <a:pPr indent="0" marL="0">
              <a:buNone/>
            </a:pPr>
            <a:r>
              <a:rPr lang="en-US" sz="3100" b="1" dirty="0">
                <a:solidFill>
                  <a:srgbClr val="575756"/>
                </a:solidFill>
                <a:latin typeface="Arial" pitchFamily="34" charset="0"/>
                <a:ea typeface="Arial" pitchFamily="34" charset="-122"/>
                <a:cs typeface="Arial" pitchFamily="34" charset="-120"/>
              </a:rPr>
              <a:t>Was ich konkret von euch brauche</a:t>
            </a:r>
            <a:endParaRPr lang="en-US" sz="31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8A8A8C"/>
                </a:solidFill>
                <a:latin typeface="Arial" pitchFamily="34" charset="0"/>
                <a:ea typeface="Arial" pitchFamily="34" charset="-122"/>
                <a:cs typeface="Arial" pitchFamily="34" charset="-120"/>
              </a:rPr>
              <a:t>Mobil in Time AG  |  Strom Quick Dive  |  Marketing-Team</a:t>
            </a:r>
            <a:endParaRPr lang="en-US" sz="900" dirty="0"/>
          </a:p>
        </p:txBody>
      </p:sp>
      <p:sp>
        <p:nvSpPr>
          <p:cNvPr id="5" name="Text 3"/>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8A8A8C"/>
                </a:solidFill>
                <a:latin typeface="Arial" pitchFamily="34" charset="0"/>
                <a:ea typeface="Arial" pitchFamily="34" charset="-122"/>
                <a:cs typeface="Arial" pitchFamily="34" charset="-120"/>
              </a:rPr>
              <a:t>39</a:t>
            </a:r>
            <a:endParaRPr lang="en-US" sz="1000" dirty="0"/>
          </a:p>
        </p:txBody>
      </p:sp>
      <p:sp>
        <p:nvSpPr>
          <p:cNvPr id="6" name="Shape 4"/>
          <p:cNvSpPr/>
          <p:nvPr/>
        </p:nvSpPr>
        <p:spPr>
          <a:xfrm>
            <a:off x="566928" y="1645920"/>
            <a:ext cx="11055096" cy="1060704"/>
          </a:xfrm>
          <a:prstGeom prst="roundRect">
            <a:avLst>
              <a:gd name="adj" fmla="val 7759"/>
            </a:avLst>
          </a:prstGeom>
          <a:solidFill>
            <a:srgbClr val="FBE0E6"/>
          </a:solidFill>
          <a:ln/>
        </p:spPr>
      </p:sp>
      <p:sp>
        <p:nvSpPr>
          <p:cNvPr id="7" name="Shape 5"/>
          <p:cNvSpPr/>
          <p:nvPr/>
        </p:nvSpPr>
        <p:spPr>
          <a:xfrm>
            <a:off x="859536" y="1865376"/>
            <a:ext cx="621792" cy="621792"/>
          </a:xfrm>
          <a:prstGeom prst="ellipse">
            <a:avLst/>
          </a:prstGeom>
          <a:solidFill>
            <a:srgbClr val="E4022E"/>
          </a:solidFill>
          <a:ln/>
        </p:spPr>
      </p:sp>
      <p:pic>
        <p:nvPicPr>
          <p:cNvPr id="8" name="Image 0" descr="/home/claude/ico/handshake_w.png">    </p:cNvPr>
          <p:cNvPicPr>
            <a:picLocks noChangeAspect="1"/>
          </p:cNvPicPr>
          <p:nvPr/>
        </p:nvPicPr>
        <p:blipFill>
          <a:blip r:embed="rId1"/>
          <a:stretch>
            <a:fillRect/>
          </a:stretch>
        </p:blipFill>
        <p:spPr>
          <a:xfrm>
            <a:off x="1021202" y="2027042"/>
            <a:ext cx="298460" cy="298460"/>
          </a:xfrm>
          <a:prstGeom prst="rect">
            <a:avLst/>
          </a:prstGeom>
        </p:spPr>
      </p:pic>
      <p:sp>
        <p:nvSpPr>
          <p:cNvPr id="9" name="Text 6"/>
          <p:cNvSpPr/>
          <p:nvPr/>
        </p:nvSpPr>
        <p:spPr>
          <a:xfrm>
            <a:off x="1700784" y="1792224"/>
            <a:ext cx="5029200" cy="310896"/>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Bestandskunden-Kampagne</a:t>
            </a:r>
            <a:endParaRPr lang="en-US" sz="1600" dirty="0"/>
          </a:p>
        </p:txBody>
      </p:sp>
      <p:sp>
        <p:nvSpPr>
          <p:cNvPr id="10" name="Text 7"/>
          <p:cNvSpPr/>
          <p:nvPr/>
        </p:nvSpPr>
        <p:spPr>
          <a:xfrm>
            <a:off x="1700784" y="2139696"/>
            <a:ext cx="9500616" cy="457200"/>
          </a:xfrm>
          <a:prstGeom prst="rect">
            <a:avLst/>
          </a:prstGeom>
          <a:noFill/>
          <a:ln/>
        </p:spPr>
        <p:txBody>
          <a:bodyPr wrap="square" lIns="0" tIns="0" rIns="0" bIns="0" rtlCol="0" anchor="t"/>
          <a:lstStyle/>
          <a:p>
            <a:pPr indent="0" marL="0">
              <a:lnSpc>
                <a:spcPts val="1900"/>
              </a:lnSpc>
              <a:buNone/>
            </a:pPr>
            <a:r>
              <a:rPr lang="en-US" sz="1250" dirty="0">
                <a:solidFill>
                  <a:srgbClr val="575756"/>
                </a:solidFill>
                <a:latin typeface="Arial" pitchFamily="34" charset="0"/>
                <a:ea typeface="Arial" pitchFamily="34" charset="-122"/>
                <a:cs typeface="Arial" pitchFamily="34" charset="-120"/>
              </a:rPr>
              <a:t>Alle Wärme- und Kältekunden für eine Strom-Ansprache aufbereiten. Das ist der schnellste Weg zu den ersten Aufträgen.</a:t>
            </a:r>
            <a:endParaRPr lang="en-US" sz="1250" dirty="0"/>
          </a:p>
        </p:txBody>
      </p:sp>
      <p:sp>
        <p:nvSpPr>
          <p:cNvPr id="11" name="Shape 8"/>
          <p:cNvSpPr/>
          <p:nvPr/>
        </p:nvSpPr>
        <p:spPr>
          <a:xfrm>
            <a:off x="566928" y="2852928"/>
            <a:ext cx="11055096" cy="1060704"/>
          </a:xfrm>
          <a:prstGeom prst="roundRect">
            <a:avLst>
              <a:gd name="adj" fmla="val 7759"/>
            </a:avLst>
          </a:prstGeom>
          <a:solidFill>
            <a:srgbClr val="F4F4F4"/>
          </a:solidFill>
          <a:ln/>
        </p:spPr>
      </p:sp>
      <p:sp>
        <p:nvSpPr>
          <p:cNvPr id="12" name="Shape 9"/>
          <p:cNvSpPr/>
          <p:nvPr/>
        </p:nvSpPr>
        <p:spPr>
          <a:xfrm>
            <a:off x="859536" y="3072384"/>
            <a:ext cx="621792" cy="621792"/>
          </a:xfrm>
          <a:prstGeom prst="ellipse">
            <a:avLst/>
          </a:prstGeom>
          <a:solidFill>
            <a:srgbClr val="575756"/>
          </a:solidFill>
          <a:ln/>
        </p:spPr>
      </p:sp>
      <p:pic>
        <p:nvPicPr>
          <p:cNvPr id="13" name="Image 1" descr="/home/claude/ico/camera_w.png">    </p:cNvPr>
          <p:cNvPicPr>
            <a:picLocks noChangeAspect="1"/>
          </p:cNvPicPr>
          <p:nvPr/>
        </p:nvPicPr>
        <p:blipFill>
          <a:blip r:embed="rId2"/>
          <a:stretch>
            <a:fillRect/>
          </a:stretch>
        </p:blipFill>
        <p:spPr>
          <a:xfrm>
            <a:off x="1021202" y="3234050"/>
            <a:ext cx="298460" cy="298460"/>
          </a:xfrm>
          <a:prstGeom prst="rect">
            <a:avLst/>
          </a:prstGeom>
        </p:spPr>
      </p:pic>
      <p:sp>
        <p:nvSpPr>
          <p:cNvPr id="14" name="Text 10"/>
          <p:cNvSpPr/>
          <p:nvPr/>
        </p:nvSpPr>
        <p:spPr>
          <a:xfrm>
            <a:off x="1700784" y="2999232"/>
            <a:ext cx="5029200" cy="310896"/>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Zwei Referenzstories</a:t>
            </a:r>
            <a:endParaRPr lang="en-US" sz="1600" dirty="0"/>
          </a:p>
        </p:txBody>
      </p:sp>
      <p:sp>
        <p:nvSpPr>
          <p:cNvPr id="15" name="Text 11"/>
          <p:cNvSpPr/>
          <p:nvPr/>
        </p:nvSpPr>
        <p:spPr>
          <a:xfrm>
            <a:off x="1700784" y="3346704"/>
            <a:ext cx="9500616" cy="457200"/>
          </a:xfrm>
          <a:prstGeom prst="rect">
            <a:avLst/>
          </a:prstGeom>
          <a:noFill/>
          <a:ln/>
        </p:spPr>
        <p:txBody>
          <a:bodyPr wrap="square" lIns="0" tIns="0" rIns="0" bIns="0" rtlCol="0" anchor="t"/>
          <a:lstStyle/>
          <a:p>
            <a:pPr indent="0" marL="0">
              <a:lnSpc>
                <a:spcPts val="1900"/>
              </a:lnSpc>
              <a:buNone/>
            </a:pPr>
            <a:r>
              <a:rPr lang="en-US" sz="1250" dirty="0">
                <a:solidFill>
                  <a:srgbClr val="575756"/>
                </a:solidFill>
                <a:latin typeface="Arial" pitchFamily="34" charset="0"/>
                <a:ea typeface="Arial" pitchFamily="34" charset="-122"/>
                <a:cs typeface="Arial" pitchFamily="34" charset="-120"/>
              </a:rPr>
              <a:t>Eine Baustelle, ein Event. Mit echten Bildern, echten Zahlen und Freigabe des Kunden.</a:t>
            </a:r>
            <a:endParaRPr lang="en-US" sz="1250" dirty="0"/>
          </a:p>
        </p:txBody>
      </p:sp>
      <p:sp>
        <p:nvSpPr>
          <p:cNvPr id="16" name="Shape 12"/>
          <p:cNvSpPr/>
          <p:nvPr/>
        </p:nvSpPr>
        <p:spPr>
          <a:xfrm>
            <a:off x="566928" y="4059936"/>
            <a:ext cx="11055096" cy="1060704"/>
          </a:xfrm>
          <a:prstGeom prst="roundRect">
            <a:avLst>
              <a:gd name="adj" fmla="val 7759"/>
            </a:avLst>
          </a:prstGeom>
          <a:solidFill>
            <a:srgbClr val="F4F4F4"/>
          </a:solidFill>
          <a:ln/>
        </p:spPr>
      </p:sp>
      <p:sp>
        <p:nvSpPr>
          <p:cNvPr id="17" name="Shape 13"/>
          <p:cNvSpPr/>
          <p:nvPr/>
        </p:nvSpPr>
        <p:spPr>
          <a:xfrm>
            <a:off x="859536" y="4279392"/>
            <a:ext cx="621792" cy="621792"/>
          </a:xfrm>
          <a:prstGeom prst="ellipse">
            <a:avLst/>
          </a:prstGeom>
          <a:solidFill>
            <a:srgbClr val="575756"/>
          </a:solidFill>
          <a:ln/>
        </p:spPr>
      </p:sp>
      <p:pic>
        <p:nvPicPr>
          <p:cNvPr id="18" name="Image 2" descr="/home/claude/ico/chat_w.png">    </p:cNvPr>
          <p:cNvPicPr>
            <a:picLocks noChangeAspect="1"/>
          </p:cNvPicPr>
          <p:nvPr/>
        </p:nvPicPr>
        <p:blipFill>
          <a:blip r:embed="rId3"/>
          <a:stretch>
            <a:fillRect/>
          </a:stretch>
        </p:blipFill>
        <p:spPr>
          <a:xfrm>
            <a:off x="1021202" y="4441058"/>
            <a:ext cx="298460" cy="298460"/>
          </a:xfrm>
          <a:prstGeom prst="rect">
            <a:avLst/>
          </a:prstGeom>
        </p:spPr>
      </p:pic>
      <p:sp>
        <p:nvSpPr>
          <p:cNvPr id="19" name="Text 14"/>
          <p:cNvSpPr/>
          <p:nvPr/>
        </p:nvSpPr>
        <p:spPr>
          <a:xfrm>
            <a:off x="1700784" y="4206240"/>
            <a:ext cx="5029200" cy="310896"/>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Einheitliche Sprachregelung</a:t>
            </a:r>
            <a:endParaRPr lang="en-US" sz="1600" dirty="0"/>
          </a:p>
        </p:txBody>
      </p:sp>
      <p:sp>
        <p:nvSpPr>
          <p:cNvPr id="20" name="Text 15"/>
          <p:cNvSpPr/>
          <p:nvPr/>
        </p:nvSpPr>
        <p:spPr>
          <a:xfrm>
            <a:off x="1700784" y="4553712"/>
            <a:ext cx="9500616" cy="457200"/>
          </a:xfrm>
          <a:prstGeom prst="rect">
            <a:avLst/>
          </a:prstGeom>
          <a:noFill/>
          <a:ln/>
        </p:spPr>
        <p:txBody>
          <a:bodyPr wrap="square" lIns="0" tIns="0" rIns="0" bIns="0" rtlCol="0" anchor="t"/>
          <a:lstStyle/>
          <a:p>
            <a:pPr indent="0" marL="0">
              <a:lnSpc>
                <a:spcPts val="1900"/>
              </a:lnSpc>
              <a:buNone/>
            </a:pPr>
            <a:r>
              <a:rPr lang="en-US" sz="1250" dirty="0">
                <a:solidFill>
                  <a:srgbClr val="575756"/>
                </a:solidFill>
                <a:latin typeface="Arial" pitchFamily="34" charset="0"/>
                <a:ea typeface="Arial" pitchFamily="34" charset="-122"/>
                <a:cs typeface="Arial" pitchFamily="34" charset="-120"/>
              </a:rPr>
              <a:t>Die Begriffe aus diesem Termin in allen Kanälen gleich verwenden. Ich liefere euch eine Wortliste auf einer Seite.</a:t>
            </a:r>
            <a:endParaRPr lang="en-US" sz="1250" dirty="0"/>
          </a:p>
        </p:txBody>
      </p:sp>
      <p:sp>
        <p:nvSpPr>
          <p:cNvPr id="21" name="Shape 16"/>
          <p:cNvSpPr/>
          <p:nvPr/>
        </p:nvSpPr>
        <p:spPr>
          <a:xfrm>
            <a:off x="566928" y="5266944"/>
            <a:ext cx="11055096" cy="1060704"/>
          </a:xfrm>
          <a:prstGeom prst="roundRect">
            <a:avLst>
              <a:gd name="adj" fmla="val 7759"/>
            </a:avLst>
          </a:prstGeom>
          <a:solidFill>
            <a:srgbClr val="F4F4F4"/>
          </a:solidFill>
          <a:ln/>
        </p:spPr>
      </p:sp>
      <p:sp>
        <p:nvSpPr>
          <p:cNvPr id="22" name="Shape 17"/>
          <p:cNvSpPr/>
          <p:nvPr/>
        </p:nvSpPr>
        <p:spPr>
          <a:xfrm>
            <a:off x="859536" y="5486400"/>
            <a:ext cx="621792" cy="621792"/>
          </a:xfrm>
          <a:prstGeom prst="ellipse">
            <a:avLst/>
          </a:prstGeom>
          <a:solidFill>
            <a:srgbClr val="575756"/>
          </a:solidFill>
          <a:ln/>
        </p:spPr>
      </p:sp>
      <p:pic>
        <p:nvPicPr>
          <p:cNvPr id="23" name="Image 3" descr="/home/claude/ico/eye_w.png">    </p:cNvPr>
          <p:cNvPicPr>
            <a:picLocks noChangeAspect="1"/>
          </p:cNvPicPr>
          <p:nvPr/>
        </p:nvPicPr>
        <p:blipFill>
          <a:blip r:embed="rId4"/>
          <a:stretch>
            <a:fillRect/>
          </a:stretch>
        </p:blipFill>
        <p:spPr>
          <a:xfrm>
            <a:off x="1021202" y="5648066"/>
            <a:ext cx="298460" cy="298460"/>
          </a:xfrm>
          <a:prstGeom prst="rect">
            <a:avLst/>
          </a:prstGeom>
        </p:spPr>
      </p:pic>
      <p:sp>
        <p:nvSpPr>
          <p:cNvPr id="24" name="Text 18"/>
          <p:cNvSpPr/>
          <p:nvPr/>
        </p:nvSpPr>
        <p:spPr>
          <a:xfrm>
            <a:off x="1700784" y="5413248"/>
            <a:ext cx="5029200" cy="310896"/>
          </a:xfrm>
          <a:prstGeom prst="rect">
            <a:avLst/>
          </a:prstGeom>
          <a:noFill/>
          <a:ln/>
        </p:spPr>
        <p:txBody>
          <a:bodyPr wrap="square" lIns="0" tIns="0" rIns="0" bIns="0" rtlCol="0" anchor="ctr"/>
          <a:lstStyle/>
          <a:p>
            <a:pPr indent="0" marL="0">
              <a:buNone/>
            </a:pPr>
            <a:r>
              <a:rPr lang="en-US" sz="1600" b="1" dirty="0">
                <a:solidFill>
                  <a:srgbClr val="575756"/>
                </a:solidFill>
                <a:latin typeface="Arial" pitchFamily="34" charset="0"/>
                <a:ea typeface="Arial" pitchFamily="34" charset="-122"/>
                <a:cs typeface="Arial" pitchFamily="34" charset="-120"/>
              </a:rPr>
              <a:t>Kurze Gegenlesung</a:t>
            </a:r>
            <a:endParaRPr lang="en-US" sz="1600" dirty="0"/>
          </a:p>
        </p:txBody>
      </p:sp>
      <p:sp>
        <p:nvSpPr>
          <p:cNvPr id="25" name="Text 19"/>
          <p:cNvSpPr/>
          <p:nvPr/>
        </p:nvSpPr>
        <p:spPr>
          <a:xfrm>
            <a:off x="1700784" y="5760720"/>
            <a:ext cx="9500616" cy="457200"/>
          </a:xfrm>
          <a:prstGeom prst="rect">
            <a:avLst/>
          </a:prstGeom>
          <a:noFill/>
          <a:ln/>
        </p:spPr>
        <p:txBody>
          <a:bodyPr wrap="square" lIns="0" tIns="0" rIns="0" bIns="0" rtlCol="0" anchor="t"/>
          <a:lstStyle/>
          <a:p>
            <a:pPr indent="0" marL="0">
              <a:lnSpc>
                <a:spcPts val="1900"/>
              </a:lnSpc>
              <a:buNone/>
            </a:pPr>
            <a:r>
              <a:rPr lang="en-US" sz="1250" dirty="0">
                <a:solidFill>
                  <a:srgbClr val="575756"/>
                </a:solidFill>
                <a:latin typeface="Arial" pitchFamily="34" charset="0"/>
                <a:ea typeface="Arial" pitchFamily="34" charset="-122"/>
                <a:cs typeface="Arial" pitchFamily="34" charset="-120"/>
              </a:rPr>
              <a:t>Bei jedem Text mit technischem Inhalt: zwei Minuten Blick von mir, bevor er raus geht. Spart uns Korrekturen im Nachhinein.</a:t>
            </a:r>
            <a:endParaRPr lang="en-US" sz="1250" dirty="0"/>
          </a:p>
        </p:txBody>
      </p:sp>
      <p:sp>
        <p:nvSpPr>
          <p:cNvPr id="26" name="Text 20"/>
          <p:cNvSpPr/>
          <p:nvPr/>
        </p:nvSpPr>
        <p:spPr>
          <a:xfrm>
            <a:off x="566928" y="5943600"/>
            <a:ext cx="11055096" cy="310896"/>
          </a:xfrm>
          <a:prstGeom prst="rect">
            <a:avLst/>
          </a:prstGeom>
          <a:noFill/>
          <a:ln/>
        </p:spPr>
        <p:txBody>
          <a:bodyPr wrap="square" lIns="0" tIns="0" rIns="0" bIns="0" rtlCol="0" anchor="ctr"/>
          <a:lstStyle/>
          <a:p>
            <a:pPr indent="0" marL="0">
              <a:buNone/>
            </a:pPr>
            <a:r>
              <a:rPr lang="en-US" sz="1200" i="1" dirty="0">
                <a:solidFill>
                  <a:srgbClr val="8A8A8C"/>
                </a:solidFill>
                <a:latin typeface="Arial" pitchFamily="34" charset="0"/>
                <a:ea typeface="Arial" pitchFamily="34" charset="-122"/>
                <a:cs typeface="Arial" pitchFamily="34" charset="-120"/>
              </a:rPr>
              <a:t>Wenn wir diese vier Punkte in den nächsten Wochen aufgleisen, haben wir bis Herbst eine Strom-Kommunikation, die sitzt.</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575756"/>
        </a:solidFill>
      </p:bgPr>
    </p:bg>
    <p:spTree>
      <p:nvGrpSpPr>
        <p:cNvPr id="1" name=""/>
        <p:cNvGrpSpPr/>
        <p:nvPr/>
      </p:nvGrpSpPr>
      <p:grpSpPr>
        <a:xfrm>
          <a:off x="0" y="0"/>
          <a:ext cx="0" cy="0"/>
          <a:chOff x="0" y="0"/>
          <a:chExt cx="0" cy="0"/>
        </a:xfrm>
      </p:grpSpPr>
      <p:sp>
        <p:nvSpPr>
          <p:cNvPr id="2" name="Shape 0"/>
          <p:cNvSpPr/>
          <p:nvPr/>
        </p:nvSpPr>
        <p:spPr>
          <a:xfrm>
            <a:off x="8686800" y="-1188720"/>
            <a:ext cx="5120640" cy="5120640"/>
          </a:xfrm>
          <a:prstGeom prst="ellipse">
            <a:avLst/>
          </a:prstGeom>
          <a:solidFill>
            <a:srgbClr val="3C3C3B"/>
          </a:solidFill>
          <a:ln/>
        </p:spPr>
      </p:sp>
      <p:sp>
        <p:nvSpPr>
          <p:cNvPr id="3" name="Text 1"/>
          <p:cNvSpPr/>
          <p:nvPr/>
        </p:nvSpPr>
        <p:spPr>
          <a:xfrm>
            <a:off x="566928" y="1051560"/>
            <a:ext cx="7315200" cy="329184"/>
          </a:xfrm>
          <a:prstGeom prst="rect">
            <a:avLst/>
          </a:prstGeom>
          <a:noFill/>
          <a:ln/>
        </p:spPr>
        <p:txBody>
          <a:bodyPr wrap="square" lIns="0" tIns="0" rIns="0" bIns="0" rtlCol="0" anchor="ctr"/>
          <a:lstStyle/>
          <a:p>
            <a:pPr indent="0" marL="0">
              <a:buNone/>
            </a:pPr>
            <a:r>
              <a:rPr lang="en-US" sz="1300" b="1" spc="220" kern="0" dirty="0">
                <a:solidFill>
                  <a:srgbClr val="E4022E"/>
                </a:solidFill>
                <a:latin typeface="Arial" pitchFamily="34" charset="0"/>
                <a:ea typeface="Arial" pitchFamily="34" charset="-122"/>
                <a:cs typeface="Arial" pitchFamily="34" charset="-120"/>
              </a:rPr>
              <a:t>DANKE</a:t>
            </a:r>
            <a:endParaRPr lang="en-US" sz="1300" dirty="0"/>
          </a:p>
        </p:txBody>
      </p:sp>
      <p:sp>
        <p:nvSpPr>
          <p:cNvPr id="4" name="Text 2"/>
          <p:cNvSpPr/>
          <p:nvPr/>
        </p:nvSpPr>
        <p:spPr>
          <a:xfrm>
            <a:off x="566928" y="1444752"/>
            <a:ext cx="7589520" cy="86868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Fragen? Immer her damit.</a:t>
            </a:r>
            <a:endParaRPr lang="en-US" sz="3800" dirty="0"/>
          </a:p>
        </p:txBody>
      </p:sp>
      <p:sp>
        <p:nvSpPr>
          <p:cNvPr id="5" name="Text 3"/>
          <p:cNvSpPr/>
          <p:nvPr/>
        </p:nvSpPr>
        <p:spPr>
          <a:xfrm>
            <a:off x="566928" y="2395728"/>
            <a:ext cx="7132320" cy="548640"/>
          </a:xfrm>
          <a:prstGeom prst="rect">
            <a:avLst/>
          </a:prstGeom>
          <a:noFill/>
          <a:ln/>
        </p:spPr>
        <p:txBody>
          <a:bodyPr wrap="square" lIns="0" tIns="0" rIns="0" bIns="0" rtlCol="0" anchor="ctr"/>
          <a:lstStyle/>
          <a:p>
            <a:pPr indent="0" marL="0">
              <a:lnSpc>
                <a:spcPts val="2100"/>
              </a:lnSpc>
              <a:buNone/>
            </a:pPr>
            <a:r>
              <a:rPr lang="en-US" sz="1400" dirty="0">
                <a:solidFill>
                  <a:srgbClr val="E6E6E6"/>
                </a:solidFill>
                <a:latin typeface="Arial" pitchFamily="34" charset="0"/>
                <a:ea typeface="Arial" pitchFamily="34" charset="-122"/>
                <a:cs typeface="Arial" pitchFamily="34" charset="-120"/>
              </a:rPr>
              <a:t>Es gibt keine dumme Frage zu Strom. Es gibt nur Texte, die falsch werden, weil niemand gefragt hat.</a:t>
            </a:r>
            <a:endParaRPr lang="en-US" sz="1400" dirty="0"/>
          </a:p>
        </p:txBody>
      </p:sp>
      <p:sp>
        <p:nvSpPr>
          <p:cNvPr id="6" name="Text 4"/>
          <p:cNvSpPr/>
          <p:nvPr/>
        </p:nvSpPr>
        <p:spPr>
          <a:xfrm>
            <a:off x="566928" y="3246120"/>
            <a:ext cx="5486400" cy="292608"/>
          </a:xfrm>
          <a:prstGeom prst="rect">
            <a:avLst/>
          </a:prstGeom>
          <a:noFill/>
          <a:ln/>
        </p:spPr>
        <p:txBody>
          <a:bodyPr wrap="square" lIns="0" tIns="0" rIns="0" bIns="0" rtlCol="0" anchor="ctr"/>
          <a:lstStyle/>
          <a:p>
            <a:pPr indent="0" marL="0">
              <a:buNone/>
            </a:pPr>
            <a:r>
              <a:rPr lang="en-US" sz="1200" b="1" spc="140" kern="0" dirty="0">
                <a:solidFill>
                  <a:srgbClr val="E4022E"/>
                </a:solidFill>
                <a:latin typeface="Arial" pitchFamily="34" charset="0"/>
                <a:ea typeface="Arial" pitchFamily="34" charset="-122"/>
                <a:cs typeface="Arial" pitchFamily="34" charset="-120"/>
              </a:rPr>
              <a:t>Vorschlag für den zweiten Termin</a:t>
            </a:r>
            <a:endParaRPr lang="en-US" sz="1200" dirty="0"/>
          </a:p>
        </p:txBody>
      </p:sp>
      <p:sp>
        <p:nvSpPr>
          <p:cNvPr id="7" name="Shape 5"/>
          <p:cNvSpPr/>
          <p:nvPr/>
        </p:nvSpPr>
        <p:spPr>
          <a:xfrm>
            <a:off x="566928" y="3602736"/>
            <a:ext cx="329184" cy="329184"/>
          </a:xfrm>
          <a:prstGeom prst="ellipse">
            <a:avLst/>
          </a:prstGeom>
          <a:solidFill>
            <a:srgbClr val="E4022E"/>
          </a:solidFill>
          <a:ln/>
        </p:spPr>
      </p:sp>
      <p:sp>
        <p:nvSpPr>
          <p:cNvPr id="8" name="Text 6"/>
          <p:cNvSpPr/>
          <p:nvPr/>
        </p:nvSpPr>
        <p:spPr>
          <a:xfrm>
            <a:off x="566928"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1078992" y="3575304"/>
            <a:ext cx="6949440" cy="384048"/>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Netzqualität im Detail und was wir damit verkaufen</a:t>
            </a:r>
            <a:endParaRPr lang="en-US" sz="1350" dirty="0"/>
          </a:p>
        </p:txBody>
      </p:sp>
      <p:sp>
        <p:nvSpPr>
          <p:cNvPr id="10" name="Shape 8"/>
          <p:cNvSpPr/>
          <p:nvPr/>
        </p:nvSpPr>
        <p:spPr>
          <a:xfrm>
            <a:off x="566928" y="4096512"/>
            <a:ext cx="329184" cy="329184"/>
          </a:xfrm>
          <a:prstGeom prst="ellipse">
            <a:avLst/>
          </a:prstGeom>
          <a:solidFill>
            <a:srgbClr val="E4022E"/>
          </a:solidFill>
          <a:ln/>
        </p:spPr>
      </p:sp>
      <p:sp>
        <p:nvSpPr>
          <p:cNvPr id="11" name="Text 9"/>
          <p:cNvSpPr/>
          <p:nvPr/>
        </p:nvSpPr>
        <p:spPr>
          <a:xfrm>
            <a:off x="566928" y="40965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1078992" y="4069080"/>
            <a:ext cx="6949440" cy="384048"/>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Nachhaltigkeit: HVO, Hybrid und die Zahlen dahinter</a:t>
            </a:r>
            <a:endParaRPr lang="en-US" sz="1350" dirty="0"/>
          </a:p>
        </p:txBody>
      </p:sp>
      <p:sp>
        <p:nvSpPr>
          <p:cNvPr id="13" name="Shape 11"/>
          <p:cNvSpPr/>
          <p:nvPr/>
        </p:nvSpPr>
        <p:spPr>
          <a:xfrm>
            <a:off x="566928" y="4590288"/>
            <a:ext cx="329184" cy="329184"/>
          </a:xfrm>
          <a:prstGeom prst="ellipse">
            <a:avLst/>
          </a:prstGeom>
          <a:solidFill>
            <a:srgbClr val="E4022E"/>
          </a:solidFill>
          <a:ln/>
        </p:spPr>
      </p:sp>
      <p:sp>
        <p:nvSpPr>
          <p:cNvPr id="14" name="Text 12"/>
          <p:cNvSpPr/>
          <p:nvPr/>
        </p:nvSpPr>
        <p:spPr>
          <a:xfrm>
            <a:off x="566928" y="45902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Text 13"/>
          <p:cNvSpPr/>
          <p:nvPr/>
        </p:nvSpPr>
        <p:spPr>
          <a:xfrm>
            <a:off x="1078992" y="4562856"/>
            <a:ext cx="6949440" cy="384048"/>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Rechenzentren als Wachstumsmarkt Schweiz</a:t>
            </a:r>
            <a:endParaRPr lang="en-US" sz="1350" dirty="0"/>
          </a:p>
        </p:txBody>
      </p:sp>
      <p:sp>
        <p:nvSpPr>
          <p:cNvPr id="16" name="Shape 14"/>
          <p:cNvSpPr/>
          <p:nvPr/>
        </p:nvSpPr>
        <p:spPr>
          <a:xfrm>
            <a:off x="566928" y="5084064"/>
            <a:ext cx="329184" cy="329184"/>
          </a:xfrm>
          <a:prstGeom prst="ellipse">
            <a:avLst/>
          </a:prstGeom>
          <a:solidFill>
            <a:srgbClr val="E4022E"/>
          </a:solidFill>
          <a:ln/>
        </p:spPr>
      </p:sp>
      <p:sp>
        <p:nvSpPr>
          <p:cNvPr id="17" name="Text 15"/>
          <p:cNvSpPr/>
          <p:nvPr/>
        </p:nvSpPr>
        <p:spPr>
          <a:xfrm>
            <a:off x="566928" y="50840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8" name="Text 16"/>
          <p:cNvSpPr/>
          <p:nvPr/>
        </p:nvSpPr>
        <p:spPr>
          <a:xfrm>
            <a:off x="1078992" y="5056632"/>
            <a:ext cx="6949440" cy="384048"/>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Referenzprojekte zum Anfassen: Gampel, Baustellen, Industrie</a:t>
            </a:r>
            <a:endParaRPr lang="en-US" sz="1350" dirty="0"/>
          </a:p>
        </p:txBody>
      </p:sp>
      <p:sp>
        <p:nvSpPr>
          <p:cNvPr id="19" name="Shape 17"/>
          <p:cNvSpPr/>
          <p:nvPr/>
        </p:nvSpPr>
        <p:spPr>
          <a:xfrm>
            <a:off x="566928" y="5687568"/>
            <a:ext cx="1828800" cy="27432"/>
          </a:xfrm>
          <a:prstGeom prst="rect">
            <a:avLst/>
          </a:prstGeom>
          <a:solidFill>
            <a:srgbClr val="E4022E"/>
          </a:solidFill>
          <a:ln/>
        </p:spPr>
      </p:sp>
      <p:sp>
        <p:nvSpPr>
          <p:cNvPr id="20" name="Text 18"/>
          <p:cNvSpPr/>
          <p:nvPr/>
        </p:nvSpPr>
        <p:spPr>
          <a:xfrm>
            <a:off x="566928" y="5870448"/>
            <a:ext cx="7315200" cy="31089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Burak Ücöz  ·  Sales Engineer Power  ·  Mobil in Time AG</a:t>
            </a:r>
            <a:endParaRPr lang="en-US" sz="1300" dirty="0"/>
          </a:p>
        </p:txBody>
      </p:sp>
      <p:pic>
        <p:nvPicPr>
          <p:cNvPr id="21" name="Image 0" descr="/home/claude/ico/bolt_o.png">    </p:cNvPr>
          <p:cNvPicPr>
            <a:picLocks noChangeAspect="1"/>
          </p:cNvPicPr>
          <p:nvPr/>
        </p:nvPicPr>
        <p:blipFill>
          <a:blip r:embed="rId1">
            <a:alphaModFix amt="75000"/>
          </a:blip>
          <a:stretch>
            <a:fillRect/>
          </a:stretch>
        </p:blipFill>
        <p:spPr>
          <a:xfrm>
            <a:off x="9966960" y="1051560"/>
            <a:ext cx="1371600" cy="1371600"/>
          </a:xfrm>
          <a:prstGeom prst="rect">
            <a:avLst/>
          </a:prstGeom>
        </p:spPr>
      </p:pic>
      <p:sp>
        <p:nvSpPr>
          <p:cNvPr id="22" name="Text 19"/>
          <p:cNvSpPr/>
          <p:nvPr/>
        </p:nvSpPr>
        <p:spPr>
          <a:xfrm>
            <a:off x="566928" y="6345936"/>
            <a:ext cx="6400800" cy="256032"/>
          </a:xfrm>
          <a:prstGeom prst="rect">
            <a:avLst/>
          </a:prstGeom>
          <a:noFill/>
          <a:ln/>
        </p:spPr>
        <p:txBody>
          <a:bodyPr wrap="square" lIns="0" tIns="0" rIns="0" bIns="0" rtlCol="0" anchor="ctr"/>
          <a:lstStyle/>
          <a:p>
            <a:pPr algn="l" indent="0" marL="0">
              <a:buNone/>
            </a:pPr>
            <a:r>
              <a:rPr lang="en-US" sz="900" dirty="0">
                <a:solidFill>
                  <a:srgbClr val="A6A6A6"/>
                </a:solidFill>
                <a:latin typeface="Arial" pitchFamily="34" charset="0"/>
                <a:ea typeface="Arial" pitchFamily="34" charset="-122"/>
                <a:cs typeface="Arial" pitchFamily="34" charset="-120"/>
              </a:rPr>
              <a:t>Mobil in Time AG  |  Strom Quick Dive  |  Marketing-Team</a:t>
            </a:r>
            <a:endParaRPr lang="en-US" sz="900" dirty="0"/>
          </a:p>
        </p:txBody>
      </p:sp>
      <p:sp>
        <p:nvSpPr>
          <p:cNvPr id="23" name="Text 20"/>
          <p:cNvSpPr/>
          <p:nvPr/>
        </p:nvSpPr>
        <p:spPr>
          <a:xfrm>
            <a:off x="10890504" y="6345936"/>
            <a:ext cx="731520" cy="256032"/>
          </a:xfrm>
          <a:prstGeom prst="rect">
            <a:avLst/>
          </a:prstGeom>
          <a:noFill/>
          <a:ln/>
        </p:spPr>
        <p:txBody>
          <a:bodyPr wrap="square" lIns="0" tIns="0" rIns="0" bIns="0" rtlCol="0" anchor="ctr"/>
          <a:lstStyle/>
          <a:p>
            <a:pPr algn="r" indent="0" marL="0">
              <a:buNone/>
            </a:pPr>
            <a:r>
              <a:rPr lang="en-US" sz="1000" b="1" dirty="0">
                <a:solidFill>
                  <a:srgbClr val="A6A6A6"/>
                </a:solidFill>
                <a:latin typeface="Arial" pitchFamily="34" charset="0"/>
                <a:ea typeface="Arial" pitchFamily="34" charset="-122"/>
                <a:cs typeface="Arial" pitchFamily="34" charset="-120"/>
              </a:rPr>
              <a:t>40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75756"/>
      </a:dk2>
      <a:lt2>
        <a:srgbClr val="E7E6E6"/>
      </a:lt2>
      <a:accent1>
        <a:srgbClr val="E4022E"/>
      </a:accent1>
      <a:accent2>
        <a:srgbClr val="575756"/>
      </a:accent2>
      <a:accent3>
        <a:srgbClr val="8A8A8C"/>
      </a:accent3>
      <a:accent4>
        <a:srgbClr val="1A569D"/>
      </a:accent4>
      <a:accent5>
        <a:srgbClr val="6E9FD5"/>
      </a:accent5>
      <a:accent6>
        <a:srgbClr val="00813C"/>
      </a:accent6>
      <a:hlink>
        <a:srgbClr val="E4022E"/>
      </a:hlink>
      <a:folHlink>
        <a:srgbClr val="57575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Mobil in Time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Strom Quick Dive fuer das Marketing-Team</dc:title>
  <dc:subject>PptxGenJS Presentation</dc:subject>
  <dc:creator>Burak Ücöz</dc:creator>
  <cp:lastModifiedBy>Burak Ücöz</cp:lastModifiedBy>
  <cp:revision>1</cp:revision>
  <dcterms:created xsi:type="dcterms:W3CDTF">2026-07-22T13:51:47Z</dcterms:created>
  <dcterms:modified xsi:type="dcterms:W3CDTF">2026-07-22T13:51:47Z</dcterms:modified>
</cp:coreProperties>
</file>